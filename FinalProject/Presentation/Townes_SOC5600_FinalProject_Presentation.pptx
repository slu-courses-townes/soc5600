
<file path=[Content_Types].xml><?xml version="1.0" encoding="utf-8"?>
<Types xmlns="http://schemas.openxmlformats.org/package/2006/content-types">
  <Default Extension="png" ContentType="image/png"/>
  <Default Extension="bin" ContentType="application/vnd.openxmlformats-officedocument.oleObject"/>
  <Default Extension="emf" ContentType="image/x-emf"/>
  <Default Extension="jpeg" ContentType="image/jpeg"/>
  <Default Extension="rels" ContentType="application/vnd.openxmlformats-package.relationships+xml"/>
  <Default Extension="xml" ContentType="application/xml"/>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1"/>
  </p:notesMasterIdLst>
  <p:handoutMasterIdLst>
    <p:handoutMasterId r:id="rId52"/>
  </p:handoutMasterIdLst>
  <p:sldIdLst>
    <p:sldId id="256" r:id="rId2"/>
    <p:sldId id="294" r:id="rId3"/>
    <p:sldId id="298" r:id="rId4"/>
    <p:sldId id="274" r:id="rId5"/>
    <p:sldId id="280" r:id="rId6"/>
    <p:sldId id="260" r:id="rId7"/>
    <p:sldId id="311" r:id="rId8"/>
    <p:sldId id="299" r:id="rId9"/>
    <p:sldId id="300" r:id="rId10"/>
    <p:sldId id="285" r:id="rId11"/>
    <p:sldId id="320" r:id="rId12"/>
    <p:sldId id="301" r:id="rId13"/>
    <p:sldId id="322" r:id="rId14"/>
    <p:sldId id="273" r:id="rId15"/>
    <p:sldId id="290" r:id="rId16"/>
    <p:sldId id="327" r:id="rId17"/>
    <p:sldId id="293" r:id="rId18"/>
    <p:sldId id="318" r:id="rId19"/>
    <p:sldId id="326" r:id="rId20"/>
    <p:sldId id="292" r:id="rId21"/>
    <p:sldId id="302" r:id="rId22"/>
    <p:sldId id="309" r:id="rId23"/>
    <p:sldId id="310" r:id="rId24"/>
    <p:sldId id="303" r:id="rId25"/>
    <p:sldId id="304" r:id="rId26"/>
    <p:sldId id="305" r:id="rId27"/>
    <p:sldId id="297" r:id="rId28"/>
    <p:sldId id="313" r:id="rId29"/>
    <p:sldId id="319" r:id="rId30"/>
    <p:sldId id="307" r:id="rId31"/>
    <p:sldId id="315" r:id="rId32"/>
    <p:sldId id="316" r:id="rId33"/>
    <p:sldId id="314" r:id="rId34"/>
    <p:sldId id="317" r:id="rId35"/>
    <p:sldId id="272" r:id="rId36"/>
    <p:sldId id="264" r:id="rId37"/>
    <p:sldId id="275" r:id="rId38"/>
    <p:sldId id="306" r:id="rId39"/>
    <p:sldId id="325" r:id="rId40"/>
    <p:sldId id="324" r:id="rId41"/>
    <p:sldId id="308" r:id="rId42"/>
    <p:sldId id="281" r:id="rId43"/>
    <p:sldId id="288" r:id="rId44"/>
    <p:sldId id="296" r:id="rId45"/>
    <p:sldId id="282" r:id="rId46"/>
    <p:sldId id="295" r:id="rId47"/>
    <p:sldId id="312" r:id="rId48"/>
    <p:sldId id="321" r:id="rId49"/>
    <p:sldId id="323" r:id="rId50"/>
  </p:sldIdLst>
  <p:sldSz cx="9144000" cy="5715000" type="screen16x1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180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62" autoAdjust="0"/>
    <p:restoredTop sz="93073" autoAdjust="0"/>
  </p:normalViewPr>
  <p:slideViewPr>
    <p:cSldViewPr snapToGrid="0">
      <p:cViewPr varScale="1">
        <p:scale>
          <a:sx n="132" d="100"/>
          <a:sy n="132" d="100"/>
        </p:scale>
        <p:origin x="-378" y="-84"/>
      </p:cViewPr>
      <p:guideLst>
        <p:guide orient="horz" pos="180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8371B40-932D-4D58-B0FA-03B0822BBA63}" type="doc">
      <dgm:prSet loTypeId="urn:microsoft.com/office/officeart/2005/8/layout/vList3" loCatId="list" qsTypeId="urn:microsoft.com/office/officeart/2005/8/quickstyle/simple1" qsCatId="simple" csTypeId="urn:microsoft.com/office/officeart/2005/8/colors/colorful1" csCatId="colorful" phldr="1"/>
      <dgm:spPr/>
    </dgm:pt>
    <dgm:pt modelId="{B0F4FFAA-AA80-445E-9016-4F8EF966E383}">
      <dgm:prSet phldrT="[Text]"/>
      <dgm:spPr/>
      <dgm:t>
        <a:bodyPr/>
        <a:lstStyle/>
        <a:p>
          <a:pPr algn="l"/>
          <a:r>
            <a:rPr lang="en-US" dirty="0"/>
            <a:t>Significance and Importance</a:t>
          </a:r>
        </a:p>
      </dgm:t>
    </dgm:pt>
    <dgm:pt modelId="{161FD2C6-F8FE-472D-9C6C-A8F193FE86F0}" type="parTrans" cxnId="{B2D42D45-5E15-49C7-AE4A-85505E72454B}">
      <dgm:prSet/>
      <dgm:spPr/>
      <dgm:t>
        <a:bodyPr/>
        <a:lstStyle/>
        <a:p>
          <a:pPr algn="l"/>
          <a:endParaRPr lang="en-US"/>
        </a:p>
      </dgm:t>
    </dgm:pt>
    <dgm:pt modelId="{FAE80C6E-058E-4391-B0E3-CA25846C12CF}" type="sibTrans" cxnId="{B2D42D45-5E15-49C7-AE4A-85505E72454B}">
      <dgm:prSet/>
      <dgm:spPr/>
      <dgm:t>
        <a:bodyPr/>
        <a:lstStyle/>
        <a:p>
          <a:pPr algn="l"/>
          <a:endParaRPr lang="en-US"/>
        </a:p>
      </dgm:t>
    </dgm:pt>
    <dgm:pt modelId="{73451015-89A9-4506-B6A1-A52EDA752F1D}">
      <dgm:prSet phldrT="[Text]"/>
      <dgm:spPr/>
      <dgm:t>
        <a:bodyPr/>
        <a:lstStyle/>
        <a:p>
          <a:pPr algn="l"/>
          <a:r>
            <a:rPr lang="en-US" dirty="0"/>
            <a:t>Research Questions and Hypotheses</a:t>
          </a:r>
        </a:p>
      </dgm:t>
    </dgm:pt>
    <dgm:pt modelId="{F1BE5A06-786B-4A3F-8FD7-B37CEC279176}" type="parTrans" cxnId="{62ABA70E-5B6E-4069-B47A-DC65F48F48CB}">
      <dgm:prSet/>
      <dgm:spPr/>
      <dgm:t>
        <a:bodyPr/>
        <a:lstStyle/>
        <a:p>
          <a:pPr algn="l"/>
          <a:endParaRPr lang="en-US"/>
        </a:p>
      </dgm:t>
    </dgm:pt>
    <dgm:pt modelId="{5627F2F0-4B45-4A01-AE4E-B1CB295E781E}" type="sibTrans" cxnId="{62ABA70E-5B6E-4069-B47A-DC65F48F48CB}">
      <dgm:prSet/>
      <dgm:spPr/>
      <dgm:t>
        <a:bodyPr/>
        <a:lstStyle/>
        <a:p>
          <a:pPr algn="l"/>
          <a:endParaRPr lang="en-US"/>
        </a:p>
      </dgm:t>
    </dgm:pt>
    <dgm:pt modelId="{75099817-D799-4D08-8D69-0234AF84D1FF}">
      <dgm:prSet phldrT="[Text]"/>
      <dgm:spPr/>
      <dgm:t>
        <a:bodyPr/>
        <a:lstStyle/>
        <a:p>
          <a:pPr algn="l"/>
          <a:r>
            <a:rPr lang="en-US" dirty="0"/>
            <a:t>Literature Review</a:t>
          </a:r>
        </a:p>
      </dgm:t>
    </dgm:pt>
    <dgm:pt modelId="{C02AD437-CFD9-4E1A-B813-673FA16D4FF3}" type="parTrans" cxnId="{D718B188-BD93-4199-BC4E-FB01E2F269C8}">
      <dgm:prSet/>
      <dgm:spPr/>
      <dgm:t>
        <a:bodyPr/>
        <a:lstStyle/>
        <a:p>
          <a:pPr algn="l"/>
          <a:endParaRPr lang="en-US"/>
        </a:p>
      </dgm:t>
    </dgm:pt>
    <dgm:pt modelId="{170E5D74-100F-43DA-95A7-8BA8367E1240}" type="sibTrans" cxnId="{D718B188-BD93-4199-BC4E-FB01E2F269C8}">
      <dgm:prSet/>
      <dgm:spPr/>
      <dgm:t>
        <a:bodyPr/>
        <a:lstStyle/>
        <a:p>
          <a:pPr algn="l"/>
          <a:endParaRPr lang="en-US"/>
        </a:p>
      </dgm:t>
    </dgm:pt>
    <dgm:pt modelId="{EC7309A0-CF9B-44BE-B725-DF03D6D7BBC7}">
      <dgm:prSet phldrT="[Text]"/>
      <dgm:spPr/>
      <dgm:t>
        <a:bodyPr/>
        <a:lstStyle/>
        <a:p>
          <a:pPr algn="l"/>
          <a:r>
            <a:rPr lang="en-US" dirty="0"/>
            <a:t>Methodology and Data</a:t>
          </a:r>
        </a:p>
      </dgm:t>
    </dgm:pt>
    <dgm:pt modelId="{EC92C729-8B65-4284-846A-6BE2199EB0BA}" type="parTrans" cxnId="{845A299F-67BC-4E60-B130-BF1B0872FEC9}">
      <dgm:prSet/>
      <dgm:spPr/>
      <dgm:t>
        <a:bodyPr/>
        <a:lstStyle/>
        <a:p>
          <a:pPr algn="l"/>
          <a:endParaRPr lang="en-US"/>
        </a:p>
      </dgm:t>
    </dgm:pt>
    <dgm:pt modelId="{F6BD6611-2AFA-4626-9432-28F22D51E3A2}" type="sibTrans" cxnId="{845A299F-67BC-4E60-B130-BF1B0872FEC9}">
      <dgm:prSet/>
      <dgm:spPr/>
      <dgm:t>
        <a:bodyPr/>
        <a:lstStyle/>
        <a:p>
          <a:pPr algn="l"/>
          <a:endParaRPr lang="en-US"/>
        </a:p>
      </dgm:t>
    </dgm:pt>
    <dgm:pt modelId="{7872EC56-464A-4AF7-A325-D8C04EC15CBC}">
      <dgm:prSet phldrT="[Text]"/>
      <dgm:spPr/>
      <dgm:t>
        <a:bodyPr/>
        <a:lstStyle/>
        <a:p>
          <a:pPr algn="l"/>
          <a:r>
            <a:rPr lang="en-US" dirty="0"/>
            <a:t>Analysis and Expected Results</a:t>
          </a:r>
        </a:p>
      </dgm:t>
    </dgm:pt>
    <dgm:pt modelId="{5223AF15-77CC-4833-A5B1-731787DEF8BC}" type="parTrans" cxnId="{A9053817-889B-467E-BDFD-D479F2C8510D}">
      <dgm:prSet/>
      <dgm:spPr/>
      <dgm:t>
        <a:bodyPr/>
        <a:lstStyle/>
        <a:p>
          <a:pPr algn="l"/>
          <a:endParaRPr lang="en-US"/>
        </a:p>
      </dgm:t>
    </dgm:pt>
    <dgm:pt modelId="{39CAC057-C6C0-41D1-853D-7DBCF402493A}" type="sibTrans" cxnId="{A9053817-889B-467E-BDFD-D479F2C8510D}">
      <dgm:prSet/>
      <dgm:spPr/>
      <dgm:t>
        <a:bodyPr/>
        <a:lstStyle/>
        <a:p>
          <a:pPr algn="l"/>
          <a:endParaRPr lang="en-US"/>
        </a:p>
      </dgm:t>
    </dgm:pt>
    <dgm:pt modelId="{A62087BD-95E8-425C-AA08-2E3F5CB6E8F1}">
      <dgm:prSet phldrT="[Text]"/>
      <dgm:spPr/>
      <dgm:t>
        <a:bodyPr/>
        <a:lstStyle/>
        <a:p>
          <a:pPr algn="l"/>
          <a:r>
            <a:rPr lang="en-US" dirty="0"/>
            <a:t>Limitations and Future Study</a:t>
          </a:r>
        </a:p>
      </dgm:t>
    </dgm:pt>
    <dgm:pt modelId="{A43B6C2D-897D-49E0-A48B-97FA0D2A46F0}" type="parTrans" cxnId="{AE336CEC-CD39-4D7E-B2DA-30AE65E59D35}">
      <dgm:prSet/>
      <dgm:spPr/>
      <dgm:t>
        <a:bodyPr/>
        <a:lstStyle/>
        <a:p>
          <a:pPr algn="l"/>
          <a:endParaRPr lang="en-US"/>
        </a:p>
      </dgm:t>
    </dgm:pt>
    <dgm:pt modelId="{E644DF36-F9C1-4FA2-AA54-CE524DDC1E5C}" type="sibTrans" cxnId="{AE336CEC-CD39-4D7E-B2DA-30AE65E59D35}">
      <dgm:prSet/>
      <dgm:spPr/>
      <dgm:t>
        <a:bodyPr/>
        <a:lstStyle/>
        <a:p>
          <a:pPr algn="l"/>
          <a:endParaRPr lang="en-US"/>
        </a:p>
      </dgm:t>
    </dgm:pt>
    <dgm:pt modelId="{9B4EC237-8822-4BBB-8CEA-053275063984}">
      <dgm:prSet phldrT="[Text]"/>
      <dgm:spPr/>
      <dgm:t>
        <a:bodyPr/>
        <a:lstStyle/>
        <a:p>
          <a:pPr algn="l"/>
          <a:r>
            <a:rPr lang="en-US" dirty="0"/>
            <a:t>Open Discussion</a:t>
          </a:r>
        </a:p>
      </dgm:t>
    </dgm:pt>
    <dgm:pt modelId="{0E4DD1AD-A666-4612-8D23-B5D80390E8FE}" type="parTrans" cxnId="{BC6251F1-B4B1-4418-8CC3-1C322C59228C}">
      <dgm:prSet/>
      <dgm:spPr/>
      <dgm:t>
        <a:bodyPr/>
        <a:lstStyle/>
        <a:p>
          <a:pPr algn="l"/>
          <a:endParaRPr lang="en-US"/>
        </a:p>
      </dgm:t>
    </dgm:pt>
    <dgm:pt modelId="{39D612C0-AB2B-428F-B37B-99B621CBC2B2}" type="sibTrans" cxnId="{BC6251F1-B4B1-4418-8CC3-1C322C59228C}">
      <dgm:prSet/>
      <dgm:spPr/>
      <dgm:t>
        <a:bodyPr/>
        <a:lstStyle/>
        <a:p>
          <a:pPr algn="l"/>
          <a:endParaRPr lang="en-US"/>
        </a:p>
      </dgm:t>
    </dgm:pt>
    <dgm:pt modelId="{8D140726-B931-40D6-BB1B-B3F0A3626004}" type="pres">
      <dgm:prSet presAssocID="{E8371B40-932D-4D58-B0FA-03B0822BBA63}" presName="linearFlow" presStyleCnt="0">
        <dgm:presLayoutVars>
          <dgm:dir/>
          <dgm:resizeHandles val="exact"/>
        </dgm:presLayoutVars>
      </dgm:prSet>
      <dgm:spPr/>
    </dgm:pt>
    <dgm:pt modelId="{D9699B56-162B-48E0-A329-1EB01432F92C}" type="pres">
      <dgm:prSet presAssocID="{B0F4FFAA-AA80-445E-9016-4F8EF966E383}" presName="composite" presStyleCnt="0"/>
      <dgm:spPr/>
    </dgm:pt>
    <dgm:pt modelId="{6965332F-1952-481F-843C-8D6A4017949F}" type="pres">
      <dgm:prSet presAssocID="{B0F4FFAA-AA80-445E-9016-4F8EF966E383}" presName="imgShp" presStyleLbl="fgImgPlace1" presStyleIdx="0" presStyleCnt="7"/>
      <dgm:spPr/>
    </dgm:pt>
    <dgm:pt modelId="{90DF574F-C00C-419E-B294-5B62392995ED}" type="pres">
      <dgm:prSet presAssocID="{B0F4FFAA-AA80-445E-9016-4F8EF966E383}" presName="txShp" presStyleLbl="node1" presStyleIdx="0" presStyleCnt="7">
        <dgm:presLayoutVars>
          <dgm:bulletEnabled val="1"/>
        </dgm:presLayoutVars>
      </dgm:prSet>
      <dgm:spPr/>
      <dgm:t>
        <a:bodyPr/>
        <a:lstStyle/>
        <a:p>
          <a:endParaRPr lang="en-US"/>
        </a:p>
      </dgm:t>
    </dgm:pt>
    <dgm:pt modelId="{1B1F9459-3F38-48DE-85BF-8AA2BD174032}" type="pres">
      <dgm:prSet presAssocID="{FAE80C6E-058E-4391-B0E3-CA25846C12CF}" presName="spacing" presStyleCnt="0"/>
      <dgm:spPr/>
    </dgm:pt>
    <dgm:pt modelId="{0C2F101E-6C65-4DDF-BCBC-6CDAE1256EB3}" type="pres">
      <dgm:prSet presAssocID="{75099817-D799-4D08-8D69-0234AF84D1FF}" presName="composite" presStyleCnt="0"/>
      <dgm:spPr/>
    </dgm:pt>
    <dgm:pt modelId="{41043DCC-E95D-45E8-A50A-2765152EF6D5}" type="pres">
      <dgm:prSet presAssocID="{75099817-D799-4D08-8D69-0234AF84D1FF}" presName="imgShp" presStyleLbl="fgImgPlace1" presStyleIdx="1" presStyleCnt="7"/>
      <dgm:spPr/>
    </dgm:pt>
    <dgm:pt modelId="{89BEEAC4-E6ED-4176-A3A0-0FC265993473}" type="pres">
      <dgm:prSet presAssocID="{75099817-D799-4D08-8D69-0234AF84D1FF}" presName="txShp" presStyleLbl="node1" presStyleIdx="1" presStyleCnt="7">
        <dgm:presLayoutVars>
          <dgm:bulletEnabled val="1"/>
        </dgm:presLayoutVars>
      </dgm:prSet>
      <dgm:spPr/>
      <dgm:t>
        <a:bodyPr/>
        <a:lstStyle/>
        <a:p>
          <a:endParaRPr lang="en-US"/>
        </a:p>
      </dgm:t>
    </dgm:pt>
    <dgm:pt modelId="{50B09700-1528-4669-AFEB-3FDFE9EBF898}" type="pres">
      <dgm:prSet presAssocID="{170E5D74-100F-43DA-95A7-8BA8367E1240}" presName="spacing" presStyleCnt="0"/>
      <dgm:spPr/>
    </dgm:pt>
    <dgm:pt modelId="{CEBDAE1C-A04B-4A1B-BE45-2836AE5B458F}" type="pres">
      <dgm:prSet presAssocID="{73451015-89A9-4506-B6A1-A52EDA752F1D}" presName="composite" presStyleCnt="0"/>
      <dgm:spPr/>
    </dgm:pt>
    <dgm:pt modelId="{36AFC75F-A2DE-4365-8B77-BD5E3C0C770E}" type="pres">
      <dgm:prSet presAssocID="{73451015-89A9-4506-B6A1-A52EDA752F1D}" presName="imgShp" presStyleLbl="fgImgPlace1" presStyleIdx="2" presStyleCnt="7"/>
      <dgm:spPr/>
    </dgm:pt>
    <dgm:pt modelId="{9A83C161-7CE7-4FBE-A65B-AA864FAF26B5}" type="pres">
      <dgm:prSet presAssocID="{73451015-89A9-4506-B6A1-A52EDA752F1D}" presName="txShp" presStyleLbl="node1" presStyleIdx="2" presStyleCnt="7">
        <dgm:presLayoutVars>
          <dgm:bulletEnabled val="1"/>
        </dgm:presLayoutVars>
      </dgm:prSet>
      <dgm:spPr/>
      <dgm:t>
        <a:bodyPr/>
        <a:lstStyle/>
        <a:p>
          <a:endParaRPr lang="en-US"/>
        </a:p>
      </dgm:t>
    </dgm:pt>
    <dgm:pt modelId="{90FC40C4-3A9A-44FA-AA78-8F56E653007C}" type="pres">
      <dgm:prSet presAssocID="{5627F2F0-4B45-4A01-AE4E-B1CB295E781E}" presName="spacing" presStyleCnt="0"/>
      <dgm:spPr/>
    </dgm:pt>
    <dgm:pt modelId="{9DAD99BA-8144-4836-98DA-2412C87BE33F}" type="pres">
      <dgm:prSet presAssocID="{EC7309A0-CF9B-44BE-B725-DF03D6D7BBC7}" presName="composite" presStyleCnt="0"/>
      <dgm:spPr/>
    </dgm:pt>
    <dgm:pt modelId="{5B18C8C6-A1CA-45A7-9C87-F683F0C663F3}" type="pres">
      <dgm:prSet presAssocID="{EC7309A0-CF9B-44BE-B725-DF03D6D7BBC7}" presName="imgShp" presStyleLbl="fgImgPlace1" presStyleIdx="3" presStyleCnt="7"/>
      <dgm:spPr/>
    </dgm:pt>
    <dgm:pt modelId="{2612E7C1-5E4D-4B07-A5A4-1C7C1EF6A566}" type="pres">
      <dgm:prSet presAssocID="{EC7309A0-CF9B-44BE-B725-DF03D6D7BBC7}" presName="txShp" presStyleLbl="node1" presStyleIdx="3" presStyleCnt="7">
        <dgm:presLayoutVars>
          <dgm:bulletEnabled val="1"/>
        </dgm:presLayoutVars>
      </dgm:prSet>
      <dgm:spPr/>
      <dgm:t>
        <a:bodyPr/>
        <a:lstStyle/>
        <a:p>
          <a:endParaRPr lang="en-US"/>
        </a:p>
      </dgm:t>
    </dgm:pt>
    <dgm:pt modelId="{F177E6C5-1DE3-4DFE-940A-41800FD2E86A}" type="pres">
      <dgm:prSet presAssocID="{F6BD6611-2AFA-4626-9432-28F22D51E3A2}" presName="spacing" presStyleCnt="0"/>
      <dgm:spPr/>
    </dgm:pt>
    <dgm:pt modelId="{436B3A7C-485D-4FD6-BC68-10F43CA476F1}" type="pres">
      <dgm:prSet presAssocID="{7872EC56-464A-4AF7-A325-D8C04EC15CBC}" presName="composite" presStyleCnt="0"/>
      <dgm:spPr/>
    </dgm:pt>
    <dgm:pt modelId="{F713E425-6E59-482E-AFB2-1B507E620CC6}" type="pres">
      <dgm:prSet presAssocID="{7872EC56-464A-4AF7-A325-D8C04EC15CBC}" presName="imgShp" presStyleLbl="fgImgPlace1" presStyleIdx="4" presStyleCnt="7"/>
      <dgm:spPr/>
    </dgm:pt>
    <dgm:pt modelId="{E74D4CFD-B51F-4EF3-BA49-144E2D33D50E}" type="pres">
      <dgm:prSet presAssocID="{7872EC56-464A-4AF7-A325-D8C04EC15CBC}" presName="txShp" presStyleLbl="node1" presStyleIdx="4" presStyleCnt="7">
        <dgm:presLayoutVars>
          <dgm:bulletEnabled val="1"/>
        </dgm:presLayoutVars>
      </dgm:prSet>
      <dgm:spPr/>
      <dgm:t>
        <a:bodyPr/>
        <a:lstStyle/>
        <a:p>
          <a:endParaRPr lang="en-US"/>
        </a:p>
      </dgm:t>
    </dgm:pt>
    <dgm:pt modelId="{450592A2-55D1-4C81-A7E4-BE3ED7CEB4B2}" type="pres">
      <dgm:prSet presAssocID="{39CAC057-C6C0-41D1-853D-7DBCF402493A}" presName="spacing" presStyleCnt="0"/>
      <dgm:spPr/>
    </dgm:pt>
    <dgm:pt modelId="{BF695DB1-FBA8-46F2-8FD7-6832BCA30B2A}" type="pres">
      <dgm:prSet presAssocID="{A62087BD-95E8-425C-AA08-2E3F5CB6E8F1}" presName="composite" presStyleCnt="0"/>
      <dgm:spPr/>
    </dgm:pt>
    <dgm:pt modelId="{DAE632EB-9F97-4011-9001-B1C353BB1361}" type="pres">
      <dgm:prSet presAssocID="{A62087BD-95E8-425C-AA08-2E3F5CB6E8F1}" presName="imgShp" presStyleLbl="fgImgPlace1" presStyleIdx="5" presStyleCnt="7"/>
      <dgm:spPr/>
    </dgm:pt>
    <dgm:pt modelId="{6AA00FE8-242B-4888-A53F-D09E1E67898D}" type="pres">
      <dgm:prSet presAssocID="{A62087BD-95E8-425C-AA08-2E3F5CB6E8F1}" presName="txShp" presStyleLbl="node1" presStyleIdx="5" presStyleCnt="7">
        <dgm:presLayoutVars>
          <dgm:bulletEnabled val="1"/>
        </dgm:presLayoutVars>
      </dgm:prSet>
      <dgm:spPr/>
      <dgm:t>
        <a:bodyPr/>
        <a:lstStyle/>
        <a:p>
          <a:endParaRPr lang="en-US"/>
        </a:p>
      </dgm:t>
    </dgm:pt>
    <dgm:pt modelId="{DED85768-F284-486F-8B05-8A2ED3B7FDB9}" type="pres">
      <dgm:prSet presAssocID="{E644DF36-F9C1-4FA2-AA54-CE524DDC1E5C}" presName="spacing" presStyleCnt="0"/>
      <dgm:spPr/>
    </dgm:pt>
    <dgm:pt modelId="{1F3C1739-0F6E-4653-8A51-4EDC3E3E9587}" type="pres">
      <dgm:prSet presAssocID="{9B4EC237-8822-4BBB-8CEA-053275063984}" presName="composite" presStyleCnt="0"/>
      <dgm:spPr/>
    </dgm:pt>
    <dgm:pt modelId="{F5FF08DC-DB0C-4B35-B1F2-CF437C4987AF}" type="pres">
      <dgm:prSet presAssocID="{9B4EC237-8822-4BBB-8CEA-053275063984}" presName="imgShp" presStyleLbl="fgImgPlace1" presStyleIdx="6" presStyleCnt="7"/>
      <dgm:spPr/>
    </dgm:pt>
    <dgm:pt modelId="{1EAD7040-8FDD-4828-AED6-4F3F2F03D583}" type="pres">
      <dgm:prSet presAssocID="{9B4EC237-8822-4BBB-8CEA-053275063984}" presName="txShp" presStyleLbl="node1" presStyleIdx="6" presStyleCnt="7">
        <dgm:presLayoutVars>
          <dgm:bulletEnabled val="1"/>
        </dgm:presLayoutVars>
      </dgm:prSet>
      <dgm:spPr/>
      <dgm:t>
        <a:bodyPr/>
        <a:lstStyle/>
        <a:p>
          <a:endParaRPr lang="en-US"/>
        </a:p>
      </dgm:t>
    </dgm:pt>
  </dgm:ptLst>
  <dgm:cxnLst>
    <dgm:cxn modelId="{9EF1AF8A-F47F-45CD-AF66-B006ADA4B6C5}" type="presOf" srcId="{73451015-89A9-4506-B6A1-A52EDA752F1D}" destId="{9A83C161-7CE7-4FBE-A65B-AA864FAF26B5}" srcOrd="0" destOrd="0" presId="urn:microsoft.com/office/officeart/2005/8/layout/vList3"/>
    <dgm:cxn modelId="{B2D42D45-5E15-49C7-AE4A-85505E72454B}" srcId="{E8371B40-932D-4D58-B0FA-03B0822BBA63}" destId="{B0F4FFAA-AA80-445E-9016-4F8EF966E383}" srcOrd="0" destOrd="0" parTransId="{161FD2C6-F8FE-472D-9C6C-A8F193FE86F0}" sibTransId="{FAE80C6E-058E-4391-B0E3-CA25846C12CF}"/>
    <dgm:cxn modelId="{D718B188-BD93-4199-BC4E-FB01E2F269C8}" srcId="{E8371B40-932D-4D58-B0FA-03B0822BBA63}" destId="{75099817-D799-4D08-8D69-0234AF84D1FF}" srcOrd="1" destOrd="0" parTransId="{C02AD437-CFD9-4E1A-B813-673FA16D4FF3}" sibTransId="{170E5D74-100F-43DA-95A7-8BA8367E1240}"/>
    <dgm:cxn modelId="{62ABA70E-5B6E-4069-B47A-DC65F48F48CB}" srcId="{E8371B40-932D-4D58-B0FA-03B0822BBA63}" destId="{73451015-89A9-4506-B6A1-A52EDA752F1D}" srcOrd="2" destOrd="0" parTransId="{F1BE5A06-786B-4A3F-8FD7-B37CEC279176}" sibTransId="{5627F2F0-4B45-4A01-AE4E-B1CB295E781E}"/>
    <dgm:cxn modelId="{55505B2C-A05F-4FD6-9BD6-E6EDC81C0CC7}" type="presOf" srcId="{B0F4FFAA-AA80-445E-9016-4F8EF966E383}" destId="{90DF574F-C00C-419E-B294-5B62392995ED}" srcOrd="0" destOrd="0" presId="urn:microsoft.com/office/officeart/2005/8/layout/vList3"/>
    <dgm:cxn modelId="{6A5D3F3E-2589-45C4-820F-F344193BB59B}" type="presOf" srcId="{EC7309A0-CF9B-44BE-B725-DF03D6D7BBC7}" destId="{2612E7C1-5E4D-4B07-A5A4-1C7C1EF6A566}" srcOrd="0" destOrd="0" presId="urn:microsoft.com/office/officeart/2005/8/layout/vList3"/>
    <dgm:cxn modelId="{E07C89D6-682A-43A4-A7A8-90604C17B076}" type="presOf" srcId="{E8371B40-932D-4D58-B0FA-03B0822BBA63}" destId="{8D140726-B931-40D6-BB1B-B3F0A3626004}" srcOrd="0" destOrd="0" presId="urn:microsoft.com/office/officeart/2005/8/layout/vList3"/>
    <dgm:cxn modelId="{7E33ED63-3D87-4751-B366-8B0EE3CB8609}" type="presOf" srcId="{75099817-D799-4D08-8D69-0234AF84D1FF}" destId="{89BEEAC4-E6ED-4176-A3A0-0FC265993473}" srcOrd="0" destOrd="0" presId="urn:microsoft.com/office/officeart/2005/8/layout/vList3"/>
    <dgm:cxn modelId="{845A299F-67BC-4E60-B130-BF1B0872FEC9}" srcId="{E8371B40-932D-4D58-B0FA-03B0822BBA63}" destId="{EC7309A0-CF9B-44BE-B725-DF03D6D7BBC7}" srcOrd="3" destOrd="0" parTransId="{EC92C729-8B65-4284-846A-6BE2199EB0BA}" sibTransId="{F6BD6611-2AFA-4626-9432-28F22D51E3A2}"/>
    <dgm:cxn modelId="{0EABE6AF-14E9-449F-BD30-1DCC078B80CF}" type="presOf" srcId="{A62087BD-95E8-425C-AA08-2E3F5CB6E8F1}" destId="{6AA00FE8-242B-4888-A53F-D09E1E67898D}" srcOrd="0" destOrd="0" presId="urn:microsoft.com/office/officeart/2005/8/layout/vList3"/>
    <dgm:cxn modelId="{25834EAF-E348-4D3A-A65E-46864A676B0E}" type="presOf" srcId="{7872EC56-464A-4AF7-A325-D8C04EC15CBC}" destId="{E74D4CFD-B51F-4EF3-BA49-144E2D33D50E}" srcOrd="0" destOrd="0" presId="urn:microsoft.com/office/officeart/2005/8/layout/vList3"/>
    <dgm:cxn modelId="{57A1A3C5-4E2B-4339-A314-7C18622E4D98}" type="presOf" srcId="{9B4EC237-8822-4BBB-8CEA-053275063984}" destId="{1EAD7040-8FDD-4828-AED6-4F3F2F03D583}" srcOrd="0" destOrd="0" presId="urn:microsoft.com/office/officeart/2005/8/layout/vList3"/>
    <dgm:cxn modelId="{AE336CEC-CD39-4D7E-B2DA-30AE65E59D35}" srcId="{E8371B40-932D-4D58-B0FA-03B0822BBA63}" destId="{A62087BD-95E8-425C-AA08-2E3F5CB6E8F1}" srcOrd="5" destOrd="0" parTransId="{A43B6C2D-897D-49E0-A48B-97FA0D2A46F0}" sibTransId="{E644DF36-F9C1-4FA2-AA54-CE524DDC1E5C}"/>
    <dgm:cxn modelId="{A9053817-889B-467E-BDFD-D479F2C8510D}" srcId="{E8371B40-932D-4D58-B0FA-03B0822BBA63}" destId="{7872EC56-464A-4AF7-A325-D8C04EC15CBC}" srcOrd="4" destOrd="0" parTransId="{5223AF15-77CC-4833-A5B1-731787DEF8BC}" sibTransId="{39CAC057-C6C0-41D1-853D-7DBCF402493A}"/>
    <dgm:cxn modelId="{BC6251F1-B4B1-4418-8CC3-1C322C59228C}" srcId="{E8371B40-932D-4D58-B0FA-03B0822BBA63}" destId="{9B4EC237-8822-4BBB-8CEA-053275063984}" srcOrd="6" destOrd="0" parTransId="{0E4DD1AD-A666-4612-8D23-B5D80390E8FE}" sibTransId="{39D612C0-AB2B-428F-B37B-99B621CBC2B2}"/>
    <dgm:cxn modelId="{8D3A54AB-7538-41A7-9347-5FA641DA684E}" type="presParOf" srcId="{8D140726-B931-40D6-BB1B-B3F0A3626004}" destId="{D9699B56-162B-48E0-A329-1EB01432F92C}" srcOrd="0" destOrd="0" presId="urn:microsoft.com/office/officeart/2005/8/layout/vList3"/>
    <dgm:cxn modelId="{70934D8E-CFAE-4C31-8693-1D6CA5A2D018}" type="presParOf" srcId="{D9699B56-162B-48E0-A329-1EB01432F92C}" destId="{6965332F-1952-481F-843C-8D6A4017949F}" srcOrd="0" destOrd="0" presId="urn:microsoft.com/office/officeart/2005/8/layout/vList3"/>
    <dgm:cxn modelId="{8D8D72BB-CA01-44F2-8946-A66A9A04446F}" type="presParOf" srcId="{D9699B56-162B-48E0-A329-1EB01432F92C}" destId="{90DF574F-C00C-419E-B294-5B62392995ED}" srcOrd="1" destOrd="0" presId="urn:microsoft.com/office/officeart/2005/8/layout/vList3"/>
    <dgm:cxn modelId="{B7455723-DF52-47F6-9F86-B02AE97B6649}" type="presParOf" srcId="{8D140726-B931-40D6-BB1B-B3F0A3626004}" destId="{1B1F9459-3F38-48DE-85BF-8AA2BD174032}" srcOrd="1" destOrd="0" presId="urn:microsoft.com/office/officeart/2005/8/layout/vList3"/>
    <dgm:cxn modelId="{F21BAF03-20CF-4687-87BF-E50913CD2CA7}" type="presParOf" srcId="{8D140726-B931-40D6-BB1B-B3F0A3626004}" destId="{0C2F101E-6C65-4DDF-BCBC-6CDAE1256EB3}" srcOrd="2" destOrd="0" presId="urn:microsoft.com/office/officeart/2005/8/layout/vList3"/>
    <dgm:cxn modelId="{A4EDD6BF-4CA5-4236-A79A-E57A67C1B6EC}" type="presParOf" srcId="{0C2F101E-6C65-4DDF-BCBC-6CDAE1256EB3}" destId="{41043DCC-E95D-45E8-A50A-2765152EF6D5}" srcOrd="0" destOrd="0" presId="urn:microsoft.com/office/officeart/2005/8/layout/vList3"/>
    <dgm:cxn modelId="{BF2BBA51-DAC6-413C-A5CD-D2976FD81A87}" type="presParOf" srcId="{0C2F101E-6C65-4DDF-BCBC-6CDAE1256EB3}" destId="{89BEEAC4-E6ED-4176-A3A0-0FC265993473}" srcOrd="1" destOrd="0" presId="urn:microsoft.com/office/officeart/2005/8/layout/vList3"/>
    <dgm:cxn modelId="{D5DECC4E-A507-4742-B5FB-077B9C5C7145}" type="presParOf" srcId="{8D140726-B931-40D6-BB1B-B3F0A3626004}" destId="{50B09700-1528-4669-AFEB-3FDFE9EBF898}" srcOrd="3" destOrd="0" presId="urn:microsoft.com/office/officeart/2005/8/layout/vList3"/>
    <dgm:cxn modelId="{44A4A001-896F-4E0F-A658-CE9642E68588}" type="presParOf" srcId="{8D140726-B931-40D6-BB1B-B3F0A3626004}" destId="{CEBDAE1C-A04B-4A1B-BE45-2836AE5B458F}" srcOrd="4" destOrd="0" presId="urn:microsoft.com/office/officeart/2005/8/layout/vList3"/>
    <dgm:cxn modelId="{D077E8B9-2108-48EC-970B-306EA97FF5BA}" type="presParOf" srcId="{CEBDAE1C-A04B-4A1B-BE45-2836AE5B458F}" destId="{36AFC75F-A2DE-4365-8B77-BD5E3C0C770E}" srcOrd="0" destOrd="0" presId="urn:microsoft.com/office/officeart/2005/8/layout/vList3"/>
    <dgm:cxn modelId="{623EF30C-6D88-45D4-889A-1111A0BC9C22}" type="presParOf" srcId="{CEBDAE1C-A04B-4A1B-BE45-2836AE5B458F}" destId="{9A83C161-7CE7-4FBE-A65B-AA864FAF26B5}" srcOrd="1" destOrd="0" presId="urn:microsoft.com/office/officeart/2005/8/layout/vList3"/>
    <dgm:cxn modelId="{D1DD7BD3-47E2-4DD5-B682-52C73B09E147}" type="presParOf" srcId="{8D140726-B931-40D6-BB1B-B3F0A3626004}" destId="{90FC40C4-3A9A-44FA-AA78-8F56E653007C}" srcOrd="5" destOrd="0" presId="urn:microsoft.com/office/officeart/2005/8/layout/vList3"/>
    <dgm:cxn modelId="{CD55340D-6DC1-4D94-9EA3-F6F0B9EA3B5B}" type="presParOf" srcId="{8D140726-B931-40D6-BB1B-B3F0A3626004}" destId="{9DAD99BA-8144-4836-98DA-2412C87BE33F}" srcOrd="6" destOrd="0" presId="urn:microsoft.com/office/officeart/2005/8/layout/vList3"/>
    <dgm:cxn modelId="{7607F850-AF95-481D-9AB9-3732F281F5DB}" type="presParOf" srcId="{9DAD99BA-8144-4836-98DA-2412C87BE33F}" destId="{5B18C8C6-A1CA-45A7-9C87-F683F0C663F3}" srcOrd="0" destOrd="0" presId="urn:microsoft.com/office/officeart/2005/8/layout/vList3"/>
    <dgm:cxn modelId="{C849E3E8-BFFC-477F-8CDF-2362CE981153}" type="presParOf" srcId="{9DAD99BA-8144-4836-98DA-2412C87BE33F}" destId="{2612E7C1-5E4D-4B07-A5A4-1C7C1EF6A566}" srcOrd="1" destOrd="0" presId="urn:microsoft.com/office/officeart/2005/8/layout/vList3"/>
    <dgm:cxn modelId="{30873C6E-807D-4422-9AA5-DFE672DC166C}" type="presParOf" srcId="{8D140726-B931-40D6-BB1B-B3F0A3626004}" destId="{F177E6C5-1DE3-4DFE-940A-41800FD2E86A}" srcOrd="7" destOrd="0" presId="urn:microsoft.com/office/officeart/2005/8/layout/vList3"/>
    <dgm:cxn modelId="{1C1D8F17-4741-4018-96E6-B3F438212672}" type="presParOf" srcId="{8D140726-B931-40D6-BB1B-B3F0A3626004}" destId="{436B3A7C-485D-4FD6-BC68-10F43CA476F1}" srcOrd="8" destOrd="0" presId="urn:microsoft.com/office/officeart/2005/8/layout/vList3"/>
    <dgm:cxn modelId="{5AB8AB28-EB9D-4AA7-ABF1-407CE64240DA}" type="presParOf" srcId="{436B3A7C-485D-4FD6-BC68-10F43CA476F1}" destId="{F713E425-6E59-482E-AFB2-1B507E620CC6}" srcOrd="0" destOrd="0" presId="urn:microsoft.com/office/officeart/2005/8/layout/vList3"/>
    <dgm:cxn modelId="{9570B1D5-526F-48A4-B05D-9763C0CD3791}" type="presParOf" srcId="{436B3A7C-485D-4FD6-BC68-10F43CA476F1}" destId="{E74D4CFD-B51F-4EF3-BA49-144E2D33D50E}" srcOrd="1" destOrd="0" presId="urn:microsoft.com/office/officeart/2005/8/layout/vList3"/>
    <dgm:cxn modelId="{7A407F0D-5D11-4F6B-8D7C-F4570F487A6C}" type="presParOf" srcId="{8D140726-B931-40D6-BB1B-B3F0A3626004}" destId="{450592A2-55D1-4C81-A7E4-BE3ED7CEB4B2}" srcOrd="9" destOrd="0" presId="urn:microsoft.com/office/officeart/2005/8/layout/vList3"/>
    <dgm:cxn modelId="{710B4DFE-72D2-4590-A75A-428E5F85D999}" type="presParOf" srcId="{8D140726-B931-40D6-BB1B-B3F0A3626004}" destId="{BF695DB1-FBA8-46F2-8FD7-6832BCA30B2A}" srcOrd="10" destOrd="0" presId="urn:microsoft.com/office/officeart/2005/8/layout/vList3"/>
    <dgm:cxn modelId="{B69BF7B9-C73C-439C-91B7-92F198B163E8}" type="presParOf" srcId="{BF695DB1-FBA8-46F2-8FD7-6832BCA30B2A}" destId="{DAE632EB-9F97-4011-9001-B1C353BB1361}" srcOrd="0" destOrd="0" presId="urn:microsoft.com/office/officeart/2005/8/layout/vList3"/>
    <dgm:cxn modelId="{E460B0FF-9F63-4249-85DF-298A0ACF8735}" type="presParOf" srcId="{BF695DB1-FBA8-46F2-8FD7-6832BCA30B2A}" destId="{6AA00FE8-242B-4888-A53F-D09E1E67898D}" srcOrd="1" destOrd="0" presId="urn:microsoft.com/office/officeart/2005/8/layout/vList3"/>
    <dgm:cxn modelId="{E0E600FF-3F85-4BF6-8F6A-8B3FF12C5C72}" type="presParOf" srcId="{8D140726-B931-40D6-BB1B-B3F0A3626004}" destId="{DED85768-F284-486F-8B05-8A2ED3B7FDB9}" srcOrd="11" destOrd="0" presId="urn:microsoft.com/office/officeart/2005/8/layout/vList3"/>
    <dgm:cxn modelId="{1F13126C-1C61-4F30-AAF5-48B79D80B127}" type="presParOf" srcId="{8D140726-B931-40D6-BB1B-B3F0A3626004}" destId="{1F3C1739-0F6E-4653-8A51-4EDC3E3E9587}" srcOrd="12" destOrd="0" presId="urn:microsoft.com/office/officeart/2005/8/layout/vList3"/>
    <dgm:cxn modelId="{FBEC63D7-52B7-4894-BA03-9FBCE2E25DD0}" type="presParOf" srcId="{1F3C1739-0F6E-4653-8A51-4EDC3E3E9587}" destId="{F5FF08DC-DB0C-4B35-B1F2-CF437C4987AF}" srcOrd="0" destOrd="0" presId="urn:microsoft.com/office/officeart/2005/8/layout/vList3"/>
    <dgm:cxn modelId="{3407EA83-D653-4579-AD10-3D279F0AB053}" type="presParOf" srcId="{1F3C1739-0F6E-4653-8A51-4EDC3E3E9587}" destId="{1EAD7040-8FDD-4828-AED6-4F3F2F03D583}" srcOrd="1" destOrd="0" presId="urn:microsoft.com/office/officeart/2005/8/layout/v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Technology Transfer Policy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Bef>
              <a:spcPct val="0"/>
            </a:spcBef>
            <a:spcAft>
              <a:spcPts val="0"/>
            </a:spcAft>
          </a:pPr>
          <a:r>
            <a:rPr lang="en-US" sz="1800" dirty="0"/>
            <a:t>The effects of the Bayh-Dole Act of 1980</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07C75C8E-0DEA-4DDA-B70D-DFD3E44B3AE9}">
      <dgm:prSet phldrT="[Text]" custT="1"/>
      <dgm:spPr/>
      <dgm:t>
        <a:bodyPr/>
        <a:lstStyle/>
        <a:p>
          <a:pPr>
            <a:spcBef>
              <a:spcPct val="0"/>
            </a:spcBef>
            <a:spcAft>
              <a:spcPct val="15000"/>
            </a:spcAft>
          </a:pPr>
          <a:r>
            <a:rPr lang="en-US" sz="1400" dirty="0"/>
            <a:t>Dai, Popp &amp; </a:t>
          </a:r>
          <a:r>
            <a:rPr lang="en-US" sz="1400" dirty="0" err="1"/>
            <a:t>Bretschneider</a:t>
          </a:r>
          <a:r>
            <a:rPr lang="en-US" sz="1400" dirty="0"/>
            <a:t> (2005)</a:t>
          </a:r>
        </a:p>
      </dgm:t>
    </dgm:pt>
    <dgm:pt modelId="{5C19A2C8-EA94-4C28-9644-EFDC915C5F5B}" type="parTrans" cxnId="{E380ADD9-5041-447F-B338-95FB2FE0B128}">
      <dgm:prSet/>
      <dgm:spPr/>
      <dgm:t>
        <a:bodyPr/>
        <a:lstStyle/>
        <a:p>
          <a:endParaRPr lang="en-US"/>
        </a:p>
      </dgm:t>
    </dgm:pt>
    <dgm:pt modelId="{C2EBB4AF-340B-42F0-812E-66D9CDC0F89F}" type="sibTrans" cxnId="{E380ADD9-5041-447F-B338-95FB2FE0B128}">
      <dgm:prSet/>
      <dgm:spPr/>
      <dgm:t>
        <a:bodyPr/>
        <a:lstStyle/>
        <a:p>
          <a:endParaRPr lang="en-US"/>
        </a:p>
      </dgm:t>
    </dgm:pt>
    <dgm:pt modelId="{D4C8B335-3CDB-4410-8398-ADA4B6D707D0}">
      <dgm:prSet phldrT="[Text]" custT="1"/>
      <dgm:spPr/>
      <dgm:t>
        <a:bodyPr/>
        <a:lstStyle/>
        <a:p>
          <a:r>
            <a:rPr lang="en-US" sz="1800" dirty="0"/>
            <a:t>Mostly focused on the Bayh-Dole Act of 1980 and the SBIR program.</a:t>
          </a:r>
        </a:p>
        <a:p>
          <a:r>
            <a:rPr lang="en-US" sz="1800" dirty="0"/>
            <a:t>Many evaluation studies of the SBIR program.</a:t>
          </a:r>
        </a:p>
        <a:p>
          <a:r>
            <a:rPr lang="en-US" sz="1800" dirty="0"/>
            <a:t>Limited and fragment view of technology transfer policy. </a:t>
          </a:r>
        </a:p>
      </dgm:t>
    </dgm:pt>
    <dgm:pt modelId="{6731F8F5-E23D-44FE-B5E9-470480E8C490}" type="parTrans" cxnId="{57824522-8F28-49A9-B1BA-92C8570C9820}">
      <dgm:prSet/>
      <dgm:spPr/>
      <dgm:t>
        <a:bodyPr/>
        <a:lstStyle/>
        <a:p>
          <a:endParaRPr lang="en-US"/>
        </a:p>
      </dgm:t>
    </dgm:pt>
    <dgm:pt modelId="{8F87DA33-748F-4E07-B160-1008D5AD6E87}" type="sibTrans" cxnId="{57824522-8F28-49A9-B1BA-92C8570C9820}">
      <dgm:prSet/>
      <dgm:spPr/>
      <dgm:t>
        <a:bodyPr/>
        <a:lstStyle/>
        <a:p>
          <a:endParaRPr lang="en-US"/>
        </a:p>
      </dgm:t>
    </dgm:pt>
    <dgm:pt modelId="{95A718DB-BBB4-46AA-BDBB-89DD317FC1FE}">
      <dgm:prSet phldrT="[Text]" custT="1"/>
      <dgm:spPr/>
      <dgm:t>
        <a:bodyPr/>
        <a:lstStyle/>
        <a:p>
          <a:r>
            <a:rPr lang="en-US" sz="1800" dirty="0"/>
            <a:t>Few recent studies on policy.</a:t>
          </a:r>
        </a:p>
      </dgm:t>
    </dgm:pt>
    <dgm:pt modelId="{559BC884-0E6B-4229-BA40-83AA0FB5E9C3}" type="parTrans" cxnId="{68C078E2-2813-4DD1-8D49-00CEDEB813BD}">
      <dgm:prSet/>
      <dgm:spPr/>
      <dgm:t>
        <a:bodyPr/>
        <a:lstStyle/>
        <a:p>
          <a:endParaRPr lang="en-US"/>
        </a:p>
      </dgm:t>
    </dgm:pt>
    <dgm:pt modelId="{E6806443-A792-465A-A42A-65355E8F5FCD}" type="sibTrans" cxnId="{68C078E2-2813-4DD1-8D49-00CEDEB813BD}">
      <dgm:prSet/>
      <dgm:spPr/>
      <dgm:t>
        <a:bodyPr/>
        <a:lstStyle/>
        <a:p>
          <a:endParaRPr lang="en-US"/>
        </a:p>
      </dgm:t>
    </dgm:pt>
    <dgm:pt modelId="{8991BA4A-2F3E-42D3-8B99-BCDFA0BDD3E7}">
      <dgm:prSet phldrT="[Text]" custT="1"/>
      <dgm:spPr/>
      <dgm:t>
        <a:bodyPr/>
        <a:lstStyle/>
        <a:p>
          <a:pPr>
            <a:spcBef>
              <a:spcPct val="0"/>
            </a:spcBef>
            <a:spcAft>
              <a:spcPts val="0"/>
            </a:spcAft>
          </a:pPr>
          <a:r>
            <a:rPr lang="en-US" sz="1800" dirty="0"/>
            <a:t>Studies of the SBIR program</a:t>
          </a:r>
        </a:p>
      </dgm:t>
    </dgm:pt>
    <dgm:pt modelId="{E7596637-F052-4ABF-A854-69BA244C60E4}" type="parTrans" cxnId="{70632021-CCAC-475F-847B-33412C108413}">
      <dgm:prSet/>
      <dgm:spPr/>
      <dgm:t>
        <a:bodyPr/>
        <a:lstStyle/>
        <a:p>
          <a:endParaRPr lang="en-US"/>
        </a:p>
      </dgm:t>
    </dgm:pt>
    <dgm:pt modelId="{0EE95D68-7A6E-4523-9E32-BE80241F048A}" type="sibTrans" cxnId="{70632021-CCAC-475F-847B-33412C108413}">
      <dgm:prSet/>
      <dgm:spPr/>
      <dgm:t>
        <a:bodyPr/>
        <a:lstStyle/>
        <a:p>
          <a:endParaRPr lang="en-US"/>
        </a:p>
      </dgm:t>
    </dgm:pt>
    <dgm:pt modelId="{1B658359-2C06-4959-ACFA-FE1C6F542A4C}">
      <dgm:prSet phldrT="[Text]" custT="1"/>
      <dgm:spPr/>
      <dgm:t>
        <a:bodyPr/>
        <a:lstStyle/>
        <a:p>
          <a:pPr>
            <a:spcBef>
              <a:spcPct val="0"/>
            </a:spcBef>
            <a:spcAft>
              <a:spcPct val="15000"/>
            </a:spcAft>
          </a:pPr>
          <a:r>
            <a:rPr lang="en-US" sz="1400" dirty="0"/>
            <a:t>Joshi, Inouye &amp; Robinson (</a:t>
          </a:r>
          <a:r>
            <a:rPr lang="en-US" sz="1400" dirty="0" err="1"/>
            <a:t>n.d.</a:t>
          </a:r>
          <a:r>
            <a:rPr lang="en-US" sz="1400" dirty="0"/>
            <a:t>)</a:t>
          </a:r>
        </a:p>
      </dgm:t>
    </dgm:pt>
    <dgm:pt modelId="{D7EAFD01-062B-40D6-BF73-FED35A868A23}" type="parTrans" cxnId="{6F8D0440-6659-4CA2-B950-76EC95083270}">
      <dgm:prSet/>
      <dgm:spPr/>
      <dgm:t>
        <a:bodyPr/>
        <a:lstStyle/>
        <a:p>
          <a:endParaRPr lang="en-US"/>
        </a:p>
      </dgm:t>
    </dgm:pt>
    <dgm:pt modelId="{F7FFCAFF-AD37-4B07-BA2F-44A4A887303F}" type="sibTrans" cxnId="{6F8D0440-6659-4CA2-B950-76EC95083270}">
      <dgm:prSet/>
      <dgm:spPr/>
      <dgm:t>
        <a:bodyPr/>
        <a:lstStyle/>
        <a:p>
          <a:endParaRPr lang="en-US"/>
        </a:p>
      </dgm:t>
    </dgm:pt>
    <dgm:pt modelId="{C96093A5-2007-4070-BAE2-12F6DEFE31CF}">
      <dgm:prSet phldrT="[Text]" custT="1"/>
      <dgm:spPr/>
      <dgm:t>
        <a:bodyPr/>
        <a:lstStyle/>
        <a:p>
          <a:pPr>
            <a:spcBef>
              <a:spcPct val="0"/>
            </a:spcBef>
            <a:spcAft>
              <a:spcPct val="15000"/>
            </a:spcAft>
          </a:pPr>
          <a:r>
            <a:rPr lang="en-US" sz="1400" dirty="0"/>
            <a:t>Andersen, Bray &amp; Link (2017)</a:t>
          </a:r>
        </a:p>
      </dgm:t>
    </dgm:pt>
    <dgm:pt modelId="{A93431EA-64F7-4504-89F3-B8A04B2DB964}" type="parTrans" cxnId="{46762F97-09D4-4CE7-9388-492FA092C50C}">
      <dgm:prSet/>
      <dgm:spPr/>
      <dgm:t>
        <a:bodyPr/>
        <a:lstStyle/>
        <a:p>
          <a:endParaRPr lang="en-US"/>
        </a:p>
      </dgm:t>
    </dgm:pt>
    <dgm:pt modelId="{68B913D6-51C0-4F18-92E6-C2A1E06B86DC}" type="sibTrans" cxnId="{46762F97-09D4-4CE7-9388-492FA092C50C}">
      <dgm:prSet/>
      <dgm:spPr/>
      <dgm:t>
        <a:bodyPr/>
        <a:lstStyle/>
        <a:p>
          <a:endParaRPr lang="en-US"/>
        </a:p>
      </dgm:t>
    </dgm:pt>
    <dgm:pt modelId="{E06B764D-BC71-49D2-8B67-E60CEBB218ED}">
      <dgm:prSet phldrT="[Text]" custT="1"/>
      <dgm:spPr/>
      <dgm:t>
        <a:bodyPr/>
        <a:lstStyle/>
        <a:p>
          <a:pPr>
            <a:spcBef>
              <a:spcPct val="0"/>
            </a:spcBef>
            <a:spcAft>
              <a:spcPct val="15000"/>
            </a:spcAft>
          </a:pPr>
          <a:r>
            <a:rPr lang="en-US" sz="1400" dirty="0"/>
            <a:t>Link &amp; Scott (2010)</a:t>
          </a:r>
        </a:p>
      </dgm:t>
    </dgm:pt>
    <dgm:pt modelId="{0D6ED01A-4A13-463F-B050-390626DC5395}" type="parTrans" cxnId="{F5171554-D7E4-47E7-9A00-190CFCC733B4}">
      <dgm:prSet/>
      <dgm:spPr/>
      <dgm:t>
        <a:bodyPr/>
        <a:lstStyle/>
        <a:p>
          <a:endParaRPr lang="en-US"/>
        </a:p>
      </dgm:t>
    </dgm:pt>
    <dgm:pt modelId="{60B10233-1B50-4744-8D62-F2C31CF326E1}" type="sibTrans" cxnId="{F5171554-D7E4-47E7-9A00-190CFCC733B4}">
      <dgm:prSet/>
      <dgm:spPr/>
      <dgm:t>
        <a:bodyPr/>
        <a:lstStyle/>
        <a:p>
          <a:endParaRPr lang="en-US"/>
        </a:p>
      </dgm:t>
    </dgm:pt>
    <dgm:pt modelId="{E59BA82B-BC46-46DF-A083-AD27D0585BA1}">
      <dgm:prSet phldrT="[Text]" custT="1"/>
      <dgm:spPr/>
      <dgm:t>
        <a:bodyPr/>
        <a:lstStyle/>
        <a:p>
          <a:pPr>
            <a:spcBef>
              <a:spcPts val="0"/>
            </a:spcBef>
            <a:spcAft>
              <a:spcPts val="0"/>
            </a:spcAft>
          </a:pPr>
          <a:r>
            <a:rPr lang="en-US" sz="1800" dirty="0"/>
            <a:t>Innovation Policy</a:t>
          </a:r>
        </a:p>
      </dgm:t>
    </dgm:pt>
    <dgm:pt modelId="{E99FB7DE-9E90-4675-B14E-8080F8223A2F}" type="parTrans" cxnId="{2B87EAED-1CB1-4202-9184-9079E7096ACB}">
      <dgm:prSet/>
      <dgm:spPr/>
      <dgm:t>
        <a:bodyPr/>
        <a:lstStyle/>
        <a:p>
          <a:endParaRPr lang="en-US"/>
        </a:p>
      </dgm:t>
    </dgm:pt>
    <dgm:pt modelId="{D7E93C80-6DE3-4307-B894-C189EF8936B9}" type="sibTrans" cxnId="{2B87EAED-1CB1-4202-9184-9079E7096ACB}">
      <dgm:prSet/>
      <dgm:spPr/>
      <dgm:t>
        <a:bodyPr/>
        <a:lstStyle/>
        <a:p>
          <a:endParaRPr lang="en-US"/>
        </a:p>
      </dgm:t>
    </dgm:pt>
    <dgm:pt modelId="{10E145AF-1A51-4F0F-A808-162BD579AE8B}">
      <dgm:prSet phldrT="[Text]" custT="1"/>
      <dgm:spPr/>
      <dgm:t>
        <a:bodyPr/>
        <a:lstStyle/>
        <a:p>
          <a:pPr>
            <a:spcBef>
              <a:spcPct val="0"/>
            </a:spcBef>
            <a:spcAft>
              <a:spcPct val="15000"/>
            </a:spcAft>
          </a:pPr>
          <a:r>
            <a:rPr lang="en-US" sz="1400" dirty="0" err="1"/>
            <a:t>Hemel</a:t>
          </a:r>
          <a:r>
            <a:rPr lang="en-US" sz="1400" dirty="0"/>
            <a:t>, </a:t>
          </a:r>
          <a:r>
            <a:rPr lang="en-US" sz="1400" dirty="0" err="1"/>
            <a:t>Ouellett</a:t>
          </a:r>
          <a:r>
            <a:rPr lang="en-US" sz="1400" dirty="0"/>
            <a:t> &amp; Larrimore (2019)</a:t>
          </a:r>
        </a:p>
      </dgm:t>
    </dgm:pt>
    <dgm:pt modelId="{F3E0FDD7-C2B9-44D9-9155-9B2012CF3391}" type="parTrans" cxnId="{CAB489D9-A94A-4FB7-A80F-99BD4DEDDF01}">
      <dgm:prSet/>
      <dgm:spPr/>
      <dgm:t>
        <a:bodyPr/>
        <a:lstStyle/>
        <a:p>
          <a:endParaRPr lang="en-US"/>
        </a:p>
      </dgm:t>
    </dgm:pt>
    <dgm:pt modelId="{9ED38D4F-0528-49F4-A672-CDFAC78CBDC3}" type="sibTrans" cxnId="{CAB489D9-A94A-4FB7-A80F-99BD4DEDDF01}">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46762F97-09D4-4CE7-9388-492FA092C50C}" srcId="{8991BA4A-2F3E-42D3-8B99-BCDFA0BDD3E7}" destId="{C96093A5-2007-4070-BAE2-12F6DEFE31CF}" srcOrd="0" destOrd="0" parTransId="{A93431EA-64F7-4504-89F3-B8A04B2DB964}" sibTransId="{68B913D6-51C0-4F18-92E6-C2A1E06B86DC}"/>
    <dgm:cxn modelId="{07E749A8-6878-48F2-8857-B2C2B74D4CAD}" type="presOf" srcId="{10E145AF-1A51-4F0F-A808-162BD579AE8B}" destId="{7C1FE252-E5CE-40AF-AE08-799A5F741FEE}" srcOrd="0" destOrd="7" presId="urn:microsoft.com/office/officeart/2005/8/layout/hProcess7"/>
    <dgm:cxn modelId="{E380ADD9-5041-447F-B338-95FB2FE0B128}" srcId="{E7E09A88-A855-416A-B17D-5608BAB5F968}" destId="{07C75C8E-0DEA-4DDA-B70D-DFD3E44B3AE9}" srcOrd="0" destOrd="0" parTransId="{5C19A2C8-EA94-4C28-9644-EFDC915C5F5B}" sibTransId="{C2EBB4AF-340B-42F0-812E-66D9CDC0F89F}"/>
    <dgm:cxn modelId="{C5F869C1-8FEF-4035-9EC3-FDF0092FF2C9}" srcId="{56D25664-E470-4423-B8A9-9B6E4F3E9501}" destId="{F754AD28-8B54-47D9-83F1-8D45F35B4A81}" srcOrd="0" destOrd="0" parTransId="{26AD8160-5FF5-41BE-AFAF-E29D66F0469B}" sibTransId="{BE9BECBC-F94F-4E2F-BDB2-93E8BAEBEFE7}"/>
    <dgm:cxn modelId="{76696772-2554-4E2D-8639-34A91E715C32}" type="presOf" srcId="{56D25664-E470-4423-B8A9-9B6E4F3E9501}" destId="{5EE1D2E5-E13B-4FA3-A68E-FA18C8AD1A1A}" srcOrd="0" destOrd="0" presId="urn:microsoft.com/office/officeart/2005/8/layout/hProcess7"/>
    <dgm:cxn modelId="{464D6169-0418-4699-820B-C50B038C5CB9}" type="presOf" srcId="{95A718DB-BBB4-46AA-BDBB-89DD317FC1FE}" destId="{4428B23C-049C-4D7B-92D7-DD65A1003E4E}" srcOrd="0" destOrd="0" presId="urn:microsoft.com/office/officeart/2005/8/layout/hProcess7"/>
    <dgm:cxn modelId="{0C798256-5A86-478B-A5F7-71A8BB652059}" type="presOf" srcId="{C96093A5-2007-4070-BAE2-12F6DEFE31CF}" destId="{7C1FE252-E5CE-40AF-AE08-799A5F741FEE}" srcOrd="0" destOrd="3" presId="urn:microsoft.com/office/officeart/2005/8/layout/hProcess7"/>
    <dgm:cxn modelId="{06C256A2-CBB1-4F08-88FC-2AE8711DA723}" type="presOf" srcId="{E7E09A88-A855-416A-B17D-5608BAB5F968}" destId="{7C1FE252-E5CE-40AF-AE08-799A5F741FEE}" srcOrd="0" destOrd="0" presId="urn:microsoft.com/office/officeart/2005/8/layout/hProcess7"/>
    <dgm:cxn modelId="{E050B09D-A38A-407C-818D-52C32C052BE2}" type="presOf" srcId="{F754AD28-8B54-47D9-83F1-8D45F35B4A81}" destId="{0F07502A-98A4-4880-9779-27EA2BEB6F02}" srcOrd="0" destOrd="0" presId="urn:microsoft.com/office/officeart/2005/8/layout/hProcess7"/>
    <dgm:cxn modelId="{8D2101F9-CF87-42F9-B094-55D43C34B39E}" type="presOf" srcId="{07C75C8E-0DEA-4DDA-B70D-DFD3E44B3AE9}" destId="{7C1FE252-E5CE-40AF-AE08-799A5F741FEE}" srcOrd="0" destOrd="1" presId="urn:microsoft.com/office/officeart/2005/8/layout/hProcess7"/>
    <dgm:cxn modelId="{1376C00F-D2BE-4C3D-965E-81FB671F3B53}" type="presOf" srcId="{2645AA64-F59A-4567-9741-8E504AE7F8ED}" destId="{BBE81636-BCDD-48A0-B978-839FA7B950F8}"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487BF63E-91D9-4AD4-9115-9177A60F5A29}" type="presOf" srcId="{E59BA82B-BC46-46DF-A083-AD27D0585BA1}" destId="{7C1FE252-E5CE-40AF-AE08-799A5F741FEE}" srcOrd="0" destOrd="6"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403EF11F-788A-4983-B12C-053482AAB8FD}" type="presOf" srcId="{1B658359-2C06-4959-ACFA-FE1C6F542A4C}" destId="{7C1FE252-E5CE-40AF-AE08-799A5F741FEE}" srcOrd="0" destOrd="4"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6F8D0440-6659-4CA2-B950-76EC95083270}" srcId="{8991BA4A-2F3E-42D3-8B99-BCDFA0BDD3E7}" destId="{1B658359-2C06-4959-ACFA-FE1C6F542A4C}" srcOrd="1" destOrd="0" parTransId="{D7EAFD01-062B-40D6-BF73-FED35A868A23}" sibTransId="{F7FFCAFF-AD37-4B07-BA2F-44A4A887303F}"/>
    <dgm:cxn modelId="{0760B2AC-086D-43C3-B6DC-F21DD00EE472}" type="presOf" srcId="{8991BA4A-2F3E-42D3-8B99-BCDFA0BDD3E7}" destId="{7C1FE252-E5CE-40AF-AE08-799A5F741FEE}" srcOrd="0" destOrd="2" presId="urn:microsoft.com/office/officeart/2005/8/layout/hProcess7"/>
    <dgm:cxn modelId="{CAB489D9-A94A-4FB7-A80F-99BD4DEDDF01}" srcId="{E59BA82B-BC46-46DF-A083-AD27D0585BA1}" destId="{10E145AF-1A51-4F0F-A808-162BD579AE8B}" srcOrd="0" destOrd="0" parTransId="{F3E0FDD7-C2B9-44D9-9155-9B2012CF3391}" sibTransId="{9ED38D4F-0528-49F4-A672-CDFAC78CBDC3}"/>
    <dgm:cxn modelId="{5ED53018-804C-4B6E-8C96-35B9E163BB2B}" type="presOf" srcId="{275823A6-DA31-4015-971F-013EA967541C}" destId="{752682F3-57CE-4B43-B292-A62B3D508EDD}" srcOrd="1" destOrd="0" presId="urn:microsoft.com/office/officeart/2005/8/layout/hProcess7"/>
    <dgm:cxn modelId="{2B87EAED-1CB1-4202-9184-9079E7096ACB}" srcId="{275823A6-DA31-4015-971F-013EA967541C}" destId="{E59BA82B-BC46-46DF-A083-AD27D0585BA1}" srcOrd="2" destOrd="0" parTransId="{E99FB7DE-9E90-4675-B14E-8080F8223A2F}" sibTransId="{D7E93C80-6DE3-4307-B894-C189EF8936B9}"/>
    <dgm:cxn modelId="{874CAB56-E993-4BA7-B073-DD6F211AB452}" srcId="{E12051B9-F660-41FB-9BFB-187ECABCD821}" destId="{56D25664-E470-4423-B8A9-9B6E4F3E9501}" srcOrd="0" destOrd="0" parTransId="{AE225F17-CB4A-4698-895E-495209A24EDD}" sibTransId="{0513D618-905F-43E6-8DF3-0764A99732D8}"/>
    <dgm:cxn modelId="{1DCB0E8B-E40A-46BF-A80C-48D12181F989}" type="presOf" srcId="{E12051B9-F660-41FB-9BFB-187ECABCD821}" destId="{4413368B-ACCA-469B-9D0E-1FEFC4075FB0}" srcOrd="0" destOrd="0" presId="urn:microsoft.com/office/officeart/2005/8/layout/hProcess7"/>
    <dgm:cxn modelId="{68C078E2-2813-4DD1-8D49-00CEDEB813BD}" srcId="{2645AA64-F59A-4567-9741-8E504AE7F8ED}" destId="{95A718DB-BBB4-46AA-BDBB-89DD317FC1FE}" srcOrd="0" destOrd="0" parTransId="{559BC884-0E6B-4229-BA40-83AA0FB5E9C3}" sibTransId="{E6806443-A792-465A-A42A-65355E8F5FCD}"/>
    <dgm:cxn modelId="{70632021-CCAC-475F-847B-33412C108413}" srcId="{275823A6-DA31-4015-971F-013EA967541C}" destId="{8991BA4A-2F3E-42D3-8B99-BCDFA0BDD3E7}" srcOrd="1" destOrd="0" parTransId="{E7596637-F052-4ABF-A854-69BA244C60E4}" sibTransId="{0EE95D68-7A6E-4523-9E32-BE80241F048A}"/>
    <dgm:cxn modelId="{57824522-8F28-49A9-B1BA-92C8570C9820}" srcId="{2645AA64-F59A-4567-9741-8E504AE7F8ED}" destId="{D4C8B335-3CDB-4410-8398-ADA4B6D707D0}" srcOrd="1" destOrd="0" parTransId="{6731F8F5-E23D-44FE-B5E9-470480E8C490}" sibTransId="{8F87DA33-748F-4E07-B160-1008D5AD6E87}"/>
    <dgm:cxn modelId="{F5171554-D7E4-47E7-9A00-190CFCC733B4}" srcId="{8991BA4A-2F3E-42D3-8B99-BCDFA0BDD3E7}" destId="{E06B764D-BC71-49D2-8B67-E60CEBB218ED}" srcOrd="2" destOrd="0" parTransId="{0D6ED01A-4A13-463F-B050-390626DC5395}" sibTransId="{60B10233-1B50-4744-8D62-F2C31CF326E1}"/>
    <dgm:cxn modelId="{8BE4AC12-40F3-4F0D-917E-1DE0D831E752}" type="presOf" srcId="{56D25664-E470-4423-B8A9-9B6E4F3E9501}" destId="{1F2FC209-C6F9-4BD8-BE18-C50B50281548}" srcOrd="1" destOrd="0" presId="urn:microsoft.com/office/officeart/2005/8/layout/hProcess7"/>
    <dgm:cxn modelId="{C6077A86-F11F-4CC2-95FF-857ED3BB7A1B}" type="presOf" srcId="{2645AA64-F59A-4567-9741-8E504AE7F8ED}" destId="{5002EEF7-AB5F-41AC-BBA4-49DC2C142864}" srcOrd="1" destOrd="0" presId="urn:microsoft.com/office/officeart/2005/8/layout/hProcess7"/>
    <dgm:cxn modelId="{73BED005-4C76-4A25-890D-F4F5BB3BF3FE}" type="presOf" srcId="{275823A6-DA31-4015-971F-013EA967541C}" destId="{CB5EA34A-627A-4C1F-96E3-4088D2A98FDD}" srcOrd="0" destOrd="0" presId="urn:microsoft.com/office/officeart/2005/8/layout/hProcess7"/>
    <dgm:cxn modelId="{62E60EE8-063F-4C0A-8FDD-046B87B79BFA}" type="presOf" srcId="{E06B764D-BC71-49D2-8B67-E60CEBB218ED}" destId="{7C1FE252-E5CE-40AF-AE08-799A5F741FEE}" srcOrd="0" destOrd="5" presId="urn:microsoft.com/office/officeart/2005/8/layout/hProcess7"/>
    <dgm:cxn modelId="{A551A433-3F50-49D5-AAEA-152515D37B9D}" type="presOf" srcId="{D4C8B335-3CDB-4410-8398-ADA4B6D707D0}" destId="{4428B23C-049C-4D7B-92D7-DD65A1003E4E}" srcOrd="0" destOrd="1" presId="urn:microsoft.com/office/officeart/2005/8/layout/hProcess7"/>
    <dgm:cxn modelId="{425DFD99-0600-441A-B290-A9A946A0EFFB}" type="presParOf" srcId="{4413368B-ACCA-469B-9D0E-1FEFC4075FB0}" destId="{8E1BCC0E-B989-4435-8915-645304C71A64}" srcOrd="0" destOrd="0" presId="urn:microsoft.com/office/officeart/2005/8/layout/hProcess7"/>
    <dgm:cxn modelId="{CF9D8938-7BBF-4855-9665-3F02B713F0E0}" type="presParOf" srcId="{8E1BCC0E-B989-4435-8915-645304C71A64}" destId="{5EE1D2E5-E13B-4FA3-A68E-FA18C8AD1A1A}" srcOrd="0" destOrd="0" presId="urn:microsoft.com/office/officeart/2005/8/layout/hProcess7"/>
    <dgm:cxn modelId="{2215D7D8-6350-4676-80D1-4839A829929A}" type="presParOf" srcId="{8E1BCC0E-B989-4435-8915-645304C71A64}" destId="{1F2FC209-C6F9-4BD8-BE18-C50B50281548}" srcOrd="1" destOrd="0" presId="urn:microsoft.com/office/officeart/2005/8/layout/hProcess7"/>
    <dgm:cxn modelId="{F841D121-6FBD-4B7C-9CF1-26F2BB387BE6}" type="presParOf" srcId="{8E1BCC0E-B989-4435-8915-645304C71A64}" destId="{0F07502A-98A4-4880-9779-27EA2BEB6F02}" srcOrd="2" destOrd="0" presId="urn:microsoft.com/office/officeart/2005/8/layout/hProcess7"/>
    <dgm:cxn modelId="{14229070-CE5F-4E83-8E10-0ACD72522849}" type="presParOf" srcId="{4413368B-ACCA-469B-9D0E-1FEFC4075FB0}" destId="{13ACBB4E-2F0C-4773-92A7-F091255EA962}" srcOrd="1" destOrd="0" presId="urn:microsoft.com/office/officeart/2005/8/layout/hProcess7"/>
    <dgm:cxn modelId="{AE09B7C7-82C5-4BC2-97BD-779EF8C2AA16}" type="presParOf" srcId="{4413368B-ACCA-469B-9D0E-1FEFC4075FB0}" destId="{BAD87237-2D53-4DFC-BA2E-02EC39493885}" srcOrd="2" destOrd="0" presId="urn:microsoft.com/office/officeart/2005/8/layout/hProcess7"/>
    <dgm:cxn modelId="{5700D4A9-A017-4919-B93D-E747315435E4}" type="presParOf" srcId="{BAD87237-2D53-4DFC-BA2E-02EC39493885}" destId="{221F174E-2568-4C2B-B98A-B21C733FC119}" srcOrd="0" destOrd="0" presId="urn:microsoft.com/office/officeart/2005/8/layout/hProcess7"/>
    <dgm:cxn modelId="{C37A42D6-E932-42D6-B0E2-6096EC3EE79E}" type="presParOf" srcId="{BAD87237-2D53-4DFC-BA2E-02EC39493885}" destId="{45668240-D897-4FC1-8421-6DD785B65040}" srcOrd="1" destOrd="0" presId="urn:microsoft.com/office/officeart/2005/8/layout/hProcess7"/>
    <dgm:cxn modelId="{7E76728F-ABBB-4786-9A1D-448B40B4B7B0}" type="presParOf" srcId="{BAD87237-2D53-4DFC-BA2E-02EC39493885}" destId="{50ECFA14-9F36-4C35-911C-A780FF037D2C}" srcOrd="2" destOrd="0" presId="urn:microsoft.com/office/officeart/2005/8/layout/hProcess7"/>
    <dgm:cxn modelId="{F3CB2226-EF87-45C1-89A1-651237B2380F}" type="presParOf" srcId="{4413368B-ACCA-469B-9D0E-1FEFC4075FB0}" destId="{B0CEB5DD-B27E-454F-A39C-A559A187214D}" srcOrd="3" destOrd="0" presId="urn:microsoft.com/office/officeart/2005/8/layout/hProcess7"/>
    <dgm:cxn modelId="{65D9E4E3-9D52-433C-B49D-6C8BF7FD8356}" type="presParOf" srcId="{4413368B-ACCA-469B-9D0E-1FEFC4075FB0}" destId="{4C92115F-DFB0-4372-AF66-CF11B70A8EFD}" srcOrd="4" destOrd="0" presId="urn:microsoft.com/office/officeart/2005/8/layout/hProcess7"/>
    <dgm:cxn modelId="{35A38A27-2FF2-41ED-BB9F-08C70DDD55DB}" type="presParOf" srcId="{4C92115F-DFB0-4372-AF66-CF11B70A8EFD}" destId="{CB5EA34A-627A-4C1F-96E3-4088D2A98FDD}" srcOrd="0" destOrd="0" presId="urn:microsoft.com/office/officeart/2005/8/layout/hProcess7"/>
    <dgm:cxn modelId="{633F5966-DA14-4FEE-898F-5A21079D76F5}" type="presParOf" srcId="{4C92115F-DFB0-4372-AF66-CF11B70A8EFD}" destId="{752682F3-57CE-4B43-B292-A62B3D508EDD}" srcOrd="1" destOrd="0" presId="urn:microsoft.com/office/officeart/2005/8/layout/hProcess7"/>
    <dgm:cxn modelId="{0A9317B9-60D4-4B91-BC15-61834B92BD4D}" type="presParOf" srcId="{4C92115F-DFB0-4372-AF66-CF11B70A8EFD}" destId="{7C1FE252-E5CE-40AF-AE08-799A5F741FEE}" srcOrd="2" destOrd="0" presId="urn:microsoft.com/office/officeart/2005/8/layout/hProcess7"/>
    <dgm:cxn modelId="{7D07B7F7-D70D-4C3F-97FE-630EB9236093}" type="presParOf" srcId="{4413368B-ACCA-469B-9D0E-1FEFC4075FB0}" destId="{E94DD569-30C2-4DB5-BFE9-2EA1C054A099}" srcOrd="5" destOrd="0" presId="urn:microsoft.com/office/officeart/2005/8/layout/hProcess7"/>
    <dgm:cxn modelId="{62CFE03F-2FF8-46F0-B002-A7581073C649}" type="presParOf" srcId="{4413368B-ACCA-469B-9D0E-1FEFC4075FB0}" destId="{D0762C22-9124-4CFC-9FEF-33DB241A1B75}" srcOrd="6" destOrd="0" presId="urn:microsoft.com/office/officeart/2005/8/layout/hProcess7"/>
    <dgm:cxn modelId="{16310416-F8DF-4EA7-A010-343DDE4BDD8B}" type="presParOf" srcId="{D0762C22-9124-4CFC-9FEF-33DB241A1B75}" destId="{C8DF72E1-70D1-4214-8DAD-40E18FF824F5}" srcOrd="0" destOrd="0" presId="urn:microsoft.com/office/officeart/2005/8/layout/hProcess7"/>
    <dgm:cxn modelId="{13B12E05-E6EF-4A25-9177-9A9F10C86ECC}" type="presParOf" srcId="{D0762C22-9124-4CFC-9FEF-33DB241A1B75}" destId="{BAC8B8B3-49A2-4BE7-B498-654C601FE809}" srcOrd="1" destOrd="0" presId="urn:microsoft.com/office/officeart/2005/8/layout/hProcess7"/>
    <dgm:cxn modelId="{1A4586D5-A065-4FC8-84EF-1F34839C3F2A}" type="presParOf" srcId="{D0762C22-9124-4CFC-9FEF-33DB241A1B75}" destId="{4A5065A5-7398-4E75-9460-0F7770025FB9}" srcOrd="2" destOrd="0" presId="urn:microsoft.com/office/officeart/2005/8/layout/hProcess7"/>
    <dgm:cxn modelId="{173D669E-F4A7-49D2-A184-91C35D376B1D}" type="presParOf" srcId="{4413368B-ACCA-469B-9D0E-1FEFC4075FB0}" destId="{2AE61FAA-6DD0-4F7B-8C42-F1DA0A887180}" srcOrd="7" destOrd="0" presId="urn:microsoft.com/office/officeart/2005/8/layout/hProcess7"/>
    <dgm:cxn modelId="{2907EAC4-509A-4076-B608-299EDEF18984}" type="presParOf" srcId="{4413368B-ACCA-469B-9D0E-1FEFC4075FB0}" destId="{72B73D94-A19D-488F-A34B-978C721C47B4}" srcOrd="8" destOrd="0" presId="urn:microsoft.com/office/officeart/2005/8/layout/hProcess7"/>
    <dgm:cxn modelId="{8F160912-7D81-4CE0-AC08-F33D1E958576}" type="presParOf" srcId="{72B73D94-A19D-488F-A34B-978C721C47B4}" destId="{BBE81636-BCDD-48A0-B978-839FA7B950F8}" srcOrd="0" destOrd="0" presId="urn:microsoft.com/office/officeart/2005/8/layout/hProcess7"/>
    <dgm:cxn modelId="{EBABE0E7-07B9-49F3-82E1-BC0155FB4A6F}" type="presParOf" srcId="{72B73D94-A19D-488F-A34B-978C721C47B4}" destId="{5002EEF7-AB5F-41AC-BBA4-49DC2C142864}" srcOrd="1" destOrd="0" presId="urn:microsoft.com/office/officeart/2005/8/layout/hProcess7"/>
    <dgm:cxn modelId="{F310F270-8F7A-448C-869C-EC17DBBACA7E}"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Technology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Patent rights to an invention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pPr defTabSz="800100">
            <a:lnSpc>
              <a:spcPct val="90000"/>
            </a:lnSpc>
            <a:spcBef>
              <a:spcPct val="0"/>
            </a:spcBef>
            <a:spcAft>
              <a:spcPts val="600"/>
            </a:spcAft>
          </a:pPr>
          <a:r>
            <a:rPr lang="en-US" sz="1800" dirty="0" smtClean="0"/>
            <a:t>No universal definition.</a:t>
          </a:r>
        </a:p>
        <a:p>
          <a:pPr defTabSz="800100">
            <a:lnSpc>
              <a:spcPct val="90000"/>
            </a:lnSpc>
            <a:spcBef>
              <a:spcPct val="0"/>
            </a:spcBef>
            <a:spcAft>
              <a:spcPts val="600"/>
            </a:spcAft>
          </a:pPr>
          <a:r>
            <a:rPr lang="en-US" sz="1800" dirty="0" smtClean="0"/>
            <a:t>Not </a:t>
          </a:r>
          <a:r>
            <a:rPr lang="en-US" sz="1800" dirty="0"/>
            <a:t>explicitly defined.</a:t>
          </a:r>
        </a:p>
        <a:p>
          <a:pPr defTabSz="800100">
            <a:lnSpc>
              <a:spcPct val="90000"/>
            </a:lnSpc>
            <a:spcBef>
              <a:spcPct val="0"/>
            </a:spcBef>
            <a:spcAft>
              <a:spcPts val="600"/>
            </a:spcAft>
          </a:pPr>
          <a:r>
            <a:rPr lang="en-US" sz="1800" dirty="0" smtClean="0"/>
            <a:t>Not </a:t>
          </a:r>
          <a:r>
            <a:rPr lang="en-US" sz="1800" dirty="0"/>
            <a:t>all technology is patentable.</a:t>
          </a:r>
        </a:p>
        <a:p>
          <a:pPr marL="0" marR="0" indent="0" defTabSz="914400" eaLnBrk="1" fontAlgn="auto" latinLnBrk="0" hangingPunct="1">
            <a:lnSpc>
              <a:spcPct val="100000"/>
            </a:lnSpc>
            <a:spcBef>
              <a:spcPts val="0"/>
            </a:spcBef>
            <a:spcAft>
              <a:spcPts val="600"/>
            </a:spcAft>
            <a:buClrTx/>
            <a:buSzTx/>
            <a:buFontTx/>
            <a:buNone/>
            <a:tabLst/>
            <a:defRPr/>
          </a:pPr>
          <a:r>
            <a:rPr lang="en-US" sz="1800" dirty="0"/>
            <a:t>Academic knowledge and technology are not synonymous</a:t>
          </a:r>
          <a:r>
            <a:rPr lang="en-US" sz="1800" dirty="0" smtClean="0"/>
            <a:t>.</a:t>
          </a:r>
        </a:p>
        <a:p>
          <a:pPr defTabSz="800100">
            <a:lnSpc>
              <a:spcPct val="90000"/>
            </a:lnSpc>
            <a:spcBef>
              <a:spcPct val="0"/>
            </a:spcBef>
            <a:spcAft>
              <a:spcPct val="35000"/>
            </a:spcAft>
          </a:pP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D6C47C-2A82-400A-88DF-CE700FE5B4F6}">
      <dgm:prSet phldrT="[Text]" custT="1"/>
      <dgm:spPr/>
      <dgm:t>
        <a:bodyPr/>
        <a:lstStyle/>
        <a:p>
          <a:pPr>
            <a:spcAft>
              <a:spcPct val="15000"/>
            </a:spcAft>
          </a:pPr>
          <a:r>
            <a:rPr lang="en-US" sz="1400" dirty="0" err="1"/>
            <a:t>Markman</a:t>
          </a:r>
          <a:r>
            <a:rPr lang="en-US" sz="1400" dirty="0"/>
            <a:t>, </a:t>
          </a:r>
          <a:r>
            <a:rPr lang="en-US" sz="1400" dirty="0" err="1"/>
            <a:t>Gianiodis</a:t>
          </a:r>
          <a:r>
            <a:rPr lang="en-US" sz="1400" dirty="0"/>
            <a:t> &amp; Phan (2009)</a:t>
          </a:r>
        </a:p>
      </dgm:t>
    </dgm:pt>
    <dgm:pt modelId="{1D9B40F5-809E-4085-AAB3-28E848A0A618}" type="parTrans" cxnId="{AFC158A3-0A26-443F-8850-EAF636B0FB18}">
      <dgm:prSet/>
      <dgm:spPr/>
      <dgm:t>
        <a:bodyPr/>
        <a:lstStyle/>
        <a:p>
          <a:endParaRPr lang="en-US"/>
        </a:p>
      </dgm:t>
    </dgm:pt>
    <dgm:pt modelId="{9B0B3DE2-7641-427F-B8AC-F1DF4D7C1DD9}" type="sibTrans" cxnId="{AFC158A3-0A26-443F-8850-EAF636B0FB18}">
      <dgm:prSet/>
      <dgm:spPr/>
      <dgm:t>
        <a:bodyPr/>
        <a:lstStyle/>
        <a:p>
          <a:endParaRPr lang="en-US"/>
        </a:p>
      </dgm:t>
    </dgm:pt>
    <dgm:pt modelId="{7EEB8A88-FDA5-4732-BE90-4CACB02E33E7}">
      <dgm:prSet phldrT="[Text]" custT="1"/>
      <dgm:spPr/>
      <dgm:t>
        <a:bodyPr/>
        <a:lstStyle/>
        <a:p>
          <a:pPr>
            <a:spcAft>
              <a:spcPts val="0"/>
            </a:spcAft>
          </a:pPr>
          <a:r>
            <a:rPr lang="en-US" sz="1800" dirty="0"/>
            <a:t>Academic knowledge</a:t>
          </a:r>
        </a:p>
      </dgm:t>
    </dgm:pt>
    <dgm:pt modelId="{08ABF450-8327-4DFA-BDB7-A28ABFD7D78D}" type="parTrans" cxnId="{74CE3F80-6897-41CB-B518-5A26A0BBD928}">
      <dgm:prSet/>
      <dgm:spPr/>
      <dgm:t>
        <a:bodyPr/>
        <a:lstStyle/>
        <a:p>
          <a:endParaRPr lang="en-US"/>
        </a:p>
      </dgm:t>
    </dgm:pt>
    <dgm:pt modelId="{7C3F2F24-22CB-4095-B34A-9BAB3C3F6517}" type="sibTrans" cxnId="{74CE3F80-6897-41CB-B518-5A26A0BBD928}">
      <dgm:prSet/>
      <dgm:spPr/>
      <dgm:t>
        <a:bodyPr/>
        <a:lstStyle/>
        <a:p>
          <a:endParaRPr lang="en-US"/>
        </a:p>
      </dgm:t>
    </dgm:pt>
    <dgm:pt modelId="{2CC1F9DA-9BD5-4E70-B92A-8B0545959FAA}">
      <dgm:prSet phldrT="[Tex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B954F425-0A50-48F3-A27A-7549A3C91E88}" type="parTrans" cxnId="{4FD4F81B-F9FF-4CE0-AE92-A838D9701947}">
      <dgm:prSet/>
      <dgm:spPr/>
      <dgm:t>
        <a:bodyPr/>
        <a:lstStyle/>
        <a:p>
          <a:endParaRPr lang="en-US"/>
        </a:p>
      </dgm:t>
    </dgm:pt>
    <dgm:pt modelId="{4AFD4BD5-CCD6-4D41-B8F8-444E9EEBDA26}" type="sibTrans" cxnId="{4FD4F81B-F9FF-4CE0-AE92-A838D9701947}">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custLinFactNeighborX="-20" custLinFactNeighborY="-7629"/>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B4079E49-8C15-4492-A72D-B785699EEDEF}" type="presOf" srcId="{56D25664-E470-4423-B8A9-9B6E4F3E9501}" destId="{1F2FC209-C6F9-4BD8-BE18-C50B50281548}" srcOrd="1"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AFC158A3-0A26-443F-8850-EAF636B0FB18}" srcId="{E7E09A88-A855-416A-B17D-5608BAB5F968}" destId="{44D6C47C-2A82-400A-88DF-CE700FE5B4F6}" srcOrd="0" destOrd="0" parTransId="{1D9B40F5-809E-4085-AAB3-28E848A0A618}" sibTransId="{9B0B3DE2-7641-427F-B8AC-F1DF4D7C1DD9}"/>
    <dgm:cxn modelId="{982C3429-E99B-4B29-AA58-585E121A0F18}" type="presOf" srcId="{D264B8C8-0C74-4047-BC3D-D328ABB04B07}" destId="{4428B23C-049C-4D7B-92D7-DD65A1003E4E}" srcOrd="0" destOrd="0" presId="urn:microsoft.com/office/officeart/2005/8/layout/hProcess7"/>
    <dgm:cxn modelId="{6FACCBF3-FAC2-4C75-9924-78756922700F}" type="presOf" srcId="{44D6C47C-2A82-400A-88DF-CE700FE5B4F6}" destId="{7C1FE252-E5CE-40AF-AE08-799A5F741FEE}" srcOrd="0" destOrd="1" presId="urn:microsoft.com/office/officeart/2005/8/layout/hProcess7"/>
    <dgm:cxn modelId="{E3BA9FB2-B5D4-4A6B-A343-CF7A90A8C69E}" type="presOf" srcId="{F754AD28-8B54-47D9-83F1-8D45F35B4A81}" destId="{0F07502A-98A4-4880-9779-27EA2BEB6F02}" srcOrd="0" destOrd="0" presId="urn:microsoft.com/office/officeart/2005/8/layout/hProcess7"/>
    <dgm:cxn modelId="{ACFF0878-7DBB-4F38-B291-B00E324656EA}" type="presOf" srcId="{E12051B9-F660-41FB-9BFB-187ECABCD821}" destId="{4413368B-ACCA-469B-9D0E-1FEFC4075FB0}"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0BB8952D-4477-4C8D-A1CB-F7BE57D33850}"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7AD55E02-AAF6-4B97-910E-6630BC69E26C}" type="presOf" srcId="{275823A6-DA31-4015-971F-013EA967541C}" destId="{752682F3-57CE-4B43-B292-A62B3D508EDD}" srcOrd="1"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F14B5A-7078-4E00-849A-87AEE3907D77}" type="presOf" srcId="{2645AA64-F59A-4567-9741-8E504AE7F8ED}" destId="{5002EEF7-AB5F-41AC-BBA4-49DC2C142864}" srcOrd="1" destOrd="0" presId="urn:microsoft.com/office/officeart/2005/8/layout/hProcess7"/>
    <dgm:cxn modelId="{74CE3F80-6897-41CB-B518-5A26A0BBD928}" srcId="{275823A6-DA31-4015-971F-013EA967541C}" destId="{7EEB8A88-FDA5-4732-BE90-4CACB02E33E7}" srcOrd="1" destOrd="0" parTransId="{08ABF450-8327-4DFA-BDB7-A28ABFD7D78D}" sibTransId="{7C3F2F24-22CB-4095-B34A-9BAB3C3F6517}"/>
    <dgm:cxn modelId="{874CAB56-E993-4BA7-B073-DD6F211AB452}" srcId="{E12051B9-F660-41FB-9BFB-187ECABCD821}" destId="{56D25664-E470-4423-B8A9-9B6E4F3E9501}" srcOrd="0" destOrd="0" parTransId="{AE225F17-CB4A-4698-895E-495209A24EDD}" sibTransId="{0513D618-905F-43E6-8DF3-0764A99732D8}"/>
    <dgm:cxn modelId="{4FD4F81B-F9FF-4CE0-AE92-A838D9701947}" srcId="{7EEB8A88-FDA5-4732-BE90-4CACB02E33E7}" destId="{2CC1F9DA-9BD5-4E70-B92A-8B0545959FAA}" srcOrd="0" destOrd="0" parTransId="{B954F425-0A50-48F3-A27A-7549A3C91E88}" sibTransId="{4AFD4BD5-CCD6-4D41-B8F8-444E9EEBDA26}"/>
    <dgm:cxn modelId="{3E5E0C19-FB6A-438A-B497-792AAA222AB0}" type="presOf" srcId="{2CC1F9DA-9BD5-4E70-B92A-8B0545959FAA}" destId="{7C1FE252-E5CE-40AF-AE08-799A5F741FEE}" srcOrd="0" destOrd="3" presId="urn:microsoft.com/office/officeart/2005/8/layout/hProcess7"/>
    <dgm:cxn modelId="{F7D3D781-E7A9-49B1-9EF0-BC121EE80F85}" type="presOf" srcId="{7EEB8A88-FDA5-4732-BE90-4CACB02E33E7}" destId="{7C1FE252-E5CE-40AF-AE08-799A5F741FEE}" srcOrd="0" destOrd="2" presId="urn:microsoft.com/office/officeart/2005/8/layout/hProcess7"/>
    <dgm:cxn modelId="{4B8BD138-B8D8-4987-9D01-12439CC30C2C}" type="presOf" srcId="{E7E09A88-A855-416A-B17D-5608BAB5F968}" destId="{7C1FE252-E5CE-40AF-AE08-799A5F741FEE}" srcOrd="0" destOrd="0" presId="urn:microsoft.com/office/officeart/2005/8/layout/hProcess7"/>
    <dgm:cxn modelId="{78906CAA-52AE-4D19-BD07-D9E0618BF54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EF043F6-81C9-4B62-A3C2-161B9242ACE0}" type="presOf" srcId="{2645AA64-F59A-4567-9741-8E504AE7F8ED}" destId="{BBE81636-BCDD-48A0-B978-839FA7B950F8}" srcOrd="0" destOrd="0" presId="urn:microsoft.com/office/officeart/2005/8/layout/hProcess7"/>
    <dgm:cxn modelId="{6FF34941-3A60-47E8-9587-23E7C2E7FBB9}" type="presParOf" srcId="{4413368B-ACCA-469B-9D0E-1FEFC4075FB0}" destId="{8E1BCC0E-B989-4435-8915-645304C71A64}" srcOrd="0" destOrd="0" presId="urn:microsoft.com/office/officeart/2005/8/layout/hProcess7"/>
    <dgm:cxn modelId="{6E507EE1-9038-444D-AC92-4EDC3105A0FF}" type="presParOf" srcId="{8E1BCC0E-B989-4435-8915-645304C71A64}" destId="{5EE1D2E5-E13B-4FA3-A68E-FA18C8AD1A1A}" srcOrd="0" destOrd="0" presId="urn:microsoft.com/office/officeart/2005/8/layout/hProcess7"/>
    <dgm:cxn modelId="{F27016E5-F178-43A6-9147-AB6FE8EFAF43}" type="presParOf" srcId="{8E1BCC0E-B989-4435-8915-645304C71A64}" destId="{1F2FC209-C6F9-4BD8-BE18-C50B50281548}" srcOrd="1" destOrd="0" presId="urn:microsoft.com/office/officeart/2005/8/layout/hProcess7"/>
    <dgm:cxn modelId="{7A8EE87A-1200-4701-912C-BD5C4FDE9B55}" type="presParOf" srcId="{8E1BCC0E-B989-4435-8915-645304C71A64}" destId="{0F07502A-98A4-4880-9779-27EA2BEB6F02}" srcOrd="2" destOrd="0" presId="urn:microsoft.com/office/officeart/2005/8/layout/hProcess7"/>
    <dgm:cxn modelId="{635FAD3F-BFBC-4471-A1F5-D7ABFDD0460F}" type="presParOf" srcId="{4413368B-ACCA-469B-9D0E-1FEFC4075FB0}" destId="{13ACBB4E-2F0C-4773-92A7-F091255EA962}" srcOrd="1" destOrd="0" presId="urn:microsoft.com/office/officeart/2005/8/layout/hProcess7"/>
    <dgm:cxn modelId="{5438440B-6D26-4FDE-8C50-449244E168EE}" type="presParOf" srcId="{4413368B-ACCA-469B-9D0E-1FEFC4075FB0}" destId="{BAD87237-2D53-4DFC-BA2E-02EC39493885}" srcOrd="2" destOrd="0" presId="urn:microsoft.com/office/officeart/2005/8/layout/hProcess7"/>
    <dgm:cxn modelId="{9B7FA16E-D367-491A-B7AB-60187847BC4B}" type="presParOf" srcId="{BAD87237-2D53-4DFC-BA2E-02EC39493885}" destId="{221F174E-2568-4C2B-B98A-B21C733FC119}" srcOrd="0" destOrd="0" presId="urn:microsoft.com/office/officeart/2005/8/layout/hProcess7"/>
    <dgm:cxn modelId="{452D00B4-6DAD-4F7C-8050-EA4077634965}" type="presParOf" srcId="{BAD87237-2D53-4DFC-BA2E-02EC39493885}" destId="{45668240-D897-4FC1-8421-6DD785B65040}" srcOrd="1" destOrd="0" presId="urn:microsoft.com/office/officeart/2005/8/layout/hProcess7"/>
    <dgm:cxn modelId="{D0F56D7B-B5A8-47A5-BF5B-D32C02BAC75B}" type="presParOf" srcId="{BAD87237-2D53-4DFC-BA2E-02EC39493885}" destId="{50ECFA14-9F36-4C35-911C-A780FF037D2C}" srcOrd="2" destOrd="0" presId="urn:microsoft.com/office/officeart/2005/8/layout/hProcess7"/>
    <dgm:cxn modelId="{DA827FCF-9EBE-4D9D-8EC7-121D0674600C}" type="presParOf" srcId="{4413368B-ACCA-469B-9D0E-1FEFC4075FB0}" destId="{B0CEB5DD-B27E-454F-A39C-A559A187214D}" srcOrd="3" destOrd="0" presId="urn:microsoft.com/office/officeart/2005/8/layout/hProcess7"/>
    <dgm:cxn modelId="{15520DD5-00AE-43A8-8823-C4A40F2626DE}" type="presParOf" srcId="{4413368B-ACCA-469B-9D0E-1FEFC4075FB0}" destId="{4C92115F-DFB0-4372-AF66-CF11B70A8EFD}" srcOrd="4" destOrd="0" presId="urn:microsoft.com/office/officeart/2005/8/layout/hProcess7"/>
    <dgm:cxn modelId="{AA470EC9-9634-4BC2-8E8D-B45637B56DB0}" type="presParOf" srcId="{4C92115F-DFB0-4372-AF66-CF11B70A8EFD}" destId="{CB5EA34A-627A-4C1F-96E3-4088D2A98FDD}" srcOrd="0" destOrd="0" presId="urn:microsoft.com/office/officeart/2005/8/layout/hProcess7"/>
    <dgm:cxn modelId="{67CC8AEF-C99D-4CA9-AC64-8CB71DFAC78B}" type="presParOf" srcId="{4C92115F-DFB0-4372-AF66-CF11B70A8EFD}" destId="{752682F3-57CE-4B43-B292-A62B3D508EDD}" srcOrd="1" destOrd="0" presId="urn:microsoft.com/office/officeart/2005/8/layout/hProcess7"/>
    <dgm:cxn modelId="{25ACC279-4F6B-46DD-9617-40F8798880A8}" type="presParOf" srcId="{4C92115F-DFB0-4372-AF66-CF11B70A8EFD}" destId="{7C1FE252-E5CE-40AF-AE08-799A5F741FEE}" srcOrd="2" destOrd="0" presId="urn:microsoft.com/office/officeart/2005/8/layout/hProcess7"/>
    <dgm:cxn modelId="{F3147E9C-2C5B-43B8-B32B-7FF9B8E6C011}" type="presParOf" srcId="{4413368B-ACCA-469B-9D0E-1FEFC4075FB0}" destId="{E94DD569-30C2-4DB5-BFE9-2EA1C054A099}" srcOrd="5" destOrd="0" presId="urn:microsoft.com/office/officeart/2005/8/layout/hProcess7"/>
    <dgm:cxn modelId="{3B7F752E-7810-46C1-981A-904519AF3328}" type="presParOf" srcId="{4413368B-ACCA-469B-9D0E-1FEFC4075FB0}" destId="{D0762C22-9124-4CFC-9FEF-33DB241A1B75}" srcOrd="6" destOrd="0" presId="urn:microsoft.com/office/officeart/2005/8/layout/hProcess7"/>
    <dgm:cxn modelId="{44C8F8A0-51DC-4A9B-9E10-39E49302C2D8}" type="presParOf" srcId="{D0762C22-9124-4CFC-9FEF-33DB241A1B75}" destId="{C8DF72E1-70D1-4214-8DAD-40E18FF824F5}" srcOrd="0" destOrd="0" presId="urn:microsoft.com/office/officeart/2005/8/layout/hProcess7"/>
    <dgm:cxn modelId="{5ED6F97A-5774-482D-B94D-83893848E135}" type="presParOf" srcId="{D0762C22-9124-4CFC-9FEF-33DB241A1B75}" destId="{BAC8B8B3-49A2-4BE7-B498-654C601FE809}" srcOrd="1" destOrd="0" presId="urn:microsoft.com/office/officeart/2005/8/layout/hProcess7"/>
    <dgm:cxn modelId="{B6873A67-01FD-4C87-90CB-92B66DD23F33}" type="presParOf" srcId="{D0762C22-9124-4CFC-9FEF-33DB241A1B75}" destId="{4A5065A5-7398-4E75-9460-0F7770025FB9}" srcOrd="2" destOrd="0" presId="urn:microsoft.com/office/officeart/2005/8/layout/hProcess7"/>
    <dgm:cxn modelId="{89D4D044-122F-43D0-A5A8-DFEA0D272215}" type="presParOf" srcId="{4413368B-ACCA-469B-9D0E-1FEFC4075FB0}" destId="{2AE61FAA-6DD0-4F7B-8C42-F1DA0A887180}" srcOrd="7" destOrd="0" presId="urn:microsoft.com/office/officeart/2005/8/layout/hProcess7"/>
    <dgm:cxn modelId="{7E920A9C-9F74-459D-A2C4-2AA701B7BA4F}" type="presParOf" srcId="{4413368B-ACCA-469B-9D0E-1FEFC4075FB0}" destId="{72B73D94-A19D-488F-A34B-978C721C47B4}" srcOrd="8" destOrd="0" presId="urn:microsoft.com/office/officeart/2005/8/layout/hProcess7"/>
    <dgm:cxn modelId="{1D2A4340-A768-4625-A659-731A434A6BD0}" type="presParOf" srcId="{72B73D94-A19D-488F-A34B-978C721C47B4}" destId="{BBE81636-BCDD-48A0-B978-839FA7B950F8}" srcOrd="0" destOrd="0" presId="urn:microsoft.com/office/officeart/2005/8/layout/hProcess7"/>
    <dgm:cxn modelId="{F0EC97FC-BE34-45EF-B4E9-1C6E8F62B52F}" type="presParOf" srcId="{72B73D94-A19D-488F-A34B-978C721C47B4}" destId="{5002EEF7-AB5F-41AC-BBA4-49DC2C142864}" srcOrd="1" destOrd="0" presId="urn:microsoft.com/office/officeart/2005/8/layout/hProcess7"/>
    <dgm:cxn modelId="{DDA4F593-5DEE-4329-86DB-28689C0673D0}"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Technology Transfer</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Licensing, new venture formation, research collaborations, faculty consulting</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pPr marL="0" marR="0" indent="0" defTabSz="914400" eaLnBrk="1" fontAlgn="auto" latinLnBrk="0" hangingPunct="1">
            <a:lnSpc>
              <a:spcPct val="100000"/>
            </a:lnSpc>
            <a:spcBef>
              <a:spcPts val="0"/>
            </a:spcBef>
            <a:spcAft>
              <a:spcPts val="600"/>
            </a:spcAft>
            <a:buClrTx/>
            <a:buSzTx/>
            <a:buFontTx/>
            <a:buNone/>
            <a:tabLst/>
            <a:defRPr/>
          </a:pPr>
          <a:r>
            <a:rPr lang="en-US" sz="1800" dirty="0" smtClean="0"/>
            <a:t>No universal definition.</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E86116AF-FF1A-4CAC-B9D5-550DB396EE8F}">
      <dgm:prSe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CCDF520B-145F-4867-B3CD-BCC75C361749}" type="parTrans" cxnId="{8511B2E3-3D89-4684-885C-D90F4247E6D7}">
      <dgm:prSet/>
      <dgm:spPr/>
      <dgm:t>
        <a:bodyPr/>
        <a:lstStyle/>
        <a:p>
          <a:endParaRPr lang="en-US"/>
        </a:p>
      </dgm:t>
    </dgm:pt>
    <dgm:pt modelId="{537CA541-56E8-4D37-B7FD-9142DEB1394C}" type="sibTrans" cxnId="{8511B2E3-3D89-4684-885C-D90F4247E6D7}">
      <dgm:prSet/>
      <dgm:spPr/>
      <dgm:t>
        <a:bodyPr/>
        <a:lstStyle/>
        <a:p>
          <a:endParaRPr lang="en-US"/>
        </a:p>
      </dgm:t>
    </dgm:pt>
    <dgm:pt modelId="{28AA6982-7233-40EC-B0FD-E038C7DABB75}">
      <dgm:prSet custT="1"/>
      <dgm:spPr/>
      <dgm:t>
        <a:bodyPr/>
        <a:lstStyle/>
        <a:p>
          <a:pPr>
            <a:spcAft>
              <a:spcPct val="15000"/>
            </a:spcAft>
          </a:pPr>
          <a:r>
            <a:rPr lang="en-US" sz="1400" dirty="0"/>
            <a:t>Hallam, Wurth &amp; Mancha (2014)</a:t>
          </a:r>
        </a:p>
      </dgm:t>
    </dgm:pt>
    <dgm:pt modelId="{9535520F-7644-4462-876A-257987521B32}" type="parTrans" cxnId="{8683F48D-7909-4E1F-A532-6204A3A20169}">
      <dgm:prSet/>
      <dgm:spPr/>
      <dgm:t>
        <a:bodyPr/>
        <a:lstStyle/>
        <a:p>
          <a:endParaRPr lang="en-US"/>
        </a:p>
      </dgm:t>
    </dgm:pt>
    <dgm:pt modelId="{4FB6ED4A-42F4-4975-BE2E-7B3300458A36}" type="sibTrans" cxnId="{8683F48D-7909-4E1F-A532-6204A3A20169}">
      <dgm:prSet/>
      <dgm:spPr/>
      <dgm:t>
        <a:bodyPr/>
        <a:lstStyle/>
        <a:p>
          <a:endParaRPr lang="en-US"/>
        </a:p>
      </dgm:t>
    </dgm:pt>
    <dgm:pt modelId="{E58B5A47-C138-41FD-A589-C231A97834C5}">
      <dgm:prSet custT="1"/>
      <dgm:spPr/>
      <dgm:t>
        <a:bodyPr/>
        <a:lstStyle/>
        <a:p>
          <a:pPr>
            <a:spcAft>
              <a:spcPct val="15000"/>
            </a:spcAft>
          </a:pPr>
          <a:r>
            <a:rPr lang="en-US" sz="1400" dirty="0" err="1"/>
            <a:t>Markman</a:t>
          </a:r>
          <a:r>
            <a:rPr lang="en-US" sz="1400" dirty="0"/>
            <a:t>, </a:t>
          </a:r>
          <a:r>
            <a:rPr lang="en-US" sz="1400" dirty="0" err="1"/>
            <a:t>Gianiodis</a:t>
          </a:r>
          <a:r>
            <a:rPr lang="en-US" sz="1400" dirty="0"/>
            <a:t> &amp; Phan (2009)</a:t>
          </a:r>
        </a:p>
      </dgm:t>
    </dgm:pt>
    <dgm:pt modelId="{70DB7790-7630-418A-9A65-6A4FEF1A794E}" type="parTrans" cxnId="{37612963-5248-4487-8C1E-7601F02403F2}">
      <dgm:prSet/>
      <dgm:spPr/>
      <dgm:t>
        <a:bodyPr/>
        <a:lstStyle/>
        <a:p>
          <a:endParaRPr lang="en-US"/>
        </a:p>
      </dgm:t>
    </dgm:pt>
    <dgm:pt modelId="{6EA0B891-21D5-4EDF-9819-C1B330792A2D}" type="sibTrans" cxnId="{37612963-5248-4487-8C1E-7601F02403F2}">
      <dgm:prSet/>
      <dgm:spPr/>
      <dgm:t>
        <a:bodyPr/>
        <a:lstStyle/>
        <a:p>
          <a:endParaRPr lang="en-US"/>
        </a:p>
      </dgm:t>
    </dgm:pt>
    <dgm:pt modelId="{5E8ED5E5-1B4C-4016-B9D0-69E872C75C75}">
      <dgm:prSet phldrT="[Text]" custT="1"/>
      <dgm:spPr/>
      <dgm:t>
        <a:bodyPr/>
        <a:lstStyle/>
        <a:p>
          <a:pPr defTabSz="800100">
            <a:lnSpc>
              <a:spcPct val="90000"/>
            </a:lnSpc>
            <a:spcBef>
              <a:spcPct val="0"/>
            </a:spcBef>
            <a:spcAft>
              <a:spcPts val="600"/>
            </a:spcAft>
          </a:pPr>
          <a:r>
            <a:rPr lang="en-US" sz="1800" dirty="0" smtClean="0"/>
            <a:t>Conflates </a:t>
          </a:r>
          <a:r>
            <a:rPr lang="en-US" sz="1800" dirty="0"/>
            <a:t>the concept of technology transfer with the mechanisms for achieving it.</a:t>
          </a:r>
        </a:p>
      </dgm:t>
    </dgm:pt>
    <dgm:pt modelId="{351A0566-F3F9-406C-9B73-2DB580D1287C}" type="parTrans" cxnId="{7F1695E9-DBD1-4433-AC7F-DF93E2C4444C}">
      <dgm:prSet/>
      <dgm:spPr/>
      <dgm:t>
        <a:bodyPr/>
        <a:lstStyle/>
        <a:p>
          <a:endParaRPr lang="en-US"/>
        </a:p>
      </dgm:t>
    </dgm:pt>
    <dgm:pt modelId="{469DE897-4342-47F4-AB28-228D0E55F4A5}" type="sibTrans" cxnId="{7F1695E9-DBD1-4433-AC7F-DF93E2C4444C}">
      <dgm:prSet/>
      <dgm:spPr/>
      <dgm:t>
        <a:bodyPr/>
        <a:lstStyle/>
        <a:p>
          <a:endParaRPr lang="en-US"/>
        </a:p>
      </dgm:t>
    </dgm:pt>
    <dgm:pt modelId="{BCEAA19F-875D-442A-9B5A-49C5434FFCE0}">
      <dgm:prSet phldrT="[Text]" custT="1"/>
      <dgm:spPr/>
      <dgm:t>
        <a:bodyPr/>
        <a:lstStyle/>
        <a:p>
          <a:pPr marL="0" marR="0" indent="0" defTabSz="914400" eaLnBrk="1" fontAlgn="auto" latinLnBrk="0" hangingPunct="1">
            <a:lnSpc>
              <a:spcPct val="100000"/>
            </a:lnSpc>
            <a:spcBef>
              <a:spcPts val="0"/>
            </a:spcBef>
            <a:spcAft>
              <a:spcPts val="600"/>
            </a:spcAft>
            <a:buClrTx/>
            <a:buSzTx/>
            <a:buFontTx/>
            <a:buNone/>
            <a:tabLst/>
            <a:defRPr/>
          </a:pPr>
          <a:r>
            <a:rPr lang="en-US" sz="1800" dirty="0" smtClean="0"/>
            <a:t>Not explicitly defined.</a:t>
          </a:r>
        </a:p>
      </dgm:t>
    </dgm:pt>
    <dgm:pt modelId="{4F88F1EC-E1B8-4F49-90F0-4669DD734509}" type="parTrans" cxnId="{9604E665-DD5C-4EBC-92F1-EA2C5D98A755}">
      <dgm:prSet/>
      <dgm:spPr/>
      <dgm:t>
        <a:bodyPr/>
        <a:lstStyle/>
        <a:p>
          <a:endParaRPr lang="en-US"/>
        </a:p>
      </dgm:t>
    </dgm:pt>
    <dgm:pt modelId="{FFFD8E47-C420-45C7-BFFD-B495327D0916}" type="sibTrans" cxnId="{9604E665-DD5C-4EBC-92F1-EA2C5D98A755}">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custLinFactNeighborY="349"/>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7F1695E9-DBD1-4433-AC7F-DF93E2C4444C}" srcId="{2645AA64-F59A-4567-9741-8E504AE7F8ED}" destId="{5E8ED5E5-1B4C-4016-B9D0-69E872C75C75}" srcOrd="2" destOrd="0" parTransId="{351A0566-F3F9-406C-9B73-2DB580D1287C}" sibTransId="{469DE897-4342-47F4-AB28-228D0E55F4A5}"/>
    <dgm:cxn modelId="{EE855B06-5CCC-4C53-AF4C-575A8770D0D5}" type="presOf" srcId="{2645AA64-F59A-4567-9741-8E504AE7F8ED}" destId="{BBE81636-BCDD-48A0-B978-839FA7B950F8}" srcOrd="0" destOrd="0" presId="urn:microsoft.com/office/officeart/2005/8/layout/hProcess7"/>
    <dgm:cxn modelId="{37612963-5248-4487-8C1E-7601F02403F2}" srcId="{E7E09A88-A855-416A-B17D-5608BAB5F968}" destId="{E58B5A47-C138-41FD-A589-C231A97834C5}" srcOrd="2" destOrd="0" parTransId="{70DB7790-7630-418A-9A65-6A4FEF1A794E}" sibTransId="{6EA0B891-21D5-4EDF-9819-C1B330792A2D}"/>
    <dgm:cxn modelId="{874CAB56-E993-4BA7-B073-DD6F211AB452}" srcId="{E12051B9-F660-41FB-9BFB-187ECABCD821}" destId="{56D25664-E470-4423-B8A9-9B6E4F3E9501}" srcOrd="0" destOrd="0" parTransId="{AE225F17-CB4A-4698-895E-495209A24EDD}" sibTransId="{0513D618-905F-43E6-8DF3-0764A99732D8}"/>
    <dgm:cxn modelId="{1EA6C904-86FB-4129-B722-7D6AB44E92E7}" type="presOf" srcId="{28AA6982-7233-40EC-B0FD-E038C7DABB75}" destId="{7C1FE252-E5CE-40AF-AE08-799A5F741FEE}" srcOrd="0" destOrd="2" presId="urn:microsoft.com/office/officeart/2005/8/layout/hProcess7"/>
    <dgm:cxn modelId="{4F2D59D4-42CB-4024-AB1E-CF49167AD66E}" type="presOf" srcId="{E86116AF-FF1A-4CAC-B9D5-550DB396EE8F}" destId="{7C1FE252-E5CE-40AF-AE08-799A5F741FEE}" srcOrd="0" destOrd="1" presId="urn:microsoft.com/office/officeart/2005/8/layout/hProcess7"/>
    <dgm:cxn modelId="{471A7DB6-BBF5-404F-84D0-D7E3BFEF012C}" type="presOf" srcId="{D264B8C8-0C74-4047-BC3D-D328ABB04B07}" destId="{4428B23C-049C-4D7B-92D7-DD65A1003E4E}" srcOrd="0" destOrd="0" presId="urn:microsoft.com/office/officeart/2005/8/layout/hProcess7"/>
    <dgm:cxn modelId="{8511B2E3-3D89-4684-885C-D90F4247E6D7}" srcId="{E7E09A88-A855-416A-B17D-5608BAB5F968}" destId="{E86116AF-FF1A-4CAC-B9D5-550DB396EE8F}" srcOrd="0" destOrd="0" parTransId="{CCDF520B-145F-4867-B3CD-BCC75C361749}" sibTransId="{537CA541-56E8-4D37-B7FD-9142DEB1394C}"/>
    <dgm:cxn modelId="{31724960-6B7E-46B6-9E51-4822305409CC}" type="presOf" srcId="{E58B5A47-C138-41FD-A589-C231A97834C5}" destId="{7C1FE252-E5CE-40AF-AE08-799A5F741FEE}" srcOrd="0" destOrd="3" presId="urn:microsoft.com/office/officeart/2005/8/layout/hProcess7"/>
    <dgm:cxn modelId="{9604E665-DD5C-4EBC-92F1-EA2C5D98A755}" srcId="{2645AA64-F59A-4567-9741-8E504AE7F8ED}" destId="{BCEAA19F-875D-442A-9B5A-49C5434FFCE0}" srcOrd="1" destOrd="0" parTransId="{4F88F1EC-E1B8-4F49-90F0-4669DD734509}" sibTransId="{FFFD8E47-C420-45C7-BFFD-B495327D0916}"/>
    <dgm:cxn modelId="{E773E674-A783-4995-8E89-A8CE90DE21EF}" type="presOf" srcId="{275823A6-DA31-4015-971F-013EA967541C}" destId="{CB5EA34A-627A-4C1F-96E3-4088D2A98FDD}" srcOrd="0" destOrd="0" presId="urn:microsoft.com/office/officeart/2005/8/layout/hProcess7"/>
    <dgm:cxn modelId="{942D0196-1596-4F9E-BFD4-BF865BA8E5EA}" type="presOf" srcId="{275823A6-DA31-4015-971F-013EA967541C}" destId="{752682F3-57CE-4B43-B292-A62B3D508EDD}" srcOrd="1" destOrd="0" presId="urn:microsoft.com/office/officeart/2005/8/layout/hProcess7"/>
    <dgm:cxn modelId="{B7B03333-14D0-44A5-BCF3-D64F399F314C}" type="presOf" srcId="{56D25664-E470-4423-B8A9-9B6E4F3E9501}" destId="{5EE1D2E5-E13B-4FA3-A68E-FA18C8AD1A1A}"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CD48B93-ABB8-433A-A639-193F0A28CBE5}" srcId="{E12051B9-F660-41FB-9BFB-187ECABCD821}" destId="{2645AA64-F59A-4567-9741-8E504AE7F8ED}" srcOrd="2" destOrd="0" parTransId="{AC7E47B7-C191-494F-A858-138D80EBAA8B}" sibTransId="{8534D89E-94B4-4294-B728-B7172A8E774D}"/>
    <dgm:cxn modelId="{6A1E3EA1-BE98-462C-A58E-7BB7E43291AF}" type="presOf" srcId="{BCEAA19F-875D-442A-9B5A-49C5434FFCE0}" destId="{4428B23C-049C-4D7B-92D7-DD65A1003E4E}" srcOrd="0" destOrd="1" presId="urn:microsoft.com/office/officeart/2005/8/layout/hProcess7"/>
    <dgm:cxn modelId="{C9BE98AC-1803-4525-959C-CE3CDE6F77EE}" type="presOf" srcId="{E12051B9-F660-41FB-9BFB-187ECABCD821}" destId="{4413368B-ACCA-469B-9D0E-1FEFC4075FB0}"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4D5FBDEE-5039-4DEC-9B2D-8DC78F5DBCD6}" type="presOf" srcId="{56D25664-E470-4423-B8A9-9B6E4F3E9501}" destId="{1F2FC209-C6F9-4BD8-BE18-C50B50281548}" srcOrd="1" destOrd="0" presId="urn:microsoft.com/office/officeart/2005/8/layout/hProcess7"/>
    <dgm:cxn modelId="{8683F48D-7909-4E1F-A532-6204A3A20169}" srcId="{E7E09A88-A855-416A-B17D-5608BAB5F968}" destId="{28AA6982-7233-40EC-B0FD-E038C7DABB75}" srcOrd="1" destOrd="0" parTransId="{9535520F-7644-4462-876A-257987521B32}" sibTransId="{4FB6ED4A-42F4-4975-BE2E-7B3300458A36}"/>
    <dgm:cxn modelId="{44396268-9E9C-4E50-AEC0-2109C012557E}" type="presOf" srcId="{5E8ED5E5-1B4C-4016-B9D0-69E872C75C75}" destId="{4428B23C-049C-4D7B-92D7-DD65A1003E4E}" srcOrd="0" destOrd="2" presId="urn:microsoft.com/office/officeart/2005/8/layout/hProcess7"/>
    <dgm:cxn modelId="{DBFFBFAE-DDC3-444B-9D50-7010C2069103}" type="presOf" srcId="{2645AA64-F59A-4567-9741-8E504AE7F8ED}" destId="{5002EEF7-AB5F-41AC-BBA4-49DC2C142864}" srcOrd="1" destOrd="0" presId="urn:microsoft.com/office/officeart/2005/8/layout/hProcess7"/>
    <dgm:cxn modelId="{A69B40D2-9715-470E-B8AF-46EB5952D9C5}" type="presOf" srcId="{F754AD28-8B54-47D9-83F1-8D45F35B4A81}" destId="{0F07502A-98A4-4880-9779-27EA2BEB6F02}"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2A97522C-8E05-402F-80C9-8EA1026F7377}" type="presOf" srcId="{E7E09A88-A855-416A-B17D-5608BAB5F968}" destId="{7C1FE252-E5CE-40AF-AE08-799A5F741FE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6986F7BB-833B-43E8-9270-6D5BBED91484}" type="presParOf" srcId="{4413368B-ACCA-469B-9D0E-1FEFC4075FB0}" destId="{8E1BCC0E-B989-4435-8915-645304C71A64}" srcOrd="0" destOrd="0" presId="urn:microsoft.com/office/officeart/2005/8/layout/hProcess7"/>
    <dgm:cxn modelId="{C531520A-5B5C-4387-9F90-D965A040C1CE}" type="presParOf" srcId="{8E1BCC0E-B989-4435-8915-645304C71A64}" destId="{5EE1D2E5-E13B-4FA3-A68E-FA18C8AD1A1A}" srcOrd="0" destOrd="0" presId="urn:microsoft.com/office/officeart/2005/8/layout/hProcess7"/>
    <dgm:cxn modelId="{5D4A3D9D-A5EF-4601-9B74-A4B82DB3617B}" type="presParOf" srcId="{8E1BCC0E-B989-4435-8915-645304C71A64}" destId="{1F2FC209-C6F9-4BD8-BE18-C50B50281548}" srcOrd="1" destOrd="0" presId="urn:microsoft.com/office/officeart/2005/8/layout/hProcess7"/>
    <dgm:cxn modelId="{93F6F7A0-D890-4F17-8EF7-F62F05300276}" type="presParOf" srcId="{8E1BCC0E-B989-4435-8915-645304C71A64}" destId="{0F07502A-98A4-4880-9779-27EA2BEB6F02}" srcOrd="2" destOrd="0" presId="urn:microsoft.com/office/officeart/2005/8/layout/hProcess7"/>
    <dgm:cxn modelId="{4673C917-4F3F-46D8-B970-7CCC56875FF0}" type="presParOf" srcId="{4413368B-ACCA-469B-9D0E-1FEFC4075FB0}" destId="{13ACBB4E-2F0C-4773-92A7-F091255EA962}" srcOrd="1" destOrd="0" presId="urn:microsoft.com/office/officeart/2005/8/layout/hProcess7"/>
    <dgm:cxn modelId="{B5E1825B-4AD3-4CD7-8BE8-C8A194B0E407}" type="presParOf" srcId="{4413368B-ACCA-469B-9D0E-1FEFC4075FB0}" destId="{BAD87237-2D53-4DFC-BA2E-02EC39493885}" srcOrd="2" destOrd="0" presId="urn:microsoft.com/office/officeart/2005/8/layout/hProcess7"/>
    <dgm:cxn modelId="{4703E377-426D-4513-A4C0-6982AA8AA17B}" type="presParOf" srcId="{BAD87237-2D53-4DFC-BA2E-02EC39493885}" destId="{221F174E-2568-4C2B-B98A-B21C733FC119}" srcOrd="0" destOrd="0" presId="urn:microsoft.com/office/officeart/2005/8/layout/hProcess7"/>
    <dgm:cxn modelId="{085940A9-F8FA-429D-A8CC-53BC5818EFB6}" type="presParOf" srcId="{BAD87237-2D53-4DFC-BA2E-02EC39493885}" destId="{45668240-D897-4FC1-8421-6DD785B65040}" srcOrd="1" destOrd="0" presId="urn:microsoft.com/office/officeart/2005/8/layout/hProcess7"/>
    <dgm:cxn modelId="{6BD5D9F1-6559-4185-95B8-A9197520508D}" type="presParOf" srcId="{BAD87237-2D53-4DFC-BA2E-02EC39493885}" destId="{50ECFA14-9F36-4C35-911C-A780FF037D2C}" srcOrd="2" destOrd="0" presId="urn:microsoft.com/office/officeart/2005/8/layout/hProcess7"/>
    <dgm:cxn modelId="{7F86AD91-B053-4ED8-939B-63FC3E2B5F6E}" type="presParOf" srcId="{4413368B-ACCA-469B-9D0E-1FEFC4075FB0}" destId="{B0CEB5DD-B27E-454F-A39C-A559A187214D}" srcOrd="3" destOrd="0" presId="urn:microsoft.com/office/officeart/2005/8/layout/hProcess7"/>
    <dgm:cxn modelId="{A85DECF4-6659-4A91-8411-09BE6A99149E}" type="presParOf" srcId="{4413368B-ACCA-469B-9D0E-1FEFC4075FB0}" destId="{4C92115F-DFB0-4372-AF66-CF11B70A8EFD}" srcOrd="4" destOrd="0" presId="urn:microsoft.com/office/officeart/2005/8/layout/hProcess7"/>
    <dgm:cxn modelId="{DC0D0FC5-F4E7-4BDD-859D-3D30FC4936D0}" type="presParOf" srcId="{4C92115F-DFB0-4372-AF66-CF11B70A8EFD}" destId="{CB5EA34A-627A-4C1F-96E3-4088D2A98FDD}" srcOrd="0" destOrd="0" presId="urn:microsoft.com/office/officeart/2005/8/layout/hProcess7"/>
    <dgm:cxn modelId="{241E990B-8F59-4466-ACBA-524858A87435}" type="presParOf" srcId="{4C92115F-DFB0-4372-AF66-CF11B70A8EFD}" destId="{752682F3-57CE-4B43-B292-A62B3D508EDD}" srcOrd="1" destOrd="0" presId="urn:microsoft.com/office/officeart/2005/8/layout/hProcess7"/>
    <dgm:cxn modelId="{D52586BE-5134-4F75-9C50-7520F8A58901}" type="presParOf" srcId="{4C92115F-DFB0-4372-AF66-CF11B70A8EFD}" destId="{7C1FE252-E5CE-40AF-AE08-799A5F741FEE}" srcOrd="2" destOrd="0" presId="urn:microsoft.com/office/officeart/2005/8/layout/hProcess7"/>
    <dgm:cxn modelId="{A16A52F3-8A59-4947-8695-0F443CE658CD}" type="presParOf" srcId="{4413368B-ACCA-469B-9D0E-1FEFC4075FB0}" destId="{E94DD569-30C2-4DB5-BFE9-2EA1C054A099}" srcOrd="5" destOrd="0" presId="urn:microsoft.com/office/officeart/2005/8/layout/hProcess7"/>
    <dgm:cxn modelId="{A74AD79C-1F57-463D-9D62-60A35F1AC3F3}" type="presParOf" srcId="{4413368B-ACCA-469B-9D0E-1FEFC4075FB0}" destId="{D0762C22-9124-4CFC-9FEF-33DB241A1B75}" srcOrd="6" destOrd="0" presId="urn:microsoft.com/office/officeart/2005/8/layout/hProcess7"/>
    <dgm:cxn modelId="{2792476D-2B0F-4D07-9FAA-FD3FD545878D}" type="presParOf" srcId="{D0762C22-9124-4CFC-9FEF-33DB241A1B75}" destId="{C8DF72E1-70D1-4214-8DAD-40E18FF824F5}" srcOrd="0" destOrd="0" presId="urn:microsoft.com/office/officeart/2005/8/layout/hProcess7"/>
    <dgm:cxn modelId="{3C3117B3-81A7-4730-8C1B-482F66657CBF}" type="presParOf" srcId="{D0762C22-9124-4CFC-9FEF-33DB241A1B75}" destId="{BAC8B8B3-49A2-4BE7-B498-654C601FE809}" srcOrd="1" destOrd="0" presId="urn:microsoft.com/office/officeart/2005/8/layout/hProcess7"/>
    <dgm:cxn modelId="{B5115287-4927-4BA9-B001-D41ECDD5A47F}" type="presParOf" srcId="{D0762C22-9124-4CFC-9FEF-33DB241A1B75}" destId="{4A5065A5-7398-4E75-9460-0F7770025FB9}" srcOrd="2" destOrd="0" presId="urn:microsoft.com/office/officeart/2005/8/layout/hProcess7"/>
    <dgm:cxn modelId="{34063EBD-47C1-472A-8572-06DD487C255C}" type="presParOf" srcId="{4413368B-ACCA-469B-9D0E-1FEFC4075FB0}" destId="{2AE61FAA-6DD0-4F7B-8C42-F1DA0A887180}" srcOrd="7" destOrd="0" presId="urn:microsoft.com/office/officeart/2005/8/layout/hProcess7"/>
    <dgm:cxn modelId="{5C0C1F5C-BA58-411A-9F12-3C22F556E91E}" type="presParOf" srcId="{4413368B-ACCA-469B-9D0E-1FEFC4075FB0}" destId="{72B73D94-A19D-488F-A34B-978C721C47B4}" srcOrd="8" destOrd="0" presId="urn:microsoft.com/office/officeart/2005/8/layout/hProcess7"/>
    <dgm:cxn modelId="{59531008-D1AD-4E95-A947-110E5BA26D78}" type="presParOf" srcId="{72B73D94-A19D-488F-A34B-978C721C47B4}" destId="{BBE81636-BCDD-48A0-B978-839FA7B950F8}" srcOrd="0" destOrd="0" presId="urn:microsoft.com/office/officeart/2005/8/layout/hProcess7"/>
    <dgm:cxn modelId="{D445A2A6-8A1F-4D0B-8DA5-7B4B52CCFF00}" type="presParOf" srcId="{72B73D94-A19D-488F-A34B-978C721C47B4}" destId="{5002EEF7-AB5F-41AC-BBA4-49DC2C142864}" srcOrd="1" destOrd="0" presId="urn:microsoft.com/office/officeart/2005/8/layout/hProcess7"/>
    <dgm:cxn modelId="{DAC2424C-194A-4227-845C-F4F84C3C58BA}"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Defining Success</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Executed patent license, established new business entity, executed sponsored research agreement</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a:t>A patent license is often a requirement for forming a university spinout company.</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A63F54FD-8B74-4C7D-8473-B344FD749CC5}">
      <dgm:prSe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D711CDBD-5129-4209-AF16-BE75359CC8A4}" type="parTrans" cxnId="{E7399AAC-DE2C-4373-A835-9507151C7E0E}">
      <dgm:prSet/>
      <dgm:spPr/>
      <dgm:t>
        <a:bodyPr/>
        <a:lstStyle/>
        <a:p>
          <a:endParaRPr lang="en-US"/>
        </a:p>
      </dgm:t>
    </dgm:pt>
    <dgm:pt modelId="{3EAE25BB-5414-4CAE-8EDC-6BC4270CA5A4}" type="sibTrans" cxnId="{E7399AAC-DE2C-4373-A835-9507151C7E0E}">
      <dgm:prSet/>
      <dgm:spPr/>
      <dgm:t>
        <a:bodyPr/>
        <a:lstStyle/>
        <a:p>
          <a:endParaRPr lang="en-US"/>
        </a:p>
      </dgm:t>
    </dgm:pt>
    <dgm:pt modelId="{5E26D614-F864-488A-B521-ECFB18615A67}">
      <dgm:prSet phldrT="[Text]" custT="1"/>
      <dgm:spPr/>
      <dgm:t>
        <a:bodyPr/>
        <a:lstStyle/>
        <a:p>
          <a:r>
            <a:rPr lang="en-US" sz="1800" dirty="0"/>
            <a:t>Sponsored research may not be related to technology previously developed at the university.</a:t>
          </a:r>
        </a:p>
        <a:p>
          <a:r>
            <a:rPr lang="en-US" sz="1800" dirty="0"/>
            <a:t>Don’t accommodate instances that are not transactional in nature.</a:t>
          </a:r>
        </a:p>
      </dgm:t>
    </dgm:pt>
    <dgm:pt modelId="{6042B30F-04F9-491A-B025-8DAF5DAD22F4}" type="parTrans" cxnId="{8D8F1005-1254-4AA3-968E-F1062D3D5539}">
      <dgm:prSet/>
      <dgm:spPr/>
      <dgm:t>
        <a:bodyPr/>
        <a:lstStyle/>
        <a:p>
          <a:endParaRPr lang="en-US"/>
        </a:p>
      </dgm:t>
    </dgm:pt>
    <dgm:pt modelId="{447DC559-5F8E-4BB5-81B2-084CAF7ABD09}" type="sibTrans" cxnId="{8D8F1005-1254-4AA3-968E-F1062D3D5539}">
      <dgm:prSet/>
      <dgm:spPr/>
      <dgm:t>
        <a:bodyPr/>
        <a:lstStyle/>
        <a:p>
          <a:endParaRPr lang="en-US"/>
        </a:p>
      </dgm:t>
    </dgm:pt>
    <dgm:pt modelId="{B66FEDCD-05F5-486C-8CAE-52A8E512E89C}">
      <dgm:prSet custT="1"/>
      <dgm:spPr/>
      <dgm:t>
        <a:bodyPr/>
        <a:lstStyle/>
        <a:p>
          <a:pPr>
            <a:spcAft>
              <a:spcPct val="15000"/>
            </a:spcAft>
          </a:pPr>
          <a:r>
            <a:rPr lang="en-US" sz="1400" dirty="0" err="1"/>
            <a:t>Markman</a:t>
          </a:r>
          <a:r>
            <a:rPr lang="en-US" sz="1400" dirty="0"/>
            <a:t>, </a:t>
          </a:r>
          <a:r>
            <a:rPr lang="en-US" sz="1400" dirty="0" err="1"/>
            <a:t>Gioniodis</a:t>
          </a:r>
          <a:r>
            <a:rPr lang="en-US" sz="1400" dirty="0"/>
            <a:t> &amp; Phan (2009)</a:t>
          </a:r>
        </a:p>
      </dgm:t>
    </dgm:pt>
    <dgm:pt modelId="{A1A1A8E9-FC1C-440B-BEEE-514CF5E89A17}" type="parTrans" cxnId="{58B2BC64-5764-4AB9-A4AB-29E8748A79F4}">
      <dgm:prSet/>
      <dgm:spPr/>
      <dgm:t>
        <a:bodyPr/>
        <a:lstStyle/>
        <a:p>
          <a:endParaRPr lang="en-US"/>
        </a:p>
      </dgm:t>
    </dgm:pt>
    <dgm:pt modelId="{6D41E4AF-E64D-4792-8F65-5A3AAA325729}" type="sibTrans" cxnId="{58B2BC64-5764-4AB9-A4AB-29E8748A79F4}">
      <dgm:prSet/>
      <dgm:spPr/>
      <dgm:t>
        <a:bodyPr/>
        <a:lstStyle/>
        <a:p>
          <a:endParaRPr lang="en-US"/>
        </a:p>
      </dgm:t>
    </dgm:pt>
    <dgm:pt modelId="{DEA16A63-FA9D-4192-A529-0359124F8856}">
      <dgm:prSet custT="1"/>
      <dgm:spPr/>
      <dgm:t>
        <a:bodyPr/>
        <a:lstStyle/>
        <a:p>
          <a:pPr>
            <a:spcAft>
              <a:spcPct val="15000"/>
            </a:spcAft>
          </a:pPr>
          <a:r>
            <a:rPr lang="en-US" sz="1400" dirty="0"/>
            <a:t>Hallam, Wurth &amp; Mancha (2014)</a:t>
          </a:r>
        </a:p>
      </dgm:t>
    </dgm:pt>
    <dgm:pt modelId="{50241EA1-ACEB-4859-BDF5-8C00490A77F8}" type="parTrans" cxnId="{9A119129-BFC5-426B-ADBE-A12AEE62A7F2}">
      <dgm:prSet/>
      <dgm:spPr/>
      <dgm:t>
        <a:bodyPr/>
        <a:lstStyle/>
        <a:p>
          <a:endParaRPr lang="en-US"/>
        </a:p>
      </dgm:t>
    </dgm:pt>
    <dgm:pt modelId="{BD6B7C49-70A8-4A58-9FF0-D04F58C7049C}" type="sibTrans" cxnId="{9A119129-BFC5-426B-ADBE-A12AEE62A7F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9468C67F-56C6-4890-A41B-446E0BAD8B20}" type="presOf" srcId="{E12051B9-F660-41FB-9BFB-187ECABCD821}" destId="{4413368B-ACCA-469B-9D0E-1FEFC4075FB0}" srcOrd="0" destOrd="0" presId="urn:microsoft.com/office/officeart/2005/8/layout/hProcess7"/>
    <dgm:cxn modelId="{3C46EFEB-025A-4B4A-B32B-4DD9200ACF32}" type="presOf" srcId="{56D25664-E470-4423-B8A9-9B6E4F3E9501}" destId="{1F2FC209-C6F9-4BD8-BE18-C50B50281548}" srcOrd="1" destOrd="0" presId="urn:microsoft.com/office/officeart/2005/8/layout/hProcess7"/>
    <dgm:cxn modelId="{345E8502-C9FB-4C14-B93F-0E7CC17AC776}" type="presOf" srcId="{2645AA64-F59A-4567-9741-8E504AE7F8ED}" destId="{BBE81636-BCDD-48A0-B978-839FA7B950F8}" srcOrd="0" destOrd="0" presId="urn:microsoft.com/office/officeart/2005/8/layout/hProcess7"/>
    <dgm:cxn modelId="{0F565921-269C-4039-B027-DE123B2EA6D3}" type="presOf" srcId="{B66FEDCD-05F5-486C-8CAE-52A8E512E89C}" destId="{7C1FE252-E5CE-40AF-AE08-799A5F741FEE}" srcOrd="0" destOrd="2"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DA26EACB-9B9A-4CC5-8B01-DAE18BDBFC90}" type="presOf" srcId="{2645AA64-F59A-4567-9741-8E504AE7F8ED}" destId="{5002EEF7-AB5F-41AC-BBA4-49DC2C142864}" srcOrd="1" destOrd="0" presId="urn:microsoft.com/office/officeart/2005/8/layout/hProcess7"/>
    <dgm:cxn modelId="{A6C9FB56-CA4C-4D3D-9DF3-0FDA5A40B058}" type="presOf" srcId="{5E26D614-F864-488A-B521-ECFB18615A67}" destId="{4428B23C-049C-4D7B-92D7-DD65A1003E4E}" srcOrd="0" destOrd="1" presId="urn:microsoft.com/office/officeart/2005/8/layout/hProcess7"/>
    <dgm:cxn modelId="{7CD9E12C-6453-4DCD-8B09-3F2C537EAB52}" type="presOf" srcId="{275823A6-DA31-4015-971F-013EA967541C}" destId="{752682F3-57CE-4B43-B292-A62B3D508EDD}" srcOrd="1" destOrd="0" presId="urn:microsoft.com/office/officeart/2005/8/layout/hProcess7"/>
    <dgm:cxn modelId="{80B9EB3B-2B60-488D-89E7-F3CADBBD236B}" type="presOf" srcId="{E7E09A88-A855-416A-B17D-5608BAB5F968}" destId="{7C1FE252-E5CE-40AF-AE08-799A5F741FEE}" srcOrd="0" destOrd="0" presId="urn:microsoft.com/office/officeart/2005/8/layout/hProcess7"/>
    <dgm:cxn modelId="{F4EA48C2-FC9A-4F54-B786-EACA5C6FA5F9}" type="presOf" srcId="{D264B8C8-0C74-4047-BC3D-D328ABB04B07}" destId="{4428B23C-049C-4D7B-92D7-DD65A1003E4E}" srcOrd="0" destOrd="0" presId="urn:microsoft.com/office/officeart/2005/8/layout/hProcess7"/>
    <dgm:cxn modelId="{B8DBEC51-D664-4B9F-A8C1-5048D857CDD2}" type="presOf" srcId="{A63F54FD-8B74-4C7D-8473-B344FD749CC5}" destId="{7C1FE252-E5CE-40AF-AE08-799A5F741FEE}" srcOrd="0" destOrd="1"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CD48B93-ABB8-433A-A639-193F0A28CBE5}" srcId="{E12051B9-F660-41FB-9BFB-187ECABCD821}" destId="{2645AA64-F59A-4567-9741-8E504AE7F8ED}" srcOrd="2" destOrd="0" parTransId="{AC7E47B7-C191-494F-A858-138D80EBAA8B}" sibTransId="{8534D89E-94B4-4294-B728-B7172A8E774D}"/>
    <dgm:cxn modelId="{58B2BC64-5764-4AB9-A4AB-29E8748A79F4}" srcId="{E7E09A88-A855-416A-B17D-5608BAB5F968}" destId="{B66FEDCD-05F5-486C-8CAE-52A8E512E89C}" srcOrd="1" destOrd="0" parTransId="{A1A1A8E9-FC1C-440B-BEEE-514CF5E89A17}" sibTransId="{6D41E4AF-E64D-4792-8F65-5A3AAA325729}"/>
    <dgm:cxn modelId="{93B1179C-1A4F-4322-B7F5-7EDD3B10E174}" type="presOf" srcId="{F754AD28-8B54-47D9-83F1-8D45F35B4A81}" destId="{0F07502A-98A4-4880-9779-27EA2BEB6F02}"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A7F7B04-6A39-45A4-AF0B-D1A9094F072C}" type="presOf" srcId="{DEA16A63-FA9D-4192-A529-0359124F8856}" destId="{7C1FE252-E5CE-40AF-AE08-799A5F741FEE}" srcOrd="0" destOrd="3" presId="urn:microsoft.com/office/officeart/2005/8/layout/hProcess7"/>
    <dgm:cxn modelId="{06715221-C8AF-419C-820D-7BBF0648749C}" type="presOf" srcId="{275823A6-DA31-4015-971F-013EA967541C}" destId="{CB5EA34A-627A-4C1F-96E3-4088D2A98FDD}" srcOrd="0" destOrd="0" presId="urn:microsoft.com/office/officeart/2005/8/layout/hProcess7"/>
    <dgm:cxn modelId="{E7399AAC-DE2C-4373-A835-9507151C7E0E}" srcId="{E7E09A88-A855-416A-B17D-5608BAB5F968}" destId="{A63F54FD-8B74-4C7D-8473-B344FD749CC5}" srcOrd="0" destOrd="0" parTransId="{D711CDBD-5129-4209-AF16-BE75359CC8A4}" sibTransId="{3EAE25BB-5414-4CAE-8EDC-6BC4270CA5A4}"/>
    <dgm:cxn modelId="{6D9E101D-8C9B-45AD-8944-D23E0555CF3C}"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9A119129-BFC5-426B-ADBE-A12AEE62A7F2}" srcId="{E7E09A88-A855-416A-B17D-5608BAB5F968}" destId="{DEA16A63-FA9D-4192-A529-0359124F8856}" srcOrd="2" destOrd="0" parTransId="{50241EA1-ACEB-4859-BDF5-8C00490A77F8}" sibTransId="{BD6B7C49-70A8-4A58-9FF0-D04F58C7049C}"/>
    <dgm:cxn modelId="{955316F3-D59D-4E22-BAC5-4B54F7BE800A}" srcId="{275823A6-DA31-4015-971F-013EA967541C}" destId="{E7E09A88-A855-416A-B17D-5608BAB5F968}" srcOrd="0" destOrd="0" parTransId="{791A9365-62E9-4724-B5DD-36351582D82E}" sibTransId="{C2A5DE0A-7824-4E35-BB27-47DBE8541DB5}"/>
    <dgm:cxn modelId="{8D8F1005-1254-4AA3-968E-F1062D3D5539}" srcId="{2645AA64-F59A-4567-9741-8E504AE7F8ED}" destId="{5E26D614-F864-488A-B521-ECFB18615A67}" srcOrd="1" destOrd="0" parTransId="{6042B30F-04F9-491A-B025-8DAF5DAD22F4}" sibTransId="{447DC559-5F8E-4BB5-81B2-084CAF7ABD09}"/>
    <dgm:cxn modelId="{F59C226B-A15A-41DE-A46B-E19633E3B53E}" type="presParOf" srcId="{4413368B-ACCA-469B-9D0E-1FEFC4075FB0}" destId="{8E1BCC0E-B989-4435-8915-645304C71A64}" srcOrd="0" destOrd="0" presId="urn:microsoft.com/office/officeart/2005/8/layout/hProcess7"/>
    <dgm:cxn modelId="{81AA18A2-EEF4-41D9-8515-193C6D376E11}" type="presParOf" srcId="{8E1BCC0E-B989-4435-8915-645304C71A64}" destId="{5EE1D2E5-E13B-4FA3-A68E-FA18C8AD1A1A}" srcOrd="0" destOrd="0" presId="urn:microsoft.com/office/officeart/2005/8/layout/hProcess7"/>
    <dgm:cxn modelId="{67755E0C-3EB2-4F04-9926-B901F62740E7}" type="presParOf" srcId="{8E1BCC0E-B989-4435-8915-645304C71A64}" destId="{1F2FC209-C6F9-4BD8-BE18-C50B50281548}" srcOrd="1" destOrd="0" presId="urn:microsoft.com/office/officeart/2005/8/layout/hProcess7"/>
    <dgm:cxn modelId="{2DE8C1BA-2800-4A5C-9538-023957D25802}" type="presParOf" srcId="{8E1BCC0E-B989-4435-8915-645304C71A64}" destId="{0F07502A-98A4-4880-9779-27EA2BEB6F02}" srcOrd="2" destOrd="0" presId="urn:microsoft.com/office/officeart/2005/8/layout/hProcess7"/>
    <dgm:cxn modelId="{452C37CD-0E4F-49ED-82F0-7161CD27D444}" type="presParOf" srcId="{4413368B-ACCA-469B-9D0E-1FEFC4075FB0}" destId="{13ACBB4E-2F0C-4773-92A7-F091255EA962}" srcOrd="1" destOrd="0" presId="urn:microsoft.com/office/officeart/2005/8/layout/hProcess7"/>
    <dgm:cxn modelId="{3B37A81D-BD9F-454D-92C9-00202A1B0C81}" type="presParOf" srcId="{4413368B-ACCA-469B-9D0E-1FEFC4075FB0}" destId="{BAD87237-2D53-4DFC-BA2E-02EC39493885}" srcOrd="2" destOrd="0" presId="urn:microsoft.com/office/officeart/2005/8/layout/hProcess7"/>
    <dgm:cxn modelId="{62B2966E-0BDB-45BC-A343-81FAC7FC9272}" type="presParOf" srcId="{BAD87237-2D53-4DFC-BA2E-02EC39493885}" destId="{221F174E-2568-4C2B-B98A-B21C733FC119}" srcOrd="0" destOrd="0" presId="urn:microsoft.com/office/officeart/2005/8/layout/hProcess7"/>
    <dgm:cxn modelId="{00F02121-8BB1-43D7-8D75-78D8DDD1ADDC}" type="presParOf" srcId="{BAD87237-2D53-4DFC-BA2E-02EC39493885}" destId="{45668240-D897-4FC1-8421-6DD785B65040}" srcOrd="1" destOrd="0" presId="urn:microsoft.com/office/officeart/2005/8/layout/hProcess7"/>
    <dgm:cxn modelId="{14C43528-8F0F-4FDA-BD96-A2E978D685C3}" type="presParOf" srcId="{BAD87237-2D53-4DFC-BA2E-02EC39493885}" destId="{50ECFA14-9F36-4C35-911C-A780FF037D2C}" srcOrd="2" destOrd="0" presId="urn:microsoft.com/office/officeart/2005/8/layout/hProcess7"/>
    <dgm:cxn modelId="{13051E0E-AE32-467C-BF6E-7927A838178D}" type="presParOf" srcId="{4413368B-ACCA-469B-9D0E-1FEFC4075FB0}" destId="{B0CEB5DD-B27E-454F-A39C-A559A187214D}" srcOrd="3" destOrd="0" presId="urn:microsoft.com/office/officeart/2005/8/layout/hProcess7"/>
    <dgm:cxn modelId="{BC78F96B-3277-459D-9C06-9863575AD802}" type="presParOf" srcId="{4413368B-ACCA-469B-9D0E-1FEFC4075FB0}" destId="{4C92115F-DFB0-4372-AF66-CF11B70A8EFD}" srcOrd="4" destOrd="0" presId="urn:microsoft.com/office/officeart/2005/8/layout/hProcess7"/>
    <dgm:cxn modelId="{1C6BB721-6B6B-4151-BECE-A5C2C70E19D5}" type="presParOf" srcId="{4C92115F-DFB0-4372-AF66-CF11B70A8EFD}" destId="{CB5EA34A-627A-4C1F-96E3-4088D2A98FDD}" srcOrd="0" destOrd="0" presId="urn:microsoft.com/office/officeart/2005/8/layout/hProcess7"/>
    <dgm:cxn modelId="{BD9243CB-84DD-425D-9296-A9E1A32AEF7B}" type="presParOf" srcId="{4C92115F-DFB0-4372-AF66-CF11B70A8EFD}" destId="{752682F3-57CE-4B43-B292-A62B3D508EDD}" srcOrd="1" destOrd="0" presId="urn:microsoft.com/office/officeart/2005/8/layout/hProcess7"/>
    <dgm:cxn modelId="{C9A2C7A7-EAA5-45AF-9EE4-5C0875F9ED54}" type="presParOf" srcId="{4C92115F-DFB0-4372-AF66-CF11B70A8EFD}" destId="{7C1FE252-E5CE-40AF-AE08-799A5F741FEE}" srcOrd="2" destOrd="0" presId="urn:microsoft.com/office/officeart/2005/8/layout/hProcess7"/>
    <dgm:cxn modelId="{BFA08AFA-F67C-4AD8-90E7-31181FAE4024}" type="presParOf" srcId="{4413368B-ACCA-469B-9D0E-1FEFC4075FB0}" destId="{E94DD569-30C2-4DB5-BFE9-2EA1C054A099}" srcOrd="5" destOrd="0" presId="urn:microsoft.com/office/officeart/2005/8/layout/hProcess7"/>
    <dgm:cxn modelId="{27E5F088-1141-4A27-9D04-09CBCA5AC72F}" type="presParOf" srcId="{4413368B-ACCA-469B-9D0E-1FEFC4075FB0}" destId="{D0762C22-9124-4CFC-9FEF-33DB241A1B75}" srcOrd="6" destOrd="0" presId="urn:microsoft.com/office/officeart/2005/8/layout/hProcess7"/>
    <dgm:cxn modelId="{539DEB61-29D3-4DA4-9500-6BAEC737177F}" type="presParOf" srcId="{D0762C22-9124-4CFC-9FEF-33DB241A1B75}" destId="{C8DF72E1-70D1-4214-8DAD-40E18FF824F5}" srcOrd="0" destOrd="0" presId="urn:microsoft.com/office/officeart/2005/8/layout/hProcess7"/>
    <dgm:cxn modelId="{D4551D62-ED6D-4C48-AC7C-FCDB8101044F}" type="presParOf" srcId="{D0762C22-9124-4CFC-9FEF-33DB241A1B75}" destId="{BAC8B8B3-49A2-4BE7-B498-654C601FE809}" srcOrd="1" destOrd="0" presId="urn:microsoft.com/office/officeart/2005/8/layout/hProcess7"/>
    <dgm:cxn modelId="{767501BF-6768-4F1A-8563-4FF2FCCA1AC4}" type="presParOf" srcId="{D0762C22-9124-4CFC-9FEF-33DB241A1B75}" destId="{4A5065A5-7398-4E75-9460-0F7770025FB9}" srcOrd="2" destOrd="0" presId="urn:microsoft.com/office/officeart/2005/8/layout/hProcess7"/>
    <dgm:cxn modelId="{EBC81E12-9F8A-4DCA-A632-F268FFABA313}" type="presParOf" srcId="{4413368B-ACCA-469B-9D0E-1FEFC4075FB0}" destId="{2AE61FAA-6DD0-4F7B-8C42-F1DA0A887180}" srcOrd="7" destOrd="0" presId="urn:microsoft.com/office/officeart/2005/8/layout/hProcess7"/>
    <dgm:cxn modelId="{5CAA01F2-2200-4CE9-8390-FF866CDD39C5}" type="presParOf" srcId="{4413368B-ACCA-469B-9D0E-1FEFC4075FB0}" destId="{72B73D94-A19D-488F-A34B-978C721C47B4}" srcOrd="8" destOrd="0" presId="urn:microsoft.com/office/officeart/2005/8/layout/hProcess7"/>
    <dgm:cxn modelId="{7199D922-2022-422D-B8B5-ECED05CF392E}" type="presParOf" srcId="{72B73D94-A19D-488F-A34B-978C721C47B4}" destId="{BBE81636-BCDD-48A0-B978-839FA7B950F8}" srcOrd="0" destOrd="0" presId="urn:microsoft.com/office/officeart/2005/8/layout/hProcess7"/>
    <dgm:cxn modelId="{307F422D-D574-4890-AD7D-FFF46241F23F}" type="presParOf" srcId="{72B73D94-A19D-488F-A34B-978C721C47B4}" destId="{5002EEF7-AB5F-41AC-BBA4-49DC2C142864}" srcOrd="1" destOrd="0" presId="urn:microsoft.com/office/officeart/2005/8/layout/hProcess7"/>
    <dgm:cxn modelId="{E92420BD-73DE-47FB-81F8-431DB6AAE277}"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Success Factors</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No. of staff, no. of years of operation, portfolio size, office autonomy, university specialization, entrepreneurship infrastructure</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a:t>Studies have mostly focused on factors exogenous to the research and development process.</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F86BA50F-7B09-4CE2-8B83-90FEB494F38C}">
      <dgm:prSet phldrT="[Tex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E910A421-ED4D-4BCE-832C-1481D6654CBB}" type="parTrans" cxnId="{18E1F703-50F6-4B74-8D77-B189D361DBBA}">
      <dgm:prSet/>
      <dgm:spPr/>
      <dgm:t>
        <a:bodyPr/>
        <a:lstStyle/>
        <a:p>
          <a:endParaRPr lang="en-US"/>
        </a:p>
      </dgm:t>
    </dgm:pt>
    <dgm:pt modelId="{FCBE2083-2E00-41C2-B89E-BD45A38C3EE2}" type="sibTrans" cxnId="{18E1F703-50F6-4B74-8D77-B189D361DBBA}">
      <dgm:prSet/>
      <dgm:spPr/>
      <dgm:t>
        <a:bodyPr/>
        <a:lstStyle/>
        <a:p>
          <a:endParaRPr lang="en-US"/>
        </a:p>
      </dgm:t>
    </dgm:pt>
    <dgm:pt modelId="{76951B42-E84C-4D7E-88CB-7BC2F8F88A65}">
      <dgm:prSet phldrT="[Text]" custT="1"/>
      <dgm:spPr/>
      <dgm:t>
        <a:bodyPr/>
        <a:lstStyle/>
        <a:p>
          <a:pPr>
            <a:spcAft>
              <a:spcPct val="15000"/>
            </a:spcAft>
          </a:pPr>
          <a:r>
            <a:rPr lang="en-US" sz="1400" dirty="0" err="1"/>
            <a:t>Markman</a:t>
          </a:r>
          <a:r>
            <a:rPr lang="en-US" sz="1400" dirty="0"/>
            <a:t>, </a:t>
          </a:r>
          <a:r>
            <a:rPr lang="en-US" sz="1400" dirty="0" err="1"/>
            <a:t>Gioniodis</a:t>
          </a:r>
          <a:r>
            <a:rPr lang="en-US" sz="1400" dirty="0"/>
            <a:t> &amp; Phan (2009)</a:t>
          </a:r>
        </a:p>
      </dgm:t>
    </dgm:pt>
    <dgm:pt modelId="{8A28A73B-5DED-4934-9219-113CF1F69BCA}" type="parTrans" cxnId="{2AAA6F20-6A46-48E7-84CC-7740C961289D}">
      <dgm:prSet/>
      <dgm:spPr/>
      <dgm:t>
        <a:bodyPr/>
        <a:lstStyle/>
        <a:p>
          <a:endParaRPr lang="en-US"/>
        </a:p>
      </dgm:t>
    </dgm:pt>
    <dgm:pt modelId="{4689AFB9-8C35-427F-BDCB-FC663A2DAD3C}" type="sibTrans" cxnId="{2AAA6F20-6A46-48E7-84CC-7740C961289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18E1F703-50F6-4B74-8D77-B189D361DBBA}" srcId="{E7E09A88-A855-416A-B17D-5608BAB5F968}" destId="{F86BA50F-7B09-4CE2-8B83-90FEB494F38C}" srcOrd="0" destOrd="0" parTransId="{E910A421-ED4D-4BCE-832C-1481D6654CBB}" sibTransId="{FCBE2083-2E00-41C2-B89E-BD45A38C3EE2}"/>
    <dgm:cxn modelId="{3893ABA4-7B69-4D33-BC00-E43B7028591B}" type="presOf" srcId="{275823A6-DA31-4015-971F-013EA967541C}" destId="{752682F3-57CE-4B43-B292-A62B3D508EDD}" srcOrd="1" destOrd="0" presId="urn:microsoft.com/office/officeart/2005/8/layout/hProcess7"/>
    <dgm:cxn modelId="{CE72CA96-9220-4AFD-88F9-936C50BD554D}" type="presOf" srcId="{56D25664-E470-4423-B8A9-9B6E4F3E9501}" destId="{5EE1D2E5-E13B-4FA3-A68E-FA18C8AD1A1A}" srcOrd="0" destOrd="0" presId="urn:microsoft.com/office/officeart/2005/8/layout/hProcess7"/>
    <dgm:cxn modelId="{00159030-CC31-4E4C-890A-F6E3C11BD5B1}" type="presOf" srcId="{76951B42-E84C-4D7E-88CB-7BC2F8F88A65}" destId="{7C1FE252-E5CE-40AF-AE08-799A5F741FEE}" srcOrd="0" destOrd="2" presId="urn:microsoft.com/office/officeart/2005/8/layout/hProcess7"/>
    <dgm:cxn modelId="{E33F906C-6184-4915-B08F-2589CBE6451A}" type="presOf" srcId="{E7E09A88-A855-416A-B17D-5608BAB5F968}" destId="{7C1FE252-E5CE-40AF-AE08-799A5F741FEE}" srcOrd="0" destOrd="0" presId="urn:microsoft.com/office/officeart/2005/8/layout/hProcess7"/>
    <dgm:cxn modelId="{F2B964A8-5F49-4D22-92D2-39D6EEDC87F7}" type="presOf" srcId="{D264B8C8-0C74-4047-BC3D-D328ABB04B07}" destId="{4428B23C-049C-4D7B-92D7-DD65A1003E4E}" srcOrd="0" destOrd="0" presId="urn:microsoft.com/office/officeart/2005/8/layout/hProcess7"/>
    <dgm:cxn modelId="{FB56A77E-384F-4C09-AC6E-469F6C9D238D}" type="presOf" srcId="{2645AA64-F59A-4567-9741-8E504AE7F8ED}" destId="{5002EEF7-AB5F-41AC-BBA4-49DC2C142864}" srcOrd="1" destOrd="0" presId="urn:microsoft.com/office/officeart/2005/8/layout/hProcess7"/>
    <dgm:cxn modelId="{ACD334E6-E5C6-4C59-9387-0466A6740A69}" type="presOf" srcId="{56D25664-E470-4423-B8A9-9B6E4F3E9501}" destId="{1F2FC209-C6F9-4BD8-BE18-C50B50281548}" srcOrd="1" destOrd="0" presId="urn:microsoft.com/office/officeart/2005/8/layout/hProcess7"/>
    <dgm:cxn modelId="{D91D06ED-B068-4561-9615-B576EF3C2935}" type="presOf" srcId="{275823A6-DA31-4015-971F-013EA967541C}" destId="{CB5EA34A-627A-4C1F-96E3-4088D2A98FDD}" srcOrd="0" destOrd="0" presId="urn:microsoft.com/office/officeart/2005/8/layout/hProcess7"/>
    <dgm:cxn modelId="{2AAA6F20-6A46-48E7-84CC-7740C961289D}" srcId="{E7E09A88-A855-416A-B17D-5608BAB5F968}" destId="{76951B42-E84C-4D7E-88CB-7BC2F8F88A65}" srcOrd="1" destOrd="0" parTransId="{8A28A73B-5DED-4934-9219-113CF1F69BCA}" sibTransId="{4689AFB9-8C35-427F-BDCB-FC663A2DAD3C}"/>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DB0E41DD-BBBD-4BC6-B3BC-6EE03599BEEF}" type="presOf" srcId="{2645AA64-F59A-4567-9741-8E504AE7F8ED}" destId="{BBE81636-BCDD-48A0-B978-839FA7B950F8}" srcOrd="0" destOrd="0" presId="urn:microsoft.com/office/officeart/2005/8/layout/hProcess7"/>
    <dgm:cxn modelId="{BC0EF522-2BDC-4255-B4D0-59058E3EB702}" type="presOf" srcId="{E12051B9-F660-41FB-9BFB-187ECABCD821}" destId="{4413368B-ACCA-469B-9D0E-1FEFC4075FB0}"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FA79C83B-0A67-4DC7-ADBE-DB83B0AF2D79}" type="presOf" srcId="{F754AD28-8B54-47D9-83F1-8D45F35B4A81}" destId="{0F07502A-98A4-4880-9779-27EA2BEB6F02}"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CBFEF5BF-4C5E-4E32-9F19-BAE0077EA458}" type="presOf" srcId="{F86BA50F-7B09-4CE2-8B83-90FEB494F38C}" destId="{7C1FE252-E5CE-40AF-AE08-799A5F741FEE}" srcOrd="0" destOrd="1" presId="urn:microsoft.com/office/officeart/2005/8/layout/hProcess7"/>
    <dgm:cxn modelId="{FA57F11E-922A-4346-815A-F657CEBB5EAD}" type="presParOf" srcId="{4413368B-ACCA-469B-9D0E-1FEFC4075FB0}" destId="{8E1BCC0E-B989-4435-8915-645304C71A64}" srcOrd="0" destOrd="0" presId="urn:microsoft.com/office/officeart/2005/8/layout/hProcess7"/>
    <dgm:cxn modelId="{8CCA3484-8C08-4A52-B0DD-C8AAB594A63E}" type="presParOf" srcId="{8E1BCC0E-B989-4435-8915-645304C71A64}" destId="{5EE1D2E5-E13B-4FA3-A68E-FA18C8AD1A1A}" srcOrd="0" destOrd="0" presId="urn:microsoft.com/office/officeart/2005/8/layout/hProcess7"/>
    <dgm:cxn modelId="{35A8B9FD-A7CC-41FA-940B-715B05F5FF41}" type="presParOf" srcId="{8E1BCC0E-B989-4435-8915-645304C71A64}" destId="{1F2FC209-C6F9-4BD8-BE18-C50B50281548}" srcOrd="1" destOrd="0" presId="urn:microsoft.com/office/officeart/2005/8/layout/hProcess7"/>
    <dgm:cxn modelId="{B0092DE5-B5E2-4951-9E23-8B74B6D51A40}" type="presParOf" srcId="{8E1BCC0E-B989-4435-8915-645304C71A64}" destId="{0F07502A-98A4-4880-9779-27EA2BEB6F02}" srcOrd="2" destOrd="0" presId="urn:microsoft.com/office/officeart/2005/8/layout/hProcess7"/>
    <dgm:cxn modelId="{09548D86-BF25-48C8-8EFE-8D77EC1FFDE0}" type="presParOf" srcId="{4413368B-ACCA-469B-9D0E-1FEFC4075FB0}" destId="{13ACBB4E-2F0C-4773-92A7-F091255EA962}" srcOrd="1" destOrd="0" presId="urn:microsoft.com/office/officeart/2005/8/layout/hProcess7"/>
    <dgm:cxn modelId="{62AE9D49-FC2E-40D5-BEFE-FEA8319CFF1F}" type="presParOf" srcId="{4413368B-ACCA-469B-9D0E-1FEFC4075FB0}" destId="{BAD87237-2D53-4DFC-BA2E-02EC39493885}" srcOrd="2" destOrd="0" presId="urn:microsoft.com/office/officeart/2005/8/layout/hProcess7"/>
    <dgm:cxn modelId="{579CB4A6-B6F2-4633-B829-3989D206E1BD}" type="presParOf" srcId="{BAD87237-2D53-4DFC-BA2E-02EC39493885}" destId="{221F174E-2568-4C2B-B98A-B21C733FC119}" srcOrd="0" destOrd="0" presId="urn:microsoft.com/office/officeart/2005/8/layout/hProcess7"/>
    <dgm:cxn modelId="{5EF0110F-DCEB-4C27-8F4D-C72DC8E1B82B}" type="presParOf" srcId="{BAD87237-2D53-4DFC-BA2E-02EC39493885}" destId="{45668240-D897-4FC1-8421-6DD785B65040}" srcOrd="1" destOrd="0" presId="urn:microsoft.com/office/officeart/2005/8/layout/hProcess7"/>
    <dgm:cxn modelId="{FE7A6DA5-6199-4677-8D34-32420F0D749C}" type="presParOf" srcId="{BAD87237-2D53-4DFC-BA2E-02EC39493885}" destId="{50ECFA14-9F36-4C35-911C-A780FF037D2C}" srcOrd="2" destOrd="0" presId="urn:microsoft.com/office/officeart/2005/8/layout/hProcess7"/>
    <dgm:cxn modelId="{3F8E9638-BC1B-4199-8F07-AD2517673DF1}" type="presParOf" srcId="{4413368B-ACCA-469B-9D0E-1FEFC4075FB0}" destId="{B0CEB5DD-B27E-454F-A39C-A559A187214D}" srcOrd="3" destOrd="0" presId="urn:microsoft.com/office/officeart/2005/8/layout/hProcess7"/>
    <dgm:cxn modelId="{B02CEAFC-6F66-4EEA-9451-667AC8FCD058}" type="presParOf" srcId="{4413368B-ACCA-469B-9D0E-1FEFC4075FB0}" destId="{4C92115F-DFB0-4372-AF66-CF11B70A8EFD}" srcOrd="4" destOrd="0" presId="urn:microsoft.com/office/officeart/2005/8/layout/hProcess7"/>
    <dgm:cxn modelId="{244A4224-EA7D-43CA-A817-E3E438EC2526}" type="presParOf" srcId="{4C92115F-DFB0-4372-AF66-CF11B70A8EFD}" destId="{CB5EA34A-627A-4C1F-96E3-4088D2A98FDD}" srcOrd="0" destOrd="0" presId="urn:microsoft.com/office/officeart/2005/8/layout/hProcess7"/>
    <dgm:cxn modelId="{A504DAE5-52E1-4864-BE30-DD834C97E3D3}" type="presParOf" srcId="{4C92115F-DFB0-4372-AF66-CF11B70A8EFD}" destId="{752682F3-57CE-4B43-B292-A62B3D508EDD}" srcOrd="1" destOrd="0" presId="urn:microsoft.com/office/officeart/2005/8/layout/hProcess7"/>
    <dgm:cxn modelId="{76AC3B3E-0136-4FBB-9DEF-6A19AFCC92F3}" type="presParOf" srcId="{4C92115F-DFB0-4372-AF66-CF11B70A8EFD}" destId="{7C1FE252-E5CE-40AF-AE08-799A5F741FEE}" srcOrd="2" destOrd="0" presId="urn:microsoft.com/office/officeart/2005/8/layout/hProcess7"/>
    <dgm:cxn modelId="{3A9F685C-D1A7-4DE3-A7AD-7DF30785B325}" type="presParOf" srcId="{4413368B-ACCA-469B-9D0E-1FEFC4075FB0}" destId="{E94DD569-30C2-4DB5-BFE9-2EA1C054A099}" srcOrd="5" destOrd="0" presId="urn:microsoft.com/office/officeart/2005/8/layout/hProcess7"/>
    <dgm:cxn modelId="{C6363C5C-0A0B-4048-A058-4601C9E37922}" type="presParOf" srcId="{4413368B-ACCA-469B-9D0E-1FEFC4075FB0}" destId="{D0762C22-9124-4CFC-9FEF-33DB241A1B75}" srcOrd="6" destOrd="0" presId="urn:microsoft.com/office/officeart/2005/8/layout/hProcess7"/>
    <dgm:cxn modelId="{FC319898-95D8-4211-A3BB-2AF4057F3922}" type="presParOf" srcId="{D0762C22-9124-4CFC-9FEF-33DB241A1B75}" destId="{C8DF72E1-70D1-4214-8DAD-40E18FF824F5}" srcOrd="0" destOrd="0" presId="urn:microsoft.com/office/officeart/2005/8/layout/hProcess7"/>
    <dgm:cxn modelId="{2E916912-B074-4719-9A3E-36D46393CDF7}" type="presParOf" srcId="{D0762C22-9124-4CFC-9FEF-33DB241A1B75}" destId="{BAC8B8B3-49A2-4BE7-B498-654C601FE809}" srcOrd="1" destOrd="0" presId="urn:microsoft.com/office/officeart/2005/8/layout/hProcess7"/>
    <dgm:cxn modelId="{3147666F-A178-4F32-9781-D364AB71B774}" type="presParOf" srcId="{D0762C22-9124-4CFC-9FEF-33DB241A1B75}" destId="{4A5065A5-7398-4E75-9460-0F7770025FB9}" srcOrd="2" destOrd="0" presId="urn:microsoft.com/office/officeart/2005/8/layout/hProcess7"/>
    <dgm:cxn modelId="{1346F85C-F99C-4CD2-926F-6E7601984422}" type="presParOf" srcId="{4413368B-ACCA-469B-9D0E-1FEFC4075FB0}" destId="{2AE61FAA-6DD0-4F7B-8C42-F1DA0A887180}" srcOrd="7" destOrd="0" presId="urn:microsoft.com/office/officeart/2005/8/layout/hProcess7"/>
    <dgm:cxn modelId="{901E6D1B-2987-4AFF-BFE3-289C1BF5DF7C}" type="presParOf" srcId="{4413368B-ACCA-469B-9D0E-1FEFC4075FB0}" destId="{72B73D94-A19D-488F-A34B-978C721C47B4}" srcOrd="8" destOrd="0" presId="urn:microsoft.com/office/officeart/2005/8/layout/hProcess7"/>
    <dgm:cxn modelId="{F3CA7460-99A9-4E0A-BC9D-08249B368F7A}" type="presParOf" srcId="{72B73D94-A19D-488F-A34B-978C721C47B4}" destId="{BBE81636-BCDD-48A0-B978-839FA7B950F8}" srcOrd="0" destOrd="0" presId="urn:microsoft.com/office/officeart/2005/8/layout/hProcess7"/>
    <dgm:cxn modelId="{69B20882-9F58-4109-98EA-8F8E68750B16}" type="presParOf" srcId="{72B73D94-A19D-488F-A34B-978C721C47B4}" destId="{5002EEF7-AB5F-41AC-BBA4-49DC2C142864}" srcOrd="1" destOrd="0" presId="urn:microsoft.com/office/officeart/2005/8/layout/hProcess7"/>
    <dgm:cxn modelId="{9DD3F6AB-AAB3-4F26-9855-706621138334}"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Stage &amp; Geography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Bef>
              <a:spcPct val="0"/>
            </a:spcBef>
            <a:spcAft>
              <a:spcPts val="0"/>
            </a:spcAft>
          </a:pPr>
          <a:r>
            <a:rPr lang="en-US" sz="1800" dirty="0"/>
            <a:t>Development stage</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Development </a:t>
          </a:r>
          <a:r>
            <a:rPr lang="en-US" sz="1800" dirty="0"/>
            <a:t>stage </a:t>
          </a:r>
          <a:r>
            <a:rPr lang="en-US" sz="1800" dirty="0" smtClean="0"/>
            <a:t>has generally not been considered as an </a:t>
          </a:r>
          <a:r>
            <a:rPr lang="en-US" sz="1800" dirty="0"/>
            <a:t>independent variable.</a:t>
          </a:r>
        </a:p>
        <a:p>
          <a:r>
            <a:rPr lang="en-US" sz="1800" dirty="0"/>
            <a:t>Studies have investigated specific geographic factors such as venture capital</a:t>
          </a:r>
        </a:p>
        <a:p>
          <a:r>
            <a:rPr lang="en-US" sz="1800" dirty="0"/>
            <a:t>Studies have explored  the association between cities and innovation.</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AFF6176D-85DE-40AE-90C6-893C51B32EB3}">
      <dgm:prSet phldrT="[Text]" custT="1"/>
      <dgm:spPr/>
      <dgm:t>
        <a:bodyPr/>
        <a:lstStyle/>
        <a:p>
          <a:pPr>
            <a:spcBef>
              <a:spcPct val="0"/>
            </a:spcBef>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8EE3A1E5-0B44-40B7-9B59-F6DA84D9F6A6}" type="parTrans" cxnId="{B09E5938-AD3D-4EA9-970C-82C6FFA86BE2}">
      <dgm:prSet/>
      <dgm:spPr/>
      <dgm:t>
        <a:bodyPr/>
        <a:lstStyle/>
        <a:p>
          <a:endParaRPr lang="en-US"/>
        </a:p>
      </dgm:t>
    </dgm:pt>
    <dgm:pt modelId="{056A0E8C-03A8-4EA7-806A-DA6A878AA1E7}" type="sibTrans" cxnId="{B09E5938-AD3D-4EA9-970C-82C6FFA86BE2}">
      <dgm:prSet/>
      <dgm:spPr/>
      <dgm:t>
        <a:bodyPr/>
        <a:lstStyle/>
        <a:p>
          <a:endParaRPr lang="en-US"/>
        </a:p>
      </dgm:t>
    </dgm:pt>
    <dgm:pt modelId="{B1FFFC36-A8D3-451D-9C3A-93B8EDFBC6B5}">
      <dgm:prSet phldrT="[Text]" custT="1"/>
      <dgm:spPr/>
      <dgm:t>
        <a:bodyPr/>
        <a:lstStyle/>
        <a:p>
          <a:pPr>
            <a:spcBef>
              <a:spcPts val="0"/>
            </a:spcBef>
            <a:spcAft>
              <a:spcPts val="0"/>
            </a:spcAft>
          </a:pPr>
          <a:r>
            <a:rPr lang="en-US" sz="1800" dirty="0"/>
            <a:t>Association between cities and innovation</a:t>
          </a:r>
        </a:p>
      </dgm:t>
    </dgm:pt>
    <dgm:pt modelId="{A4168942-A87C-4279-8340-8FA8F4842A1C}" type="parTrans" cxnId="{3CC74B7C-BBAA-404B-B061-C3CF70BA6C52}">
      <dgm:prSet/>
      <dgm:spPr/>
      <dgm:t>
        <a:bodyPr/>
        <a:lstStyle/>
        <a:p>
          <a:endParaRPr lang="en-US"/>
        </a:p>
      </dgm:t>
    </dgm:pt>
    <dgm:pt modelId="{A4E9E1FE-B794-4427-9318-EF5C2483C10F}" type="sibTrans" cxnId="{3CC74B7C-BBAA-404B-B061-C3CF70BA6C52}">
      <dgm:prSet/>
      <dgm:spPr/>
      <dgm:t>
        <a:bodyPr/>
        <a:lstStyle/>
        <a:p>
          <a:endParaRPr lang="en-US"/>
        </a:p>
      </dgm:t>
    </dgm:pt>
    <dgm:pt modelId="{3E7C4519-64CD-4235-907C-0A2B2EBDDB2B}">
      <dgm:prSet phldrT="[Text]" custT="1"/>
      <dgm:spPr/>
      <dgm:t>
        <a:bodyPr/>
        <a:lstStyle/>
        <a:p>
          <a:pPr>
            <a:spcBef>
              <a:spcPct val="0"/>
            </a:spcBef>
            <a:spcAft>
              <a:spcPct val="15000"/>
            </a:spcAft>
          </a:pPr>
          <a:r>
            <a:rPr lang="en-US" sz="1400" dirty="0"/>
            <a:t>Florida, Alder &amp; </a:t>
          </a:r>
          <a:r>
            <a:rPr lang="en-US" sz="1400" dirty="0" err="1"/>
            <a:t>Mellander</a:t>
          </a:r>
          <a:r>
            <a:rPr lang="en-US" sz="1400" dirty="0"/>
            <a:t> (2017)</a:t>
          </a:r>
        </a:p>
      </dgm:t>
    </dgm:pt>
    <dgm:pt modelId="{049A2AB5-51A6-492C-92DA-5C229F22C240}" type="parTrans" cxnId="{8E8CA84A-5BBC-4D26-9512-14543001D4AE}">
      <dgm:prSet/>
      <dgm:spPr/>
      <dgm:t>
        <a:bodyPr/>
        <a:lstStyle/>
        <a:p>
          <a:endParaRPr lang="en-US"/>
        </a:p>
      </dgm:t>
    </dgm:pt>
    <dgm:pt modelId="{29C0C1B3-D692-4EC8-A9C8-6D22145F5DB1}" type="sibTrans" cxnId="{8E8CA84A-5BBC-4D26-9512-14543001D4AE}">
      <dgm:prSet/>
      <dgm:spPr/>
      <dgm:t>
        <a:bodyPr/>
        <a:lstStyle/>
        <a:p>
          <a:endParaRPr lang="en-US"/>
        </a:p>
      </dgm:t>
    </dgm:pt>
    <dgm:pt modelId="{B1DCE110-24AB-4236-B3C6-4FE160C4D2B8}">
      <dgm:prSet phldrT="[Text]" custT="1"/>
      <dgm:spPr/>
      <dgm:t>
        <a:bodyPr/>
        <a:lstStyle/>
        <a:p>
          <a:pPr>
            <a:spcBef>
              <a:spcPct val="0"/>
            </a:spcBef>
            <a:spcAft>
              <a:spcPct val="15000"/>
            </a:spcAft>
          </a:pPr>
          <a:r>
            <a:rPr lang="en-US" sz="1400" dirty="0"/>
            <a:t>Florida &amp; </a:t>
          </a:r>
          <a:r>
            <a:rPr lang="en-US" sz="1400" dirty="0" err="1"/>
            <a:t>Lellander</a:t>
          </a:r>
          <a:r>
            <a:rPr lang="en-US" sz="1400" dirty="0"/>
            <a:t> (2016)</a:t>
          </a:r>
        </a:p>
      </dgm:t>
    </dgm:pt>
    <dgm:pt modelId="{68D62A61-2FFC-404A-A6AB-3574AFB40C80}" type="parTrans" cxnId="{606D77F8-F89D-4D3D-A6E8-822491591595}">
      <dgm:prSet/>
      <dgm:spPr/>
      <dgm:t>
        <a:bodyPr/>
        <a:lstStyle/>
        <a:p>
          <a:endParaRPr lang="en-US"/>
        </a:p>
      </dgm:t>
    </dgm:pt>
    <dgm:pt modelId="{CB665FF9-7446-4441-B264-9E225251D9FD}" type="sibTrans" cxnId="{606D77F8-F89D-4D3D-A6E8-822491591595}">
      <dgm:prSet/>
      <dgm:spPr/>
      <dgm:t>
        <a:bodyPr/>
        <a:lstStyle/>
        <a:p>
          <a:endParaRPr lang="en-US"/>
        </a:p>
      </dgm:t>
    </dgm:pt>
    <dgm:pt modelId="{B788EC3F-15F2-4F7D-B8B7-6CD1B0127EA5}">
      <dgm:prSet phldrT="[Text]" custT="1"/>
      <dgm:spPr/>
      <dgm:t>
        <a:bodyPr/>
        <a:lstStyle/>
        <a:p>
          <a:pPr>
            <a:spcBef>
              <a:spcPct val="0"/>
            </a:spcBef>
            <a:spcAft>
              <a:spcPct val="15000"/>
            </a:spcAft>
          </a:pPr>
          <a:r>
            <a:rPr lang="en-US" sz="1400" dirty="0" err="1"/>
            <a:t>Reuer</a:t>
          </a:r>
          <a:r>
            <a:rPr lang="en-US" sz="1400" dirty="0"/>
            <a:t> &amp; </a:t>
          </a:r>
          <a:r>
            <a:rPr lang="en-US" sz="1400" dirty="0" err="1"/>
            <a:t>Lahiri</a:t>
          </a:r>
          <a:r>
            <a:rPr lang="en-US" sz="1400" dirty="0"/>
            <a:t> (2014)</a:t>
          </a:r>
        </a:p>
      </dgm:t>
    </dgm:pt>
    <dgm:pt modelId="{8E27B5BB-0CCE-4AD9-BBD9-2720B14048D1}" type="parTrans" cxnId="{3454834B-05D9-49C0-B367-ABD37A9248C4}">
      <dgm:prSet/>
      <dgm:spPr/>
      <dgm:t>
        <a:bodyPr/>
        <a:lstStyle/>
        <a:p>
          <a:endParaRPr lang="en-US"/>
        </a:p>
      </dgm:t>
    </dgm:pt>
    <dgm:pt modelId="{F3590E07-8170-4762-9ED1-243BC06CDA59}" type="sibTrans" cxnId="{3454834B-05D9-49C0-B367-ABD37A9248C4}">
      <dgm:prSet/>
      <dgm:spPr/>
      <dgm:t>
        <a:bodyPr/>
        <a:lstStyle/>
        <a:p>
          <a:endParaRPr lang="en-US"/>
        </a:p>
      </dgm:t>
    </dgm:pt>
    <dgm:pt modelId="{03FDD481-2C2D-4504-B65C-774E995BF815}">
      <dgm:prSet phldrT="[Text]" custT="1"/>
      <dgm:spPr/>
      <dgm:t>
        <a:bodyPr/>
        <a:lstStyle/>
        <a:p>
          <a:pPr>
            <a:spcBef>
              <a:spcPct val="0"/>
            </a:spcBef>
            <a:spcAft>
              <a:spcPts val="0"/>
            </a:spcAft>
          </a:pPr>
          <a:r>
            <a:rPr lang="en-US" sz="1800" dirty="0"/>
            <a:t>Geographic considerations</a:t>
          </a:r>
        </a:p>
      </dgm:t>
    </dgm:pt>
    <dgm:pt modelId="{5AB09CFD-D26F-4473-BD7C-269085681305}" type="parTrans" cxnId="{07D87A2A-9AAA-4B59-B7ED-01AF7D2660FE}">
      <dgm:prSet/>
      <dgm:spPr/>
      <dgm:t>
        <a:bodyPr/>
        <a:lstStyle/>
        <a:p>
          <a:endParaRPr lang="en-US"/>
        </a:p>
      </dgm:t>
    </dgm:pt>
    <dgm:pt modelId="{D92C8B2D-E05C-41B0-98F7-AEFB0C95D5C1}" type="sibTrans" cxnId="{07D87A2A-9AAA-4B59-B7ED-01AF7D2660FE}">
      <dgm:prSet/>
      <dgm:spPr/>
      <dgm:t>
        <a:bodyPr/>
        <a:lstStyle/>
        <a:p>
          <a:endParaRPr lang="en-US"/>
        </a:p>
      </dgm:t>
    </dgm:pt>
    <dgm:pt modelId="{78928CAB-7A7E-4B76-80D9-1D90FF416781}">
      <dgm:prSet phldrT="[Text]" custT="1"/>
      <dgm:spPr/>
      <dgm:t>
        <a:bodyPr/>
        <a:lstStyle/>
        <a:p>
          <a:pPr>
            <a:spcBef>
              <a:spcPct val="0"/>
            </a:spcBef>
            <a:spcAft>
              <a:spcPct val="15000"/>
            </a:spcAft>
          </a:pPr>
          <a:r>
            <a:rPr lang="en-US" sz="1400" dirty="0"/>
            <a:t>Wang, Mohammed, Wu &amp; Xiang (2016)</a:t>
          </a:r>
        </a:p>
      </dgm:t>
    </dgm:pt>
    <dgm:pt modelId="{473E318F-7A63-4E2F-8965-6B2DDC1BC9D0}" type="parTrans" cxnId="{BB6B251A-C418-4794-941E-2B7DA6116EE8}">
      <dgm:prSet/>
      <dgm:spPr/>
      <dgm:t>
        <a:bodyPr/>
        <a:lstStyle/>
        <a:p>
          <a:endParaRPr lang="en-US"/>
        </a:p>
      </dgm:t>
    </dgm:pt>
    <dgm:pt modelId="{A668CB96-A093-4B02-B67C-014EDA5BCAC4}" type="sibTrans" cxnId="{BB6B251A-C418-4794-941E-2B7DA6116EE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706DD160-2314-4045-A876-E6FDD8A0453F}" type="presOf" srcId="{F754AD28-8B54-47D9-83F1-8D45F35B4A81}" destId="{0F07502A-98A4-4880-9779-27EA2BEB6F02}" srcOrd="0" destOrd="0" presId="urn:microsoft.com/office/officeart/2005/8/layout/hProcess7"/>
    <dgm:cxn modelId="{7EB85659-85B5-4A58-A8B7-F9970CF28E2D}" type="presOf" srcId="{AFF6176D-85DE-40AE-90C6-893C51B32EB3}" destId="{7C1FE252-E5CE-40AF-AE08-799A5F741FEE}" srcOrd="0" destOrd="3" presId="urn:microsoft.com/office/officeart/2005/8/layout/hProcess7"/>
    <dgm:cxn modelId="{BB6B251A-C418-4794-941E-2B7DA6116EE8}" srcId="{E7E09A88-A855-416A-B17D-5608BAB5F968}" destId="{78928CAB-7A7E-4B76-80D9-1D90FF416781}" srcOrd="0" destOrd="0" parTransId="{473E318F-7A63-4E2F-8965-6B2DDC1BC9D0}" sibTransId="{A668CB96-A093-4B02-B67C-014EDA5BCAC4}"/>
    <dgm:cxn modelId="{7A13500A-B45F-405A-B00A-D6FCF1566289}" type="presOf" srcId="{56D25664-E470-4423-B8A9-9B6E4F3E9501}" destId="{5EE1D2E5-E13B-4FA3-A68E-FA18C8AD1A1A}" srcOrd="0" destOrd="0" presId="urn:microsoft.com/office/officeart/2005/8/layout/hProcess7"/>
    <dgm:cxn modelId="{E5132081-1B00-40AB-A777-3A64234F67B3}" type="presOf" srcId="{56D25664-E470-4423-B8A9-9B6E4F3E9501}" destId="{1F2FC209-C6F9-4BD8-BE18-C50B50281548}" srcOrd="1" destOrd="0" presId="urn:microsoft.com/office/officeart/2005/8/layout/hProcess7"/>
    <dgm:cxn modelId="{50819095-06B6-45C1-A479-EA0B90A43613}" type="presOf" srcId="{B1DCE110-24AB-4236-B3C6-4FE160C4D2B8}" destId="{7C1FE252-E5CE-40AF-AE08-799A5F741FEE}" srcOrd="0" destOrd="7" presId="urn:microsoft.com/office/officeart/2005/8/layout/hProcess7"/>
    <dgm:cxn modelId="{B09E5938-AD3D-4EA9-970C-82C6FFA86BE2}" srcId="{03FDD481-2C2D-4504-B65C-774E995BF815}" destId="{AFF6176D-85DE-40AE-90C6-893C51B32EB3}" srcOrd="0" destOrd="0" parTransId="{8EE3A1E5-0B44-40B7-9B59-F6DA84D9F6A6}" sibTransId="{056A0E8C-03A8-4EA7-806A-DA6A878AA1E7}"/>
    <dgm:cxn modelId="{874CAB56-E993-4BA7-B073-DD6F211AB452}" srcId="{E12051B9-F660-41FB-9BFB-187ECABCD821}" destId="{56D25664-E470-4423-B8A9-9B6E4F3E9501}" srcOrd="0" destOrd="0" parTransId="{AE225F17-CB4A-4698-895E-495209A24EDD}" sibTransId="{0513D618-905F-43E6-8DF3-0764A99732D8}"/>
    <dgm:cxn modelId="{07D87A2A-9AAA-4B59-B7ED-01AF7D2660FE}" srcId="{275823A6-DA31-4015-971F-013EA967541C}" destId="{03FDD481-2C2D-4504-B65C-774E995BF815}" srcOrd="1" destOrd="0" parTransId="{5AB09CFD-D26F-4473-BD7C-269085681305}" sibTransId="{D92C8B2D-E05C-41B0-98F7-AEFB0C95D5C1}"/>
    <dgm:cxn modelId="{FE42EE8A-FA87-4B31-AAC6-6F4CBBB89FD6}" type="presOf" srcId="{E7E09A88-A855-416A-B17D-5608BAB5F968}" destId="{7C1FE252-E5CE-40AF-AE08-799A5F741FEE}" srcOrd="0" destOrd="0" presId="urn:microsoft.com/office/officeart/2005/8/layout/hProcess7"/>
    <dgm:cxn modelId="{E5E1C217-925E-4DA4-8EC0-0257A5A45A25}" type="presOf" srcId="{275823A6-DA31-4015-971F-013EA967541C}" destId="{752682F3-57CE-4B43-B292-A62B3D508EDD}" srcOrd="1" destOrd="0" presId="urn:microsoft.com/office/officeart/2005/8/layout/hProcess7"/>
    <dgm:cxn modelId="{3454834B-05D9-49C0-B367-ABD37A9248C4}" srcId="{03FDD481-2C2D-4504-B65C-774E995BF815}" destId="{B788EC3F-15F2-4F7D-B8B7-6CD1B0127EA5}" srcOrd="1" destOrd="0" parTransId="{8E27B5BB-0CCE-4AD9-BBD9-2720B14048D1}" sibTransId="{F3590E07-8170-4762-9ED1-243BC06CDA59}"/>
    <dgm:cxn modelId="{8F0C14D9-5A3A-4887-B964-34015863AD29}" type="presOf" srcId="{03FDD481-2C2D-4504-B65C-774E995BF815}" destId="{7C1FE252-E5CE-40AF-AE08-799A5F741FEE}" srcOrd="0" destOrd="2" presId="urn:microsoft.com/office/officeart/2005/8/layout/hProcess7"/>
    <dgm:cxn modelId="{B2E83F0D-9DEC-4AE4-A36C-A30E492706DE}" type="presOf" srcId="{78928CAB-7A7E-4B76-80D9-1D90FF416781}" destId="{7C1FE252-E5CE-40AF-AE08-799A5F741FEE}" srcOrd="0" destOrd="1" presId="urn:microsoft.com/office/officeart/2005/8/layout/hProcess7"/>
    <dgm:cxn modelId="{606D77F8-F89D-4D3D-A6E8-822491591595}" srcId="{B1FFFC36-A8D3-451D-9C3A-93B8EDFBC6B5}" destId="{B1DCE110-24AB-4236-B3C6-4FE160C4D2B8}" srcOrd="1" destOrd="0" parTransId="{68D62A61-2FFC-404A-A6AB-3574AFB40C80}" sibTransId="{CB665FF9-7446-4441-B264-9E225251D9FD}"/>
    <dgm:cxn modelId="{3CC74B7C-BBAA-404B-B061-C3CF70BA6C52}" srcId="{275823A6-DA31-4015-971F-013EA967541C}" destId="{B1FFFC36-A8D3-451D-9C3A-93B8EDFBC6B5}" srcOrd="2" destOrd="0" parTransId="{A4168942-A87C-4279-8340-8FA8F4842A1C}" sibTransId="{A4E9E1FE-B794-4427-9318-EF5C2483C10F}"/>
    <dgm:cxn modelId="{00DB9597-5167-4897-A9DB-D76E30B99361}" type="presOf" srcId="{B1FFFC36-A8D3-451D-9C3A-93B8EDFBC6B5}" destId="{7C1FE252-E5CE-40AF-AE08-799A5F741FEE}" srcOrd="0" destOrd="5" presId="urn:microsoft.com/office/officeart/2005/8/layout/hProcess7"/>
    <dgm:cxn modelId="{556EF31B-1BA2-40A1-BAF1-F6AE6BEA4DC7}" type="presOf" srcId="{D264B8C8-0C74-4047-BC3D-D328ABB04B07}" destId="{4428B23C-049C-4D7B-92D7-DD65A1003E4E}"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CEFE42BD-3B3A-4EAB-A8EF-B79141435591}" type="presOf" srcId="{275823A6-DA31-4015-971F-013EA967541C}" destId="{CB5EA34A-627A-4C1F-96E3-4088D2A98FDD}" srcOrd="0"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7642EC-04E3-4135-9AFC-1AE6D6D8ED9D}" type="presOf" srcId="{2645AA64-F59A-4567-9741-8E504AE7F8ED}" destId="{5002EEF7-AB5F-41AC-BBA4-49DC2C142864}" srcOrd="1" destOrd="0" presId="urn:microsoft.com/office/officeart/2005/8/layout/hProcess7"/>
    <dgm:cxn modelId="{8E8CA84A-5BBC-4D26-9512-14543001D4AE}" srcId="{B1FFFC36-A8D3-451D-9C3A-93B8EDFBC6B5}" destId="{3E7C4519-64CD-4235-907C-0A2B2EBDDB2B}" srcOrd="0" destOrd="0" parTransId="{049A2AB5-51A6-492C-92DA-5C229F22C240}" sibTransId="{29C0C1B3-D692-4EC8-A9C8-6D22145F5DB1}"/>
    <dgm:cxn modelId="{C5F869C1-8FEF-4035-9EC3-FDF0092FF2C9}" srcId="{56D25664-E470-4423-B8A9-9B6E4F3E9501}" destId="{F754AD28-8B54-47D9-83F1-8D45F35B4A81}" srcOrd="0" destOrd="0" parTransId="{26AD8160-5FF5-41BE-AFAF-E29D66F0469B}" sibTransId="{BE9BECBC-F94F-4E2F-BDB2-93E8BAEBEFE7}"/>
    <dgm:cxn modelId="{7FA1F9F4-02C3-4D71-B747-BDCC5EA23190}" type="presOf" srcId="{3E7C4519-64CD-4235-907C-0A2B2EBDDB2B}" destId="{7C1FE252-E5CE-40AF-AE08-799A5F741FEE}" srcOrd="0" destOrd="6" presId="urn:microsoft.com/office/officeart/2005/8/layout/hProcess7"/>
    <dgm:cxn modelId="{0D7BCF77-58EC-4840-994D-4621B5109003}" type="presOf" srcId="{2645AA64-F59A-4567-9741-8E504AE7F8ED}" destId="{BBE81636-BCDD-48A0-B978-839FA7B950F8}" srcOrd="0" destOrd="0" presId="urn:microsoft.com/office/officeart/2005/8/layout/hProcess7"/>
    <dgm:cxn modelId="{FE4CA62F-532D-4C05-8FAB-5EE4F17A315F}" type="presOf" srcId="{B788EC3F-15F2-4F7D-B8B7-6CD1B0127EA5}" destId="{7C1FE252-E5CE-40AF-AE08-799A5F741FEE}" srcOrd="0" destOrd="4"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955316F3-D59D-4E22-BAC5-4B54F7BE800A}" srcId="{275823A6-DA31-4015-971F-013EA967541C}" destId="{E7E09A88-A855-416A-B17D-5608BAB5F968}" srcOrd="0" destOrd="0" parTransId="{791A9365-62E9-4724-B5DD-36351582D82E}" sibTransId="{C2A5DE0A-7824-4E35-BB27-47DBE8541DB5}"/>
    <dgm:cxn modelId="{B244AD41-D368-4D9D-84DD-9C821786F4F1}" type="presOf" srcId="{E12051B9-F660-41FB-9BFB-187ECABCD821}" destId="{4413368B-ACCA-469B-9D0E-1FEFC4075FB0}" srcOrd="0" destOrd="0" presId="urn:microsoft.com/office/officeart/2005/8/layout/hProcess7"/>
    <dgm:cxn modelId="{9FEDD45D-976B-47E8-98B6-DCA0D4F55630}" type="presParOf" srcId="{4413368B-ACCA-469B-9D0E-1FEFC4075FB0}" destId="{8E1BCC0E-B989-4435-8915-645304C71A64}" srcOrd="0" destOrd="0" presId="urn:microsoft.com/office/officeart/2005/8/layout/hProcess7"/>
    <dgm:cxn modelId="{EB063C6E-5CD1-46D8-A268-8ABFC9CB9D8B}" type="presParOf" srcId="{8E1BCC0E-B989-4435-8915-645304C71A64}" destId="{5EE1D2E5-E13B-4FA3-A68E-FA18C8AD1A1A}" srcOrd="0" destOrd="0" presId="urn:microsoft.com/office/officeart/2005/8/layout/hProcess7"/>
    <dgm:cxn modelId="{48B55F1B-9080-4D1B-9524-EA548E403F64}" type="presParOf" srcId="{8E1BCC0E-B989-4435-8915-645304C71A64}" destId="{1F2FC209-C6F9-4BD8-BE18-C50B50281548}" srcOrd="1" destOrd="0" presId="urn:microsoft.com/office/officeart/2005/8/layout/hProcess7"/>
    <dgm:cxn modelId="{68848A51-E014-4A0B-AAA3-BBA0E04760F3}" type="presParOf" srcId="{8E1BCC0E-B989-4435-8915-645304C71A64}" destId="{0F07502A-98A4-4880-9779-27EA2BEB6F02}" srcOrd="2" destOrd="0" presId="urn:microsoft.com/office/officeart/2005/8/layout/hProcess7"/>
    <dgm:cxn modelId="{02685089-F0DB-42D0-AF09-A91FBD3115DD}" type="presParOf" srcId="{4413368B-ACCA-469B-9D0E-1FEFC4075FB0}" destId="{13ACBB4E-2F0C-4773-92A7-F091255EA962}" srcOrd="1" destOrd="0" presId="urn:microsoft.com/office/officeart/2005/8/layout/hProcess7"/>
    <dgm:cxn modelId="{7790BDA0-BC85-4489-94F9-B3827F057819}" type="presParOf" srcId="{4413368B-ACCA-469B-9D0E-1FEFC4075FB0}" destId="{BAD87237-2D53-4DFC-BA2E-02EC39493885}" srcOrd="2" destOrd="0" presId="urn:microsoft.com/office/officeart/2005/8/layout/hProcess7"/>
    <dgm:cxn modelId="{F6143860-0F5D-4193-8E7F-C418239F116C}" type="presParOf" srcId="{BAD87237-2D53-4DFC-BA2E-02EC39493885}" destId="{221F174E-2568-4C2B-B98A-B21C733FC119}" srcOrd="0" destOrd="0" presId="urn:microsoft.com/office/officeart/2005/8/layout/hProcess7"/>
    <dgm:cxn modelId="{38C02795-6DCF-4404-99C1-9B62E818511C}" type="presParOf" srcId="{BAD87237-2D53-4DFC-BA2E-02EC39493885}" destId="{45668240-D897-4FC1-8421-6DD785B65040}" srcOrd="1" destOrd="0" presId="urn:microsoft.com/office/officeart/2005/8/layout/hProcess7"/>
    <dgm:cxn modelId="{6A9B5117-E7AD-4D25-A0F2-96D2C7C9C666}" type="presParOf" srcId="{BAD87237-2D53-4DFC-BA2E-02EC39493885}" destId="{50ECFA14-9F36-4C35-911C-A780FF037D2C}" srcOrd="2" destOrd="0" presId="urn:microsoft.com/office/officeart/2005/8/layout/hProcess7"/>
    <dgm:cxn modelId="{65D4CA32-001E-4818-87DD-77F0E68C3869}" type="presParOf" srcId="{4413368B-ACCA-469B-9D0E-1FEFC4075FB0}" destId="{B0CEB5DD-B27E-454F-A39C-A559A187214D}" srcOrd="3" destOrd="0" presId="urn:microsoft.com/office/officeart/2005/8/layout/hProcess7"/>
    <dgm:cxn modelId="{6E14A71C-D387-4B02-8A66-2EFAAF555972}" type="presParOf" srcId="{4413368B-ACCA-469B-9D0E-1FEFC4075FB0}" destId="{4C92115F-DFB0-4372-AF66-CF11B70A8EFD}" srcOrd="4" destOrd="0" presId="urn:microsoft.com/office/officeart/2005/8/layout/hProcess7"/>
    <dgm:cxn modelId="{DC9AAC00-49E1-4987-AD86-0F2D7612EE88}" type="presParOf" srcId="{4C92115F-DFB0-4372-AF66-CF11B70A8EFD}" destId="{CB5EA34A-627A-4C1F-96E3-4088D2A98FDD}" srcOrd="0" destOrd="0" presId="urn:microsoft.com/office/officeart/2005/8/layout/hProcess7"/>
    <dgm:cxn modelId="{B306D1A9-7385-4375-ACB4-F5E9905C3751}" type="presParOf" srcId="{4C92115F-DFB0-4372-AF66-CF11B70A8EFD}" destId="{752682F3-57CE-4B43-B292-A62B3D508EDD}" srcOrd="1" destOrd="0" presId="urn:microsoft.com/office/officeart/2005/8/layout/hProcess7"/>
    <dgm:cxn modelId="{E62D79E0-5406-4C40-9BC1-EE6AB76A20C6}" type="presParOf" srcId="{4C92115F-DFB0-4372-AF66-CF11B70A8EFD}" destId="{7C1FE252-E5CE-40AF-AE08-799A5F741FEE}" srcOrd="2" destOrd="0" presId="urn:microsoft.com/office/officeart/2005/8/layout/hProcess7"/>
    <dgm:cxn modelId="{C021903C-0B26-4D8C-850F-2BDA94EAA2F8}" type="presParOf" srcId="{4413368B-ACCA-469B-9D0E-1FEFC4075FB0}" destId="{E94DD569-30C2-4DB5-BFE9-2EA1C054A099}" srcOrd="5" destOrd="0" presId="urn:microsoft.com/office/officeart/2005/8/layout/hProcess7"/>
    <dgm:cxn modelId="{7B236253-6290-4366-A7F7-E81FD954296B}" type="presParOf" srcId="{4413368B-ACCA-469B-9D0E-1FEFC4075FB0}" destId="{D0762C22-9124-4CFC-9FEF-33DB241A1B75}" srcOrd="6" destOrd="0" presId="urn:microsoft.com/office/officeart/2005/8/layout/hProcess7"/>
    <dgm:cxn modelId="{39C9F88B-C59D-4297-A7AD-8CF6AA135529}" type="presParOf" srcId="{D0762C22-9124-4CFC-9FEF-33DB241A1B75}" destId="{C8DF72E1-70D1-4214-8DAD-40E18FF824F5}" srcOrd="0" destOrd="0" presId="urn:microsoft.com/office/officeart/2005/8/layout/hProcess7"/>
    <dgm:cxn modelId="{A5C542D1-B425-4763-AD6C-DC576B367751}" type="presParOf" srcId="{D0762C22-9124-4CFC-9FEF-33DB241A1B75}" destId="{BAC8B8B3-49A2-4BE7-B498-654C601FE809}" srcOrd="1" destOrd="0" presId="urn:microsoft.com/office/officeart/2005/8/layout/hProcess7"/>
    <dgm:cxn modelId="{34077FEC-A180-4E69-94FB-7875199FC14A}" type="presParOf" srcId="{D0762C22-9124-4CFC-9FEF-33DB241A1B75}" destId="{4A5065A5-7398-4E75-9460-0F7770025FB9}" srcOrd="2" destOrd="0" presId="urn:microsoft.com/office/officeart/2005/8/layout/hProcess7"/>
    <dgm:cxn modelId="{92F7E2FC-81EA-4BF4-902D-0A6848FCF001}" type="presParOf" srcId="{4413368B-ACCA-469B-9D0E-1FEFC4075FB0}" destId="{2AE61FAA-6DD0-4F7B-8C42-F1DA0A887180}" srcOrd="7" destOrd="0" presId="urn:microsoft.com/office/officeart/2005/8/layout/hProcess7"/>
    <dgm:cxn modelId="{2AEB1E2E-E46D-4EC5-B23E-6C2D2D73113B}" type="presParOf" srcId="{4413368B-ACCA-469B-9D0E-1FEFC4075FB0}" destId="{72B73D94-A19D-488F-A34B-978C721C47B4}" srcOrd="8" destOrd="0" presId="urn:microsoft.com/office/officeart/2005/8/layout/hProcess7"/>
    <dgm:cxn modelId="{BE6F47D7-336E-444E-87C6-7D6AF161A845}" type="presParOf" srcId="{72B73D94-A19D-488F-A34B-978C721C47B4}" destId="{BBE81636-BCDD-48A0-B978-839FA7B950F8}" srcOrd="0" destOrd="0" presId="urn:microsoft.com/office/officeart/2005/8/layout/hProcess7"/>
    <dgm:cxn modelId="{826533EB-D4AF-4D4E-B523-DA767F938781}" type="presParOf" srcId="{72B73D94-A19D-488F-A34B-978C721C47B4}" destId="{5002EEF7-AB5F-41AC-BBA4-49DC2C142864}" srcOrd="1" destOrd="0" presId="urn:microsoft.com/office/officeart/2005/8/layout/hProcess7"/>
    <dgm:cxn modelId="{931374DC-6542-44C0-A847-64D5A821AC02}"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a:t>
          </a:r>
          <a:endParaRPr lang="en-US" sz="37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Knowledge or methods that enable the performance of previously incapable tasks or reduce the units of input per units of output needed to  perform tasks.</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C8E98A36-74EA-4DFB-8E03-1086017F7E07}">
      <dgm:prSet phldrT="[Text]" custT="1"/>
      <dgm:spPr/>
      <dgm:t>
        <a:bodyPr/>
        <a:lstStyle/>
        <a:p>
          <a:r>
            <a:rPr lang="en-US" sz="1800" dirty="0"/>
            <a:t>Published peer-reviewed academic journal articles</a:t>
          </a:r>
        </a:p>
      </dgm:t>
    </dgm:pt>
    <dgm:pt modelId="{A516E1F4-D52D-457C-BED5-6D7741C68A47}" type="parTrans" cxnId="{6E58CF0E-7080-4066-A7AF-F5093FBB280B}">
      <dgm:prSet/>
      <dgm:spPr/>
      <dgm:t>
        <a:bodyPr/>
        <a:lstStyle/>
        <a:p>
          <a:endParaRPr lang="en-US"/>
        </a:p>
      </dgm:t>
    </dgm:pt>
    <dgm:pt modelId="{CB824E37-D828-414E-AFD0-9A25B1930967}" type="sibTrans" cxnId="{6E58CF0E-7080-4066-A7AF-F5093FBB280B}">
      <dgm:prSet/>
      <dgm:spPr/>
      <dgm:t>
        <a:bodyPr/>
        <a:lstStyle/>
        <a:p>
          <a:endParaRPr lang="en-US"/>
        </a:p>
      </dgm:t>
    </dgm:pt>
    <dgm:pt modelId="{70239397-BF0D-4256-8781-0504A861DF74}">
      <dgm:prSet phldrT="[Text]" custT="1"/>
      <dgm:spPr/>
      <dgm:t>
        <a:bodyPr/>
        <a:lstStyle/>
        <a:p>
          <a:r>
            <a:rPr lang="en-US" sz="1800" dirty="0"/>
            <a:t>Allowed U.S. patents</a:t>
          </a:r>
        </a:p>
      </dgm:t>
    </dgm:pt>
    <dgm:pt modelId="{F1FB7916-88CA-4906-8B94-52175C5A6D92}" type="parTrans" cxnId="{6BD8E3D2-D117-46E9-887B-A6A630CCED8E}">
      <dgm:prSet/>
      <dgm:spPr/>
      <dgm:t>
        <a:bodyPr/>
        <a:lstStyle/>
        <a:p>
          <a:endParaRPr lang="en-US"/>
        </a:p>
      </dgm:t>
    </dgm:pt>
    <dgm:pt modelId="{98D872F4-96A7-4DEB-9202-902AE07A7F20}" type="sibTrans" cxnId="{6BD8E3D2-D117-46E9-887B-A6A630CCED8E}">
      <dgm:prSet/>
      <dgm:spPr/>
      <dgm:t>
        <a:bodyPr/>
        <a:lstStyle/>
        <a:p>
          <a:endParaRPr lang="en-US"/>
        </a:p>
      </dgm:t>
    </dgm:pt>
    <dgm:pt modelId="{23CADD3C-1E21-4966-BE38-555D58578D7E}">
      <dgm:prSet phldrT="[Text]" custT="1"/>
      <dgm:spPr/>
      <dgm:t>
        <a:bodyPr/>
        <a:lstStyle/>
        <a:p>
          <a:r>
            <a:rPr lang="en-US" sz="1800" dirty="0"/>
            <a:t>Disallowed U.S. patent applications</a:t>
          </a:r>
        </a:p>
      </dgm:t>
    </dgm:pt>
    <dgm:pt modelId="{59986A78-6248-46F4-8F87-30AC0EF97E7D}" type="parTrans" cxnId="{3FFE294B-B679-4A47-ADE0-DB8371A66D69}">
      <dgm:prSet/>
      <dgm:spPr/>
      <dgm:t>
        <a:bodyPr/>
        <a:lstStyle/>
        <a:p>
          <a:endParaRPr lang="en-US"/>
        </a:p>
      </dgm:t>
    </dgm:pt>
    <dgm:pt modelId="{A9B7182B-4518-435A-82A3-4C86B0741214}" type="sibTrans" cxnId="{3FFE294B-B679-4A47-ADE0-DB8371A66D69}">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03CB32B-A1E8-4113-A3E5-62F002D74F02}" type="presOf" srcId="{56D25664-E470-4423-B8A9-9B6E4F3E9501}" destId="{5EE1D2E5-E13B-4FA3-A68E-FA18C8AD1A1A}" srcOrd="0" destOrd="0" presId="urn:microsoft.com/office/officeart/2005/8/layout/hProcess7"/>
    <dgm:cxn modelId="{2AF991F4-295B-47A4-96C4-FF1BFB05195E}" type="presOf" srcId="{56D25664-E470-4423-B8A9-9B6E4F3E9501}" destId="{1F2FC209-C6F9-4BD8-BE18-C50B50281548}" srcOrd="1" destOrd="0" presId="urn:microsoft.com/office/officeart/2005/8/layout/hProcess7"/>
    <dgm:cxn modelId="{3FFE294B-B679-4A47-ADE0-DB8371A66D69}" srcId="{38988576-B0AA-4C1A-9619-43A386D2A929}" destId="{23CADD3C-1E21-4966-BE38-555D58578D7E}" srcOrd="3" destOrd="0" parTransId="{59986A78-6248-46F4-8F87-30AC0EF97E7D}" sibTransId="{A9B7182B-4518-435A-82A3-4C86B0741214}"/>
    <dgm:cxn modelId="{6E58CF0E-7080-4066-A7AF-F5093FBB280B}" srcId="{38988576-B0AA-4C1A-9619-43A386D2A929}" destId="{C8E98A36-74EA-4DFB-8E03-1086017F7E07}" srcOrd="1" destOrd="0" parTransId="{A516E1F4-D52D-457C-BED5-6D7741C68A47}" sibTransId="{CB824E37-D828-414E-AFD0-9A25B1930967}"/>
    <dgm:cxn modelId="{E0F0A2D0-BB2E-4DC0-84B4-747BCEFEEA08}" srcId="{38988576-B0AA-4C1A-9619-43A386D2A929}" destId="{1783039C-F21C-45A8-A1D1-7C275C084E3D}" srcOrd="0" destOrd="0" parTransId="{F569BECA-BA1C-4C40-875B-712F7A86376F}" sibTransId="{4FB813B0-7843-48EA-BCAE-C990504F24DD}"/>
    <dgm:cxn modelId="{B5227D0F-C7B9-402C-94E1-FE3FAF6B59C9}" type="presOf" srcId="{E7E09A88-A855-416A-B17D-5608BAB5F968}" destId="{63E694CA-EB8A-49E7-8F7E-40E9648E8D50}" srcOrd="0" destOrd="0" presId="urn:microsoft.com/office/officeart/2005/8/layout/hProcess7"/>
    <dgm:cxn modelId="{899A4EFF-4D92-4CAD-8A22-AEBE72E784E3}" type="presOf" srcId="{E7E09A88-A855-416A-B17D-5608BAB5F968}" destId="{84855266-605F-4E2F-859A-33AF21B4CC74}"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2BE3415A-4C64-4D29-B5AB-F2DF894FF9D7}" type="presOf" srcId="{F754AD28-8B54-47D9-83F1-8D45F35B4A81}" destId="{0F07502A-98A4-4880-9779-27EA2BEB6F02}" srcOrd="0" destOrd="0" presId="urn:microsoft.com/office/officeart/2005/8/layout/hProcess7"/>
    <dgm:cxn modelId="{98AC9CF5-E46C-4668-8A7B-7042666ADE63}" type="presOf" srcId="{C8E98A36-74EA-4DFB-8E03-1086017F7E07}" destId="{545B6FF8-55C8-4464-AD34-37C6C75F354E}" srcOrd="0" destOrd="1" presId="urn:microsoft.com/office/officeart/2005/8/layout/hProcess7"/>
    <dgm:cxn modelId="{7013035B-AE21-4F15-A12A-89CE06BA4AA4}" type="presOf" srcId="{1783039C-F21C-45A8-A1D1-7C275C084E3D}" destId="{545B6FF8-55C8-4464-AD34-37C6C75F354E}" srcOrd="0" destOrd="0" presId="urn:microsoft.com/office/officeart/2005/8/layout/hProcess7"/>
    <dgm:cxn modelId="{094477E0-B275-4AD0-A4FA-96F8BACE93A6}" type="presOf" srcId="{38988576-B0AA-4C1A-9619-43A386D2A929}" destId="{7A9FE149-B78D-4591-8ED3-6FAE619303EF}" srcOrd="1" destOrd="0" presId="urn:microsoft.com/office/officeart/2005/8/layout/hProcess7"/>
    <dgm:cxn modelId="{9B12C2B8-7A5B-4F6D-8FAC-6951263DFFE6}"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AF964F6E-DEB3-49FF-BCA6-044B79AF2024}" type="presOf" srcId="{70239397-BF0D-4256-8781-0504A861DF74}" destId="{545B6FF8-55C8-4464-AD34-37C6C75F354E}" srcOrd="0" destOrd="2" presId="urn:microsoft.com/office/officeart/2005/8/layout/hProcess7"/>
    <dgm:cxn modelId="{1B70EA55-6C11-4A91-94F4-28AFD688DABE}"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EC87DC06-4FCC-4151-8351-5798EB2A347D}" type="presOf" srcId="{23CADD3C-1E21-4966-BE38-555D58578D7E}" destId="{545B6FF8-55C8-4464-AD34-37C6C75F354E}" srcOrd="0" destOrd="3" presId="urn:microsoft.com/office/officeart/2005/8/layout/hProcess7"/>
    <dgm:cxn modelId="{83676060-CE13-4EF6-A59A-C274F7FE70B1}" type="presOf" srcId="{D264B8C8-0C74-4047-BC3D-D328ABB04B07}" destId="{27D5C2FA-66B3-4507-8DD9-0DFEBE9E49C4}" srcOrd="0" destOrd="0" presId="urn:microsoft.com/office/officeart/2005/8/layout/hProcess7"/>
    <dgm:cxn modelId="{6BD8E3D2-D117-46E9-887B-A6A630CCED8E}" srcId="{38988576-B0AA-4C1A-9619-43A386D2A929}" destId="{70239397-BF0D-4256-8781-0504A861DF74}" srcOrd="2" destOrd="0" parTransId="{F1FB7916-88CA-4906-8B94-52175C5A6D92}" sibTransId="{98D872F4-96A7-4DEB-9202-902AE07A7F20}"/>
    <dgm:cxn modelId="{955316F3-D59D-4E22-BAC5-4B54F7BE800A}" srcId="{E12051B9-F660-41FB-9BFB-187ECABCD821}" destId="{E7E09A88-A855-416A-B17D-5608BAB5F968}" srcOrd="1" destOrd="0" parTransId="{791A9365-62E9-4724-B5DD-36351582D82E}" sibTransId="{C2A5DE0A-7824-4E35-BB27-47DBE8541DB5}"/>
    <dgm:cxn modelId="{60FED524-AEC3-42F4-9F88-773F1EB0D6A2}" type="presParOf" srcId="{4413368B-ACCA-469B-9D0E-1FEFC4075FB0}" destId="{8E1BCC0E-B989-4435-8915-645304C71A64}" srcOrd="0" destOrd="0" presId="urn:microsoft.com/office/officeart/2005/8/layout/hProcess7"/>
    <dgm:cxn modelId="{C69D918B-94F4-4EB6-859A-28C2AD58A671}" type="presParOf" srcId="{8E1BCC0E-B989-4435-8915-645304C71A64}" destId="{5EE1D2E5-E13B-4FA3-A68E-FA18C8AD1A1A}" srcOrd="0" destOrd="0" presId="urn:microsoft.com/office/officeart/2005/8/layout/hProcess7"/>
    <dgm:cxn modelId="{9F2BC622-DE1E-4383-A080-756650DD7C20}" type="presParOf" srcId="{8E1BCC0E-B989-4435-8915-645304C71A64}" destId="{1F2FC209-C6F9-4BD8-BE18-C50B50281548}" srcOrd="1" destOrd="0" presId="urn:microsoft.com/office/officeart/2005/8/layout/hProcess7"/>
    <dgm:cxn modelId="{8E3DB8FE-C07F-4216-971D-E8F89E4BE632}" type="presParOf" srcId="{8E1BCC0E-B989-4435-8915-645304C71A64}" destId="{0F07502A-98A4-4880-9779-27EA2BEB6F02}" srcOrd="2" destOrd="0" presId="urn:microsoft.com/office/officeart/2005/8/layout/hProcess7"/>
    <dgm:cxn modelId="{3526D88B-9E25-4FE3-8AB8-A7519934E051}" type="presParOf" srcId="{4413368B-ACCA-469B-9D0E-1FEFC4075FB0}" destId="{13ACBB4E-2F0C-4773-92A7-F091255EA962}" srcOrd="1" destOrd="0" presId="urn:microsoft.com/office/officeart/2005/8/layout/hProcess7"/>
    <dgm:cxn modelId="{EA1BD2B8-FCED-4447-AD74-0AE39C74A2E9}" type="presParOf" srcId="{4413368B-ACCA-469B-9D0E-1FEFC4075FB0}" destId="{BAD87237-2D53-4DFC-BA2E-02EC39493885}" srcOrd="2" destOrd="0" presId="urn:microsoft.com/office/officeart/2005/8/layout/hProcess7"/>
    <dgm:cxn modelId="{6A5160F9-4E58-49E9-94F1-64D9744400AF}" type="presParOf" srcId="{BAD87237-2D53-4DFC-BA2E-02EC39493885}" destId="{221F174E-2568-4C2B-B98A-B21C733FC119}" srcOrd="0" destOrd="0" presId="urn:microsoft.com/office/officeart/2005/8/layout/hProcess7"/>
    <dgm:cxn modelId="{D4E609AE-9DAB-4EBB-817D-44A5BA6B3721}" type="presParOf" srcId="{BAD87237-2D53-4DFC-BA2E-02EC39493885}" destId="{45668240-D897-4FC1-8421-6DD785B65040}" srcOrd="1" destOrd="0" presId="urn:microsoft.com/office/officeart/2005/8/layout/hProcess7"/>
    <dgm:cxn modelId="{A357FC0A-3EC8-4960-9DAF-5C77BEF63656}" type="presParOf" srcId="{BAD87237-2D53-4DFC-BA2E-02EC39493885}" destId="{50ECFA14-9F36-4C35-911C-A780FF037D2C}" srcOrd="2" destOrd="0" presId="urn:microsoft.com/office/officeart/2005/8/layout/hProcess7"/>
    <dgm:cxn modelId="{F28125D3-0ECA-43E8-9711-4855CC2F4111}" type="presParOf" srcId="{4413368B-ACCA-469B-9D0E-1FEFC4075FB0}" destId="{B0CEB5DD-B27E-454F-A39C-A559A187214D}" srcOrd="3" destOrd="0" presId="urn:microsoft.com/office/officeart/2005/8/layout/hProcess7"/>
    <dgm:cxn modelId="{F256B0F7-660B-48B8-935D-C5152A1B1679}" type="presParOf" srcId="{4413368B-ACCA-469B-9D0E-1FEFC4075FB0}" destId="{4BB7D377-EFD6-4B5D-AFC7-E199B4378248}" srcOrd="4" destOrd="0" presId="urn:microsoft.com/office/officeart/2005/8/layout/hProcess7"/>
    <dgm:cxn modelId="{DE24E7AD-8D26-4C0F-8C58-B49DEC1385B7}" type="presParOf" srcId="{4BB7D377-EFD6-4B5D-AFC7-E199B4378248}" destId="{63E694CA-EB8A-49E7-8F7E-40E9648E8D50}" srcOrd="0" destOrd="0" presId="urn:microsoft.com/office/officeart/2005/8/layout/hProcess7"/>
    <dgm:cxn modelId="{D906CB7A-C7F6-4746-A5EE-1A7353AA16C4}" type="presParOf" srcId="{4BB7D377-EFD6-4B5D-AFC7-E199B4378248}" destId="{84855266-605F-4E2F-859A-33AF21B4CC74}" srcOrd="1" destOrd="0" presId="urn:microsoft.com/office/officeart/2005/8/layout/hProcess7"/>
    <dgm:cxn modelId="{73A5AD8E-B961-4683-850C-927B05A7A240}" type="presParOf" srcId="{4BB7D377-EFD6-4B5D-AFC7-E199B4378248}" destId="{27D5C2FA-66B3-4507-8DD9-0DFEBE9E49C4}" srcOrd="2" destOrd="0" presId="urn:microsoft.com/office/officeart/2005/8/layout/hProcess7"/>
    <dgm:cxn modelId="{9A7C2C57-6E77-49FF-BBF9-87C4458AACCC}" type="presParOf" srcId="{4413368B-ACCA-469B-9D0E-1FEFC4075FB0}" destId="{AE508BEB-62F7-4273-AFD9-13F02568DD39}" srcOrd="5" destOrd="0" presId="urn:microsoft.com/office/officeart/2005/8/layout/hProcess7"/>
    <dgm:cxn modelId="{86AD56FE-D979-4D9B-A086-1FB36882346C}" type="presParOf" srcId="{4413368B-ACCA-469B-9D0E-1FEFC4075FB0}" destId="{20A68127-C095-4D4D-B36C-96BA54B85DB0}" srcOrd="6" destOrd="0" presId="urn:microsoft.com/office/officeart/2005/8/layout/hProcess7"/>
    <dgm:cxn modelId="{F7432B9F-CB68-4D37-9B2F-6CFE2DC1E8A9}" type="presParOf" srcId="{20A68127-C095-4D4D-B36C-96BA54B85DB0}" destId="{00D4E5B4-15FE-4223-8CF1-EADD9A7F1E52}" srcOrd="0" destOrd="0" presId="urn:microsoft.com/office/officeart/2005/8/layout/hProcess7"/>
    <dgm:cxn modelId="{C11E3BE7-17C2-4ECD-8705-F331386BCD03}" type="presParOf" srcId="{20A68127-C095-4D4D-B36C-96BA54B85DB0}" destId="{0B1D8E78-2B68-4C5D-9329-AB01D008FC04}" srcOrd="1" destOrd="0" presId="urn:microsoft.com/office/officeart/2005/8/layout/hProcess7"/>
    <dgm:cxn modelId="{04C7C09F-3DE4-43CF-A438-A996353A2C89}" type="presParOf" srcId="{20A68127-C095-4D4D-B36C-96BA54B85DB0}" destId="{E447F79B-3147-4AFA-97C4-CCAE6DBFF058}" srcOrd="2" destOrd="0" presId="urn:microsoft.com/office/officeart/2005/8/layout/hProcess7"/>
    <dgm:cxn modelId="{481F6751-D680-4DB4-B9ED-03FA972FE153}" type="presParOf" srcId="{4413368B-ACCA-469B-9D0E-1FEFC4075FB0}" destId="{EAB02694-BB77-4688-815D-9FF6A75A2E23}" srcOrd="7" destOrd="0" presId="urn:microsoft.com/office/officeart/2005/8/layout/hProcess7"/>
    <dgm:cxn modelId="{5C270AD6-4DF0-43B0-9E88-27C16E224033}" type="presParOf" srcId="{4413368B-ACCA-469B-9D0E-1FEFC4075FB0}" destId="{897A3698-2D97-4DDC-95D9-A0BDC45706A4}" srcOrd="8" destOrd="0" presId="urn:microsoft.com/office/officeart/2005/8/layout/hProcess7"/>
    <dgm:cxn modelId="{0D31600F-F15C-442A-B694-2814723A0514}" type="presParOf" srcId="{897A3698-2D97-4DDC-95D9-A0BDC45706A4}" destId="{89F889ED-FCCD-445E-BB3B-3F65B70521C8}" srcOrd="0" destOrd="0" presId="urn:microsoft.com/office/officeart/2005/8/layout/hProcess7"/>
    <dgm:cxn modelId="{ED62BD1D-F10D-48AB-A696-04978FB30694}" type="presParOf" srcId="{897A3698-2D97-4DDC-95D9-A0BDC45706A4}" destId="{7A9FE149-B78D-4591-8ED3-6FAE619303EF}" srcOrd="1" destOrd="0" presId="urn:microsoft.com/office/officeart/2005/8/layout/hProcess7"/>
    <dgm:cxn modelId="{18534928-5676-45D2-ABFE-8394C2FEC8D7}"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 Transfer</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When an actor that controls a technology  enables others to use the technology.</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endParaRPr lang="en-US" sz="33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a:t>License agreements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9DE9336D-AADF-4D8E-9C4E-807ADE6BCA63}">
      <dgm:prSet phldrT="[Text]"/>
      <dgm:spPr/>
      <dgm:t>
        <a:bodyPr/>
        <a:lstStyle/>
        <a:p>
          <a:r>
            <a:rPr lang="en-US" dirty="0"/>
            <a:t>Published peer-reviewed journal articles not associated with an allowed U.S. patent or active patent application</a:t>
          </a:r>
        </a:p>
      </dgm:t>
    </dgm:pt>
    <dgm:pt modelId="{4380BD09-1035-46CF-8F44-184F33D71D3D}" type="parTrans" cxnId="{BF2A65F3-4F6B-44F0-AA5E-BA8EAAD6636C}">
      <dgm:prSet/>
      <dgm:spPr/>
      <dgm:t>
        <a:bodyPr/>
        <a:lstStyle/>
        <a:p>
          <a:endParaRPr lang="en-US"/>
        </a:p>
      </dgm:t>
    </dgm:pt>
    <dgm:pt modelId="{C9AB8833-91B8-4065-A902-4885CBBF7363}" type="sibTrans" cxnId="{BF2A65F3-4F6B-44F0-AA5E-BA8EAAD6636C}">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custLinFactNeighborX="-3156" custLinFactNeighborY="-6309"/>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8FCC7AB-92A5-4A16-A6AD-7187F0E7AEFC}" type="presOf" srcId="{1783039C-F21C-45A8-A1D1-7C275C084E3D}" destId="{545B6FF8-55C8-4464-AD34-37C6C75F354E}" srcOrd="0" destOrd="0" presId="urn:microsoft.com/office/officeart/2005/8/layout/hProcess7"/>
    <dgm:cxn modelId="{E3842FE3-04D6-43DE-B627-B32918CA4B88}" type="presOf" srcId="{E7E09A88-A855-416A-B17D-5608BAB5F968}" destId="{84855266-605F-4E2F-859A-33AF21B4CC74}" srcOrd="1" destOrd="0" presId="urn:microsoft.com/office/officeart/2005/8/layout/hProcess7"/>
    <dgm:cxn modelId="{7D2DB298-91A6-443F-8736-43AE036EBA9F}" type="presOf" srcId="{E12051B9-F660-41FB-9BFB-187ECABCD821}" destId="{4413368B-ACCA-469B-9D0E-1FEFC4075FB0}" srcOrd="0" destOrd="0" presId="urn:microsoft.com/office/officeart/2005/8/layout/hProcess7"/>
    <dgm:cxn modelId="{4FB3DA12-445E-4743-AE60-A60A5B96666C}" type="presOf" srcId="{9DE9336D-AADF-4D8E-9C4E-807ADE6BCA63}" destId="{545B6FF8-55C8-4464-AD34-37C6C75F354E}" srcOrd="0" destOrd="1"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BF2A65F3-4F6B-44F0-AA5E-BA8EAAD6636C}" srcId="{38988576-B0AA-4C1A-9619-43A386D2A929}" destId="{9DE9336D-AADF-4D8E-9C4E-807ADE6BCA63}" srcOrd="1" destOrd="0" parTransId="{4380BD09-1035-46CF-8F44-184F33D71D3D}" sibTransId="{C9AB8833-91B8-4065-A902-4885CBBF7363}"/>
    <dgm:cxn modelId="{667BD248-A687-4B08-A176-2CB5E7D2680B}" type="presOf" srcId="{56D25664-E470-4423-B8A9-9B6E4F3E9501}" destId="{5EE1D2E5-E13B-4FA3-A68E-FA18C8AD1A1A}" srcOrd="0" destOrd="0" presId="urn:microsoft.com/office/officeart/2005/8/layout/hProcess7"/>
    <dgm:cxn modelId="{F830D7D9-A456-4DE6-9654-798F02621C0A}" type="presOf" srcId="{E7E09A88-A855-416A-B17D-5608BAB5F968}" destId="{63E694CA-EB8A-49E7-8F7E-40E9648E8D50}" srcOrd="0" destOrd="0" presId="urn:microsoft.com/office/officeart/2005/8/layout/hProcess7"/>
    <dgm:cxn modelId="{C8FBBB7F-FC29-43CE-AE78-6633D57E0FC2}" type="presOf" srcId="{38988576-B0AA-4C1A-9619-43A386D2A929}" destId="{89F889ED-FCCD-445E-BB3B-3F65B70521C8}" srcOrd="0" destOrd="0" presId="urn:microsoft.com/office/officeart/2005/8/layout/hProcess7"/>
    <dgm:cxn modelId="{CB92375D-5766-4AEE-9176-1B37A2DBA71D}" type="presOf" srcId="{D264B8C8-0C74-4047-BC3D-D328ABB04B07}" destId="{27D5C2FA-66B3-4507-8DD9-0DFEBE9E49C4}" srcOrd="0" destOrd="0" presId="urn:microsoft.com/office/officeart/2005/8/layout/hProcess7"/>
    <dgm:cxn modelId="{E1D4C321-A056-478E-AA30-B0E9DD781BFF}" type="presOf" srcId="{38988576-B0AA-4C1A-9619-43A386D2A929}" destId="{7A9FE149-B78D-4591-8ED3-6FAE619303EF}"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692AF38-622D-46CC-97F5-0A564AB5E3AA}" type="presOf" srcId="{F754AD28-8B54-47D9-83F1-8D45F35B4A81}" destId="{0F07502A-98A4-4880-9779-27EA2BEB6F02}" srcOrd="0" destOrd="0" presId="urn:microsoft.com/office/officeart/2005/8/layout/hProcess7"/>
    <dgm:cxn modelId="{D2F0BC61-E864-45E4-AC1C-3F8441CC666C}" type="presOf" srcId="{56D25664-E470-4423-B8A9-9B6E4F3E9501}" destId="{1F2FC209-C6F9-4BD8-BE18-C50B50281548}" srcOrd="1"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E0F0A2D0-BB2E-4DC0-84B4-747BCEFEEA08}" srcId="{38988576-B0AA-4C1A-9619-43A386D2A929}" destId="{1783039C-F21C-45A8-A1D1-7C275C084E3D}" srcOrd="0" destOrd="0" parTransId="{F569BECA-BA1C-4C40-875B-712F7A86376F}" sibTransId="{4FB813B0-7843-48EA-BCAE-C990504F24DD}"/>
    <dgm:cxn modelId="{19545689-BEC6-47B5-B5A6-AA14EA576211}" type="presParOf" srcId="{4413368B-ACCA-469B-9D0E-1FEFC4075FB0}" destId="{8E1BCC0E-B989-4435-8915-645304C71A64}" srcOrd="0" destOrd="0" presId="urn:microsoft.com/office/officeart/2005/8/layout/hProcess7"/>
    <dgm:cxn modelId="{10C652BE-EB4F-499C-A911-C4F2803EA3F9}" type="presParOf" srcId="{8E1BCC0E-B989-4435-8915-645304C71A64}" destId="{5EE1D2E5-E13B-4FA3-A68E-FA18C8AD1A1A}" srcOrd="0" destOrd="0" presId="urn:microsoft.com/office/officeart/2005/8/layout/hProcess7"/>
    <dgm:cxn modelId="{CDB6F888-BBE8-43E4-B009-9D5D138EF8DE}" type="presParOf" srcId="{8E1BCC0E-B989-4435-8915-645304C71A64}" destId="{1F2FC209-C6F9-4BD8-BE18-C50B50281548}" srcOrd="1" destOrd="0" presId="urn:microsoft.com/office/officeart/2005/8/layout/hProcess7"/>
    <dgm:cxn modelId="{1352B16A-163A-45D7-B97F-5CA2749E2AF8}" type="presParOf" srcId="{8E1BCC0E-B989-4435-8915-645304C71A64}" destId="{0F07502A-98A4-4880-9779-27EA2BEB6F02}" srcOrd="2" destOrd="0" presId="urn:microsoft.com/office/officeart/2005/8/layout/hProcess7"/>
    <dgm:cxn modelId="{096342D7-1394-4C06-A75F-F6FA6E9921EA}" type="presParOf" srcId="{4413368B-ACCA-469B-9D0E-1FEFC4075FB0}" destId="{13ACBB4E-2F0C-4773-92A7-F091255EA962}" srcOrd="1" destOrd="0" presId="urn:microsoft.com/office/officeart/2005/8/layout/hProcess7"/>
    <dgm:cxn modelId="{0551D5B9-3EF2-46B4-BDE7-420434119845}" type="presParOf" srcId="{4413368B-ACCA-469B-9D0E-1FEFC4075FB0}" destId="{BAD87237-2D53-4DFC-BA2E-02EC39493885}" srcOrd="2" destOrd="0" presId="urn:microsoft.com/office/officeart/2005/8/layout/hProcess7"/>
    <dgm:cxn modelId="{B8881A1D-E61C-493F-B384-13DC7053DB24}" type="presParOf" srcId="{BAD87237-2D53-4DFC-BA2E-02EC39493885}" destId="{221F174E-2568-4C2B-B98A-B21C733FC119}" srcOrd="0" destOrd="0" presId="urn:microsoft.com/office/officeart/2005/8/layout/hProcess7"/>
    <dgm:cxn modelId="{1EA37D4D-2ABA-449D-955B-DD8F7BDFDA60}" type="presParOf" srcId="{BAD87237-2D53-4DFC-BA2E-02EC39493885}" destId="{45668240-D897-4FC1-8421-6DD785B65040}" srcOrd="1" destOrd="0" presId="urn:microsoft.com/office/officeart/2005/8/layout/hProcess7"/>
    <dgm:cxn modelId="{32D119EF-9081-4844-9B36-FC88499D254A}" type="presParOf" srcId="{BAD87237-2D53-4DFC-BA2E-02EC39493885}" destId="{50ECFA14-9F36-4C35-911C-A780FF037D2C}" srcOrd="2" destOrd="0" presId="urn:microsoft.com/office/officeart/2005/8/layout/hProcess7"/>
    <dgm:cxn modelId="{DC7198BB-674A-423B-93A5-62B803FF5316}" type="presParOf" srcId="{4413368B-ACCA-469B-9D0E-1FEFC4075FB0}" destId="{B0CEB5DD-B27E-454F-A39C-A559A187214D}" srcOrd="3" destOrd="0" presId="urn:microsoft.com/office/officeart/2005/8/layout/hProcess7"/>
    <dgm:cxn modelId="{7B4FFE71-25B7-4297-AC88-98B40DC03482}" type="presParOf" srcId="{4413368B-ACCA-469B-9D0E-1FEFC4075FB0}" destId="{4BB7D377-EFD6-4B5D-AFC7-E199B4378248}" srcOrd="4" destOrd="0" presId="urn:microsoft.com/office/officeart/2005/8/layout/hProcess7"/>
    <dgm:cxn modelId="{A2947C3B-FC5A-4282-BA40-F6AAF3B8518B}" type="presParOf" srcId="{4BB7D377-EFD6-4B5D-AFC7-E199B4378248}" destId="{63E694CA-EB8A-49E7-8F7E-40E9648E8D50}" srcOrd="0" destOrd="0" presId="urn:microsoft.com/office/officeart/2005/8/layout/hProcess7"/>
    <dgm:cxn modelId="{E2074A85-2BD0-4221-A8DA-40F50206FF1A}" type="presParOf" srcId="{4BB7D377-EFD6-4B5D-AFC7-E199B4378248}" destId="{84855266-605F-4E2F-859A-33AF21B4CC74}" srcOrd="1" destOrd="0" presId="urn:microsoft.com/office/officeart/2005/8/layout/hProcess7"/>
    <dgm:cxn modelId="{40A5385F-CA1C-45B4-BC6F-83E8979599A8}" type="presParOf" srcId="{4BB7D377-EFD6-4B5D-AFC7-E199B4378248}" destId="{27D5C2FA-66B3-4507-8DD9-0DFEBE9E49C4}" srcOrd="2" destOrd="0" presId="urn:microsoft.com/office/officeart/2005/8/layout/hProcess7"/>
    <dgm:cxn modelId="{A832FC8C-9873-400C-B051-6BA2F7323F1B}" type="presParOf" srcId="{4413368B-ACCA-469B-9D0E-1FEFC4075FB0}" destId="{AE508BEB-62F7-4273-AFD9-13F02568DD39}" srcOrd="5" destOrd="0" presId="urn:microsoft.com/office/officeart/2005/8/layout/hProcess7"/>
    <dgm:cxn modelId="{B423A806-8D92-458E-94B6-4CECDD6B1219}" type="presParOf" srcId="{4413368B-ACCA-469B-9D0E-1FEFC4075FB0}" destId="{20A68127-C095-4D4D-B36C-96BA54B85DB0}" srcOrd="6" destOrd="0" presId="urn:microsoft.com/office/officeart/2005/8/layout/hProcess7"/>
    <dgm:cxn modelId="{EF35A298-DE3D-4C74-B110-258A7E9C983E}" type="presParOf" srcId="{20A68127-C095-4D4D-B36C-96BA54B85DB0}" destId="{00D4E5B4-15FE-4223-8CF1-EADD9A7F1E52}" srcOrd="0" destOrd="0" presId="urn:microsoft.com/office/officeart/2005/8/layout/hProcess7"/>
    <dgm:cxn modelId="{B598C75F-B7AF-4266-85B4-E89168D1354A}" type="presParOf" srcId="{20A68127-C095-4D4D-B36C-96BA54B85DB0}" destId="{0B1D8E78-2B68-4C5D-9329-AB01D008FC04}" srcOrd="1" destOrd="0" presId="urn:microsoft.com/office/officeart/2005/8/layout/hProcess7"/>
    <dgm:cxn modelId="{69B0A980-810B-4171-AE5B-E671C7001C1E}" type="presParOf" srcId="{20A68127-C095-4D4D-B36C-96BA54B85DB0}" destId="{E447F79B-3147-4AFA-97C4-CCAE6DBFF058}" srcOrd="2" destOrd="0" presId="urn:microsoft.com/office/officeart/2005/8/layout/hProcess7"/>
    <dgm:cxn modelId="{AA11E27D-00E3-4857-AA1E-D50D1AF55AB9}" type="presParOf" srcId="{4413368B-ACCA-469B-9D0E-1FEFC4075FB0}" destId="{EAB02694-BB77-4688-815D-9FF6A75A2E23}" srcOrd="7" destOrd="0" presId="urn:microsoft.com/office/officeart/2005/8/layout/hProcess7"/>
    <dgm:cxn modelId="{DF0297CC-EE00-4F42-9BC4-9C861949AD93}" type="presParOf" srcId="{4413368B-ACCA-469B-9D0E-1FEFC4075FB0}" destId="{897A3698-2D97-4DDC-95D9-A0BDC45706A4}" srcOrd="8" destOrd="0" presId="urn:microsoft.com/office/officeart/2005/8/layout/hProcess7"/>
    <dgm:cxn modelId="{CE4ECD4A-9C95-47CB-988A-914400171C42}" type="presParOf" srcId="{897A3698-2D97-4DDC-95D9-A0BDC45706A4}" destId="{89F889ED-FCCD-445E-BB3B-3F65B70521C8}" srcOrd="0" destOrd="0" presId="urn:microsoft.com/office/officeart/2005/8/layout/hProcess7"/>
    <dgm:cxn modelId="{A15E83F6-4914-4875-8942-4A9C1F1D78FB}" type="presParOf" srcId="{897A3698-2D97-4DDC-95D9-A0BDC45706A4}" destId="{7A9FE149-B78D-4591-8ED3-6FAE619303EF}" srcOrd="1" destOrd="0" presId="urn:microsoft.com/office/officeart/2005/8/layout/hProcess7"/>
    <dgm:cxn modelId="{D93480F3-73C7-4C4D-BB49-DDC33CAA6994}"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a:t>Development Stage</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state of progress of an R&amp;D project as described by a modified technology readiness level (TRL) scale.</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abstracts</a:t>
          </a:r>
        </a:p>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D4F13DD2-F8C9-4B0D-8FB5-9154AF5C88F9}" type="presOf" srcId="{38988576-B0AA-4C1A-9619-43A386D2A929}" destId="{7A9FE149-B78D-4591-8ED3-6FAE619303EF}" srcOrd="1" destOrd="0" presId="urn:microsoft.com/office/officeart/2005/8/layout/hProcess7"/>
    <dgm:cxn modelId="{FAAB263E-256D-43FC-A1BA-0F0BFC9BFEF8}" type="presOf" srcId="{1783039C-F21C-45A8-A1D1-7C275C084E3D}" destId="{545B6FF8-55C8-4464-AD34-37C6C75F354E}" srcOrd="0" destOrd="0" presId="urn:microsoft.com/office/officeart/2005/8/layout/hProcess7"/>
    <dgm:cxn modelId="{613DD73E-0499-4063-82D1-E6F4785DAC37}" type="presOf" srcId="{F754AD28-8B54-47D9-83F1-8D45F35B4A81}" destId="{0F07502A-98A4-4880-9779-27EA2BEB6F02}"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F844512E-33D5-4622-9007-95C2A1684B1C}" type="presOf" srcId="{E7E09A88-A855-416A-B17D-5608BAB5F968}" destId="{63E694CA-EB8A-49E7-8F7E-40E9648E8D50}"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AC3B517-F270-4F7C-A29A-A0DC069E20B6}" type="presOf" srcId="{E12051B9-F660-41FB-9BFB-187ECABCD821}" destId="{4413368B-ACCA-469B-9D0E-1FEFC4075FB0}" srcOrd="0" destOrd="0" presId="urn:microsoft.com/office/officeart/2005/8/layout/hProcess7"/>
    <dgm:cxn modelId="{ED5EA4A0-8B8E-4563-A267-9679F7793454}" type="presOf" srcId="{56D25664-E470-4423-B8A9-9B6E4F3E9501}" destId="{1F2FC209-C6F9-4BD8-BE18-C50B50281548}" srcOrd="1" destOrd="0" presId="urn:microsoft.com/office/officeart/2005/8/layout/hProcess7"/>
    <dgm:cxn modelId="{CD1EA170-DDD7-4920-BC3A-8D9998585A8C}" type="presOf" srcId="{56D25664-E470-4423-B8A9-9B6E4F3E9501}" destId="{5EE1D2E5-E13B-4FA3-A68E-FA18C8AD1A1A}" srcOrd="0" destOrd="0" presId="urn:microsoft.com/office/officeart/2005/8/layout/hProcess7"/>
    <dgm:cxn modelId="{3C55AC02-D184-4A0A-89BC-A128B4FD348C}"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5C35F4BE-964F-4271-B3F7-7A76111F3C7C}" type="presOf" srcId="{38988576-B0AA-4C1A-9619-43A386D2A929}" destId="{89F889ED-FCCD-445E-BB3B-3F65B70521C8}" srcOrd="0" destOrd="0" presId="urn:microsoft.com/office/officeart/2005/8/layout/hProcess7"/>
    <dgm:cxn modelId="{671E754A-A96F-4E42-B44F-9E914E91D707}" type="presOf" srcId="{E7E09A88-A855-416A-B17D-5608BAB5F968}" destId="{84855266-605F-4E2F-859A-33AF21B4CC74}" srcOrd="1"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A9D3FFE7-887F-4A5F-8380-DC0FB610D434}" type="presParOf" srcId="{4413368B-ACCA-469B-9D0E-1FEFC4075FB0}" destId="{8E1BCC0E-B989-4435-8915-645304C71A64}" srcOrd="0" destOrd="0" presId="urn:microsoft.com/office/officeart/2005/8/layout/hProcess7"/>
    <dgm:cxn modelId="{24D474A7-AF60-4B21-9C8E-CDADBA2DE23B}" type="presParOf" srcId="{8E1BCC0E-B989-4435-8915-645304C71A64}" destId="{5EE1D2E5-E13B-4FA3-A68E-FA18C8AD1A1A}" srcOrd="0" destOrd="0" presId="urn:microsoft.com/office/officeart/2005/8/layout/hProcess7"/>
    <dgm:cxn modelId="{F08C0E94-5C95-417A-B9D9-9AFC95450163}" type="presParOf" srcId="{8E1BCC0E-B989-4435-8915-645304C71A64}" destId="{1F2FC209-C6F9-4BD8-BE18-C50B50281548}" srcOrd="1" destOrd="0" presId="urn:microsoft.com/office/officeart/2005/8/layout/hProcess7"/>
    <dgm:cxn modelId="{40412E63-B461-4491-B0F0-31D309D9C6A9}" type="presParOf" srcId="{8E1BCC0E-B989-4435-8915-645304C71A64}" destId="{0F07502A-98A4-4880-9779-27EA2BEB6F02}" srcOrd="2" destOrd="0" presId="urn:microsoft.com/office/officeart/2005/8/layout/hProcess7"/>
    <dgm:cxn modelId="{3A4D76A4-F12E-465F-960E-C0B1C3325C3A}" type="presParOf" srcId="{4413368B-ACCA-469B-9D0E-1FEFC4075FB0}" destId="{13ACBB4E-2F0C-4773-92A7-F091255EA962}" srcOrd="1" destOrd="0" presId="urn:microsoft.com/office/officeart/2005/8/layout/hProcess7"/>
    <dgm:cxn modelId="{26ECF106-2C2A-4E76-B341-93D9B1AA8D73}" type="presParOf" srcId="{4413368B-ACCA-469B-9D0E-1FEFC4075FB0}" destId="{BAD87237-2D53-4DFC-BA2E-02EC39493885}" srcOrd="2" destOrd="0" presId="urn:microsoft.com/office/officeart/2005/8/layout/hProcess7"/>
    <dgm:cxn modelId="{7F64A0AC-84CF-4CA7-B4F7-F38B6957E264}" type="presParOf" srcId="{BAD87237-2D53-4DFC-BA2E-02EC39493885}" destId="{221F174E-2568-4C2B-B98A-B21C733FC119}" srcOrd="0" destOrd="0" presId="urn:microsoft.com/office/officeart/2005/8/layout/hProcess7"/>
    <dgm:cxn modelId="{9C483187-5588-4B91-804F-5F95DB9EA33E}" type="presParOf" srcId="{BAD87237-2D53-4DFC-BA2E-02EC39493885}" destId="{45668240-D897-4FC1-8421-6DD785B65040}" srcOrd="1" destOrd="0" presId="urn:microsoft.com/office/officeart/2005/8/layout/hProcess7"/>
    <dgm:cxn modelId="{CCC714FA-575C-44EB-9AC3-9DC38B759AAD}" type="presParOf" srcId="{BAD87237-2D53-4DFC-BA2E-02EC39493885}" destId="{50ECFA14-9F36-4C35-911C-A780FF037D2C}" srcOrd="2" destOrd="0" presId="urn:microsoft.com/office/officeart/2005/8/layout/hProcess7"/>
    <dgm:cxn modelId="{90AC1190-E6C4-441F-A10C-1CEA076369FA}" type="presParOf" srcId="{4413368B-ACCA-469B-9D0E-1FEFC4075FB0}" destId="{B0CEB5DD-B27E-454F-A39C-A559A187214D}" srcOrd="3" destOrd="0" presId="urn:microsoft.com/office/officeart/2005/8/layout/hProcess7"/>
    <dgm:cxn modelId="{91C2E2A7-F1A4-4493-AE63-FE3CE88F4984}" type="presParOf" srcId="{4413368B-ACCA-469B-9D0E-1FEFC4075FB0}" destId="{4BB7D377-EFD6-4B5D-AFC7-E199B4378248}" srcOrd="4" destOrd="0" presId="urn:microsoft.com/office/officeart/2005/8/layout/hProcess7"/>
    <dgm:cxn modelId="{DC4FE133-F2AF-434D-B1E6-0887D5EB332C}" type="presParOf" srcId="{4BB7D377-EFD6-4B5D-AFC7-E199B4378248}" destId="{63E694CA-EB8A-49E7-8F7E-40E9648E8D50}" srcOrd="0" destOrd="0" presId="urn:microsoft.com/office/officeart/2005/8/layout/hProcess7"/>
    <dgm:cxn modelId="{F44A1E82-677E-4236-825F-1464926D8B98}" type="presParOf" srcId="{4BB7D377-EFD6-4B5D-AFC7-E199B4378248}" destId="{84855266-605F-4E2F-859A-33AF21B4CC74}" srcOrd="1" destOrd="0" presId="urn:microsoft.com/office/officeart/2005/8/layout/hProcess7"/>
    <dgm:cxn modelId="{35FC9044-1C9D-4920-AA8D-D0ECF7B12B49}" type="presParOf" srcId="{4BB7D377-EFD6-4B5D-AFC7-E199B4378248}" destId="{27D5C2FA-66B3-4507-8DD9-0DFEBE9E49C4}" srcOrd="2" destOrd="0" presId="urn:microsoft.com/office/officeart/2005/8/layout/hProcess7"/>
    <dgm:cxn modelId="{E2441D1E-FB27-4BA7-9B3B-F26EFFE6DDF6}" type="presParOf" srcId="{4413368B-ACCA-469B-9D0E-1FEFC4075FB0}" destId="{AE508BEB-62F7-4273-AFD9-13F02568DD39}" srcOrd="5" destOrd="0" presId="urn:microsoft.com/office/officeart/2005/8/layout/hProcess7"/>
    <dgm:cxn modelId="{00C89B0D-8505-4346-8FD7-227037ADCFE3}" type="presParOf" srcId="{4413368B-ACCA-469B-9D0E-1FEFC4075FB0}" destId="{20A68127-C095-4D4D-B36C-96BA54B85DB0}" srcOrd="6" destOrd="0" presId="urn:microsoft.com/office/officeart/2005/8/layout/hProcess7"/>
    <dgm:cxn modelId="{6CB240BA-0EB3-4EA7-B6E5-57E288261F77}" type="presParOf" srcId="{20A68127-C095-4D4D-B36C-96BA54B85DB0}" destId="{00D4E5B4-15FE-4223-8CF1-EADD9A7F1E52}" srcOrd="0" destOrd="0" presId="urn:microsoft.com/office/officeart/2005/8/layout/hProcess7"/>
    <dgm:cxn modelId="{4A40DAA1-38ED-4D14-8B2B-55F54C514308}" type="presParOf" srcId="{20A68127-C095-4D4D-B36C-96BA54B85DB0}" destId="{0B1D8E78-2B68-4C5D-9329-AB01D008FC04}" srcOrd="1" destOrd="0" presId="urn:microsoft.com/office/officeart/2005/8/layout/hProcess7"/>
    <dgm:cxn modelId="{97EB59B6-3A77-452B-9515-F39E3E51FE53}" type="presParOf" srcId="{20A68127-C095-4D4D-B36C-96BA54B85DB0}" destId="{E447F79B-3147-4AFA-97C4-CCAE6DBFF058}" srcOrd="2" destOrd="0" presId="urn:microsoft.com/office/officeart/2005/8/layout/hProcess7"/>
    <dgm:cxn modelId="{FB6FDA57-AD97-4235-AC42-CEF9AD087FC1}" type="presParOf" srcId="{4413368B-ACCA-469B-9D0E-1FEFC4075FB0}" destId="{EAB02694-BB77-4688-815D-9FF6A75A2E23}" srcOrd="7" destOrd="0" presId="urn:microsoft.com/office/officeart/2005/8/layout/hProcess7"/>
    <dgm:cxn modelId="{0F4DAAD0-F9F0-495A-AD62-9383E54C0E80}" type="presParOf" srcId="{4413368B-ACCA-469B-9D0E-1FEFC4075FB0}" destId="{897A3698-2D97-4DDC-95D9-A0BDC45706A4}" srcOrd="8" destOrd="0" presId="urn:microsoft.com/office/officeart/2005/8/layout/hProcess7"/>
    <dgm:cxn modelId="{085D1778-9D30-42EA-91AA-5081D7544DEC}" type="presParOf" srcId="{897A3698-2D97-4DDC-95D9-A0BDC45706A4}" destId="{89F889ED-FCCD-445E-BB3B-3F65B70521C8}" srcOrd="0" destOrd="0" presId="urn:microsoft.com/office/officeart/2005/8/layout/hProcess7"/>
    <dgm:cxn modelId="{8A10386D-4B73-4DCB-BC03-834471333657}" type="presParOf" srcId="{897A3698-2D97-4DDC-95D9-A0BDC45706A4}" destId="{7A9FE149-B78D-4591-8ED3-6FAE619303EF}" srcOrd="1" destOrd="0" presId="urn:microsoft.com/office/officeart/2005/8/layout/hProcess7"/>
    <dgm:cxn modelId="{A7FDCE29-4858-43DE-94BC-EF8895C28F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City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dgm:spPr/>
      <dgm:t>
        <a:bodyPr/>
        <a:lstStyle/>
        <a:p>
          <a:r>
            <a:rPr lang="en-US" dirty="0"/>
            <a:t>A metropolitan statistical area (MSA) with a total absolute population of 1 million people and total normalized population of at least 110 people per square mile</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a:t>2017 estimates from the U.S. Census Bureau</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dgm:spPr/>
      <dgm:t>
        <a:bodyPr/>
        <a:lstStyle/>
        <a:p>
          <a:r>
            <a:rPr lang="en-US" dirty="0"/>
            <a:t>OMB definitions of MSAs</a:t>
          </a:r>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846A0355-F2CE-4EB4-8DA9-D31767F64D80}" type="presOf" srcId="{E12051B9-F660-41FB-9BFB-187ECABCD821}" destId="{4413368B-ACCA-469B-9D0E-1FEFC4075FB0}" srcOrd="0" destOrd="0" presId="urn:microsoft.com/office/officeart/2005/8/layout/hProcess7"/>
    <dgm:cxn modelId="{0C085BD3-56BD-4E72-9F41-493BC83D4988}" type="presOf" srcId="{1783039C-F21C-45A8-A1D1-7C275C084E3D}" destId="{545B6FF8-55C8-4464-AD34-37C6C75F354E}" srcOrd="0" destOrd="1"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B267EDD0-E9C3-40E2-A02F-8F2E23BDFFB8}" type="presOf" srcId="{E7E09A88-A855-416A-B17D-5608BAB5F968}" destId="{84855266-605F-4E2F-859A-33AF21B4CC74}"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96AE6DB1-3E10-4D81-BEB5-20BAD4692B6F}" type="presOf" srcId="{51D06665-6AE9-4C70-9F48-E4ECE1C95B61}" destId="{545B6FF8-55C8-4464-AD34-37C6C75F354E}" srcOrd="0" destOrd="0" presId="urn:microsoft.com/office/officeart/2005/8/layout/hProcess7"/>
    <dgm:cxn modelId="{86333582-FF23-41F6-8282-EBACF325B294}" type="presOf" srcId="{56D25664-E470-4423-B8A9-9B6E4F3E9501}" destId="{5EE1D2E5-E13B-4FA3-A68E-FA18C8AD1A1A}" srcOrd="0" destOrd="0" presId="urn:microsoft.com/office/officeart/2005/8/layout/hProcess7"/>
    <dgm:cxn modelId="{5600036E-F944-4456-8734-48894D705AE6}" type="presOf" srcId="{38988576-B0AA-4C1A-9619-43A386D2A929}" destId="{89F889ED-FCCD-445E-BB3B-3F65B70521C8}"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70636453-53E7-4C45-A69B-793DC6A00913}" type="presOf" srcId="{E7E09A88-A855-416A-B17D-5608BAB5F968}" destId="{63E694CA-EB8A-49E7-8F7E-40E9648E8D50}" srcOrd="0" destOrd="0" presId="urn:microsoft.com/office/officeart/2005/8/layout/hProcess7"/>
    <dgm:cxn modelId="{30F696CA-071B-474D-A34F-E0DC681B3E8E}" type="presOf" srcId="{F754AD28-8B54-47D9-83F1-8D45F35B4A81}" destId="{0F07502A-98A4-4880-9779-27EA2BEB6F02}" srcOrd="0" destOrd="0" presId="urn:microsoft.com/office/officeart/2005/8/layout/hProcess7"/>
    <dgm:cxn modelId="{4E0C14B0-C117-47B4-8CA4-F22EFF3F3287}"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B9ACFF5E-19D2-42CD-8F69-30287C02FF3C}" type="presOf" srcId="{38988576-B0AA-4C1A-9619-43A386D2A929}" destId="{7A9FE149-B78D-4591-8ED3-6FAE619303EF}" srcOrd="1" destOrd="0" presId="urn:microsoft.com/office/officeart/2005/8/layout/hProcess7"/>
    <dgm:cxn modelId="{9B1BF8FA-CB63-4575-9457-0CB9BFE5E140}" type="presOf" srcId="{56D25664-E470-4423-B8A9-9B6E4F3E9501}" destId="{1F2FC209-C6F9-4BD8-BE18-C50B50281548}"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36456D39-5280-4333-8C06-91FB460A29B9}" type="presParOf" srcId="{4413368B-ACCA-469B-9D0E-1FEFC4075FB0}" destId="{8E1BCC0E-B989-4435-8915-645304C71A64}" srcOrd="0" destOrd="0" presId="urn:microsoft.com/office/officeart/2005/8/layout/hProcess7"/>
    <dgm:cxn modelId="{8B6E8928-FBF4-4D67-A8A6-65A6854AABC7}" type="presParOf" srcId="{8E1BCC0E-B989-4435-8915-645304C71A64}" destId="{5EE1D2E5-E13B-4FA3-A68E-FA18C8AD1A1A}" srcOrd="0" destOrd="0" presId="urn:microsoft.com/office/officeart/2005/8/layout/hProcess7"/>
    <dgm:cxn modelId="{12019D09-BEF7-478B-A30B-93EB4C4C9725}" type="presParOf" srcId="{8E1BCC0E-B989-4435-8915-645304C71A64}" destId="{1F2FC209-C6F9-4BD8-BE18-C50B50281548}" srcOrd="1" destOrd="0" presId="urn:microsoft.com/office/officeart/2005/8/layout/hProcess7"/>
    <dgm:cxn modelId="{DE5D7836-302D-4F5D-863E-99C8C392A527}" type="presParOf" srcId="{8E1BCC0E-B989-4435-8915-645304C71A64}" destId="{0F07502A-98A4-4880-9779-27EA2BEB6F02}" srcOrd="2" destOrd="0" presId="urn:microsoft.com/office/officeart/2005/8/layout/hProcess7"/>
    <dgm:cxn modelId="{1B588293-4355-4EC0-A19A-A4961014F2E1}" type="presParOf" srcId="{4413368B-ACCA-469B-9D0E-1FEFC4075FB0}" destId="{13ACBB4E-2F0C-4773-92A7-F091255EA962}" srcOrd="1" destOrd="0" presId="urn:microsoft.com/office/officeart/2005/8/layout/hProcess7"/>
    <dgm:cxn modelId="{5C35080C-2BBF-4A1B-97F9-7D9305B42B54}" type="presParOf" srcId="{4413368B-ACCA-469B-9D0E-1FEFC4075FB0}" destId="{BAD87237-2D53-4DFC-BA2E-02EC39493885}" srcOrd="2" destOrd="0" presId="urn:microsoft.com/office/officeart/2005/8/layout/hProcess7"/>
    <dgm:cxn modelId="{A69C22AE-148E-4244-8032-BA4F96B5B7C3}" type="presParOf" srcId="{BAD87237-2D53-4DFC-BA2E-02EC39493885}" destId="{221F174E-2568-4C2B-B98A-B21C733FC119}" srcOrd="0" destOrd="0" presId="urn:microsoft.com/office/officeart/2005/8/layout/hProcess7"/>
    <dgm:cxn modelId="{0A1483A8-354C-4C67-A783-F7E09589ADA6}" type="presParOf" srcId="{BAD87237-2D53-4DFC-BA2E-02EC39493885}" destId="{45668240-D897-4FC1-8421-6DD785B65040}" srcOrd="1" destOrd="0" presId="urn:microsoft.com/office/officeart/2005/8/layout/hProcess7"/>
    <dgm:cxn modelId="{DD433462-1CB1-4D4B-85B7-9EB73387DBD1}" type="presParOf" srcId="{BAD87237-2D53-4DFC-BA2E-02EC39493885}" destId="{50ECFA14-9F36-4C35-911C-A780FF037D2C}" srcOrd="2" destOrd="0" presId="urn:microsoft.com/office/officeart/2005/8/layout/hProcess7"/>
    <dgm:cxn modelId="{65B847FD-CD98-4081-9661-2FB959031E73}" type="presParOf" srcId="{4413368B-ACCA-469B-9D0E-1FEFC4075FB0}" destId="{B0CEB5DD-B27E-454F-A39C-A559A187214D}" srcOrd="3" destOrd="0" presId="urn:microsoft.com/office/officeart/2005/8/layout/hProcess7"/>
    <dgm:cxn modelId="{9FCB1850-9995-435F-B320-BA56830990F2}" type="presParOf" srcId="{4413368B-ACCA-469B-9D0E-1FEFC4075FB0}" destId="{4BB7D377-EFD6-4B5D-AFC7-E199B4378248}" srcOrd="4" destOrd="0" presId="urn:microsoft.com/office/officeart/2005/8/layout/hProcess7"/>
    <dgm:cxn modelId="{3B090F4B-D477-44A4-91CE-09101D8EC94C}" type="presParOf" srcId="{4BB7D377-EFD6-4B5D-AFC7-E199B4378248}" destId="{63E694CA-EB8A-49E7-8F7E-40E9648E8D50}" srcOrd="0" destOrd="0" presId="urn:microsoft.com/office/officeart/2005/8/layout/hProcess7"/>
    <dgm:cxn modelId="{9BBB9526-C0E8-4C4F-B645-116273401389}" type="presParOf" srcId="{4BB7D377-EFD6-4B5D-AFC7-E199B4378248}" destId="{84855266-605F-4E2F-859A-33AF21B4CC74}" srcOrd="1" destOrd="0" presId="urn:microsoft.com/office/officeart/2005/8/layout/hProcess7"/>
    <dgm:cxn modelId="{2F08140D-A41F-4ECA-BFCA-BBCFFBE1C03F}" type="presParOf" srcId="{4BB7D377-EFD6-4B5D-AFC7-E199B4378248}" destId="{27D5C2FA-66B3-4507-8DD9-0DFEBE9E49C4}" srcOrd="2" destOrd="0" presId="urn:microsoft.com/office/officeart/2005/8/layout/hProcess7"/>
    <dgm:cxn modelId="{6EE4D2FF-EDD0-458D-A76B-C12D79F9D635}" type="presParOf" srcId="{4413368B-ACCA-469B-9D0E-1FEFC4075FB0}" destId="{AE508BEB-62F7-4273-AFD9-13F02568DD39}" srcOrd="5" destOrd="0" presId="urn:microsoft.com/office/officeart/2005/8/layout/hProcess7"/>
    <dgm:cxn modelId="{AF9618B2-B8FD-4F60-99A1-A5A71F67CC59}" type="presParOf" srcId="{4413368B-ACCA-469B-9D0E-1FEFC4075FB0}" destId="{20A68127-C095-4D4D-B36C-96BA54B85DB0}" srcOrd="6" destOrd="0" presId="urn:microsoft.com/office/officeart/2005/8/layout/hProcess7"/>
    <dgm:cxn modelId="{52C4DB0A-7270-4824-9E1F-1B4D63133329}" type="presParOf" srcId="{20A68127-C095-4D4D-B36C-96BA54B85DB0}" destId="{00D4E5B4-15FE-4223-8CF1-EADD9A7F1E52}" srcOrd="0" destOrd="0" presId="urn:microsoft.com/office/officeart/2005/8/layout/hProcess7"/>
    <dgm:cxn modelId="{300D4047-E91D-4769-865D-2BF453DF2F65}" type="presParOf" srcId="{20A68127-C095-4D4D-B36C-96BA54B85DB0}" destId="{0B1D8E78-2B68-4C5D-9329-AB01D008FC04}" srcOrd="1" destOrd="0" presId="urn:microsoft.com/office/officeart/2005/8/layout/hProcess7"/>
    <dgm:cxn modelId="{FDD64055-524A-41D7-ABE9-E9A8223022BB}" type="presParOf" srcId="{20A68127-C095-4D4D-B36C-96BA54B85DB0}" destId="{E447F79B-3147-4AFA-97C4-CCAE6DBFF058}" srcOrd="2" destOrd="0" presId="urn:microsoft.com/office/officeart/2005/8/layout/hProcess7"/>
    <dgm:cxn modelId="{7096C061-92D0-4AE3-82C8-9B0187E77C73}" type="presParOf" srcId="{4413368B-ACCA-469B-9D0E-1FEFC4075FB0}" destId="{EAB02694-BB77-4688-815D-9FF6A75A2E23}" srcOrd="7" destOrd="0" presId="urn:microsoft.com/office/officeart/2005/8/layout/hProcess7"/>
    <dgm:cxn modelId="{F9BCC103-0602-4DD9-BE7A-7E6C5B7DF6A6}" type="presParOf" srcId="{4413368B-ACCA-469B-9D0E-1FEFC4075FB0}" destId="{897A3698-2D97-4DDC-95D9-A0BDC45706A4}" srcOrd="8" destOrd="0" presId="urn:microsoft.com/office/officeart/2005/8/layout/hProcess7"/>
    <dgm:cxn modelId="{2DC273F9-839B-49E8-81C8-8152C56CAB79}" type="presParOf" srcId="{897A3698-2D97-4DDC-95D9-A0BDC45706A4}" destId="{89F889ED-FCCD-445E-BB3B-3F65B70521C8}" srcOrd="0" destOrd="0" presId="urn:microsoft.com/office/officeart/2005/8/layout/hProcess7"/>
    <dgm:cxn modelId="{069C7A69-99DD-43E1-AB95-CC765D3DDE6D}" type="presParOf" srcId="{897A3698-2D97-4DDC-95D9-A0BDC45706A4}" destId="{7A9FE149-B78D-4591-8ED3-6FAE619303EF}" srcOrd="1" destOrd="0" presId="urn:microsoft.com/office/officeart/2005/8/layout/hProcess7"/>
    <dgm:cxn modelId="{0D94ED7D-610C-47CC-A271-CE4775ED980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Spatial Distance</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distance from the institution that received the federal funding award for the R&amp;D project to the centroid of the nearest MSA that meets the study requirements.</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Location coordinates in longitude and latitude</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a:t>Absolute distance measured in miles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F1DF730-354B-4201-A360-499D6E15F834}"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E3C32E3-5AB2-4585-B224-8434ED8DEC09}" type="presOf" srcId="{56D25664-E470-4423-B8A9-9B6E4F3E9501}" destId="{5EE1D2E5-E13B-4FA3-A68E-FA18C8AD1A1A}" srcOrd="0" destOrd="0" presId="urn:microsoft.com/office/officeart/2005/8/layout/hProcess7"/>
    <dgm:cxn modelId="{9DAB0A59-7106-40A9-8657-CEF3A7338D41}" type="presOf" srcId="{E7E09A88-A855-416A-B17D-5608BAB5F968}" destId="{84855266-605F-4E2F-859A-33AF21B4CC74}" srcOrd="1" destOrd="0" presId="urn:microsoft.com/office/officeart/2005/8/layout/hProcess7"/>
    <dgm:cxn modelId="{60F48F3E-9218-4087-8F2B-82DC9084D0DC}" type="presOf" srcId="{F754AD28-8B54-47D9-83F1-8D45F35B4A81}" destId="{0F07502A-98A4-4880-9779-27EA2BEB6F02}"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BA2E2B2-CBFE-4885-B979-EC94A554EA31}" type="presOf" srcId="{561C8C01-168E-4810-B00A-83B2C936D185}" destId="{545B6FF8-55C8-4464-AD34-37C6C75F354E}" srcOrd="0" destOrd="1" presId="urn:microsoft.com/office/officeart/2005/8/layout/hProcess7"/>
    <dgm:cxn modelId="{1A6AF12A-6308-4A01-A4F5-0298704D9EAD}" srcId="{38988576-B0AA-4C1A-9619-43A386D2A929}" destId="{561C8C01-168E-4810-B00A-83B2C936D185}" srcOrd="1" destOrd="0" parTransId="{73AA7CFC-FF1E-41E0-9601-E4AE1AD4A52E}" sibTransId="{14EE0822-6F69-42E4-9BB3-24B2EC1E05AA}"/>
    <dgm:cxn modelId="{358DCAF1-DA36-4716-B365-E096E8C885E4}" type="presOf" srcId="{38988576-B0AA-4C1A-9619-43A386D2A929}" destId="{7A9FE149-B78D-4591-8ED3-6FAE619303EF}"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874CAB56-E993-4BA7-B073-DD6F211AB452}" srcId="{E12051B9-F660-41FB-9BFB-187ECABCD821}" destId="{56D25664-E470-4423-B8A9-9B6E4F3E9501}" srcOrd="0" destOrd="0" parTransId="{AE225F17-CB4A-4698-895E-495209A24EDD}" sibTransId="{0513D618-905F-43E6-8DF3-0764A99732D8}"/>
    <dgm:cxn modelId="{E0F0A2D0-BB2E-4DC0-84B4-747BCEFEEA08}" srcId="{38988576-B0AA-4C1A-9619-43A386D2A929}" destId="{1783039C-F21C-45A8-A1D1-7C275C084E3D}" srcOrd="0" destOrd="0" parTransId="{F569BECA-BA1C-4C40-875B-712F7A86376F}" sibTransId="{4FB813B0-7843-48EA-BCAE-C990504F24DD}"/>
    <dgm:cxn modelId="{ACA5593C-B763-42D8-85DE-03BB63099F4E}" type="presOf" srcId="{E12051B9-F660-41FB-9BFB-187ECABCD821}" destId="{4413368B-ACCA-469B-9D0E-1FEFC4075FB0}" srcOrd="0" destOrd="0" presId="urn:microsoft.com/office/officeart/2005/8/layout/hProcess7"/>
    <dgm:cxn modelId="{CC9E44C7-0F38-421D-82C4-264368D6CCA9}" type="presOf" srcId="{56D25664-E470-4423-B8A9-9B6E4F3E9501}" destId="{1F2FC209-C6F9-4BD8-BE18-C50B50281548}" srcOrd="1" destOrd="0" presId="urn:microsoft.com/office/officeart/2005/8/layout/hProcess7"/>
    <dgm:cxn modelId="{14AF25DD-77F8-43D1-8817-728A2E68A4AB}" type="presOf" srcId="{E7E09A88-A855-416A-B17D-5608BAB5F968}" destId="{63E694CA-EB8A-49E7-8F7E-40E9648E8D50}" srcOrd="0" destOrd="0" presId="urn:microsoft.com/office/officeart/2005/8/layout/hProcess7"/>
    <dgm:cxn modelId="{8D6867E1-0E76-4610-9A4F-9829CE9CCC2E}" type="presOf" srcId="{D264B8C8-0C74-4047-BC3D-D328ABB04B07}" destId="{27D5C2FA-66B3-4507-8DD9-0DFEBE9E49C4}" srcOrd="0" destOrd="0" presId="urn:microsoft.com/office/officeart/2005/8/layout/hProcess7"/>
    <dgm:cxn modelId="{4585ADD9-2B5D-4C11-B7EE-B188A813C0F5}" type="presOf" srcId="{1783039C-F21C-45A8-A1D1-7C275C084E3D}" destId="{545B6FF8-55C8-4464-AD34-37C6C75F354E}"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457789C2-9E23-4A14-AFAE-E5F069AB792F}" type="presParOf" srcId="{4413368B-ACCA-469B-9D0E-1FEFC4075FB0}" destId="{8E1BCC0E-B989-4435-8915-645304C71A64}" srcOrd="0" destOrd="0" presId="urn:microsoft.com/office/officeart/2005/8/layout/hProcess7"/>
    <dgm:cxn modelId="{6DBCEC73-A5E7-44F8-9E72-1E1AB4EF53D8}" type="presParOf" srcId="{8E1BCC0E-B989-4435-8915-645304C71A64}" destId="{5EE1D2E5-E13B-4FA3-A68E-FA18C8AD1A1A}" srcOrd="0" destOrd="0" presId="urn:microsoft.com/office/officeart/2005/8/layout/hProcess7"/>
    <dgm:cxn modelId="{B6A77D23-E7C8-4DF0-A699-5B27546B5E9D}" type="presParOf" srcId="{8E1BCC0E-B989-4435-8915-645304C71A64}" destId="{1F2FC209-C6F9-4BD8-BE18-C50B50281548}" srcOrd="1" destOrd="0" presId="urn:microsoft.com/office/officeart/2005/8/layout/hProcess7"/>
    <dgm:cxn modelId="{5C492641-5964-4617-A028-944F09EBEF5F}" type="presParOf" srcId="{8E1BCC0E-B989-4435-8915-645304C71A64}" destId="{0F07502A-98A4-4880-9779-27EA2BEB6F02}" srcOrd="2" destOrd="0" presId="urn:microsoft.com/office/officeart/2005/8/layout/hProcess7"/>
    <dgm:cxn modelId="{1CEEF5EB-2997-44F5-9995-9C4B75B75EBE}" type="presParOf" srcId="{4413368B-ACCA-469B-9D0E-1FEFC4075FB0}" destId="{13ACBB4E-2F0C-4773-92A7-F091255EA962}" srcOrd="1" destOrd="0" presId="urn:microsoft.com/office/officeart/2005/8/layout/hProcess7"/>
    <dgm:cxn modelId="{A8247BE4-F7A6-4FA9-85F6-46D1D1DADA32}" type="presParOf" srcId="{4413368B-ACCA-469B-9D0E-1FEFC4075FB0}" destId="{BAD87237-2D53-4DFC-BA2E-02EC39493885}" srcOrd="2" destOrd="0" presId="urn:microsoft.com/office/officeart/2005/8/layout/hProcess7"/>
    <dgm:cxn modelId="{D22F370B-FC43-452E-9154-D90BF41272D2}" type="presParOf" srcId="{BAD87237-2D53-4DFC-BA2E-02EC39493885}" destId="{221F174E-2568-4C2B-B98A-B21C733FC119}" srcOrd="0" destOrd="0" presId="urn:microsoft.com/office/officeart/2005/8/layout/hProcess7"/>
    <dgm:cxn modelId="{E2508AEA-8C85-434D-A66E-0EC40C2955A4}" type="presParOf" srcId="{BAD87237-2D53-4DFC-BA2E-02EC39493885}" destId="{45668240-D897-4FC1-8421-6DD785B65040}" srcOrd="1" destOrd="0" presId="urn:microsoft.com/office/officeart/2005/8/layout/hProcess7"/>
    <dgm:cxn modelId="{74C24496-30A2-48C5-BD9A-81C06B91BBF4}" type="presParOf" srcId="{BAD87237-2D53-4DFC-BA2E-02EC39493885}" destId="{50ECFA14-9F36-4C35-911C-A780FF037D2C}" srcOrd="2" destOrd="0" presId="urn:microsoft.com/office/officeart/2005/8/layout/hProcess7"/>
    <dgm:cxn modelId="{6D504B51-1F2C-4FE6-B1D3-76E5129A00FD}" type="presParOf" srcId="{4413368B-ACCA-469B-9D0E-1FEFC4075FB0}" destId="{B0CEB5DD-B27E-454F-A39C-A559A187214D}" srcOrd="3" destOrd="0" presId="urn:microsoft.com/office/officeart/2005/8/layout/hProcess7"/>
    <dgm:cxn modelId="{94CE2C75-5C17-45BF-B89F-FA11DBB1E024}" type="presParOf" srcId="{4413368B-ACCA-469B-9D0E-1FEFC4075FB0}" destId="{4BB7D377-EFD6-4B5D-AFC7-E199B4378248}" srcOrd="4" destOrd="0" presId="urn:microsoft.com/office/officeart/2005/8/layout/hProcess7"/>
    <dgm:cxn modelId="{A8081B72-DF99-48EA-AA3B-BA4C2CD0AE7F}" type="presParOf" srcId="{4BB7D377-EFD6-4B5D-AFC7-E199B4378248}" destId="{63E694CA-EB8A-49E7-8F7E-40E9648E8D50}" srcOrd="0" destOrd="0" presId="urn:microsoft.com/office/officeart/2005/8/layout/hProcess7"/>
    <dgm:cxn modelId="{B42D0AF5-C7EB-46E9-BCFC-C330E5307FF5}" type="presParOf" srcId="{4BB7D377-EFD6-4B5D-AFC7-E199B4378248}" destId="{84855266-605F-4E2F-859A-33AF21B4CC74}" srcOrd="1" destOrd="0" presId="urn:microsoft.com/office/officeart/2005/8/layout/hProcess7"/>
    <dgm:cxn modelId="{745B8A44-D351-4820-A8A1-1869077D2A1C}" type="presParOf" srcId="{4BB7D377-EFD6-4B5D-AFC7-E199B4378248}" destId="{27D5C2FA-66B3-4507-8DD9-0DFEBE9E49C4}" srcOrd="2" destOrd="0" presId="urn:microsoft.com/office/officeart/2005/8/layout/hProcess7"/>
    <dgm:cxn modelId="{D7855CE6-3681-4700-90A5-0AE78B048DB3}" type="presParOf" srcId="{4413368B-ACCA-469B-9D0E-1FEFC4075FB0}" destId="{AE508BEB-62F7-4273-AFD9-13F02568DD39}" srcOrd="5" destOrd="0" presId="urn:microsoft.com/office/officeart/2005/8/layout/hProcess7"/>
    <dgm:cxn modelId="{9C4F3C02-3DF9-4B55-A330-F3EAF1B101A2}" type="presParOf" srcId="{4413368B-ACCA-469B-9D0E-1FEFC4075FB0}" destId="{20A68127-C095-4D4D-B36C-96BA54B85DB0}" srcOrd="6" destOrd="0" presId="urn:microsoft.com/office/officeart/2005/8/layout/hProcess7"/>
    <dgm:cxn modelId="{226D561F-5471-4663-8686-05F89C335D15}" type="presParOf" srcId="{20A68127-C095-4D4D-B36C-96BA54B85DB0}" destId="{00D4E5B4-15FE-4223-8CF1-EADD9A7F1E52}" srcOrd="0" destOrd="0" presId="urn:microsoft.com/office/officeart/2005/8/layout/hProcess7"/>
    <dgm:cxn modelId="{DFBF8933-11B7-4B40-A2A8-178B5C1BB504}" type="presParOf" srcId="{20A68127-C095-4D4D-B36C-96BA54B85DB0}" destId="{0B1D8E78-2B68-4C5D-9329-AB01D008FC04}" srcOrd="1" destOrd="0" presId="urn:microsoft.com/office/officeart/2005/8/layout/hProcess7"/>
    <dgm:cxn modelId="{FB2904C6-2F3E-4F89-A4A6-3F07B54DD632}" type="presParOf" srcId="{20A68127-C095-4D4D-B36C-96BA54B85DB0}" destId="{E447F79B-3147-4AFA-97C4-CCAE6DBFF058}" srcOrd="2" destOrd="0" presId="urn:microsoft.com/office/officeart/2005/8/layout/hProcess7"/>
    <dgm:cxn modelId="{E4BD2E22-851D-409E-8343-B8BD8B1DF060}" type="presParOf" srcId="{4413368B-ACCA-469B-9D0E-1FEFC4075FB0}" destId="{EAB02694-BB77-4688-815D-9FF6A75A2E23}" srcOrd="7" destOrd="0" presId="urn:microsoft.com/office/officeart/2005/8/layout/hProcess7"/>
    <dgm:cxn modelId="{D3036904-2087-4AED-99A2-F4766679028B}" type="presParOf" srcId="{4413368B-ACCA-469B-9D0E-1FEFC4075FB0}" destId="{897A3698-2D97-4DDC-95D9-A0BDC45706A4}" srcOrd="8" destOrd="0" presId="urn:microsoft.com/office/officeart/2005/8/layout/hProcess7"/>
    <dgm:cxn modelId="{985E6237-DF0A-4112-A058-6A61E76AE315}" type="presParOf" srcId="{897A3698-2D97-4DDC-95D9-A0BDC45706A4}" destId="{89F889ED-FCCD-445E-BB3B-3F65B70521C8}" srcOrd="0" destOrd="0" presId="urn:microsoft.com/office/officeart/2005/8/layout/hProcess7"/>
    <dgm:cxn modelId="{99356751-287C-49AC-9508-424771C50B9B}" type="presParOf" srcId="{897A3698-2D97-4DDC-95D9-A0BDC45706A4}" destId="{7A9FE149-B78D-4591-8ED3-6FAE619303EF}" srcOrd="1" destOrd="0" presId="urn:microsoft.com/office/officeart/2005/8/layout/hProcess7"/>
    <dgm:cxn modelId="{99DBEA1B-CC4E-4E12-AEBD-292DC7F1F723}"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 Category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predominant context of likely intended applications for any technologies derived from the federally-funded R&amp;D project.</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custT="1"/>
      <dgm:spPr/>
      <dgm:t>
        <a:bodyPr/>
        <a:lstStyle/>
        <a:p>
          <a:r>
            <a:rPr lang="en-US" sz="1800" dirty="0"/>
            <a:t>R&amp;D project abstracts</a:t>
          </a:r>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DD997FBC-D2D8-4C0D-98E4-80694A0045F8}">
      <dgm:prSet phldrT="[Text]" custT="1"/>
      <dgm:spPr/>
      <dgm:t>
        <a:bodyPr/>
        <a:lstStyle/>
        <a:p>
          <a:r>
            <a:rPr lang="en-US" sz="1800" dirty="0"/>
            <a:t>U.S. patents</a:t>
          </a:r>
        </a:p>
        <a:p>
          <a:r>
            <a:rPr lang="en-US" sz="1800" dirty="0"/>
            <a:t>Disallowed U.S. patent applications</a:t>
          </a:r>
        </a:p>
        <a:p>
          <a:r>
            <a:rPr lang="en-US" sz="1800" dirty="0"/>
            <a:t>Published peer-reviewed journal articles</a:t>
          </a:r>
        </a:p>
      </dgm:t>
    </dgm:pt>
    <dgm:pt modelId="{C4BBD506-F56F-4E1C-A610-07E8EE6019F4}" type="parTrans" cxnId="{4623893F-B5C2-4DE3-976B-3E2B74DA0ED5}">
      <dgm:prSet/>
      <dgm:spPr/>
      <dgm:t>
        <a:bodyPr/>
        <a:lstStyle/>
        <a:p>
          <a:endParaRPr lang="en-US"/>
        </a:p>
      </dgm:t>
    </dgm:pt>
    <dgm:pt modelId="{5420ECF1-F985-43FE-91D8-068F6173A0AB}" type="sibTrans" cxnId="{4623893F-B5C2-4DE3-976B-3E2B74DA0ED5}">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E12BE98-CCBE-4A82-8585-BE4A7568C706}" type="presOf" srcId="{1783039C-F21C-45A8-A1D1-7C275C084E3D}" destId="{545B6FF8-55C8-4464-AD34-37C6C75F354E}" srcOrd="0" destOrd="1" presId="urn:microsoft.com/office/officeart/2005/8/layout/hProcess7"/>
    <dgm:cxn modelId="{70DDEFF0-11F3-48A5-A2CB-4EE1646F344F}" type="presOf" srcId="{56D25664-E470-4423-B8A9-9B6E4F3E9501}" destId="{1F2FC209-C6F9-4BD8-BE18-C50B50281548}" srcOrd="1" destOrd="0" presId="urn:microsoft.com/office/officeart/2005/8/layout/hProcess7"/>
    <dgm:cxn modelId="{E79721F4-8BDF-44EC-9B5D-872CEFDCC491}" type="presOf" srcId="{56D25664-E470-4423-B8A9-9B6E4F3E9501}" destId="{5EE1D2E5-E13B-4FA3-A68E-FA18C8AD1A1A}" srcOrd="0" destOrd="0"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7E165397-8C6A-4F6D-8937-C310E7118DA7}" type="presOf" srcId="{51D06665-6AE9-4C70-9F48-E4ECE1C95B61}" destId="{545B6FF8-55C8-4464-AD34-37C6C75F354E}"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4623893F-B5C2-4DE3-976B-3E2B74DA0ED5}" srcId="{38988576-B0AA-4C1A-9619-43A386D2A929}" destId="{DD997FBC-D2D8-4C0D-98E4-80694A0045F8}" srcOrd="2" destOrd="0" parTransId="{C4BBD506-F56F-4E1C-A610-07E8EE6019F4}" sibTransId="{5420ECF1-F985-43FE-91D8-068F6173A0AB}"/>
    <dgm:cxn modelId="{9C98170D-AF19-4117-AD82-86ADDE12E4A9}" type="presOf" srcId="{E7E09A88-A855-416A-B17D-5608BAB5F968}" destId="{63E694CA-EB8A-49E7-8F7E-40E9648E8D50}" srcOrd="0" destOrd="0" presId="urn:microsoft.com/office/officeart/2005/8/layout/hProcess7"/>
    <dgm:cxn modelId="{6A3CAE46-39E4-4421-9B6A-DC443892C0FA}" type="presOf" srcId="{DD997FBC-D2D8-4C0D-98E4-80694A0045F8}" destId="{545B6FF8-55C8-4464-AD34-37C6C75F354E}" srcOrd="0" destOrd="2" presId="urn:microsoft.com/office/officeart/2005/8/layout/hProcess7"/>
    <dgm:cxn modelId="{973240D5-622D-4970-BB39-D3C5388FB291}" type="presOf" srcId="{38988576-B0AA-4C1A-9619-43A386D2A929}" destId="{89F889ED-FCCD-445E-BB3B-3F65B70521C8}" srcOrd="0" destOrd="0" presId="urn:microsoft.com/office/officeart/2005/8/layout/hProcess7"/>
    <dgm:cxn modelId="{764B1EFF-1DFA-4302-B8D0-DC215AB0D6A0}" type="presOf" srcId="{E7E09A88-A855-416A-B17D-5608BAB5F968}" destId="{84855266-605F-4E2F-859A-33AF21B4CC74}" srcOrd="1" destOrd="0" presId="urn:microsoft.com/office/officeart/2005/8/layout/hProcess7"/>
    <dgm:cxn modelId="{4B4C06A0-C32E-434D-B3B3-EAB4BB69A611}" type="presOf" srcId="{D264B8C8-0C74-4047-BC3D-D328ABB04B07}" destId="{27D5C2FA-66B3-4507-8DD9-0DFEBE9E49C4}"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AB47E2BE-B7EE-4576-A693-7F548D657229}" type="presOf" srcId="{E12051B9-F660-41FB-9BFB-187ECABCD821}" destId="{4413368B-ACCA-469B-9D0E-1FEFC4075FB0}" srcOrd="0" destOrd="0" presId="urn:microsoft.com/office/officeart/2005/8/layout/hProcess7"/>
    <dgm:cxn modelId="{E87B6432-2C22-475E-BC65-A92B3DA9E82B}" type="presOf" srcId="{F754AD28-8B54-47D9-83F1-8D45F35B4A81}" destId="{0F07502A-98A4-4880-9779-27EA2BEB6F02}"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49E7F23-155D-43A4-9D2C-D50B0C159B22}" type="presOf" srcId="{38988576-B0AA-4C1A-9619-43A386D2A929}" destId="{7A9FE149-B78D-4591-8ED3-6FAE619303EF}"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B0856066-BECB-491B-98A8-2CE7CA09F75D}" type="presParOf" srcId="{4413368B-ACCA-469B-9D0E-1FEFC4075FB0}" destId="{8E1BCC0E-B989-4435-8915-645304C71A64}" srcOrd="0" destOrd="0" presId="urn:microsoft.com/office/officeart/2005/8/layout/hProcess7"/>
    <dgm:cxn modelId="{9B8592EC-B536-412D-B9E5-021368580D40}" type="presParOf" srcId="{8E1BCC0E-B989-4435-8915-645304C71A64}" destId="{5EE1D2E5-E13B-4FA3-A68E-FA18C8AD1A1A}" srcOrd="0" destOrd="0" presId="urn:microsoft.com/office/officeart/2005/8/layout/hProcess7"/>
    <dgm:cxn modelId="{8143204B-4871-4A7F-B9B7-0DF4952E8040}" type="presParOf" srcId="{8E1BCC0E-B989-4435-8915-645304C71A64}" destId="{1F2FC209-C6F9-4BD8-BE18-C50B50281548}" srcOrd="1" destOrd="0" presId="urn:microsoft.com/office/officeart/2005/8/layout/hProcess7"/>
    <dgm:cxn modelId="{00EF10B9-7BDB-4554-ACC3-99A89B2029CD}" type="presParOf" srcId="{8E1BCC0E-B989-4435-8915-645304C71A64}" destId="{0F07502A-98A4-4880-9779-27EA2BEB6F02}" srcOrd="2" destOrd="0" presId="urn:microsoft.com/office/officeart/2005/8/layout/hProcess7"/>
    <dgm:cxn modelId="{B47AEBAA-8198-45DC-B41A-CE3DE6BC64A8}" type="presParOf" srcId="{4413368B-ACCA-469B-9D0E-1FEFC4075FB0}" destId="{13ACBB4E-2F0C-4773-92A7-F091255EA962}" srcOrd="1" destOrd="0" presId="urn:microsoft.com/office/officeart/2005/8/layout/hProcess7"/>
    <dgm:cxn modelId="{137F13F8-1763-4F94-AAD8-641201FAC483}" type="presParOf" srcId="{4413368B-ACCA-469B-9D0E-1FEFC4075FB0}" destId="{BAD87237-2D53-4DFC-BA2E-02EC39493885}" srcOrd="2" destOrd="0" presId="urn:microsoft.com/office/officeart/2005/8/layout/hProcess7"/>
    <dgm:cxn modelId="{F84CB581-B00D-45F9-AF90-5398273AF536}" type="presParOf" srcId="{BAD87237-2D53-4DFC-BA2E-02EC39493885}" destId="{221F174E-2568-4C2B-B98A-B21C733FC119}" srcOrd="0" destOrd="0" presId="urn:microsoft.com/office/officeart/2005/8/layout/hProcess7"/>
    <dgm:cxn modelId="{AF429A41-4899-4366-8E77-8E6734EBFFFA}" type="presParOf" srcId="{BAD87237-2D53-4DFC-BA2E-02EC39493885}" destId="{45668240-D897-4FC1-8421-6DD785B65040}" srcOrd="1" destOrd="0" presId="urn:microsoft.com/office/officeart/2005/8/layout/hProcess7"/>
    <dgm:cxn modelId="{1D726E15-3B85-4823-86C7-D152E1C9AE46}" type="presParOf" srcId="{BAD87237-2D53-4DFC-BA2E-02EC39493885}" destId="{50ECFA14-9F36-4C35-911C-A780FF037D2C}" srcOrd="2" destOrd="0" presId="urn:microsoft.com/office/officeart/2005/8/layout/hProcess7"/>
    <dgm:cxn modelId="{8956ADB4-7B8E-4E6F-BD22-BC09D1505D18}" type="presParOf" srcId="{4413368B-ACCA-469B-9D0E-1FEFC4075FB0}" destId="{B0CEB5DD-B27E-454F-A39C-A559A187214D}" srcOrd="3" destOrd="0" presId="urn:microsoft.com/office/officeart/2005/8/layout/hProcess7"/>
    <dgm:cxn modelId="{3EF4EA84-0473-4B16-8E07-CDEE0DB7339F}" type="presParOf" srcId="{4413368B-ACCA-469B-9D0E-1FEFC4075FB0}" destId="{4BB7D377-EFD6-4B5D-AFC7-E199B4378248}" srcOrd="4" destOrd="0" presId="urn:microsoft.com/office/officeart/2005/8/layout/hProcess7"/>
    <dgm:cxn modelId="{172E2754-646D-4DE8-AB7F-D293B655145F}" type="presParOf" srcId="{4BB7D377-EFD6-4B5D-AFC7-E199B4378248}" destId="{63E694CA-EB8A-49E7-8F7E-40E9648E8D50}" srcOrd="0" destOrd="0" presId="urn:microsoft.com/office/officeart/2005/8/layout/hProcess7"/>
    <dgm:cxn modelId="{BB136921-3F90-4644-8B2A-85C80995C89D}" type="presParOf" srcId="{4BB7D377-EFD6-4B5D-AFC7-E199B4378248}" destId="{84855266-605F-4E2F-859A-33AF21B4CC74}" srcOrd="1" destOrd="0" presId="urn:microsoft.com/office/officeart/2005/8/layout/hProcess7"/>
    <dgm:cxn modelId="{314ABB07-FD71-4320-A567-47A5B156F486}" type="presParOf" srcId="{4BB7D377-EFD6-4B5D-AFC7-E199B4378248}" destId="{27D5C2FA-66B3-4507-8DD9-0DFEBE9E49C4}" srcOrd="2" destOrd="0" presId="urn:microsoft.com/office/officeart/2005/8/layout/hProcess7"/>
    <dgm:cxn modelId="{D6559445-7F9E-4F75-A95B-876D17E644B5}" type="presParOf" srcId="{4413368B-ACCA-469B-9D0E-1FEFC4075FB0}" destId="{AE508BEB-62F7-4273-AFD9-13F02568DD39}" srcOrd="5" destOrd="0" presId="urn:microsoft.com/office/officeart/2005/8/layout/hProcess7"/>
    <dgm:cxn modelId="{B292A2DC-097D-4F01-BBB0-3DCEFA1ECC2C}" type="presParOf" srcId="{4413368B-ACCA-469B-9D0E-1FEFC4075FB0}" destId="{20A68127-C095-4D4D-B36C-96BA54B85DB0}" srcOrd="6" destOrd="0" presId="urn:microsoft.com/office/officeart/2005/8/layout/hProcess7"/>
    <dgm:cxn modelId="{13994071-809B-45AF-8105-26B736DF95F5}" type="presParOf" srcId="{20A68127-C095-4D4D-B36C-96BA54B85DB0}" destId="{00D4E5B4-15FE-4223-8CF1-EADD9A7F1E52}" srcOrd="0" destOrd="0" presId="urn:microsoft.com/office/officeart/2005/8/layout/hProcess7"/>
    <dgm:cxn modelId="{65992E08-AC05-432A-88C1-85C1852B31DC}" type="presParOf" srcId="{20A68127-C095-4D4D-B36C-96BA54B85DB0}" destId="{0B1D8E78-2B68-4C5D-9329-AB01D008FC04}" srcOrd="1" destOrd="0" presId="urn:microsoft.com/office/officeart/2005/8/layout/hProcess7"/>
    <dgm:cxn modelId="{54126D07-5B88-4A59-B792-FD85F88778C2}" type="presParOf" srcId="{20A68127-C095-4D4D-B36C-96BA54B85DB0}" destId="{E447F79B-3147-4AFA-97C4-CCAE6DBFF058}" srcOrd="2" destOrd="0" presId="urn:microsoft.com/office/officeart/2005/8/layout/hProcess7"/>
    <dgm:cxn modelId="{1D525E19-F6D0-42D2-A81C-49531B3EB410}" type="presParOf" srcId="{4413368B-ACCA-469B-9D0E-1FEFC4075FB0}" destId="{EAB02694-BB77-4688-815D-9FF6A75A2E23}" srcOrd="7" destOrd="0" presId="urn:microsoft.com/office/officeart/2005/8/layout/hProcess7"/>
    <dgm:cxn modelId="{43B85E6B-9F94-459E-8425-31014B8D0F29}" type="presParOf" srcId="{4413368B-ACCA-469B-9D0E-1FEFC4075FB0}" destId="{897A3698-2D97-4DDC-95D9-A0BDC45706A4}" srcOrd="8" destOrd="0" presId="urn:microsoft.com/office/officeart/2005/8/layout/hProcess7"/>
    <dgm:cxn modelId="{DB6E53BE-31E7-4368-BF73-CB8F747A505A}" type="presParOf" srcId="{897A3698-2D97-4DDC-95D9-A0BDC45706A4}" destId="{89F889ED-FCCD-445E-BB3B-3F65B70521C8}" srcOrd="0" destOrd="0" presId="urn:microsoft.com/office/officeart/2005/8/layout/hProcess7"/>
    <dgm:cxn modelId="{80C1C3FE-0CDA-480A-81EB-2D7CDFCC8B98}" type="presParOf" srcId="{897A3698-2D97-4DDC-95D9-A0BDC45706A4}" destId="{7A9FE149-B78D-4591-8ED3-6FAE619303EF}" srcOrd="1" destOrd="0" presId="urn:microsoft.com/office/officeart/2005/8/layout/hProcess7"/>
    <dgm:cxn modelId="{292FE493-B57D-404A-978C-E89DB21504B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 Embodiment</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tangible forms that document the details of the technology and enable its use.</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a:t>Published peer-reviewed journal articles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356B2B2C-7D9C-49B1-BFC5-C7B496EC2A8E}">
      <dgm:prSet phldrT="[Text]" custT="1"/>
      <dgm:spPr/>
      <dgm:t>
        <a:bodyPr/>
        <a:lstStyle/>
        <a:p>
          <a:r>
            <a:rPr lang="en-US" sz="1800" dirty="0"/>
            <a:t>Disallowed U.S. patent applications</a:t>
          </a:r>
        </a:p>
      </dgm:t>
    </dgm:pt>
    <dgm:pt modelId="{576D0B3E-6C9D-4D30-BDB9-FFC3AF79576B}" type="parTrans" cxnId="{BACE745C-9724-43E7-88CE-F179AF0B53AD}">
      <dgm:prSet/>
      <dgm:spPr/>
      <dgm:t>
        <a:bodyPr/>
        <a:lstStyle/>
        <a:p>
          <a:endParaRPr lang="en-US"/>
        </a:p>
      </dgm:t>
    </dgm:pt>
    <dgm:pt modelId="{E9601192-81A1-400E-9056-B488191B5FB8}" type="sibTrans" cxnId="{BACE745C-9724-43E7-88CE-F179AF0B53AD}">
      <dgm:prSet/>
      <dgm:spPr/>
      <dgm:t>
        <a:bodyPr/>
        <a:lstStyle/>
        <a:p>
          <a:endParaRPr lang="en-US"/>
        </a:p>
      </dgm:t>
    </dgm:pt>
    <dgm:pt modelId="{DEE63533-BD4D-4B79-B68E-B4A70374CE7F}">
      <dgm:prSet phldrT="[Text]" custT="1"/>
      <dgm:spPr/>
      <dgm:t>
        <a:bodyPr/>
        <a:lstStyle/>
        <a:p>
          <a:r>
            <a:rPr lang="en-US" sz="1800" dirty="0"/>
            <a:t>Allowed U.S. patents</a:t>
          </a:r>
        </a:p>
      </dgm:t>
    </dgm:pt>
    <dgm:pt modelId="{653D28B0-A48B-4486-81B6-3B100BBD0284}" type="parTrans" cxnId="{6B527E2D-B6DB-4F0B-B2B7-74AF3ECE0A1D}">
      <dgm:prSet/>
      <dgm:spPr/>
      <dgm:t>
        <a:bodyPr/>
        <a:lstStyle/>
        <a:p>
          <a:endParaRPr lang="en-US"/>
        </a:p>
      </dgm:t>
    </dgm:pt>
    <dgm:pt modelId="{11C883F7-AA4C-4FFC-B5AA-1A9C161E0A1F}" type="sibTrans" cxnId="{6B527E2D-B6DB-4F0B-B2B7-74AF3ECE0A1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298CEF8D-B8A5-4885-819C-A62FF706C4FD}" type="presOf" srcId="{56D25664-E470-4423-B8A9-9B6E4F3E9501}" destId="{5EE1D2E5-E13B-4FA3-A68E-FA18C8AD1A1A}" srcOrd="0" destOrd="0" presId="urn:microsoft.com/office/officeart/2005/8/layout/hProcess7"/>
    <dgm:cxn modelId="{10E5BDD1-503D-4B65-9B61-7F1A1896E82B}" type="presOf" srcId="{F754AD28-8B54-47D9-83F1-8D45F35B4A81}" destId="{0F07502A-98A4-4880-9779-27EA2BEB6F02}" srcOrd="0"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BACE745C-9724-43E7-88CE-F179AF0B53AD}" srcId="{38988576-B0AA-4C1A-9619-43A386D2A929}" destId="{356B2B2C-7D9C-49B1-BFC5-C7B496EC2A8E}" srcOrd="2" destOrd="0" parTransId="{576D0B3E-6C9D-4D30-BDB9-FFC3AF79576B}" sibTransId="{E9601192-81A1-400E-9056-B488191B5FB8}"/>
    <dgm:cxn modelId="{B66F50F0-8FEB-41D8-9C05-82D54E3D951F}" type="presOf" srcId="{E7E09A88-A855-416A-B17D-5608BAB5F968}" destId="{63E694CA-EB8A-49E7-8F7E-40E9648E8D50}"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1A6AF12A-6308-4A01-A4F5-0298704D9EAD}" srcId="{38988576-B0AA-4C1A-9619-43A386D2A929}" destId="{561C8C01-168E-4810-B00A-83B2C936D185}" srcOrd="1" destOrd="0" parTransId="{73AA7CFC-FF1E-41E0-9601-E4AE1AD4A52E}" sibTransId="{14EE0822-6F69-42E4-9BB3-24B2EC1E05AA}"/>
    <dgm:cxn modelId="{8DE3A4E7-9716-4BBD-9E5A-54D9DB82AEF6}" type="presOf" srcId="{561C8C01-168E-4810-B00A-83B2C936D185}" destId="{545B6FF8-55C8-4464-AD34-37C6C75F354E}" srcOrd="0" destOrd="1" presId="urn:microsoft.com/office/officeart/2005/8/layout/hProcess7"/>
    <dgm:cxn modelId="{4D181CFC-73B4-4A60-8E63-573B3F33627F}" type="presOf" srcId="{38988576-B0AA-4C1A-9619-43A386D2A929}" destId="{89F889ED-FCCD-445E-BB3B-3F65B70521C8}" srcOrd="0" destOrd="0" presId="urn:microsoft.com/office/officeart/2005/8/layout/hProcess7"/>
    <dgm:cxn modelId="{BE205754-F7E6-4FEE-B828-4523416EEA2A}" type="presOf" srcId="{56D25664-E470-4423-B8A9-9B6E4F3E9501}" destId="{1F2FC209-C6F9-4BD8-BE18-C50B50281548}" srcOrd="1" destOrd="0" presId="urn:microsoft.com/office/officeart/2005/8/layout/hProcess7"/>
    <dgm:cxn modelId="{C9F9FCE3-F594-40BB-A6A7-9A51601590A0}" type="presOf" srcId="{E12051B9-F660-41FB-9BFB-187ECABCD821}" destId="{4413368B-ACCA-469B-9D0E-1FEFC4075FB0}" srcOrd="0" destOrd="0" presId="urn:microsoft.com/office/officeart/2005/8/layout/hProcess7"/>
    <dgm:cxn modelId="{E3C0C693-FBE4-4933-9AAF-BBFF7FD56F57}" type="presOf" srcId="{D264B8C8-0C74-4047-BC3D-D328ABB04B07}" destId="{27D5C2FA-66B3-4507-8DD9-0DFEBE9E49C4}" srcOrd="0" destOrd="0" presId="urn:microsoft.com/office/officeart/2005/8/layout/hProcess7"/>
    <dgm:cxn modelId="{953A2C7E-EEA8-4049-A35F-052E20640C8B}" type="presOf" srcId="{356B2B2C-7D9C-49B1-BFC5-C7B496EC2A8E}" destId="{545B6FF8-55C8-4464-AD34-37C6C75F354E}" srcOrd="0" destOrd="2"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C5F869C1-8FEF-4035-9EC3-FDF0092FF2C9}" srcId="{56D25664-E470-4423-B8A9-9B6E4F3E9501}" destId="{F754AD28-8B54-47D9-83F1-8D45F35B4A81}" srcOrd="0" destOrd="0" parTransId="{26AD8160-5FF5-41BE-AFAF-E29D66F0469B}" sibTransId="{BE9BECBC-F94F-4E2F-BDB2-93E8BAEBEFE7}"/>
    <dgm:cxn modelId="{0B11B754-B959-4B78-BAEF-D9371A33F7CA}" type="presOf" srcId="{38988576-B0AA-4C1A-9619-43A386D2A929}" destId="{7A9FE149-B78D-4591-8ED3-6FAE619303EF}" srcOrd="1" destOrd="0" presId="urn:microsoft.com/office/officeart/2005/8/layout/hProcess7"/>
    <dgm:cxn modelId="{BCC5D41E-E147-4754-96C7-DDA7B952D731}" type="presOf" srcId="{E7E09A88-A855-416A-B17D-5608BAB5F968}" destId="{84855266-605F-4E2F-859A-33AF21B4CC74}" srcOrd="1" destOrd="0" presId="urn:microsoft.com/office/officeart/2005/8/layout/hProcess7"/>
    <dgm:cxn modelId="{6B527E2D-B6DB-4F0B-B2B7-74AF3ECE0A1D}" srcId="{38988576-B0AA-4C1A-9619-43A386D2A929}" destId="{DEE63533-BD4D-4B79-B68E-B4A70374CE7F}" srcOrd="3" destOrd="0" parTransId="{653D28B0-A48B-4486-81B6-3B100BBD0284}" sibTransId="{11C883F7-AA4C-4FFC-B5AA-1A9C161E0A1F}"/>
    <dgm:cxn modelId="{65A3A2F1-3F04-4AC2-BCCA-BCDBD7580291}" type="presOf" srcId="{1783039C-F21C-45A8-A1D1-7C275C084E3D}" destId="{545B6FF8-55C8-4464-AD34-37C6C75F354E}" srcOrd="0" destOrd="0" presId="urn:microsoft.com/office/officeart/2005/8/layout/hProcess7"/>
    <dgm:cxn modelId="{020D161F-5869-4011-A055-3F9992C260AA}" type="presOf" srcId="{DEE63533-BD4D-4B79-B68E-B4A70374CE7F}" destId="{545B6FF8-55C8-4464-AD34-37C6C75F354E}" srcOrd="0" destOrd="3"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047E75F5-14DF-4E03-B345-44A376AB4053}" type="presParOf" srcId="{4413368B-ACCA-469B-9D0E-1FEFC4075FB0}" destId="{8E1BCC0E-B989-4435-8915-645304C71A64}" srcOrd="0" destOrd="0" presId="urn:microsoft.com/office/officeart/2005/8/layout/hProcess7"/>
    <dgm:cxn modelId="{84496708-397A-45A1-8666-F66D96567879}" type="presParOf" srcId="{8E1BCC0E-B989-4435-8915-645304C71A64}" destId="{5EE1D2E5-E13B-4FA3-A68E-FA18C8AD1A1A}" srcOrd="0" destOrd="0" presId="urn:microsoft.com/office/officeart/2005/8/layout/hProcess7"/>
    <dgm:cxn modelId="{D5DA8B7E-474D-4ECA-AFB2-C17EB9629821}" type="presParOf" srcId="{8E1BCC0E-B989-4435-8915-645304C71A64}" destId="{1F2FC209-C6F9-4BD8-BE18-C50B50281548}" srcOrd="1" destOrd="0" presId="urn:microsoft.com/office/officeart/2005/8/layout/hProcess7"/>
    <dgm:cxn modelId="{5881470E-71CC-4FE5-8B81-5387C17DE8B7}" type="presParOf" srcId="{8E1BCC0E-B989-4435-8915-645304C71A64}" destId="{0F07502A-98A4-4880-9779-27EA2BEB6F02}" srcOrd="2" destOrd="0" presId="urn:microsoft.com/office/officeart/2005/8/layout/hProcess7"/>
    <dgm:cxn modelId="{19F48893-B87F-477D-9114-16E7270DAC21}" type="presParOf" srcId="{4413368B-ACCA-469B-9D0E-1FEFC4075FB0}" destId="{13ACBB4E-2F0C-4773-92A7-F091255EA962}" srcOrd="1" destOrd="0" presId="urn:microsoft.com/office/officeart/2005/8/layout/hProcess7"/>
    <dgm:cxn modelId="{CFE85534-9B3E-4887-A6B9-C9D7B7B97A63}" type="presParOf" srcId="{4413368B-ACCA-469B-9D0E-1FEFC4075FB0}" destId="{BAD87237-2D53-4DFC-BA2E-02EC39493885}" srcOrd="2" destOrd="0" presId="urn:microsoft.com/office/officeart/2005/8/layout/hProcess7"/>
    <dgm:cxn modelId="{0E9BA635-4163-4A07-B8D4-9CD95D1B25C8}" type="presParOf" srcId="{BAD87237-2D53-4DFC-BA2E-02EC39493885}" destId="{221F174E-2568-4C2B-B98A-B21C733FC119}" srcOrd="0" destOrd="0" presId="urn:microsoft.com/office/officeart/2005/8/layout/hProcess7"/>
    <dgm:cxn modelId="{E3B7D8E0-7C86-4F14-83BF-6E3DC413556E}" type="presParOf" srcId="{BAD87237-2D53-4DFC-BA2E-02EC39493885}" destId="{45668240-D897-4FC1-8421-6DD785B65040}" srcOrd="1" destOrd="0" presId="urn:microsoft.com/office/officeart/2005/8/layout/hProcess7"/>
    <dgm:cxn modelId="{23F1BEAE-707B-40FD-9DAE-731C98BFA817}" type="presParOf" srcId="{BAD87237-2D53-4DFC-BA2E-02EC39493885}" destId="{50ECFA14-9F36-4C35-911C-A780FF037D2C}" srcOrd="2" destOrd="0" presId="urn:microsoft.com/office/officeart/2005/8/layout/hProcess7"/>
    <dgm:cxn modelId="{0F770AF4-0C4D-4B72-BFFC-BB8A73182AE1}" type="presParOf" srcId="{4413368B-ACCA-469B-9D0E-1FEFC4075FB0}" destId="{B0CEB5DD-B27E-454F-A39C-A559A187214D}" srcOrd="3" destOrd="0" presId="urn:microsoft.com/office/officeart/2005/8/layout/hProcess7"/>
    <dgm:cxn modelId="{026F994F-34D6-47E6-B891-A3003771F34D}" type="presParOf" srcId="{4413368B-ACCA-469B-9D0E-1FEFC4075FB0}" destId="{4BB7D377-EFD6-4B5D-AFC7-E199B4378248}" srcOrd="4" destOrd="0" presId="urn:microsoft.com/office/officeart/2005/8/layout/hProcess7"/>
    <dgm:cxn modelId="{6C124ADD-BED6-4166-89B2-369A88BA2FD0}" type="presParOf" srcId="{4BB7D377-EFD6-4B5D-AFC7-E199B4378248}" destId="{63E694CA-EB8A-49E7-8F7E-40E9648E8D50}" srcOrd="0" destOrd="0" presId="urn:microsoft.com/office/officeart/2005/8/layout/hProcess7"/>
    <dgm:cxn modelId="{7864850B-2041-4D5C-9750-5978EEC7C2DB}" type="presParOf" srcId="{4BB7D377-EFD6-4B5D-AFC7-E199B4378248}" destId="{84855266-605F-4E2F-859A-33AF21B4CC74}" srcOrd="1" destOrd="0" presId="urn:microsoft.com/office/officeart/2005/8/layout/hProcess7"/>
    <dgm:cxn modelId="{C7182FA5-E998-4E39-8BEE-6DCCAC729E0A}" type="presParOf" srcId="{4BB7D377-EFD6-4B5D-AFC7-E199B4378248}" destId="{27D5C2FA-66B3-4507-8DD9-0DFEBE9E49C4}" srcOrd="2" destOrd="0" presId="urn:microsoft.com/office/officeart/2005/8/layout/hProcess7"/>
    <dgm:cxn modelId="{7DAD92AB-4255-4613-9208-7F2517E61230}" type="presParOf" srcId="{4413368B-ACCA-469B-9D0E-1FEFC4075FB0}" destId="{AE508BEB-62F7-4273-AFD9-13F02568DD39}" srcOrd="5" destOrd="0" presId="urn:microsoft.com/office/officeart/2005/8/layout/hProcess7"/>
    <dgm:cxn modelId="{74FA5D76-09A6-4F96-A0AE-9F878160B2A2}" type="presParOf" srcId="{4413368B-ACCA-469B-9D0E-1FEFC4075FB0}" destId="{20A68127-C095-4D4D-B36C-96BA54B85DB0}" srcOrd="6" destOrd="0" presId="urn:microsoft.com/office/officeart/2005/8/layout/hProcess7"/>
    <dgm:cxn modelId="{A46C92F7-C2D2-4086-A8F8-FA792EB0492A}" type="presParOf" srcId="{20A68127-C095-4D4D-B36C-96BA54B85DB0}" destId="{00D4E5B4-15FE-4223-8CF1-EADD9A7F1E52}" srcOrd="0" destOrd="0" presId="urn:microsoft.com/office/officeart/2005/8/layout/hProcess7"/>
    <dgm:cxn modelId="{E6BA3992-E6AC-4E4C-98DF-8DCA4A27679A}" type="presParOf" srcId="{20A68127-C095-4D4D-B36C-96BA54B85DB0}" destId="{0B1D8E78-2B68-4C5D-9329-AB01D008FC04}" srcOrd="1" destOrd="0" presId="urn:microsoft.com/office/officeart/2005/8/layout/hProcess7"/>
    <dgm:cxn modelId="{7DA1A96F-F0C1-483B-9AFB-B006689E6441}" type="presParOf" srcId="{20A68127-C095-4D4D-B36C-96BA54B85DB0}" destId="{E447F79B-3147-4AFA-97C4-CCAE6DBFF058}" srcOrd="2" destOrd="0" presId="urn:microsoft.com/office/officeart/2005/8/layout/hProcess7"/>
    <dgm:cxn modelId="{C887B82D-41D4-46F3-8E05-39148A37DC08}" type="presParOf" srcId="{4413368B-ACCA-469B-9D0E-1FEFC4075FB0}" destId="{EAB02694-BB77-4688-815D-9FF6A75A2E23}" srcOrd="7" destOrd="0" presId="urn:microsoft.com/office/officeart/2005/8/layout/hProcess7"/>
    <dgm:cxn modelId="{8646409F-70F8-46A2-93C3-919D9B5357B8}" type="presParOf" srcId="{4413368B-ACCA-469B-9D0E-1FEFC4075FB0}" destId="{897A3698-2D97-4DDC-95D9-A0BDC45706A4}" srcOrd="8" destOrd="0" presId="urn:microsoft.com/office/officeart/2005/8/layout/hProcess7"/>
    <dgm:cxn modelId="{C39FA0A0-A8DE-401F-938B-F37252B60B29}" type="presParOf" srcId="{897A3698-2D97-4DDC-95D9-A0BDC45706A4}" destId="{89F889ED-FCCD-445E-BB3B-3F65B70521C8}" srcOrd="0" destOrd="0" presId="urn:microsoft.com/office/officeart/2005/8/layout/hProcess7"/>
    <dgm:cxn modelId="{4D665EB1-5EBC-498B-9AA3-270ED234793C}" type="presParOf" srcId="{897A3698-2D97-4DDC-95D9-A0BDC45706A4}" destId="{7A9FE149-B78D-4591-8ED3-6FAE619303EF}" srcOrd="1" destOrd="0" presId="urn:microsoft.com/office/officeart/2005/8/layout/hProcess7"/>
    <dgm:cxn modelId="{5EF2FE7C-EE0E-4B1E-84BA-ECF5B52EE3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Institution Size</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total amount of R&amp;D expenditures in calendar year 2010 for the institution listed as the primary award recipient.</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51D06665-6AE9-4C70-9F48-E4ECE1C95B61}">
      <dgm:prSet phldrT="[Text]" custT="1"/>
      <dgm:spPr/>
      <dgm:t>
        <a:bodyPr/>
        <a:lstStyle/>
        <a:p>
          <a:r>
            <a:rPr lang="en-US" sz="1800" dirty="0"/>
            <a:t>NSF rankings by total R&amp;D expenditures</a:t>
          </a:r>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A25E250F-43F0-473D-B6E3-78140108F712}" srcId="{38988576-B0AA-4C1A-9619-43A386D2A929}" destId="{51D06665-6AE9-4C70-9F48-E4ECE1C95B61}" srcOrd="0" destOrd="0" parTransId="{BC6658AF-E715-4815-AC1B-0DD51898A3B7}" sibTransId="{09D78DBC-6656-4AAA-9691-009DC940D8C3}"/>
    <dgm:cxn modelId="{359B345D-1425-490E-BB65-B1A59577003D}" srcId="{E12051B9-F660-41FB-9BFB-187ECABCD821}" destId="{38988576-B0AA-4C1A-9619-43A386D2A929}" srcOrd="2" destOrd="0" parTransId="{AA48F846-FDF7-46B2-8E10-A63DA435194B}" sibTransId="{34707D83-AD15-4F83-B9C6-839F2BAB8772}"/>
    <dgm:cxn modelId="{7E13BE27-EC82-4296-BA31-33362F9EE968}" type="presOf" srcId="{D264B8C8-0C74-4047-BC3D-D328ABB04B07}" destId="{27D5C2FA-66B3-4507-8DD9-0DFEBE9E49C4}" srcOrd="0" destOrd="0" presId="urn:microsoft.com/office/officeart/2005/8/layout/hProcess7"/>
    <dgm:cxn modelId="{F4E8FD56-8A34-4AB5-B627-E22283C68788}" type="presOf" srcId="{56D25664-E470-4423-B8A9-9B6E4F3E9501}" destId="{5EE1D2E5-E13B-4FA3-A68E-FA18C8AD1A1A}" srcOrd="0" destOrd="0" presId="urn:microsoft.com/office/officeart/2005/8/layout/hProcess7"/>
    <dgm:cxn modelId="{053D08DC-65BC-4A7C-907A-C2E33B46D76A}" type="presOf" srcId="{F754AD28-8B54-47D9-83F1-8D45F35B4A81}" destId="{0F07502A-98A4-4880-9779-27EA2BEB6F02}" srcOrd="0" destOrd="0" presId="urn:microsoft.com/office/officeart/2005/8/layout/hProcess7"/>
    <dgm:cxn modelId="{0E97845F-D49C-4120-9B6F-213CAD853D58}" type="presOf" srcId="{E7E09A88-A855-416A-B17D-5608BAB5F968}" destId="{63E694CA-EB8A-49E7-8F7E-40E9648E8D50}" srcOrd="0" destOrd="0" presId="urn:microsoft.com/office/officeart/2005/8/layout/hProcess7"/>
    <dgm:cxn modelId="{2863AF7E-5FBC-44D8-93E2-215AD71F79F5}" type="presOf" srcId="{E7E09A88-A855-416A-B17D-5608BAB5F968}" destId="{84855266-605F-4E2F-859A-33AF21B4CC74}"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C8699E5-DD84-4231-A8C2-B1578DBCA50D}" type="presOf" srcId="{38988576-B0AA-4C1A-9619-43A386D2A929}" destId="{7A9FE149-B78D-4591-8ED3-6FAE619303EF}" srcOrd="1" destOrd="0" presId="urn:microsoft.com/office/officeart/2005/8/layout/hProcess7"/>
    <dgm:cxn modelId="{7BC15925-B5D6-4143-A01F-8F69A1011AFB}"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CA2734DF-F729-423F-B3EE-2FFCEECD106A}" type="presOf" srcId="{38988576-B0AA-4C1A-9619-43A386D2A929}" destId="{89F889ED-FCCD-445E-BB3B-3F65B70521C8}" srcOrd="0" destOrd="0" presId="urn:microsoft.com/office/officeart/2005/8/layout/hProcess7"/>
    <dgm:cxn modelId="{A5CF2A37-1C8C-485A-833F-70A2959AAD34}" type="presOf" srcId="{56D25664-E470-4423-B8A9-9B6E4F3E9501}" destId="{1F2FC209-C6F9-4BD8-BE18-C50B50281548}" srcOrd="1" destOrd="0" presId="urn:microsoft.com/office/officeart/2005/8/layout/hProcess7"/>
    <dgm:cxn modelId="{749DCEC2-CF7F-4D63-A814-617022683023}" type="presOf" srcId="{51D06665-6AE9-4C70-9F48-E4ECE1C95B61}" destId="{545B6FF8-55C8-4464-AD34-37C6C75F354E}" srcOrd="0" destOrd="0" presId="urn:microsoft.com/office/officeart/2005/8/layout/hProcess7"/>
    <dgm:cxn modelId="{C3DC9E58-2D0C-400D-AF3E-CDA734F36B1F}" type="presParOf" srcId="{4413368B-ACCA-469B-9D0E-1FEFC4075FB0}" destId="{8E1BCC0E-B989-4435-8915-645304C71A64}" srcOrd="0" destOrd="0" presId="urn:microsoft.com/office/officeart/2005/8/layout/hProcess7"/>
    <dgm:cxn modelId="{DB58DF71-C6DD-406B-BF95-DD0C28E90A86}" type="presParOf" srcId="{8E1BCC0E-B989-4435-8915-645304C71A64}" destId="{5EE1D2E5-E13B-4FA3-A68E-FA18C8AD1A1A}" srcOrd="0" destOrd="0" presId="urn:microsoft.com/office/officeart/2005/8/layout/hProcess7"/>
    <dgm:cxn modelId="{1F79D22C-73EE-493E-878A-44392B146107}" type="presParOf" srcId="{8E1BCC0E-B989-4435-8915-645304C71A64}" destId="{1F2FC209-C6F9-4BD8-BE18-C50B50281548}" srcOrd="1" destOrd="0" presId="urn:microsoft.com/office/officeart/2005/8/layout/hProcess7"/>
    <dgm:cxn modelId="{F3976FD2-BA70-44E4-9B77-BF7040D65425}" type="presParOf" srcId="{8E1BCC0E-B989-4435-8915-645304C71A64}" destId="{0F07502A-98A4-4880-9779-27EA2BEB6F02}" srcOrd="2" destOrd="0" presId="urn:microsoft.com/office/officeart/2005/8/layout/hProcess7"/>
    <dgm:cxn modelId="{28DF47CA-1201-4FF8-B5A3-E6FD53D77960}" type="presParOf" srcId="{4413368B-ACCA-469B-9D0E-1FEFC4075FB0}" destId="{13ACBB4E-2F0C-4773-92A7-F091255EA962}" srcOrd="1" destOrd="0" presId="urn:microsoft.com/office/officeart/2005/8/layout/hProcess7"/>
    <dgm:cxn modelId="{9814B184-1782-49F6-BD63-99BC3CA5662A}" type="presParOf" srcId="{4413368B-ACCA-469B-9D0E-1FEFC4075FB0}" destId="{BAD87237-2D53-4DFC-BA2E-02EC39493885}" srcOrd="2" destOrd="0" presId="urn:microsoft.com/office/officeart/2005/8/layout/hProcess7"/>
    <dgm:cxn modelId="{9A189BF3-13EE-44F7-BF17-BB40A5EE7382}" type="presParOf" srcId="{BAD87237-2D53-4DFC-BA2E-02EC39493885}" destId="{221F174E-2568-4C2B-B98A-B21C733FC119}" srcOrd="0" destOrd="0" presId="urn:microsoft.com/office/officeart/2005/8/layout/hProcess7"/>
    <dgm:cxn modelId="{D53208DA-0B93-402C-B688-2409A18C7908}" type="presParOf" srcId="{BAD87237-2D53-4DFC-BA2E-02EC39493885}" destId="{45668240-D897-4FC1-8421-6DD785B65040}" srcOrd="1" destOrd="0" presId="urn:microsoft.com/office/officeart/2005/8/layout/hProcess7"/>
    <dgm:cxn modelId="{32DB8BA0-E908-46C3-A90E-0C926D639B8A}" type="presParOf" srcId="{BAD87237-2D53-4DFC-BA2E-02EC39493885}" destId="{50ECFA14-9F36-4C35-911C-A780FF037D2C}" srcOrd="2" destOrd="0" presId="urn:microsoft.com/office/officeart/2005/8/layout/hProcess7"/>
    <dgm:cxn modelId="{7C0A7C95-E1A9-4519-BBE9-F78ED9E5738A}" type="presParOf" srcId="{4413368B-ACCA-469B-9D0E-1FEFC4075FB0}" destId="{B0CEB5DD-B27E-454F-A39C-A559A187214D}" srcOrd="3" destOrd="0" presId="urn:microsoft.com/office/officeart/2005/8/layout/hProcess7"/>
    <dgm:cxn modelId="{B00A2DD9-D8BE-4ABA-AC11-A1970535E345}" type="presParOf" srcId="{4413368B-ACCA-469B-9D0E-1FEFC4075FB0}" destId="{4BB7D377-EFD6-4B5D-AFC7-E199B4378248}" srcOrd="4" destOrd="0" presId="urn:microsoft.com/office/officeart/2005/8/layout/hProcess7"/>
    <dgm:cxn modelId="{16AC73B1-D8AB-43E3-9FF8-D5ECC1F31D2A}" type="presParOf" srcId="{4BB7D377-EFD6-4B5D-AFC7-E199B4378248}" destId="{63E694CA-EB8A-49E7-8F7E-40E9648E8D50}" srcOrd="0" destOrd="0" presId="urn:microsoft.com/office/officeart/2005/8/layout/hProcess7"/>
    <dgm:cxn modelId="{31FCF834-25F1-43AE-A18E-A5011D1DD563}" type="presParOf" srcId="{4BB7D377-EFD6-4B5D-AFC7-E199B4378248}" destId="{84855266-605F-4E2F-859A-33AF21B4CC74}" srcOrd="1" destOrd="0" presId="urn:microsoft.com/office/officeart/2005/8/layout/hProcess7"/>
    <dgm:cxn modelId="{52330435-A79D-4D23-8950-14EB6A8BB5FA}" type="presParOf" srcId="{4BB7D377-EFD6-4B5D-AFC7-E199B4378248}" destId="{27D5C2FA-66B3-4507-8DD9-0DFEBE9E49C4}" srcOrd="2" destOrd="0" presId="urn:microsoft.com/office/officeart/2005/8/layout/hProcess7"/>
    <dgm:cxn modelId="{0F328EA1-0C98-4211-87C6-DF6A46364B27}" type="presParOf" srcId="{4413368B-ACCA-469B-9D0E-1FEFC4075FB0}" destId="{AE508BEB-62F7-4273-AFD9-13F02568DD39}" srcOrd="5" destOrd="0" presId="urn:microsoft.com/office/officeart/2005/8/layout/hProcess7"/>
    <dgm:cxn modelId="{F095690B-216F-4A18-80D6-A5E0C8EDC503}" type="presParOf" srcId="{4413368B-ACCA-469B-9D0E-1FEFC4075FB0}" destId="{20A68127-C095-4D4D-B36C-96BA54B85DB0}" srcOrd="6" destOrd="0" presId="urn:microsoft.com/office/officeart/2005/8/layout/hProcess7"/>
    <dgm:cxn modelId="{3568E216-2535-4DAE-8268-D7D58215FF6C}" type="presParOf" srcId="{20A68127-C095-4D4D-B36C-96BA54B85DB0}" destId="{00D4E5B4-15FE-4223-8CF1-EADD9A7F1E52}" srcOrd="0" destOrd="0" presId="urn:microsoft.com/office/officeart/2005/8/layout/hProcess7"/>
    <dgm:cxn modelId="{4279F8BA-5C8D-4E13-974F-7BBC47CFE02C}" type="presParOf" srcId="{20A68127-C095-4D4D-B36C-96BA54B85DB0}" destId="{0B1D8E78-2B68-4C5D-9329-AB01D008FC04}" srcOrd="1" destOrd="0" presId="urn:microsoft.com/office/officeart/2005/8/layout/hProcess7"/>
    <dgm:cxn modelId="{847D7D67-DBAC-4AC3-BE14-49ED8EE61830}" type="presParOf" srcId="{20A68127-C095-4D4D-B36C-96BA54B85DB0}" destId="{E447F79B-3147-4AFA-97C4-CCAE6DBFF058}" srcOrd="2" destOrd="0" presId="urn:microsoft.com/office/officeart/2005/8/layout/hProcess7"/>
    <dgm:cxn modelId="{BAE5BC7F-3680-4D11-BAB1-524DD93707AD}" type="presParOf" srcId="{4413368B-ACCA-469B-9D0E-1FEFC4075FB0}" destId="{EAB02694-BB77-4688-815D-9FF6A75A2E23}" srcOrd="7" destOrd="0" presId="urn:microsoft.com/office/officeart/2005/8/layout/hProcess7"/>
    <dgm:cxn modelId="{F545783E-2585-4019-9189-5975B836D72E}" type="presParOf" srcId="{4413368B-ACCA-469B-9D0E-1FEFC4075FB0}" destId="{897A3698-2D97-4DDC-95D9-A0BDC45706A4}" srcOrd="8" destOrd="0" presId="urn:microsoft.com/office/officeart/2005/8/layout/hProcess7"/>
    <dgm:cxn modelId="{0DBF018A-267E-46CC-9ADB-C926C1A61060}" type="presParOf" srcId="{897A3698-2D97-4DDC-95D9-A0BDC45706A4}" destId="{89F889ED-FCCD-445E-BB3B-3F65B70521C8}" srcOrd="0" destOrd="0" presId="urn:microsoft.com/office/officeart/2005/8/layout/hProcess7"/>
    <dgm:cxn modelId="{A5BEEF96-8244-4D2F-9520-B24DEAF0270A}" type="presParOf" srcId="{897A3698-2D97-4DDC-95D9-A0BDC45706A4}" destId="{7A9FE149-B78D-4591-8ED3-6FAE619303EF}" srcOrd="1" destOrd="0" presId="urn:microsoft.com/office/officeart/2005/8/layout/hProcess7"/>
    <dgm:cxn modelId="{21F78402-0BCA-49F9-A205-5DB45F24E4DE}"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0DF574F-C00C-419E-B294-5B62392995ED}">
      <dsp:nvSpPr>
        <dsp:cNvPr id="0" name=""/>
        <dsp:cNvSpPr/>
      </dsp:nvSpPr>
      <dsp:spPr>
        <a:xfrm rot="10800000">
          <a:off x="1585054" y="52"/>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a:t>Significance and Importance</a:t>
          </a:r>
        </a:p>
      </dsp:txBody>
      <dsp:txXfrm rot="10800000">
        <a:off x="1715069" y="52"/>
        <a:ext cx="5646707" cy="520062"/>
      </dsp:txXfrm>
    </dsp:sp>
    <dsp:sp modelId="{6965332F-1952-481F-843C-8D6A4017949F}">
      <dsp:nvSpPr>
        <dsp:cNvPr id="0" name=""/>
        <dsp:cNvSpPr/>
      </dsp:nvSpPr>
      <dsp:spPr>
        <a:xfrm>
          <a:off x="1325023" y="52"/>
          <a:ext cx="520062" cy="520062"/>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9BEEAC4-E6ED-4176-A3A0-0FC265993473}">
      <dsp:nvSpPr>
        <dsp:cNvPr id="0" name=""/>
        <dsp:cNvSpPr/>
      </dsp:nvSpPr>
      <dsp:spPr>
        <a:xfrm rot="10800000">
          <a:off x="1585054" y="675357"/>
          <a:ext cx="5776722" cy="520062"/>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a:t>Literature Review</a:t>
          </a:r>
        </a:p>
      </dsp:txBody>
      <dsp:txXfrm rot="10800000">
        <a:off x="1715069" y="675357"/>
        <a:ext cx="5646707" cy="520062"/>
      </dsp:txXfrm>
    </dsp:sp>
    <dsp:sp modelId="{41043DCC-E95D-45E8-A50A-2765152EF6D5}">
      <dsp:nvSpPr>
        <dsp:cNvPr id="0" name=""/>
        <dsp:cNvSpPr/>
      </dsp:nvSpPr>
      <dsp:spPr>
        <a:xfrm>
          <a:off x="1325023" y="675357"/>
          <a:ext cx="520062" cy="520062"/>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A83C161-7CE7-4FBE-A65B-AA864FAF26B5}">
      <dsp:nvSpPr>
        <dsp:cNvPr id="0" name=""/>
        <dsp:cNvSpPr/>
      </dsp:nvSpPr>
      <dsp:spPr>
        <a:xfrm rot="10800000">
          <a:off x="1585054" y="1350663"/>
          <a:ext cx="5776722" cy="520062"/>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a:t>Research Questions and Hypotheses</a:t>
          </a:r>
        </a:p>
      </dsp:txBody>
      <dsp:txXfrm rot="10800000">
        <a:off x="1715069" y="1350663"/>
        <a:ext cx="5646707" cy="520062"/>
      </dsp:txXfrm>
    </dsp:sp>
    <dsp:sp modelId="{36AFC75F-A2DE-4365-8B77-BD5E3C0C770E}">
      <dsp:nvSpPr>
        <dsp:cNvPr id="0" name=""/>
        <dsp:cNvSpPr/>
      </dsp:nvSpPr>
      <dsp:spPr>
        <a:xfrm>
          <a:off x="1325023" y="1350663"/>
          <a:ext cx="520062" cy="520062"/>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612E7C1-5E4D-4B07-A5A4-1C7C1EF6A566}">
      <dsp:nvSpPr>
        <dsp:cNvPr id="0" name=""/>
        <dsp:cNvSpPr/>
      </dsp:nvSpPr>
      <dsp:spPr>
        <a:xfrm rot="10800000">
          <a:off x="1585054" y="2025968"/>
          <a:ext cx="5776722" cy="520062"/>
        </a:xfrm>
        <a:prstGeom prst="homePlate">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a:t>Methodology and Data</a:t>
          </a:r>
        </a:p>
      </dsp:txBody>
      <dsp:txXfrm rot="10800000">
        <a:off x="1715069" y="2025968"/>
        <a:ext cx="5646707" cy="520062"/>
      </dsp:txXfrm>
    </dsp:sp>
    <dsp:sp modelId="{5B18C8C6-A1CA-45A7-9C87-F683F0C663F3}">
      <dsp:nvSpPr>
        <dsp:cNvPr id="0" name=""/>
        <dsp:cNvSpPr/>
      </dsp:nvSpPr>
      <dsp:spPr>
        <a:xfrm>
          <a:off x="1325023" y="2025968"/>
          <a:ext cx="520062" cy="520062"/>
        </a:xfrm>
        <a:prstGeom prst="ellipse">
          <a:avLst/>
        </a:prstGeom>
        <a:solidFill>
          <a:schemeClr val="accent5">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74D4CFD-B51F-4EF3-BA49-144E2D33D50E}">
      <dsp:nvSpPr>
        <dsp:cNvPr id="0" name=""/>
        <dsp:cNvSpPr/>
      </dsp:nvSpPr>
      <dsp:spPr>
        <a:xfrm rot="10800000">
          <a:off x="1585054" y="2701274"/>
          <a:ext cx="5776722" cy="520062"/>
        </a:xfrm>
        <a:prstGeom prst="homePlate">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a:t>Analysis and Expected Results</a:t>
          </a:r>
        </a:p>
      </dsp:txBody>
      <dsp:txXfrm rot="10800000">
        <a:off x="1715069" y="2701274"/>
        <a:ext cx="5646707" cy="520062"/>
      </dsp:txXfrm>
    </dsp:sp>
    <dsp:sp modelId="{F713E425-6E59-482E-AFB2-1B507E620CC6}">
      <dsp:nvSpPr>
        <dsp:cNvPr id="0" name=""/>
        <dsp:cNvSpPr/>
      </dsp:nvSpPr>
      <dsp:spPr>
        <a:xfrm>
          <a:off x="1325023" y="2701274"/>
          <a:ext cx="520062" cy="520062"/>
        </a:xfrm>
        <a:prstGeom prst="ellipse">
          <a:avLst/>
        </a:prstGeom>
        <a:solidFill>
          <a:schemeClr val="accent6">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AA00FE8-242B-4888-A53F-D09E1E67898D}">
      <dsp:nvSpPr>
        <dsp:cNvPr id="0" name=""/>
        <dsp:cNvSpPr/>
      </dsp:nvSpPr>
      <dsp:spPr>
        <a:xfrm rot="10800000">
          <a:off x="1585054" y="3376579"/>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a:t>Limitations and Future Study</a:t>
          </a:r>
        </a:p>
      </dsp:txBody>
      <dsp:txXfrm rot="10800000">
        <a:off x="1715069" y="3376579"/>
        <a:ext cx="5646707" cy="520062"/>
      </dsp:txXfrm>
    </dsp:sp>
    <dsp:sp modelId="{DAE632EB-9F97-4011-9001-B1C353BB1361}">
      <dsp:nvSpPr>
        <dsp:cNvPr id="0" name=""/>
        <dsp:cNvSpPr/>
      </dsp:nvSpPr>
      <dsp:spPr>
        <a:xfrm>
          <a:off x="1325023" y="3376579"/>
          <a:ext cx="520062" cy="520062"/>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EAD7040-8FDD-4828-AED6-4F3F2F03D583}">
      <dsp:nvSpPr>
        <dsp:cNvPr id="0" name=""/>
        <dsp:cNvSpPr/>
      </dsp:nvSpPr>
      <dsp:spPr>
        <a:xfrm rot="10800000">
          <a:off x="1585054" y="4051884"/>
          <a:ext cx="5776722" cy="520062"/>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a:t>Open Discussion</a:t>
          </a:r>
        </a:p>
      </dsp:txBody>
      <dsp:txXfrm rot="10800000">
        <a:off x="1715069" y="4051884"/>
        <a:ext cx="5646707" cy="520062"/>
      </dsp:txXfrm>
    </dsp:sp>
    <dsp:sp modelId="{F5FF08DC-DB0C-4B35-B1F2-CF437C4987AF}">
      <dsp:nvSpPr>
        <dsp:cNvPr id="0" name=""/>
        <dsp:cNvSpPr/>
      </dsp:nvSpPr>
      <dsp:spPr>
        <a:xfrm>
          <a:off x="1325023" y="4051884"/>
          <a:ext cx="520062" cy="520062"/>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8211"/>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1143369" y="1152259"/>
        <a:ext cx="2871793" cy="583697"/>
      </dsp:txXfrm>
    </dsp:sp>
    <dsp:sp modelId="{0F07502A-98A4-4880-9779-27EA2BEB6F02}">
      <dsp:nvSpPr>
        <dsp:cNvPr id="0" name=""/>
        <dsp:cNvSpPr/>
      </dsp:nvSpPr>
      <dsp:spPr>
        <a:xfrm>
          <a:off x="584376"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Technology Transfer Policy</a:t>
          </a:r>
        </a:p>
      </dsp:txBody>
      <dsp:txXfrm>
        <a:off x="584376" y="8211"/>
        <a:ext cx="2174274" cy="3502187"/>
      </dsp:txXfrm>
    </dsp:sp>
    <dsp:sp modelId="{CB5EA34A-627A-4C1F-96E3-4088D2A98FDD}">
      <dsp:nvSpPr>
        <dsp:cNvPr id="0" name=""/>
        <dsp:cNvSpPr/>
      </dsp:nvSpPr>
      <dsp:spPr>
        <a:xfrm>
          <a:off x="3021315" y="8211"/>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1877267" y="1152259"/>
        <a:ext cx="2871793" cy="583697"/>
      </dsp:txXfrm>
    </dsp:sp>
    <dsp:sp modelId="{45668240-D897-4FC1-8421-6DD785B65040}">
      <dsp:nvSpPr>
        <dsp:cNvPr id="0" name=""/>
        <dsp:cNvSpPr/>
      </dsp:nvSpPr>
      <dsp:spPr>
        <a:xfrm rot="5400000">
          <a:off x="2778575" y="2791532"/>
          <a:ext cx="51466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The effects of the Bayh-Dole Act of 1980</a:t>
          </a:r>
        </a:p>
        <a:p>
          <a:pPr marL="114300" lvl="1" indent="-114300" algn="l" defTabSz="622300">
            <a:lnSpc>
              <a:spcPct val="90000"/>
            </a:lnSpc>
            <a:spcBef>
              <a:spcPct val="0"/>
            </a:spcBef>
            <a:spcAft>
              <a:spcPct val="15000"/>
            </a:spcAft>
            <a:buChar char="••"/>
          </a:pPr>
          <a:r>
            <a:rPr lang="en-US" sz="1400" kern="1200" dirty="0"/>
            <a:t>Dai, Popp &amp; </a:t>
          </a:r>
          <a:r>
            <a:rPr lang="en-US" sz="1400" kern="1200" dirty="0" err="1"/>
            <a:t>Bretschneider</a:t>
          </a:r>
          <a:r>
            <a:rPr lang="en-US" sz="1400" kern="1200" dirty="0"/>
            <a:t> (2005)</a:t>
          </a:r>
        </a:p>
        <a:p>
          <a:pPr lvl="0" algn="l" defTabSz="800100">
            <a:lnSpc>
              <a:spcPct val="90000"/>
            </a:lnSpc>
            <a:spcBef>
              <a:spcPct val="0"/>
            </a:spcBef>
            <a:spcAft>
              <a:spcPts val="0"/>
            </a:spcAft>
          </a:pPr>
          <a:r>
            <a:rPr lang="en-US" sz="1800" kern="1200" dirty="0"/>
            <a:t>Studies of the SBIR program</a:t>
          </a:r>
        </a:p>
        <a:p>
          <a:pPr marL="114300" lvl="1" indent="-114300" algn="l" defTabSz="622300">
            <a:lnSpc>
              <a:spcPct val="90000"/>
            </a:lnSpc>
            <a:spcBef>
              <a:spcPct val="0"/>
            </a:spcBef>
            <a:spcAft>
              <a:spcPct val="15000"/>
            </a:spcAft>
            <a:buChar char="••"/>
          </a:pPr>
          <a:r>
            <a:rPr lang="en-US" sz="1400" kern="1200" dirty="0"/>
            <a:t>Andersen, Bray &amp; Link (2017)</a:t>
          </a:r>
        </a:p>
        <a:p>
          <a:pPr marL="114300" lvl="1" indent="-114300" algn="l" defTabSz="622300">
            <a:lnSpc>
              <a:spcPct val="90000"/>
            </a:lnSpc>
            <a:spcBef>
              <a:spcPct val="0"/>
            </a:spcBef>
            <a:spcAft>
              <a:spcPct val="15000"/>
            </a:spcAft>
            <a:buChar char="••"/>
          </a:pPr>
          <a:r>
            <a:rPr lang="en-US" sz="1400" kern="1200" dirty="0"/>
            <a:t>Joshi, Inouye &amp; Robinson (</a:t>
          </a:r>
          <a:r>
            <a:rPr lang="en-US" sz="1400" kern="1200" dirty="0" err="1"/>
            <a:t>n.d.</a:t>
          </a:r>
          <a:r>
            <a:rPr lang="en-US" sz="1400" kern="1200" dirty="0"/>
            <a:t>)</a:t>
          </a:r>
        </a:p>
        <a:p>
          <a:pPr marL="114300" lvl="1" indent="-114300" algn="l" defTabSz="622300">
            <a:lnSpc>
              <a:spcPct val="90000"/>
            </a:lnSpc>
            <a:spcBef>
              <a:spcPct val="0"/>
            </a:spcBef>
            <a:spcAft>
              <a:spcPct val="15000"/>
            </a:spcAft>
            <a:buChar char="••"/>
          </a:pPr>
          <a:r>
            <a:rPr lang="en-US" sz="1400" kern="1200" dirty="0"/>
            <a:t>Link &amp; Scott (2010)</a:t>
          </a:r>
        </a:p>
        <a:p>
          <a:pPr lvl="0" algn="l" defTabSz="800100">
            <a:lnSpc>
              <a:spcPct val="90000"/>
            </a:lnSpc>
            <a:spcBef>
              <a:spcPct val="0"/>
            </a:spcBef>
            <a:spcAft>
              <a:spcPts val="0"/>
            </a:spcAft>
          </a:pPr>
          <a:r>
            <a:rPr lang="en-US" sz="1800" kern="1200" dirty="0"/>
            <a:t>Innovation Policy</a:t>
          </a:r>
        </a:p>
        <a:p>
          <a:pPr marL="114300" lvl="1" indent="-114300" algn="l" defTabSz="622300">
            <a:lnSpc>
              <a:spcPct val="90000"/>
            </a:lnSpc>
            <a:spcBef>
              <a:spcPct val="0"/>
            </a:spcBef>
            <a:spcAft>
              <a:spcPct val="15000"/>
            </a:spcAft>
            <a:buChar char="••"/>
          </a:pPr>
          <a:r>
            <a:rPr lang="en-US" sz="1400" kern="1200" dirty="0" err="1"/>
            <a:t>Hemel</a:t>
          </a:r>
          <a:r>
            <a:rPr lang="en-US" sz="1400" kern="1200" dirty="0"/>
            <a:t>, </a:t>
          </a:r>
          <a:r>
            <a:rPr lang="en-US" sz="1400" kern="1200" dirty="0" err="1"/>
            <a:t>Ouellett</a:t>
          </a:r>
          <a:r>
            <a:rPr lang="en-US" sz="1400" kern="1200" dirty="0"/>
            <a:t> &amp; Larrimore (2019)</a:t>
          </a:r>
        </a:p>
      </dsp:txBody>
      <dsp:txXfrm>
        <a:off x="3605013" y="8211"/>
        <a:ext cx="2174274" cy="3502187"/>
      </dsp:txXfrm>
    </dsp:sp>
    <dsp:sp modelId="{BBE81636-BCDD-48A0-B978-839FA7B950F8}">
      <dsp:nvSpPr>
        <dsp:cNvPr id="0" name=""/>
        <dsp:cNvSpPr/>
      </dsp:nvSpPr>
      <dsp:spPr>
        <a:xfrm>
          <a:off x="6041952" y="8211"/>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4897904" y="1152259"/>
        <a:ext cx="2871793" cy="583697"/>
      </dsp:txXfrm>
    </dsp:sp>
    <dsp:sp modelId="{BAC8B8B3-49A2-4BE7-B498-654C601FE809}">
      <dsp:nvSpPr>
        <dsp:cNvPr id="0" name=""/>
        <dsp:cNvSpPr/>
      </dsp:nvSpPr>
      <dsp:spPr>
        <a:xfrm rot="5400000">
          <a:off x="5799212" y="2791532"/>
          <a:ext cx="51466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Few recent studies on policy.</a:t>
          </a:r>
        </a:p>
        <a:p>
          <a:pPr lvl="0" algn="l" defTabSz="800100">
            <a:lnSpc>
              <a:spcPct val="90000"/>
            </a:lnSpc>
            <a:spcBef>
              <a:spcPct val="0"/>
            </a:spcBef>
            <a:spcAft>
              <a:spcPct val="35000"/>
            </a:spcAft>
          </a:pPr>
          <a:r>
            <a:rPr lang="en-US" sz="1800" kern="1200" dirty="0"/>
            <a:t>Mostly focused on the Bayh-Dole Act of 1980 and the SBIR program.</a:t>
          </a:r>
        </a:p>
        <a:p>
          <a:pPr lvl="0" algn="l" defTabSz="800100">
            <a:lnSpc>
              <a:spcPct val="90000"/>
            </a:lnSpc>
            <a:spcBef>
              <a:spcPct val="0"/>
            </a:spcBef>
            <a:spcAft>
              <a:spcPct val="35000"/>
            </a:spcAft>
          </a:pPr>
          <a:r>
            <a:rPr lang="en-US" sz="1800" kern="1200" dirty="0"/>
            <a:t>Many evaluation studies of the SBIR program.</a:t>
          </a:r>
        </a:p>
        <a:p>
          <a:pPr lvl="0" algn="l" defTabSz="800100">
            <a:lnSpc>
              <a:spcPct val="90000"/>
            </a:lnSpc>
            <a:spcBef>
              <a:spcPct val="0"/>
            </a:spcBef>
            <a:spcAft>
              <a:spcPct val="35000"/>
            </a:spcAft>
          </a:pPr>
          <a:r>
            <a:rPr lang="en-US" sz="1800" kern="1200" dirty="0"/>
            <a:t>Limited and fragment view of technology transfer policy. </a:t>
          </a:r>
        </a:p>
      </dsp:txBody>
      <dsp:txXfrm>
        <a:off x="6625649" y="8211"/>
        <a:ext cx="2174274" cy="350218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167728"/>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596241" y="596919"/>
        <a:ext cx="1777536" cy="583697"/>
      </dsp:txXfrm>
    </dsp:sp>
    <dsp:sp modelId="{0F07502A-98A4-4880-9779-27EA2BEB6F02}">
      <dsp:nvSpPr>
        <dsp:cNvPr id="0" name=""/>
        <dsp:cNvSpPr/>
      </dsp:nvSpPr>
      <dsp:spPr>
        <a:xfrm>
          <a:off x="584376"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Technology</a:t>
          </a:r>
        </a:p>
      </dsp:txBody>
      <dsp:txXfrm>
        <a:off x="584376" y="0"/>
        <a:ext cx="2174274" cy="2167728"/>
      </dsp:txXfrm>
    </dsp:sp>
    <dsp:sp modelId="{CB5EA34A-627A-4C1F-96E3-4088D2A98FDD}">
      <dsp:nvSpPr>
        <dsp:cNvPr id="0" name=""/>
        <dsp:cNvSpPr/>
      </dsp:nvSpPr>
      <dsp:spPr>
        <a:xfrm>
          <a:off x="3020731" y="0"/>
          <a:ext cx="2918489" cy="2167728"/>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2423811" y="596919"/>
        <a:ext cx="1777536" cy="583697"/>
      </dsp:txXfrm>
    </dsp:sp>
    <dsp:sp modelId="{45668240-D897-4FC1-8421-6DD785B65040}">
      <dsp:nvSpPr>
        <dsp:cNvPr id="0" name=""/>
        <dsp:cNvSpPr/>
      </dsp:nvSpPr>
      <dsp:spPr>
        <a:xfrm rot="5400000">
          <a:off x="2876582" y="1639900"/>
          <a:ext cx="318649"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4429"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Patent rights to an invention</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Gianiodis</a:t>
          </a:r>
          <a:r>
            <a:rPr lang="en-US" sz="1400" kern="1200" dirty="0"/>
            <a:t> &amp; Phan (2009)</a:t>
          </a:r>
        </a:p>
        <a:p>
          <a:pPr lvl="0" algn="l" defTabSz="800100">
            <a:lnSpc>
              <a:spcPct val="90000"/>
            </a:lnSpc>
            <a:spcBef>
              <a:spcPct val="0"/>
            </a:spcBef>
            <a:spcAft>
              <a:spcPts val="0"/>
            </a:spcAft>
          </a:pPr>
          <a:r>
            <a:rPr lang="en-US" sz="1800" kern="1200" dirty="0"/>
            <a:t>Academic knowledge</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dsp:txBody>
      <dsp:txXfrm>
        <a:off x="3604429" y="0"/>
        <a:ext cx="2174274" cy="2167728"/>
      </dsp:txXfrm>
    </dsp:sp>
    <dsp:sp modelId="{BBE81636-BCDD-48A0-B978-839FA7B950F8}">
      <dsp:nvSpPr>
        <dsp:cNvPr id="0" name=""/>
        <dsp:cNvSpPr/>
      </dsp:nvSpPr>
      <dsp:spPr>
        <a:xfrm>
          <a:off x="6041952" y="0"/>
          <a:ext cx="2918489" cy="2167728"/>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5445032" y="596919"/>
        <a:ext cx="1777536" cy="583697"/>
      </dsp:txXfrm>
    </dsp:sp>
    <dsp:sp modelId="{BAC8B8B3-49A2-4BE7-B498-654C601FE809}">
      <dsp:nvSpPr>
        <dsp:cNvPr id="0" name=""/>
        <dsp:cNvSpPr/>
      </dsp:nvSpPr>
      <dsp:spPr>
        <a:xfrm rot="5400000">
          <a:off x="5897219" y="1639900"/>
          <a:ext cx="318649"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600"/>
            </a:spcAft>
          </a:pPr>
          <a:r>
            <a:rPr lang="en-US" sz="1800" kern="1200" dirty="0" smtClean="0"/>
            <a:t>No universal definition.</a:t>
          </a:r>
        </a:p>
        <a:p>
          <a:pPr lvl="0" algn="l" defTabSz="800100">
            <a:lnSpc>
              <a:spcPct val="90000"/>
            </a:lnSpc>
            <a:spcBef>
              <a:spcPct val="0"/>
            </a:spcBef>
            <a:spcAft>
              <a:spcPts val="600"/>
            </a:spcAft>
          </a:pPr>
          <a:r>
            <a:rPr lang="en-US" sz="1800" kern="1200" dirty="0" smtClean="0"/>
            <a:t>Not </a:t>
          </a:r>
          <a:r>
            <a:rPr lang="en-US" sz="1800" kern="1200" dirty="0"/>
            <a:t>explicitly defined.</a:t>
          </a:r>
        </a:p>
        <a:p>
          <a:pPr lvl="0" algn="l" defTabSz="800100">
            <a:lnSpc>
              <a:spcPct val="90000"/>
            </a:lnSpc>
            <a:spcBef>
              <a:spcPct val="0"/>
            </a:spcBef>
            <a:spcAft>
              <a:spcPts val="600"/>
            </a:spcAft>
          </a:pPr>
          <a:r>
            <a:rPr lang="en-US" sz="1800" kern="1200" dirty="0" smtClean="0"/>
            <a:t>Not </a:t>
          </a:r>
          <a:r>
            <a:rPr lang="en-US" sz="1800" kern="1200" dirty="0"/>
            <a:t>all technology is patentable.</a:t>
          </a:r>
        </a:p>
        <a:p>
          <a:pPr marL="0" marR="0" lvl="0" indent="0" algn="l" defTabSz="914400" eaLnBrk="1" fontAlgn="auto" latinLnBrk="0" hangingPunct="1">
            <a:lnSpc>
              <a:spcPct val="100000"/>
            </a:lnSpc>
            <a:spcBef>
              <a:spcPct val="0"/>
            </a:spcBef>
            <a:spcAft>
              <a:spcPts val="600"/>
            </a:spcAft>
            <a:buClrTx/>
            <a:buSzTx/>
            <a:buFontTx/>
            <a:buNone/>
            <a:tabLst/>
            <a:defRPr/>
          </a:pPr>
          <a:r>
            <a:rPr lang="en-US" sz="1800" kern="1200" dirty="0"/>
            <a:t>Academic knowledge and technology are not synonymous</a:t>
          </a:r>
          <a:r>
            <a:rPr lang="en-US" sz="1800" kern="1200" dirty="0" smtClean="0"/>
            <a:t>.</a:t>
          </a:r>
        </a:p>
        <a:p>
          <a:pPr lvl="0" algn="l" defTabSz="800100">
            <a:lnSpc>
              <a:spcPct val="90000"/>
            </a:lnSpc>
            <a:spcBef>
              <a:spcPct val="0"/>
            </a:spcBef>
            <a:spcAft>
              <a:spcPct val="35000"/>
            </a:spcAft>
          </a:pPr>
          <a:endParaRPr lang="en-US" sz="1800" kern="1200" dirty="0"/>
        </a:p>
      </dsp:txBody>
      <dsp:txXfrm>
        <a:off x="6625649" y="0"/>
        <a:ext cx="2174274" cy="216772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637129"/>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788695" y="789373"/>
        <a:ext cx="2162445" cy="583697"/>
      </dsp:txXfrm>
    </dsp:sp>
    <dsp:sp modelId="{0F07502A-98A4-4880-9779-27EA2BEB6F02}">
      <dsp:nvSpPr>
        <dsp:cNvPr id="0" name=""/>
        <dsp:cNvSpPr/>
      </dsp:nvSpPr>
      <dsp:spPr>
        <a:xfrm>
          <a:off x="584376"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Technology Transfer</a:t>
          </a:r>
        </a:p>
      </dsp:txBody>
      <dsp:txXfrm>
        <a:off x="584376" y="0"/>
        <a:ext cx="2174274" cy="2637129"/>
      </dsp:txXfrm>
    </dsp:sp>
    <dsp:sp modelId="{CB5EA34A-627A-4C1F-96E3-4088D2A98FDD}">
      <dsp:nvSpPr>
        <dsp:cNvPr id="0" name=""/>
        <dsp:cNvSpPr/>
      </dsp:nvSpPr>
      <dsp:spPr>
        <a:xfrm>
          <a:off x="3021315" y="0"/>
          <a:ext cx="2918489" cy="2637129"/>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2231941" y="789373"/>
        <a:ext cx="2162445" cy="583697"/>
      </dsp:txXfrm>
    </dsp:sp>
    <dsp:sp modelId="{45668240-D897-4FC1-8421-6DD785B65040}">
      <dsp:nvSpPr>
        <dsp:cNvPr id="0" name=""/>
        <dsp:cNvSpPr/>
      </dsp:nvSpPr>
      <dsp:spPr>
        <a:xfrm rot="5400000">
          <a:off x="2842289" y="2039989"/>
          <a:ext cx="387235"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Licensing, new venture formation, research collaborations, faculty consulting</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a:t>Hallam, Wurth &amp; Mancha (2014)</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Gianiodis</a:t>
          </a:r>
          <a:r>
            <a:rPr lang="en-US" sz="1400" kern="1200" dirty="0"/>
            <a:t> &amp; Phan (2009)</a:t>
          </a:r>
        </a:p>
      </dsp:txBody>
      <dsp:txXfrm>
        <a:off x="3605013" y="0"/>
        <a:ext cx="2174274" cy="2637129"/>
      </dsp:txXfrm>
    </dsp:sp>
    <dsp:sp modelId="{BBE81636-BCDD-48A0-B978-839FA7B950F8}">
      <dsp:nvSpPr>
        <dsp:cNvPr id="0" name=""/>
        <dsp:cNvSpPr/>
      </dsp:nvSpPr>
      <dsp:spPr>
        <a:xfrm>
          <a:off x="6041952" y="0"/>
          <a:ext cx="2918489" cy="2637129"/>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5252578" y="789373"/>
        <a:ext cx="2162445" cy="583697"/>
      </dsp:txXfrm>
    </dsp:sp>
    <dsp:sp modelId="{BAC8B8B3-49A2-4BE7-B498-654C601FE809}">
      <dsp:nvSpPr>
        <dsp:cNvPr id="0" name=""/>
        <dsp:cNvSpPr/>
      </dsp:nvSpPr>
      <dsp:spPr>
        <a:xfrm rot="5400000">
          <a:off x="5862926" y="2039989"/>
          <a:ext cx="387235"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marL="0" marR="0" lvl="0" indent="0" algn="l" defTabSz="914400" eaLnBrk="1" fontAlgn="auto" latinLnBrk="0" hangingPunct="1">
            <a:lnSpc>
              <a:spcPct val="100000"/>
            </a:lnSpc>
            <a:spcBef>
              <a:spcPct val="0"/>
            </a:spcBef>
            <a:spcAft>
              <a:spcPts val="600"/>
            </a:spcAft>
            <a:buClrTx/>
            <a:buSzTx/>
            <a:buFontTx/>
            <a:buNone/>
            <a:tabLst/>
            <a:defRPr/>
          </a:pPr>
          <a:r>
            <a:rPr lang="en-US" sz="1800" kern="1200" dirty="0" smtClean="0"/>
            <a:t>No universal definition.</a:t>
          </a:r>
        </a:p>
        <a:p>
          <a:pPr marL="0" marR="0" lvl="0" indent="0" algn="l" defTabSz="914400" eaLnBrk="1" fontAlgn="auto" latinLnBrk="0" hangingPunct="1">
            <a:lnSpc>
              <a:spcPct val="100000"/>
            </a:lnSpc>
            <a:spcBef>
              <a:spcPct val="0"/>
            </a:spcBef>
            <a:spcAft>
              <a:spcPts val="600"/>
            </a:spcAft>
            <a:buClrTx/>
            <a:buSzTx/>
            <a:buFontTx/>
            <a:buNone/>
            <a:tabLst/>
            <a:defRPr/>
          </a:pPr>
          <a:r>
            <a:rPr lang="en-US" sz="1800" kern="1200" dirty="0" smtClean="0"/>
            <a:t>Not explicitly defined.</a:t>
          </a:r>
        </a:p>
        <a:p>
          <a:pPr lvl="0" algn="l" defTabSz="800100">
            <a:lnSpc>
              <a:spcPct val="90000"/>
            </a:lnSpc>
            <a:spcBef>
              <a:spcPct val="0"/>
            </a:spcBef>
            <a:spcAft>
              <a:spcPts val="600"/>
            </a:spcAft>
          </a:pPr>
          <a:r>
            <a:rPr lang="en-US" sz="1800" kern="1200" dirty="0" smtClean="0"/>
            <a:t>Conflates </a:t>
          </a:r>
          <a:r>
            <a:rPr lang="en-US" sz="1800" kern="1200" dirty="0"/>
            <a:t>the concept of technology transfer with the mechanisms for achieving it.</a:t>
          </a:r>
        </a:p>
      </dsp:txBody>
      <dsp:txXfrm>
        <a:off x="6625649" y="0"/>
        <a:ext cx="2174274" cy="263712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11869"/>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1143369" y="1155917"/>
        <a:ext cx="2871793" cy="583697"/>
      </dsp:txXfrm>
    </dsp:sp>
    <dsp:sp modelId="{0F07502A-98A4-4880-9779-27EA2BEB6F02}">
      <dsp:nvSpPr>
        <dsp:cNvPr id="0" name=""/>
        <dsp:cNvSpPr/>
      </dsp:nvSpPr>
      <dsp:spPr>
        <a:xfrm>
          <a:off x="584376"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Defining Success</a:t>
          </a:r>
        </a:p>
      </dsp:txBody>
      <dsp:txXfrm>
        <a:off x="584376" y="11869"/>
        <a:ext cx="2174274" cy="3502187"/>
      </dsp:txXfrm>
    </dsp:sp>
    <dsp:sp modelId="{CB5EA34A-627A-4C1F-96E3-4088D2A98FDD}">
      <dsp:nvSpPr>
        <dsp:cNvPr id="0" name=""/>
        <dsp:cNvSpPr/>
      </dsp:nvSpPr>
      <dsp:spPr>
        <a:xfrm>
          <a:off x="3021315" y="11869"/>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1877267" y="1155917"/>
        <a:ext cx="2871793" cy="583697"/>
      </dsp:txXfrm>
    </dsp:sp>
    <dsp:sp modelId="{45668240-D897-4FC1-8421-6DD785B65040}">
      <dsp:nvSpPr>
        <dsp:cNvPr id="0" name=""/>
        <dsp:cNvSpPr/>
      </dsp:nvSpPr>
      <dsp:spPr>
        <a:xfrm rot="5400000">
          <a:off x="2778428" y="2796903"/>
          <a:ext cx="514957"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Executed patent license, established new business entity, executed sponsored research agreement</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Gioniodis</a:t>
          </a:r>
          <a:r>
            <a:rPr lang="en-US" sz="1400" kern="1200" dirty="0"/>
            <a:t> &amp; Phan (2009)</a:t>
          </a:r>
        </a:p>
        <a:p>
          <a:pPr marL="114300" lvl="1" indent="-114300" algn="l" defTabSz="622300">
            <a:lnSpc>
              <a:spcPct val="90000"/>
            </a:lnSpc>
            <a:spcBef>
              <a:spcPct val="0"/>
            </a:spcBef>
            <a:spcAft>
              <a:spcPct val="15000"/>
            </a:spcAft>
            <a:buChar char="••"/>
          </a:pPr>
          <a:r>
            <a:rPr lang="en-US" sz="1400" kern="1200" dirty="0"/>
            <a:t>Hallam, Wurth &amp; Mancha (2014)</a:t>
          </a:r>
        </a:p>
      </dsp:txBody>
      <dsp:txXfrm>
        <a:off x="3605013" y="11869"/>
        <a:ext cx="2174274" cy="3502187"/>
      </dsp:txXfrm>
    </dsp:sp>
    <dsp:sp modelId="{BBE81636-BCDD-48A0-B978-839FA7B950F8}">
      <dsp:nvSpPr>
        <dsp:cNvPr id="0" name=""/>
        <dsp:cNvSpPr/>
      </dsp:nvSpPr>
      <dsp:spPr>
        <a:xfrm>
          <a:off x="6041952" y="11869"/>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4897904" y="1155917"/>
        <a:ext cx="2871793" cy="583697"/>
      </dsp:txXfrm>
    </dsp:sp>
    <dsp:sp modelId="{BAC8B8B3-49A2-4BE7-B498-654C601FE809}">
      <dsp:nvSpPr>
        <dsp:cNvPr id="0" name=""/>
        <dsp:cNvSpPr/>
      </dsp:nvSpPr>
      <dsp:spPr>
        <a:xfrm rot="5400000">
          <a:off x="5799065" y="2796903"/>
          <a:ext cx="514957"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A patent license is often a requirement for forming a university spinout company.</a:t>
          </a:r>
        </a:p>
        <a:p>
          <a:pPr lvl="0" algn="l" defTabSz="800100">
            <a:lnSpc>
              <a:spcPct val="90000"/>
            </a:lnSpc>
            <a:spcBef>
              <a:spcPct val="0"/>
            </a:spcBef>
            <a:spcAft>
              <a:spcPct val="35000"/>
            </a:spcAft>
          </a:pPr>
          <a:r>
            <a:rPr lang="en-US" sz="1800" kern="1200" dirty="0"/>
            <a:t>Sponsored research may not be related to technology previously developed at the university.</a:t>
          </a:r>
        </a:p>
        <a:p>
          <a:pPr lvl="0" algn="l" defTabSz="800100">
            <a:lnSpc>
              <a:spcPct val="90000"/>
            </a:lnSpc>
            <a:spcBef>
              <a:spcPct val="0"/>
            </a:spcBef>
            <a:spcAft>
              <a:spcPct val="35000"/>
            </a:spcAft>
          </a:pPr>
          <a:r>
            <a:rPr lang="en-US" sz="1800" kern="1200" dirty="0"/>
            <a:t>Don’t accommodate instances that are not transactional in nature.</a:t>
          </a:r>
        </a:p>
      </dsp:txBody>
      <dsp:txXfrm>
        <a:off x="6625649" y="11869"/>
        <a:ext cx="2174274" cy="350218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822505"/>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864699" y="865378"/>
        <a:ext cx="2314454" cy="583697"/>
      </dsp:txXfrm>
    </dsp:sp>
    <dsp:sp modelId="{0F07502A-98A4-4880-9779-27EA2BEB6F02}">
      <dsp:nvSpPr>
        <dsp:cNvPr id="0" name=""/>
        <dsp:cNvSpPr/>
      </dsp:nvSpPr>
      <dsp:spPr>
        <a:xfrm>
          <a:off x="584376"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Success Factors</a:t>
          </a:r>
        </a:p>
      </dsp:txBody>
      <dsp:txXfrm>
        <a:off x="584376" y="0"/>
        <a:ext cx="2174274" cy="2822505"/>
      </dsp:txXfrm>
    </dsp:sp>
    <dsp:sp modelId="{CB5EA34A-627A-4C1F-96E3-4088D2A98FDD}">
      <dsp:nvSpPr>
        <dsp:cNvPr id="0" name=""/>
        <dsp:cNvSpPr/>
      </dsp:nvSpPr>
      <dsp:spPr>
        <a:xfrm>
          <a:off x="3021315" y="0"/>
          <a:ext cx="2918489" cy="2822505"/>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2155937" y="865378"/>
        <a:ext cx="2314454" cy="583697"/>
      </dsp:txXfrm>
    </dsp:sp>
    <dsp:sp modelId="{45668240-D897-4FC1-8421-6DD785B65040}">
      <dsp:nvSpPr>
        <dsp:cNvPr id="0" name=""/>
        <dsp:cNvSpPr/>
      </dsp:nvSpPr>
      <dsp:spPr>
        <a:xfrm rot="5400000">
          <a:off x="2828506" y="2200790"/>
          <a:ext cx="414801"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No. of staff, no. of years of operation, portfolio size, office autonomy, university specialization, entrepreneurship infrastructure</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Gioniodis</a:t>
          </a:r>
          <a:r>
            <a:rPr lang="en-US" sz="1400" kern="1200" dirty="0"/>
            <a:t> &amp; Phan (2009)</a:t>
          </a:r>
        </a:p>
      </dsp:txBody>
      <dsp:txXfrm>
        <a:off x="3605013" y="0"/>
        <a:ext cx="2174274" cy="2822505"/>
      </dsp:txXfrm>
    </dsp:sp>
    <dsp:sp modelId="{BBE81636-BCDD-48A0-B978-839FA7B950F8}">
      <dsp:nvSpPr>
        <dsp:cNvPr id="0" name=""/>
        <dsp:cNvSpPr/>
      </dsp:nvSpPr>
      <dsp:spPr>
        <a:xfrm>
          <a:off x="6041952" y="0"/>
          <a:ext cx="2918489" cy="2822505"/>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5176573" y="865378"/>
        <a:ext cx="2314454" cy="583697"/>
      </dsp:txXfrm>
    </dsp:sp>
    <dsp:sp modelId="{BAC8B8B3-49A2-4BE7-B498-654C601FE809}">
      <dsp:nvSpPr>
        <dsp:cNvPr id="0" name=""/>
        <dsp:cNvSpPr/>
      </dsp:nvSpPr>
      <dsp:spPr>
        <a:xfrm rot="5400000">
          <a:off x="5849143" y="2200790"/>
          <a:ext cx="414801"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Studies have mostly focused on factors exogenous to the research and development process.</a:t>
          </a:r>
        </a:p>
      </dsp:txBody>
      <dsp:txXfrm>
        <a:off x="6625649" y="0"/>
        <a:ext cx="2174274" cy="2822505"/>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4554"/>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1143369" y="1148602"/>
        <a:ext cx="2871793" cy="583697"/>
      </dsp:txXfrm>
    </dsp:sp>
    <dsp:sp modelId="{0F07502A-98A4-4880-9779-27EA2BEB6F02}">
      <dsp:nvSpPr>
        <dsp:cNvPr id="0" name=""/>
        <dsp:cNvSpPr/>
      </dsp:nvSpPr>
      <dsp:spPr>
        <a:xfrm>
          <a:off x="584376"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Stage &amp; Geography</a:t>
          </a:r>
        </a:p>
      </dsp:txBody>
      <dsp:txXfrm>
        <a:off x="584376" y="4554"/>
        <a:ext cx="2174274" cy="3502187"/>
      </dsp:txXfrm>
    </dsp:sp>
    <dsp:sp modelId="{CB5EA34A-627A-4C1F-96E3-4088D2A98FDD}">
      <dsp:nvSpPr>
        <dsp:cNvPr id="0" name=""/>
        <dsp:cNvSpPr/>
      </dsp:nvSpPr>
      <dsp:spPr>
        <a:xfrm>
          <a:off x="3021315" y="4554"/>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1877267" y="1148602"/>
        <a:ext cx="2871793" cy="583697"/>
      </dsp:txXfrm>
    </dsp:sp>
    <dsp:sp modelId="{45668240-D897-4FC1-8421-6DD785B65040}">
      <dsp:nvSpPr>
        <dsp:cNvPr id="0" name=""/>
        <dsp:cNvSpPr/>
      </dsp:nvSpPr>
      <dsp:spPr>
        <a:xfrm rot="5400000">
          <a:off x="2778472" y="2789072"/>
          <a:ext cx="514869"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Development stage</a:t>
          </a:r>
        </a:p>
        <a:p>
          <a:pPr marL="114300" lvl="1" indent="-114300" algn="l" defTabSz="622300">
            <a:lnSpc>
              <a:spcPct val="90000"/>
            </a:lnSpc>
            <a:spcBef>
              <a:spcPct val="0"/>
            </a:spcBef>
            <a:spcAft>
              <a:spcPct val="15000"/>
            </a:spcAft>
            <a:buChar char="••"/>
          </a:pPr>
          <a:r>
            <a:rPr lang="en-US" sz="1400" kern="1200" dirty="0"/>
            <a:t>Wang, Mohammed, Wu &amp; Xiang (2016)</a:t>
          </a:r>
        </a:p>
        <a:p>
          <a:pPr lvl="0" algn="l" defTabSz="800100">
            <a:lnSpc>
              <a:spcPct val="90000"/>
            </a:lnSpc>
            <a:spcBef>
              <a:spcPct val="0"/>
            </a:spcBef>
            <a:spcAft>
              <a:spcPts val="0"/>
            </a:spcAft>
          </a:pPr>
          <a:r>
            <a:rPr lang="en-US" sz="1800" kern="1200" dirty="0"/>
            <a:t>Geographic considerations</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err="1"/>
            <a:t>Reuer</a:t>
          </a:r>
          <a:r>
            <a:rPr lang="en-US" sz="1400" kern="1200" dirty="0"/>
            <a:t> &amp; </a:t>
          </a:r>
          <a:r>
            <a:rPr lang="en-US" sz="1400" kern="1200" dirty="0" err="1"/>
            <a:t>Lahiri</a:t>
          </a:r>
          <a:r>
            <a:rPr lang="en-US" sz="1400" kern="1200" dirty="0"/>
            <a:t> (2014)</a:t>
          </a:r>
        </a:p>
        <a:p>
          <a:pPr lvl="0" algn="l" defTabSz="800100">
            <a:lnSpc>
              <a:spcPct val="90000"/>
            </a:lnSpc>
            <a:spcBef>
              <a:spcPct val="0"/>
            </a:spcBef>
            <a:spcAft>
              <a:spcPts val="0"/>
            </a:spcAft>
          </a:pPr>
          <a:r>
            <a:rPr lang="en-US" sz="1800" kern="1200" dirty="0"/>
            <a:t>Association between cities and innovation</a:t>
          </a:r>
        </a:p>
        <a:p>
          <a:pPr marL="114300" lvl="1" indent="-114300" algn="l" defTabSz="622300">
            <a:lnSpc>
              <a:spcPct val="90000"/>
            </a:lnSpc>
            <a:spcBef>
              <a:spcPct val="0"/>
            </a:spcBef>
            <a:spcAft>
              <a:spcPct val="15000"/>
            </a:spcAft>
            <a:buChar char="••"/>
          </a:pPr>
          <a:r>
            <a:rPr lang="en-US" sz="1400" kern="1200" dirty="0"/>
            <a:t>Florida, Alder &amp; </a:t>
          </a:r>
          <a:r>
            <a:rPr lang="en-US" sz="1400" kern="1200" dirty="0" err="1"/>
            <a:t>Mellander</a:t>
          </a:r>
          <a:r>
            <a:rPr lang="en-US" sz="1400" kern="1200" dirty="0"/>
            <a:t> (2017)</a:t>
          </a:r>
        </a:p>
        <a:p>
          <a:pPr marL="114300" lvl="1" indent="-114300" algn="l" defTabSz="622300">
            <a:lnSpc>
              <a:spcPct val="90000"/>
            </a:lnSpc>
            <a:spcBef>
              <a:spcPct val="0"/>
            </a:spcBef>
            <a:spcAft>
              <a:spcPct val="15000"/>
            </a:spcAft>
            <a:buChar char="••"/>
          </a:pPr>
          <a:r>
            <a:rPr lang="en-US" sz="1400" kern="1200" dirty="0"/>
            <a:t>Florida &amp; </a:t>
          </a:r>
          <a:r>
            <a:rPr lang="en-US" sz="1400" kern="1200" dirty="0" err="1"/>
            <a:t>Lellander</a:t>
          </a:r>
          <a:r>
            <a:rPr lang="en-US" sz="1400" kern="1200" dirty="0"/>
            <a:t> (2016)</a:t>
          </a:r>
        </a:p>
      </dsp:txBody>
      <dsp:txXfrm>
        <a:off x="3605013" y="4554"/>
        <a:ext cx="2174274" cy="3502187"/>
      </dsp:txXfrm>
    </dsp:sp>
    <dsp:sp modelId="{BBE81636-BCDD-48A0-B978-839FA7B950F8}">
      <dsp:nvSpPr>
        <dsp:cNvPr id="0" name=""/>
        <dsp:cNvSpPr/>
      </dsp:nvSpPr>
      <dsp:spPr>
        <a:xfrm>
          <a:off x="6041952" y="4554"/>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4897904" y="1148602"/>
        <a:ext cx="2871793" cy="583697"/>
      </dsp:txXfrm>
    </dsp:sp>
    <dsp:sp modelId="{BAC8B8B3-49A2-4BE7-B498-654C601FE809}">
      <dsp:nvSpPr>
        <dsp:cNvPr id="0" name=""/>
        <dsp:cNvSpPr/>
      </dsp:nvSpPr>
      <dsp:spPr>
        <a:xfrm rot="5400000">
          <a:off x="5799109" y="2789072"/>
          <a:ext cx="514869"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Development </a:t>
          </a:r>
          <a:r>
            <a:rPr lang="en-US" sz="1800" kern="1200" dirty="0"/>
            <a:t>stage </a:t>
          </a:r>
          <a:r>
            <a:rPr lang="en-US" sz="1800" kern="1200" dirty="0" smtClean="0"/>
            <a:t>has generally not been considered as an </a:t>
          </a:r>
          <a:r>
            <a:rPr lang="en-US" sz="1800" kern="1200" dirty="0"/>
            <a:t>independent variable.</a:t>
          </a:r>
        </a:p>
        <a:p>
          <a:pPr lvl="0" algn="l" defTabSz="800100">
            <a:lnSpc>
              <a:spcPct val="90000"/>
            </a:lnSpc>
            <a:spcBef>
              <a:spcPct val="0"/>
            </a:spcBef>
            <a:spcAft>
              <a:spcPct val="35000"/>
            </a:spcAft>
          </a:pPr>
          <a:r>
            <a:rPr lang="en-US" sz="1800" kern="1200" dirty="0"/>
            <a:t>Studies have investigated specific geographic factors such as venture capital</a:t>
          </a:r>
        </a:p>
        <a:p>
          <a:pPr lvl="0" algn="l" defTabSz="800100">
            <a:lnSpc>
              <a:spcPct val="90000"/>
            </a:lnSpc>
            <a:spcBef>
              <a:spcPct val="0"/>
            </a:spcBef>
            <a:spcAft>
              <a:spcPct val="35000"/>
            </a:spcAft>
          </a:pPr>
          <a:r>
            <a:rPr lang="en-US" sz="1800" kern="1200" dirty="0"/>
            <a:t>Studies have explored  the association between cities and innovation.</a:t>
          </a:r>
        </a:p>
      </dsp:txBody>
      <dsp:txXfrm>
        <a:off x="6625649" y="4554"/>
        <a:ext cx="2174274" cy="3502187"/>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a:t>
          </a:r>
          <a:endParaRPr lang="en-US" sz="37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Knowledge or methods that enable the performance of previously incapable tasks or reduce the units of input per units of output needed to  perform tasks.</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reports</a:t>
          </a:r>
        </a:p>
        <a:p>
          <a:pPr lvl="0" algn="l" defTabSz="800100">
            <a:lnSpc>
              <a:spcPct val="90000"/>
            </a:lnSpc>
            <a:spcBef>
              <a:spcPct val="0"/>
            </a:spcBef>
            <a:spcAft>
              <a:spcPct val="35000"/>
            </a:spcAft>
          </a:pPr>
          <a:r>
            <a:rPr lang="en-US" sz="1800" kern="1200" dirty="0"/>
            <a:t>Published peer-reviewed academic journal articles</a:t>
          </a:r>
        </a:p>
        <a:p>
          <a:pPr lvl="0" algn="l" defTabSz="800100">
            <a:lnSpc>
              <a:spcPct val="90000"/>
            </a:lnSpc>
            <a:spcBef>
              <a:spcPct val="0"/>
            </a:spcBef>
            <a:spcAft>
              <a:spcPct val="35000"/>
            </a:spcAft>
          </a:pPr>
          <a:r>
            <a:rPr lang="en-US" sz="1800" kern="1200" dirty="0"/>
            <a:t>Allowed U.S. patents</a:t>
          </a:r>
        </a:p>
        <a:p>
          <a:pPr lvl="0" algn="l" defTabSz="800100">
            <a:lnSpc>
              <a:spcPct val="90000"/>
            </a:lnSpc>
            <a:spcBef>
              <a:spcPct val="0"/>
            </a:spcBef>
            <a:spcAft>
              <a:spcPct val="35000"/>
            </a:spcAft>
          </a:pPr>
          <a:r>
            <a:rPr lang="en-US" sz="1800" kern="1200" dirty="0"/>
            <a:t>Disallowed U.S. patent applications</a:t>
          </a:r>
        </a:p>
      </dsp:txBody>
      <dsp:txXfrm>
        <a:off x="6625649" y="0"/>
        <a:ext cx="2174274" cy="225883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0"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4273" y="634273"/>
        <a:ext cx="1852245" cy="583697"/>
      </dsp:txXfrm>
    </dsp:sp>
    <dsp:sp modelId="{0F07502A-98A4-4880-9779-27EA2BEB6F02}">
      <dsp:nvSpPr>
        <dsp:cNvPr id="0" name=""/>
        <dsp:cNvSpPr/>
      </dsp:nvSpPr>
      <dsp:spPr>
        <a:xfrm>
          <a:off x="583697"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 Transfer</a:t>
          </a:r>
        </a:p>
      </dsp:txBody>
      <dsp:txXfrm>
        <a:off x="583697"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When an actor that controls a technology  enables others to use the technology.</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endParaRPr lang="en-US" sz="33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License agreements</a:t>
          </a:r>
        </a:p>
        <a:p>
          <a:pPr lvl="0" algn="l" defTabSz="800100">
            <a:lnSpc>
              <a:spcPct val="90000"/>
            </a:lnSpc>
            <a:spcBef>
              <a:spcPct val="0"/>
            </a:spcBef>
            <a:spcAft>
              <a:spcPct val="35000"/>
            </a:spcAft>
          </a:pPr>
          <a:r>
            <a:rPr lang="en-US" sz="1800" kern="1200" dirty="0"/>
            <a:t>Published peer-reviewed journal articles not associated with an allowed U.S. patent or active patent application</a:t>
          </a:r>
        </a:p>
      </dsp:txBody>
      <dsp:txXfrm>
        <a:off x="6625649" y="0"/>
        <a:ext cx="2174274" cy="225883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6299" rIns="0" bIns="0" numCol="1" spcCol="1270" anchor="t" anchorCtr="0">
          <a:noAutofit/>
        </a:bodyPr>
        <a:lstStyle/>
        <a:p>
          <a:pPr lvl="0" algn="l" defTabSz="1377950">
            <a:lnSpc>
              <a:spcPct val="90000"/>
            </a:lnSpc>
            <a:spcBef>
              <a:spcPct val="0"/>
            </a:spcBef>
            <a:spcAft>
              <a:spcPct val="35000"/>
            </a:spcAft>
          </a:pPr>
          <a:r>
            <a:rPr lang="en-US" sz="3100" kern="1200" dirty="0"/>
            <a:t>Development Stage</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state of progress of an R&amp;D project as described by a modified technology readiness level (TRL) scale.</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abstracts</a:t>
          </a:r>
        </a:p>
        <a:p>
          <a:pPr lvl="0" algn="l" defTabSz="800100">
            <a:lnSpc>
              <a:spcPct val="90000"/>
            </a:lnSpc>
            <a:spcBef>
              <a:spcPct val="0"/>
            </a:spcBef>
            <a:spcAft>
              <a:spcPct val="35000"/>
            </a:spcAft>
          </a:pPr>
          <a:r>
            <a:rPr lang="en-US" sz="1800" kern="1200" dirty="0"/>
            <a:t>R&amp;D project reports</a:t>
          </a:r>
        </a:p>
      </dsp:txBody>
      <dsp:txXfrm>
        <a:off x="6625649" y="0"/>
        <a:ext cx="2174274" cy="225883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City</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A metropolitan statistical area (MSA) with a total absolute population of 1 million people and total normalized population of at least 110 people per square mile</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OMB definitions of MSAs</a:t>
          </a:r>
        </a:p>
        <a:p>
          <a:pPr lvl="0" algn="l" defTabSz="800100">
            <a:lnSpc>
              <a:spcPct val="90000"/>
            </a:lnSpc>
            <a:spcBef>
              <a:spcPct val="0"/>
            </a:spcBef>
            <a:spcAft>
              <a:spcPct val="35000"/>
            </a:spcAft>
          </a:pPr>
          <a:r>
            <a:rPr lang="en-US" sz="1800" kern="1200" dirty="0"/>
            <a:t>2017 estimates from the U.S. Census Bureau</a:t>
          </a:r>
        </a:p>
      </dsp:txBody>
      <dsp:txXfrm>
        <a:off x="6625649" y="0"/>
        <a:ext cx="2174274" cy="225883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Spatial Distance</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distance from the institution that received the federal funding award for the R&amp;D project to the centroid of the nearest MSA that meets the study requirements.</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Location coordinates in longitude and latitude</a:t>
          </a:r>
        </a:p>
        <a:p>
          <a:pPr lvl="0" algn="l" defTabSz="800100">
            <a:lnSpc>
              <a:spcPct val="90000"/>
            </a:lnSpc>
            <a:spcBef>
              <a:spcPct val="0"/>
            </a:spcBef>
            <a:spcAft>
              <a:spcPct val="35000"/>
            </a:spcAft>
          </a:pPr>
          <a:r>
            <a:rPr lang="en-US" sz="1800" kern="1200" dirty="0"/>
            <a:t>Absolute distance measured in miles</a:t>
          </a:r>
        </a:p>
      </dsp:txBody>
      <dsp:txXfrm>
        <a:off x="6625649" y="0"/>
        <a:ext cx="2174274" cy="225883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 Category</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predominant context of likely intended applications for any technologies derived from the federally-funded R&amp;D project.</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abstracts</a:t>
          </a:r>
        </a:p>
        <a:p>
          <a:pPr lvl="0" algn="l" defTabSz="800100">
            <a:lnSpc>
              <a:spcPct val="90000"/>
            </a:lnSpc>
            <a:spcBef>
              <a:spcPct val="0"/>
            </a:spcBef>
            <a:spcAft>
              <a:spcPct val="35000"/>
            </a:spcAft>
          </a:pPr>
          <a:r>
            <a:rPr lang="en-US" sz="1800" kern="1200" dirty="0"/>
            <a:t>R&amp;D project reports</a:t>
          </a:r>
        </a:p>
        <a:p>
          <a:pPr lvl="0" algn="l" defTabSz="800100">
            <a:lnSpc>
              <a:spcPct val="90000"/>
            </a:lnSpc>
            <a:spcBef>
              <a:spcPct val="0"/>
            </a:spcBef>
            <a:spcAft>
              <a:spcPct val="35000"/>
            </a:spcAft>
          </a:pPr>
          <a:r>
            <a:rPr lang="en-US" sz="1800" kern="1200" dirty="0"/>
            <a:t>U.S. patents</a:t>
          </a:r>
        </a:p>
        <a:p>
          <a:pPr lvl="0" algn="l" defTabSz="800100">
            <a:lnSpc>
              <a:spcPct val="90000"/>
            </a:lnSpc>
            <a:spcBef>
              <a:spcPct val="0"/>
            </a:spcBef>
            <a:spcAft>
              <a:spcPct val="35000"/>
            </a:spcAft>
          </a:pPr>
          <a:r>
            <a:rPr lang="en-US" sz="1800" kern="1200" dirty="0"/>
            <a:t>Disallowed U.S. patent applications</a:t>
          </a:r>
        </a:p>
        <a:p>
          <a:pPr lvl="0" algn="l" defTabSz="800100">
            <a:lnSpc>
              <a:spcPct val="90000"/>
            </a:lnSpc>
            <a:spcBef>
              <a:spcPct val="0"/>
            </a:spcBef>
            <a:spcAft>
              <a:spcPct val="35000"/>
            </a:spcAft>
          </a:pPr>
          <a:r>
            <a:rPr lang="en-US" sz="1800" kern="1200" dirty="0"/>
            <a:t>Published peer-reviewed journal articles</a:t>
          </a:r>
        </a:p>
      </dsp:txBody>
      <dsp:txXfrm>
        <a:off x="6625649" y="0"/>
        <a:ext cx="2174274" cy="225883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 Embodiment</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tangible forms that document the details of the technology and enable its use.</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reports</a:t>
          </a:r>
        </a:p>
        <a:p>
          <a:pPr lvl="0" algn="l" defTabSz="800100">
            <a:lnSpc>
              <a:spcPct val="90000"/>
            </a:lnSpc>
            <a:spcBef>
              <a:spcPct val="0"/>
            </a:spcBef>
            <a:spcAft>
              <a:spcPct val="35000"/>
            </a:spcAft>
          </a:pPr>
          <a:r>
            <a:rPr lang="en-US" sz="1800" kern="1200" dirty="0"/>
            <a:t>Published peer-reviewed journal articles</a:t>
          </a:r>
        </a:p>
        <a:p>
          <a:pPr lvl="0" algn="l" defTabSz="800100">
            <a:lnSpc>
              <a:spcPct val="90000"/>
            </a:lnSpc>
            <a:spcBef>
              <a:spcPct val="0"/>
            </a:spcBef>
            <a:spcAft>
              <a:spcPct val="35000"/>
            </a:spcAft>
          </a:pPr>
          <a:r>
            <a:rPr lang="en-US" sz="1800" kern="1200" dirty="0"/>
            <a:t>Disallowed U.S. patent applications</a:t>
          </a:r>
        </a:p>
        <a:p>
          <a:pPr lvl="0" algn="l" defTabSz="800100">
            <a:lnSpc>
              <a:spcPct val="90000"/>
            </a:lnSpc>
            <a:spcBef>
              <a:spcPct val="0"/>
            </a:spcBef>
            <a:spcAft>
              <a:spcPct val="35000"/>
            </a:spcAft>
          </a:pPr>
          <a:r>
            <a:rPr lang="en-US" sz="1800" kern="1200" dirty="0"/>
            <a:t>Allowed U.S. patents</a:t>
          </a:r>
        </a:p>
      </dsp:txBody>
      <dsp:txXfrm>
        <a:off x="6625649" y="0"/>
        <a:ext cx="2174274" cy="225883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Institution Size</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total amount of R&amp;D expenditures in calendar year 2010 for the institution listed as the primary award recipient.</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NSF rankings by total R&amp;D expenditures</a:t>
          </a:r>
        </a:p>
      </dsp:txBody>
      <dsp:txXfrm>
        <a:off x="6625649" y="0"/>
        <a:ext cx="2174274" cy="2258836"/>
      </dsp:txXfrm>
    </dsp:sp>
  </dsp:spTree>
</dsp:drawing>
</file>

<file path=ppt/diagrams/layout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8.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DA0FC191-2DC4-4A3C-B384-0C651DCE00E9}" type="datetimeFigureOut">
              <a:rPr lang="en-US" smtClean="0"/>
              <a:t>04/16/2019</a:t>
            </a:fld>
            <a:endParaRPr lang="en-US"/>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F2A53F67-EC31-4399-91BC-4634EC46F478}" type="slidenum">
              <a:rPr lang="en-US" smtClean="0"/>
              <a:t>‹#›</a:t>
            </a:fld>
            <a:endParaRPr lang="en-US"/>
          </a:p>
        </p:txBody>
      </p:sp>
    </p:spTree>
    <p:extLst>
      <p:ext uri="{BB962C8B-B14F-4D97-AF65-F5344CB8AC3E}">
        <p14:creationId xmlns:p14="http://schemas.microsoft.com/office/powerpoint/2010/main" val="406172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0F42D459-5C80-4371-BDC6-89835A09395D}" type="datetimeFigureOut">
              <a:rPr lang="en-US" smtClean="0"/>
              <a:t>04/16/2019</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6C7EBE9-FBA5-4606-B4BF-D5A892555425}" type="slidenum">
              <a:rPr lang="en-US" smtClean="0"/>
              <a:t>‹#›</a:t>
            </a:fld>
            <a:endParaRPr lang="en-US"/>
          </a:p>
        </p:txBody>
      </p:sp>
    </p:spTree>
    <p:extLst>
      <p:ext uri="{BB962C8B-B14F-4D97-AF65-F5344CB8AC3E}">
        <p14:creationId xmlns:p14="http://schemas.microsoft.com/office/powerpoint/2010/main" val="2619493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Intuitive</a:t>
            </a:r>
            <a:r>
              <a:rPr lang="en-US" baseline="0" dirty="0"/>
              <a:t> concept.</a:t>
            </a:r>
          </a:p>
          <a:p>
            <a:r>
              <a:rPr lang="en-US" baseline="0" dirty="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Intuitive</a:t>
            </a:r>
            <a:r>
              <a:rPr lang="en-US" baseline="0" dirty="0"/>
              <a:t> concept.</a:t>
            </a:r>
          </a:p>
          <a:p>
            <a:r>
              <a:rPr lang="en-US" baseline="0" dirty="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The government</a:t>
            </a:r>
            <a:r>
              <a:rPr lang="en-US" baseline="0" dirty="0"/>
              <a:t> has decided that the issue is a societal problem that must </a:t>
            </a:r>
            <a:r>
              <a:rPr lang="en-US" baseline="0"/>
              <a:t>be addressed.</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5</a:t>
            </a:fld>
            <a:endParaRPr lang="en-US"/>
          </a:p>
        </p:txBody>
      </p:sp>
    </p:spTree>
    <p:extLst>
      <p:ext uri="{BB962C8B-B14F-4D97-AF65-F5344CB8AC3E}">
        <p14:creationId xmlns:p14="http://schemas.microsoft.com/office/powerpoint/2010/main" val="31330913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The issue</a:t>
            </a:r>
            <a:r>
              <a:rPr lang="en-US" baseline="0" dirty="0"/>
              <a:t> involves a significant amount of limited resources.</a:t>
            </a:r>
            <a:endParaRPr lang="en-US" dirty="0"/>
          </a:p>
          <a:p>
            <a:endParaRPr lang="en-US" dirty="0"/>
          </a:p>
          <a:p>
            <a:r>
              <a:rPr lang="en-US" dirty="0"/>
              <a:t>“CMS Medicare Budget Overview.” 2018. Centers for Medicare and Medicaid</a:t>
            </a:r>
            <a:r>
              <a:rPr lang="en-US" baseline="0" dirty="0"/>
              <a:t> Services. U.S. Department of Health &amp; Human Services. Retrieved from https://www.hhs.gov/about/budget/fy2018/budget-in-brief/cms/medicare/index.html.</a:t>
            </a:r>
          </a:p>
          <a:p>
            <a:endParaRPr lang="en-US" baseline="0" dirty="0"/>
          </a:p>
          <a:p>
            <a:r>
              <a:rPr lang="en-US" baseline="0" dirty="0"/>
              <a:t>US Spending. (</a:t>
            </a:r>
            <a:r>
              <a:rPr lang="en-US" baseline="0" dirty="0" err="1"/>
              <a:t>n.d.</a:t>
            </a:r>
            <a:r>
              <a:rPr lang="en-US" baseline="0" dirty="0"/>
              <a:t>) USGovernmentSpending.com. Retrieved from https://www.usgovernmentspending.com/year_spending_2018USbn_20bs2n_4041_605#usgs302</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6</a:t>
            </a:fld>
            <a:endParaRPr lang="en-US"/>
          </a:p>
        </p:txBody>
      </p:sp>
    </p:spTree>
    <p:extLst>
      <p:ext uri="{BB962C8B-B14F-4D97-AF65-F5344CB8AC3E}">
        <p14:creationId xmlns:p14="http://schemas.microsoft.com/office/powerpoint/2010/main" val="1774819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The issue has a significant impact on general societal welfare.</a:t>
            </a:r>
          </a:p>
        </p:txBody>
      </p:sp>
      <p:sp>
        <p:nvSpPr>
          <p:cNvPr id="4" name="Slide Number Placeholder 3"/>
          <p:cNvSpPr>
            <a:spLocks noGrp="1"/>
          </p:cNvSpPr>
          <p:nvPr>
            <p:ph type="sldNum" sz="quarter" idx="10"/>
          </p:nvPr>
        </p:nvSpPr>
        <p:spPr/>
        <p:txBody>
          <a:bodyPr/>
          <a:lstStyle/>
          <a:p>
            <a:fld id="{76C7EBE9-FBA5-4606-B4BF-D5A892555425}" type="slidenum">
              <a:rPr lang="en-US" smtClean="0"/>
              <a:t>7</a:t>
            </a:fld>
            <a:endParaRPr lang="en-US"/>
          </a:p>
        </p:txBody>
      </p:sp>
    </p:spTree>
    <p:extLst>
      <p:ext uri="{BB962C8B-B14F-4D97-AF65-F5344CB8AC3E}">
        <p14:creationId xmlns:p14="http://schemas.microsoft.com/office/powerpoint/2010/main" val="20557079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10</a:t>
            </a:fld>
            <a:endParaRPr lang="en-US"/>
          </a:p>
        </p:txBody>
      </p:sp>
    </p:spTree>
    <p:extLst>
      <p:ext uri="{BB962C8B-B14F-4D97-AF65-F5344CB8AC3E}">
        <p14:creationId xmlns:p14="http://schemas.microsoft.com/office/powerpoint/2010/main" val="13633396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a:t>
            </a:r>
            <a:r>
              <a:rPr lang="en-US" baseline="0" dirty="0"/>
              <a:t> frame is NSF research funding awards by the Civil, Mechanical and Manufacturing Innovation (CMMI) division from January 1, 2010 through December 31, 2010.  Source of </a:t>
            </a:r>
            <a:r>
              <a:rPr lang="en-US" baseline="0"/>
              <a:t>project abstracts.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28</a:t>
            </a:fld>
            <a:endParaRPr lang="en-US"/>
          </a:p>
        </p:txBody>
      </p:sp>
    </p:spTree>
    <p:extLst>
      <p:ext uri="{BB962C8B-B14F-4D97-AF65-F5344CB8AC3E}">
        <p14:creationId xmlns:p14="http://schemas.microsoft.com/office/powerpoint/2010/main" val="10481386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a:t>
            </a:r>
            <a:r>
              <a:rPr lang="en-US" baseline="0" dirty="0"/>
              <a:t> p</a:t>
            </a:r>
            <a:r>
              <a:rPr lang="en-US" dirty="0"/>
              <a:t>roject</a:t>
            </a:r>
            <a:r>
              <a:rPr lang="en-US" baseline="0" dirty="0"/>
              <a:t> outcomes report.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29</a:t>
            </a:fld>
            <a:endParaRPr lang="en-US"/>
          </a:p>
        </p:txBody>
      </p:sp>
    </p:spTree>
    <p:extLst>
      <p:ext uri="{BB962C8B-B14F-4D97-AF65-F5344CB8AC3E}">
        <p14:creationId xmlns:p14="http://schemas.microsoft.com/office/powerpoint/2010/main" val="322417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Identify</a:t>
            </a:r>
            <a:r>
              <a:rPr lang="en-US" baseline="0" dirty="0"/>
              <a:t> a</a:t>
            </a:r>
            <a:r>
              <a:rPr lang="en-US" dirty="0"/>
              <a:t>nnouncements of license agreements.</a:t>
            </a:r>
          </a:p>
        </p:txBody>
      </p:sp>
      <p:sp>
        <p:nvSpPr>
          <p:cNvPr id="4" name="Slide Number Placeholder 3"/>
          <p:cNvSpPr>
            <a:spLocks noGrp="1"/>
          </p:cNvSpPr>
          <p:nvPr>
            <p:ph type="sldNum" sz="quarter" idx="10"/>
          </p:nvPr>
        </p:nvSpPr>
        <p:spPr/>
        <p:txBody>
          <a:bodyPr/>
          <a:lstStyle/>
          <a:p>
            <a:fld id="{76C7EBE9-FBA5-4606-B4BF-D5A892555425}" type="slidenum">
              <a:rPr lang="en-US" smtClean="0"/>
              <a:t>30</a:t>
            </a:fld>
            <a:endParaRPr lang="en-US"/>
          </a:p>
        </p:txBody>
      </p:sp>
    </p:spTree>
    <p:extLst>
      <p:ext uri="{BB962C8B-B14F-4D97-AF65-F5344CB8AC3E}">
        <p14:creationId xmlns:p14="http://schemas.microsoft.com/office/powerpoint/2010/main" val="10109908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Identify</a:t>
            </a:r>
            <a:r>
              <a:rPr lang="en-US" baseline="0" dirty="0"/>
              <a:t> allowed patents without license agreements.</a:t>
            </a:r>
          </a:p>
          <a:p>
            <a:r>
              <a:rPr lang="en-US" baseline="0" dirty="0"/>
              <a:t>Identify disallowed patent applications with published peer-reviewed journal articles.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31</a:t>
            </a:fld>
            <a:endParaRPr lang="en-US"/>
          </a:p>
        </p:txBody>
      </p:sp>
    </p:spTree>
    <p:extLst>
      <p:ext uri="{BB962C8B-B14F-4D97-AF65-F5344CB8AC3E}">
        <p14:creationId xmlns:p14="http://schemas.microsoft.com/office/powerpoint/2010/main" val="11598938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 published peer-review</a:t>
            </a:r>
            <a:r>
              <a:rPr lang="en-US" baseline="0" dirty="0"/>
              <a:t> journal articles with no patents in prosecution or allowed patents with an associated license.</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32</a:t>
            </a:fld>
            <a:endParaRPr lang="en-US"/>
          </a:p>
        </p:txBody>
      </p:sp>
    </p:spTree>
    <p:extLst>
      <p:ext uri="{BB962C8B-B14F-4D97-AF65-F5344CB8AC3E}">
        <p14:creationId xmlns:p14="http://schemas.microsoft.com/office/powerpoint/2010/main" val="24223703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 </a:t>
            </a:r>
            <a:r>
              <a:rPr lang="en-US" baseline="0" dirty="0"/>
              <a:t>technology transfer public policy </a:t>
            </a:r>
            <a:r>
              <a:rPr lang="en-US" dirty="0"/>
              <a:t>documentation</a:t>
            </a:r>
            <a:r>
              <a:rPr lang="en-US" baseline="0" dirty="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33</a:t>
            </a:fld>
            <a:endParaRPr lang="en-US"/>
          </a:p>
        </p:txBody>
      </p:sp>
    </p:spTree>
    <p:extLst>
      <p:ext uri="{BB962C8B-B14F-4D97-AF65-F5344CB8AC3E}">
        <p14:creationId xmlns:p14="http://schemas.microsoft.com/office/powerpoint/2010/main" val="14274976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 technology transfer public</a:t>
            </a:r>
            <a:r>
              <a:rPr lang="en-US" baseline="0" dirty="0"/>
              <a:t> policy </a:t>
            </a:r>
            <a:r>
              <a:rPr lang="en-US" dirty="0"/>
              <a:t>documentation </a:t>
            </a:r>
            <a:r>
              <a:rPr lang="en-US" baseline="0" dirty="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34</a:t>
            </a:fld>
            <a:endParaRPr lang="en-US"/>
          </a:p>
        </p:txBody>
      </p:sp>
    </p:spTree>
    <p:extLst>
      <p:ext uri="{BB962C8B-B14F-4D97-AF65-F5344CB8AC3E}">
        <p14:creationId xmlns:p14="http://schemas.microsoft.com/office/powerpoint/2010/main" val="1686706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36</a:t>
            </a:fld>
            <a:endParaRPr lang="en-US"/>
          </a:p>
        </p:txBody>
      </p:sp>
    </p:spTree>
    <p:extLst>
      <p:ext uri="{BB962C8B-B14F-4D97-AF65-F5344CB8AC3E}">
        <p14:creationId xmlns:p14="http://schemas.microsoft.com/office/powerpoint/2010/main" val="30421117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monotonic relationship is a relationship that does one of the following: (1) as the value of one variable increases, so does the value of the other variable; or (2) as the value of one variable increases, the other variable value decreases.</a:t>
            </a:r>
          </a:p>
        </p:txBody>
      </p:sp>
      <p:sp>
        <p:nvSpPr>
          <p:cNvPr id="4" name="Slide Number Placeholder 3"/>
          <p:cNvSpPr>
            <a:spLocks noGrp="1"/>
          </p:cNvSpPr>
          <p:nvPr>
            <p:ph type="sldNum" sz="quarter" idx="10"/>
          </p:nvPr>
        </p:nvSpPr>
        <p:spPr/>
        <p:txBody>
          <a:bodyPr/>
          <a:lstStyle/>
          <a:p>
            <a:fld id="{76C7EBE9-FBA5-4606-B4BF-D5A892555425}" type="slidenum">
              <a:rPr lang="en-US" smtClean="0"/>
              <a:t>37</a:t>
            </a:fld>
            <a:endParaRPr lang="en-US"/>
          </a:p>
        </p:txBody>
      </p:sp>
    </p:spTree>
    <p:extLst>
      <p:ext uri="{BB962C8B-B14F-4D97-AF65-F5344CB8AC3E}">
        <p14:creationId xmlns:p14="http://schemas.microsoft.com/office/powerpoint/2010/main" val="10769529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Establish</a:t>
            </a:r>
            <a:r>
              <a:rPr lang="en-US" baseline="0" dirty="0"/>
              <a:t> reference points for each indicator at 20 year increments from 1900 to 2000 based on publicly available data.</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39</a:t>
            </a:fld>
            <a:endParaRPr lang="en-US"/>
          </a:p>
        </p:txBody>
      </p:sp>
    </p:spTree>
    <p:extLst>
      <p:ext uri="{BB962C8B-B14F-4D97-AF65-F5344CB8AC3E}">
        <p14:creationId xmlns:p14="http://schemas.microsoft.com/office/powerpoint/2010/main" val="19890033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of at least 30 participants.</a:t>
            </a:r>
          </a:p>
          <a:p>
            <a:r>
              <a:rPr lang="en-US" dirty="0"/>
              <a:t>Panel members drawn from among university technology transfer professionals, university research administrators, university faculty, industry research and development executives, industry product managers, experienced entrepreneurs, and venture capitalists. </a:t>
            </a:r>
          </a:p>
        </p:txBody>
      </p:sp>
      <p:sp>
        <p:nvSpPr>
          <p:cNvPr id="4" name="Slide Number Placeholder 3"/>
          <p:cNvSpPr>
            <a:spLocks noGrp="1"/>
          </p:cNvSpPr>
          <p:nvPr>
            <p:ph type="sldNum" sz="quarter" idx="10"/>
          </p:nvPr>
        </p:nvSpPr>
        <p:spPr/>
        <p:txBody>
          <a:bodyPr/>
          <a:lstStyle/>
          <a:p>
            <a:fld id="{76C7EBE9-FBA5-4606-B4BF-D5A892555425}" type="slidenum">
              <a:rPr lang="en-US" smtClean="0"/>
              <a:t>40</a:t>
            </a:fld>
            <a:endParaRPr lang="en-US"/>
          </a:p>
        </p:txBody>
      </p:sp>
    </p:spTree>
    <p:extLst>
      <p:ext uri="{BB962C8B-B14F-4D97-AF65-F5344CB8AC3E}">
        <p14:creationId xmlns:p14="http://schemas.microsoft.com/office/powerpoint/2010/main" val="17691361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75355"/>
            <a:ext cx="7772400" cy="1225021"/>
          </a:xfrm>
        </p:spPr>
        <p:txBody>
          <a:bodyPr/>
          <a:lstStyle/>
          <a:p>
            <a:r>
              <a:rPr lang="en-US"/>
              <a:t>Click to edit Master title style</a:t>
            </a:r>
          </a:p>
        </p:txBody>
      </p:sp>
      <p:sp>
        <p:nvSpPr>
          <p:cNvPr id="3" name="Subtitle 2"/>
          <p:cNvSpPr>
            <a:spLocks noGrp="1"/>
          </p:cNvSpPr>
          <p:nvPr>
            <p:ph type="subTitle" idx="1"/>
          </p:nvPr>
        </p:nvSpPr>
        <p:spPr>
          <a:xfrm>
            <a:off x="1371600" y="3238500"/>
            <a:ext cx="6400800" cy="14605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704911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992693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672417"/>
            <a:ext cx="7772400" cy="1135063"/>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422261"/>
            <a:ext cx="7772400" cy="1250156"/>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734172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C1FCE38-2186-4D26-B7FB-3342183A2F51}" type="datetimeFigureOut">
              <a:rPr lang="en-US" smtClean="0"/>
              <a:t>04/16/2019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54703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865"/>
            <a:ext cx="8229600" cy="9525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279261"/>
            <a:ext cx="4040188"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812396"/>
            <a:ext cx="4040188"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279261"/>
            <a:ext cx="4041775"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6" y="1812396"/>
            <a:ext cx="4041775"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C1FCE38-2186-4D26-B7FB-3342183A2F51}" type="datetimeFigureOut">
              <a:rPr lang="en-US" smtClean="0"/>
              <a:t>04/16/2019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0379296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C1FCE38-2186-4D26-B7FB-3342183A2F51}" type="datetimeFigureOut">
              <a:rPr lang="en-US" smtClean="0"/>
              <a:t>04/16/2019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2165485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C1FCE38-2186-4D26-B7FB-3342183A2F51}" type="datetimeFigureOut">
              <a:rPr lang="en-US" smtClean="0"/>
              <a:t>04/16/2019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1539590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27542"/>
            <a:ext cx="3008313" cy="968375"/>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27542"/>
            <a:ext cx="5111750" cy="487759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195917"/>
            <a:ext cx="3008313" cy="390921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04/16/2019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9723906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000500"/>
            <a:ext cx="5486400" cy="472282"/>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510646"/>
            <a:ext cx="5486400" cy="3429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472782"/>
            <a:ext cx="5486400" cy="67071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04/16/2019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0306840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188587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90500"/>
            <a:ext cx="2057400" cy="4064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90500"/>
            <a:ext cx="6019800" cy="4064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120787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28865"/>
            <a:ext cx="8229600" cy="9525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333500"/>
            <a:ext cx="8229600" cy="37716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5296959"/>
            <a:ext cx="2133600" cy="304271"/>
          </a:xfrm>
          <a:prstGeom prst="rect">
            <a:avLst/>
          </a:prstGeom>
        </p:spPr>
        <p:txBody>
          <a:bodyPr vert="horz" lIns="91440" tIns="45720" rIns="91440" bIns="45720" rtlCol="0" anchor="ctr"/>
          <a:lstStyle>
            <a:lvl1pPr algn="l">
              <a:defRPr sz="1200">
                <a:solidFill>
                  <a:schemeClr val="tx1">
                    <a:tint val="75000"/>
                  </a:schemeClr>
                </a:solidFill>
              </a:defRPr>
            </a:lvl1pPr>
          </a:lstStyle>
          <a:p>
            <a:fld id="{FC1FCE38-2186-4D26-B7FB-3342183A2F51}" type="datetimeFigureOut">
              <a:rPr lang="en-US" smtClean="0"/>
              <a:t>04/16/2019</a:t>
            </a:fld>
            <a:endParaRPr lang="en-US"/>
          </a:p>
        </p:txBody>
      </p:sp>
      <p:sp>
        <p:nvSpPr>
          <p:cNvPr id="5" name="Footer Placeholder 4"/>
          <p:cNvSpPr>
            <a:spLocks noGrp="1"/>
          </p:cNvSpPr>
          <p:nvPr>
            <p:ph type="ftr" sz="quarter" idx="3"/>
          </p:nvPr>
        </p:nvSpPr>
        <p:spPr>
          <a:xfrm>
            <a:off x="3124200" y="5296959"/>
            <a:ext cx="2895600" cy="304271"/>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5296959"/>
            <a:ext cx="2133600" cy="304271"/>
          </a:xfrm>
          <a:prstGeom prst="rect">
            <a:avLst/>
          </a:prstGeom>
        </p:spPr>
        <p:txBody>
          <a:bodyPr vert="horz" lIns="91440" tIns="45720" rIns="91440" bIns="45720" rtlCol="0" anchor="ctr"/>
          <a:lstStyle>
            <a:lvl1pPr algn="r">
              <a:defRPr sz="1200">
                <a:solidFill>
                  <a:schemeClr val="tx1">
                    <a:tint val="75000"/>
                  </a:schemeClr>
                </a:solidFill>
              </a:defRPr>
            </a:lvl1pPr>
          </a:lstStyle>
          <a:p>
            <a:fld id="{8DF165FE-5E7F-4CA1-B535-35D8C888C589}" type="slidenum">
              <a:rPr lang="en-US" smtClean="0"/>
              <a:t>‹#›</a:t>
            </a:fld>
            <a:endParaRPr lang="en-US"/>
          </a:p>
        </p:txBody>
      </p:sp>
    </p:spTree>
    <p:extLst>
      <p:ext uri="{BB962C8B-B14F-4D97-AF65-F5344CB8AC3E}">
        <p14:creationId xmlns:p14="http://schemas.microsoft.com/office/powerpoint/2010/main" val="26623829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vmlDrawing" Target="../drawings/vmlDrawing1.vml"/><Relationship Id="rId5" Type="http://schemas.openxmlformats.org/officeDocument/2006/relationships/image" Target="../media/image3.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7.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8" Type="http://schemas.openxmlformats.org/officeDocument/2006/relationships/diagramData" Target="../diagrams/data4.xml"/><Relationship Id="rId3" Type="http://schemas.openxmlformats.org/officeDocument/2006/relationships/diagramData" Target="../diagrams/data3.xml"/><Relationship Id="rId7" Type="http://schemas.microsoft.com/office/2007/relationships/diagramDrawing" Target="../diagrams/drawing3.xml"/><Relationship Id="rId12" Type="http://schemas.microsoft.com/office/2007/relationships/diagramDrawing" Target="../diagrams/drawing4.xml"/><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diagramColors" Target="../diagrams/colors3.xml"/><Relationship Id="rId11" Type="http://schemas.openxmlformats.org/officeDocument/2006/relationships/diagramColors" Target="../diagrams/colors4.xml"/><Relationship Id="rId5" Type="http://schemas.openxmlformats.org/officeDocument/2006/relationships/diagramQuickStyle" Target="../diagrams/quickStyle3.xml"/><Relationship Id="rId10" Type="http://schemas.openxmlformats.org/officeDocument/2006/relationships/diagramQuickStyle" Target="../diagrams/quickStyle4.xml"/><Relationship Id="rId4" Type="http://schemas.openxmlformats.org/officeDocument/2006/relationships/diagramLayout" Target="../diagrams/layout3.xml"/><Relationship Id="rId9" Type="http://schemas.openxmlformats.org/officeDocument/2006/relationships/diagramLayout" Target="../diagrams/layout4.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7.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7.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8" Type="http://schemas.openxmlformats.org/officeDocument/2006/relationships/diagramLayout" Target="../diagrams/layout9.xml"/><Relationship Id="rId3" Type="http://schemas.openxmlformats.org/officeDocument/2006/relationships/diagramLayout" Target="../diagrams/layout8.xml"/><Relationship Id="rId7" Type="http://schemas.openxmlformats.org/officeDocument/2006/relationships/diagramData" Target="../diagrams/data9.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11" Type="http://schemas.microsoft.com/office/2007/relationships/diagramDrawing" Target="../diagrams/drawing9.xml"/><Relationship Id="rId5" Type="http://schemas.openxmlformats.org/officeDocument/2006/relationships/diagramColors" Target="../diagrams/colors8.xml"/><Relationship Id="rId10" Type="http://schemas.openxmlformats.org/officeDocument/2006/relationships/diagramColors" Target="../diagrams/colors9.xml"/><Relationship Id="rId4" Type="http://schemas.openxmlformats.org/officeDocument/2006/relationships/diagramQuickStyle" Target="../diagrams/quickStyle8.xml"/><Relationship Id="rId9" Type="http://schemas.openxmlformats.org/officeDocument/2006/relationships/diagramQuickStyle" Target="../diagrams/quickStyle9.xml"/></Relationships>
</file>

<file path=ppt/slides/_rels/slide21.xml.rels><?xml version="1.0" encoding="UTF-8" standalone="yes"?>
<Relationships xmlns="http://schemas.openxmlformats.org/package/2006/relationships"><Relationship Id="rId8" Type="http://schemas.openxmlformats.org/officeDocument/2006/relationships/diagramLayout" Target="../diagrams/layout11.xml"/><Relationship Id="rId3" Type="http://schemas.openxmlformats.org/officeDocument/2006/relationships/diagramLayout" Target="../diagrams/layout10.xml"/><Relationship Id="rId7" Type="http://schemas.openxmlformats.org/officeDocument/2006/relationships/diagramData" Target="../diagrams/data11.xml"/><Relationship Id="rId2" Type="http://schemas.openxmlformats.org/officeDocument/2006/relationships/diagramData" Target="../diagrams/data10.xml"/><Relationship Id="rId1" Type="http://schemas.openxmlformats.org/officeDocument/2006/relationships/slideLayout" Target="../slideLayouts/slideLayout7.xml"/><Relationship Id="rId6" Type="http://schemas.microsoft.com/office/2007/relationships/diagramDrawing" Target="../diagrams/drawing10.xml"/><Relationship Id="rId11" Type="http://schemas.microsoft.com/office/2007/relationships/diagramDrawing" Target="../diagrams/drawing11.xml"/><Relationship Id="rId5" Type="http://schemas.openxmlformats.org/officeDocument/2006/relationships/diagramColors" Target="../diagrams/colors10.xml"/><Relationship Id="rId10" Type="http://schemas.openxmlformats.org/officeDocument/2006/relationships/diagramColors" Target="../diagrams/colors11.xml"/><Relationship Id="rId4" Type="http://schemas.openxmlformats.org/officeDocument/2006/relationships/diagramQuickStyle" Target="../diagrams/quickStyle10.xml"/><Relationship Id="rId9" Type="http://schemas.openxmlformats.org/officeDocument/2006/relationships/diagramQuickStyle" Target="../diagrams/quickStyle11.xml"/></Relationships>
</file>

<file path=ppt/slides/_rels/slide22.xml.rels><?xml version="1.0" encoding="UTF-8" standalone="yes"?>
<Relationships xmlns="http://schemas.openxmlformats.org/package/2006/relationships"><Relationship Id="rId8" Type="http://schemas.openxmlformats.org/officeDocument/2006/relationships/diagramLayout" Target="../diagrams/layout13.xml"/><Relationship Id="rId3" Type="http://schemas.openxmlformats.org/officeDocument/2006/relationships/diagramLayout" Target="../diagrams/layout12.xml"/><Relationship Id="rId7" Type="http://schemas.openxmlformats.org/officeDocument/2006/relationships/diagramData" Target="../diagrams/data13.xml"/><Relationship Id="rId2" Type="http://schemas.openxmlformats.org/officeDocument/2006/relationships/diagramData" Target="../diagrams/data12.xml"/><Relationship Id="rId1" Type="http://schemas.openxmlformats.org/officeDocument/2006/relationships/slideLayout" Target="../slideLayouts/slideLayout7.xml"/><Relationship Id="rId6" Type="http://schemas.microsoft.com/office/2007/relationships/diagramDrawing" Target="../diagrams/drawing12.xml"/><Relationship Id="rId11" Type="http://schemas.microsoft.com/office/2007/relationships/diagramDrawing" Target="../diagrams/drawing13.xml"/><Relationship Id="rId5" Type="http://schemas.openxmlformats.org/officeDocument/2006/relationships/diagramColors" Target="../diagrams/colors12.xml"/><Relationship Id="rId10" Type="http://schemas.openxmlformats.org/officeDocument/2006/relationships/diagramColors" Target="../diagrams/colors13.xml"/><Relationship Id="rId4" Type="http://schemas.openxmlformats.org/officeDocument/2006/relationships/diagramQuickStyle" Target="../diagrams/quickStyle12.xml"/><Relationship Id="rId9" Type="http://schemas.openxmlformats.org/officeDocument/2006/relationships/diagramQuickStyle" Target="../diagrams/quickStyle13.xml"/></Relationships>
</file>

<file path=ppt/slides/_rels/slide23.xml.rels><?xml version="1.0" encoding="UTF-8" standalone="yes"?>
<Relationships xmlns="http://schemas.openxmlformats.org/package/2006/relationships"><Relationship Id="rId8" Type="http://schemas.openxmlformats.org/officeDocument/2006/relationships/diagramLayout" Target="../diagrams/layout15.xml"/><Relationship Id="rId3" Type="http://schemas.openxmlformats.org/officeDocument/2006/relationships/diagramLayout" Target="../diagrams/layout14.xml"/><Relationship Id="rId7" Type="http://schemas.openxmlformats.org/officeDocument/2006/relationships/diagramData" Target="../diagrams/data15.xml"/><Relationship Id="rId2" Type="http://schemas.openxmlformats.org/officeDocument/2006/relationships/diagramData" Target="../diagrams/data14.xml"/><Relationship Id="rId1" Type="http://schemas.openxmlformats.org/officeDocument/2006/relationships/slideLayout" Target="../slideLayouts/slideLayout7.xml"/><Relationship Id="rId6" Type="http://schemas.microsoft.com/office/2007/relationships/diagramDrawing" Target="../diagrams/drawing14.xml"/><Relationship Id="rId11" Type="http://schemas.microsoft.com/office/2007/relationships/diagramDrawing" Target="../diagrams/drawing15.xml"/><Relationship Id="rId5" Type="http://schemas.openxmlformats.org/officeDocument/2006/relationships/diagramColors" Target="../diagrams/colors14.xml"/><Relationship Id="rId10" Type="http://schemas.openxmlformats.org/officeDocument/2006/relationships/diagramColors" Target="../diagrams/colors15.xml"/><Relationship Id="rId4" Type="http://schemas.openxmlformats.org/officeDocument/2006/relationships/diagramQuickStyle" Target="../diagrams/quickStyle14.xml"/><Relationship Id="rId9" Type="http://schemas.openxmlformats.org/officeDocument/2006/relationships/diagramQuickStyle" Target="../diagrams/quickStyl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0.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1.png"/></Relationships>
</file>

<file path=ppt/slides/_rels/slide3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openxmlformats.org/officeDocument/2006/relationships/slideLayout" Target="../slideLayouts/slideLayout7.xml"/><Relationship Id="rId1" Type="http://schemas.openxmlformats.org/officeDocument/2006/relationships/vmlDrawing" Target="../drawings/vmlDrawing2.vml"/><Relationship Id="rId4" Type="http://schemas.openxmlformats.org/officeDocument/2006/relationships/image" Target="../media/image18.emf"/></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1463040"/>
            <a:ext cx="9144000" cy="954107"/>
          </a:xfrm>
          <a:prstGeom prst="rect">
            <a:avLst/>
          </a:prstGeom>
          <a:noFill/>
        </p:spPr>
        <p:txBody>
          <a:bodyPr wrap="square" rtlCol="0">
            <a:spAutoFit/>
          </a:bodyPr>
          <a:lstStyle/>
          <a:p>
            <a:pPr algn="ctr"/>
            <a:r>
              <a:rPr lang="en-US" sz="2800" b="1" dirty="0"/>
              <a:t>Considering Development Stage and Geography in Technology Transfer Public Policy</a:t>
            </a:r>
          </a:p>
        </p:txBody>
      </p:sp>
      <p:sp>
        <p:nvSpPr>
          <p:cNvPr id="5" name="TextBox 4"/>
          <p:cNvSpPr txBox="1"/>
          <p:nvPr/>
        </p:nvSpPr>
        <p:spPr>
          <a:xfrm>
            <a:off x="0" y="2743200"/>
            <a:ext cx="9144000" cy="923330"/>
          </a:xfrm>
          <a:prstGeom prst="rect">
            <a:avLst/>
          </a:prstGeom>
          <a:noFill/>
        </p:spPr>
        <p:txBody>
          <a:bodyPr wrap="square" rtlCol="0">
            <a:spAutoFit/>
          </a:bodyPr>
          <a:lstStyle/>
          <a:p>
            <a:pPr algn="ctr"/>
            <a:r>
              <a:rPr lang="en-US" dirty="0"/>
              <a:t>Malcolm S. Townes</a:t>
            </a:r>
          </a:p>
          <a:p>
            <a:pPr algn="ctr"/>
            <a:endParaRPr lang="en-US" dirty="0"/>
          </a:p>
          <a:p>
            <a:pPr algn="ctr"/>
            <a:r>
              <a:rPr lang="en-US" dirty="0"/>
              <a:t>Saint Louis University</a:t>
            </a:r>
          </a:p>
        </p:txBody>
      </p:sp>
    </p:spTree>
    <p:extLst>
      <p:ext uri="{BB962C8B-B14F-4D97-AF65-F5344CB8AC3E}">
        <p14:creationId xmlns:p14="http://schemas.microsoft.com/office/powerpoint/2010/main" val="40712714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Agenda</a:t>
            </a:r>
          </a:p>
        </p:txBody>
      </p:sp>
      <p:graphicFrame>
        <p:nvGraphicFramePr>
          <p:cNvPr id="2" name="Diagram 1"/>
          <p:cNvGraphicFramePr/>
          <p:nvPr>
            <p:extLst>
              <p:ext uri="{D42A27DB-BD31-4B8C-83A1-F6EECF244321}">
                <p14:modId xmlns:p14="http://schemas.microsoft.com/office/powerpoint/2010/main" val="1220896815"/>
              </p:ext>
            </p:extLst>
          </p:nvPr>
        </p:nvGraphicFramePr>
        <p:xfrm>
          <a:off x="228600" y="825479"/>
          <a:ext cx="8686800" cy="457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950909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Defining Public Policy</a:t>
            </a:r>
          </a:p>
        </p:txBody>
      </p:sp>
      <p:sp>
        <p:nvSpPr>
          <p:cNvPr id="4" name="TextBox 3"/>
          <p:cNvSpPr txBox="1"/>
          <p:nvPr/>
        </p:nvSpPr>
        <p:spPr>
          <a:xfrm>
            <a:off x="228600" y="1020726"/>
            <a:ext cx="8686800" cy="2308324"/>
          </a:xfrm>
          <a:prstGeom prst="rect">
            <a:avLst/>
          </a:prstGeom>
          <a:noFill/>
        </p:spPr>
        <p:txBody>
          <a:bodyPr wrap="square" rtlCol="0">
            <a:spAutoFit/>
          </a:bodyPr>
          <a:lstStyle/>
          <a:p>
            <a:pPr lvl="0"/>
            <a:r>
              <a:rPr lang="en-US" dirty="0">
                <a:solidFill>
                  <a:prstClr val="black"/>
                </a:solidFill>
              </a:rPr>
              <a:t>“whatever governments choose to do or not do” (Dye, 1987).</a:t>
            </a:r>
          </a:p>
          <a:p>
            <a:endParaRPr lang="en-US" dirty="0"/>
          </a:p>
          <a:p>
            <a:r>
              <a:rPr lang="en-US" dirty="0"/>
              <a:t>“the sum total of government action, from signals of intent to the final outcomes” </a:t>
            </a:r>
            <a:br>
              <a:rPr lang="en-US" dirty="0"/>
            </a:br>
            <a:r>
              <a:rPr lang="en-US" dirty="0"/>
              <a:t>(</a:t>
            </a:r>
            <a:r>
              <a:rPr lang="en-US" dirty="0" err="1"/>
              <a:t>Cairney</a:t>
            </a:r>
            <a:r>
              <a:rPr lang="en-US" dirty="0"/>
              <a:t>, 2016).</a:t>
            </a:r>
          </a:p>
          <a:p>
            <a:endParaRPr lang="en-US" dirty="0"/>
          </a:p>
          <a:p>
            <a:pPr lvl="0"/>
            <a:r>
              <a:rPr lang="en-US" dirty="0">
                <a:solidFill>
                  <a:prstClr val="black"/>
                </a:solidFill>
              </a:rPr>
              <a:t>“the actions, objectives, and pronouncements of governments on particular matters, the steps they take (or fail to take) to implement them, and the explanations they give for what happens (or does not happen)” (Wilson, 2006).</a:t>
            </a:r>
          </a:p>
        </p:txBody>
      </p:sp>
    </p:spTree>
    <p:extLst>
      <p:ext uri="{BB962C8B-B14F-4D97-AF65-F5344CB8AC3E}">
        <p14:creationId xmlns:p14="http://schemas.microsoft.com/office/powerpoint/2010/main" val="29750136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Significance and Importance</a:t>
            </a:r>
          </a:p>
        </p:txBody>
      </p:sp>
    </p:spTree>
    <p:extLst>
      <p:ext uri="{BB962C8B-B14F-4D97-AF65-F5344CB8AC3E}">
        <p14:creationId xmlns:p14="http://schemas.microsoft.com/office/powerpoint/2010/main" val="10532295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38637" y="25758"/>
            <a:ext cx="4421810" cy="5669280"/>
            <a:chOff x="38637" y="25758"/>
            <a:chExt cx="4421810" cy="5669280"/>
          </a:xfrm>
        </p:grpSpPr>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37" y="25758"/>
              <a:ext cx="4421810" cy="56692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808602" y="3264905"/>
              <a:ext cx="128016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640357" y="3577829"/>
              <a:ext cx="1459106"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640357" y="3669522"/>
              <a:ext cx="449608"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1431951" y="3484186"/>
              <a:ext cx="667512" cy="9364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46457" y="4074565"/>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46457" y="3972152"/>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1028839" y="3869739"/>
              <a:ext cx="1078992"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640357" y="3353036"/>
              <a:ext cx="54864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37947" y="1743384"/>
              <a:ext cx="1645920" cy="663317"/>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p:cNvGrpSpPr/>
          <p:nvPr/>
        </p:nvGrpSpPr>
        <p:grpSpPr>
          <a:xfrm>
            <a:off x="9465166" y="4014835"/>
            <a:ext cx="4591976" cy="1516858"/>
            <a:chOff x="4520821" y="2249757"/>
            <a:chExt cx="4591976" cy="1516858"/>
          </a:xfrm>
        </p:grpSpPr>
        <p:sp>
          <p:nvSpPr>
            <p:cNvPr id="13" name="TextBox 12"/>
            <p:cNvSpPr txBox="1"/>
            <p:nvPr/>
          </p:nvSpPr>
          <p:spPr>
            <a:xfrm>
              <a:off x="4776717" y="2251882"/>
              <a:ext cx="4336080" cy="1200329"/>
            </a:xfrm>
            <a:prstGeom prst="rect">
              <a:avLst/>
            </a:prstGeom>
            <a:noFill/>
          </p:spPr>
          <p:txBody>
            <a:bodyPr wrap="square" rtlCol="0">
              <a:spAutoFit/>
            </a:bodyPr>
            <a:lstStyle/>
            <a:p>
              <a:r>
                <a:rPr lang="en-US" sz="2400" dirty="0"/>
                <a:t>…prior to 1980, only 5 percent of government-owned patents had ever been used by industry.</a:t>
              </a:r>
            </a:p>
          </p:txBody>
        </p:sp>
        <p:sp>
          <p:nvSpPr>
            <p:cNvPr id="15" name="TextBox 14"/>
            <p:cNvSpPr txBox="1"/>
            <p:nvPr/>
          </p:nvSpPr>
          <p:spPr>
            <a:xfrm>
              <a:off x="5008729" y="3458838"/>
              <a:ext cx="3998795" cy="307777"/>
            </a:xfrm>
            <a:prstGeom prst="rect">
              <a:avLst/>
            </a:prstGeom>
            <a:noFill/>
          </p:spPr>
          <p:txBody>
            <a:bodyPr wrap="square" rtlCol="0">
              <a:spAutoFit/>
            </a:bodyPr>
            <a:lstStyle/>
            <a:p>
              <a:pPr algn="r"/>
              <a:r>
                <a:rPr lang="en-US" sz="1400" dirty="0"/>
                <a:t>Schact  (2012) as cited in Tseng &amp; </a:t>
              </a:r>
              <a:r>
                <a:rPr lang="en-US" sz="1400" dirty="0" err="1"/>
                <a:t>Raudensky</a:t>
              </a:r>
              <a:r>
                <a:rPr lang="en-US" sz="1400" dirty="0"/>
                <a:t>, 2014</a:t>
              </a:r>
            </a:p>
          </p:txBody>
        </p:sp>
        <p:pic>
          <p:nvPicPr>
            <p:cNvPr id="5122"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20821" y="2249757"/>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H="1" flipV="1">
              <a:off x="8368996" y="3012559"/>
              <a:ext cx="274320" cy="274320"/>
            </a:xfrm>
            <a:prstGeom prst="rect">
              <a:avLst/>
            </a:prstGeom>
            <a:noFill/>
            <a:extLst>
              <a:ext uri="{909E8E84-426E-40DD-AFC4-6F175D3DCCD1}">
                <a14:hiddenFill xmlns:a14="http://schemas.microsoft.com/office/drawing/2010/main">
                  <a:solidFill>
                    <a:srgbClr val="FFFFFF"/>
                  </a:solidFill>
                </a14:hiddenFill>
              </a:ext>
            </a:extLst>
          </p:spPr>
        </p:pic>
      </p:grpSp>
      <p:sp>
        <p:nvSpPr>
          <p:cNvPr id="16" name="Rectangular Callout 15"/>
          <p:cNvSpPr/>
          <p:nvPr/>
        </p:nvSpPr>
        <p:spPr>
          <a:xfrm>
            <a:off x="4699443" y="63772"/>
            <a:ext cx="4389120" cy="2233077"/>
          </a:xfrm>
          <a:prstGeom prst="wedgeRectCallout">
            <a:avLst>
              <a:gd name="adj1" fmla="val -107179"/>
              <a:gd name="adj2" fmla="val 3964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For America to maintain its position as the leader in global innovation, bring products to market more quickly, grow the economy, and maintain a strong national security innovation base, it is essential to optimize technology transfer and support programs to increase the return on investment (ROI) from federally funded R&amp;D.</a:t>
            </a:r>
          </a:p>
        </p:txBody>
      </p:sp>
      <p:sp>
        <p:nvSpPr>
          <p:cNvPr id="18" name="Rectangular Callout 17"/>
          <p:cNvSpPr/>
          <p:nvPr/>
        </p:nvSpPr>
        <p:spPr>
          <a:xfrm>
            <a:off x="4688958" y="2434843"/>
            <a:ext cx="4389120" cy="640080"/>
          </a:xfrm>
          <a:prstGeom prst="wedgeRectCallout">
            <a:avLst>
              <a:gd name="adj1" fmla="val -107764"/>
              <a:gd name="adj2" fmla="val 8471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…increasing private sector investment in</a:t>
            </a:r>
          </a:p>
          <a:p>
            <a:r>
              <a:rPr lang="en-US" dirty="0"/>
              <a:t>later-stage R&amp;D…</a:t>
            </a:r>
          </a:p>
        </p:txBody>
      </p:sp>
      <p:sp>
        <p:nvSpPr>
          <p:cNvPr id="21" name="Rectangular Callout 20"/>
          <p:cNvSpPr/>
          <p:nvPr/>
        </p:nvSpPr>
        <p:spPr>
          <a:xfrm>
            <a:off x="4699443" y="3310981"/>
            <a:ext cx="4389120" cy="640080"/>
          </a:xfrm>
          <a:prstGeom prst="wedgeRectCallout">
            <a:avLst>
              <a:gd name="adj1" fmla="val -107764"/>
              <a:gd name="adj2" fmla="val -903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…more effective partnering models and technology transfer mechanisms…</a:t>
            </a:r>
          </a:p>
        </p:txBody>
      </p:sp>
      <p:sp>
        <p:nvSpPr>
          <p:cNvPr id="22" name="Rectangular Callout 21"/>
          <p:cNvSpPr/>
          <p:nvPr/>
        </p:nvSpPr>
        <p:spPr>
          <a:xfrm>
            <a:off x="4688958" y="4289154"/>
            <a:ext cx="4389120" cy="822960"/>
          </a:xfrm>
          <a:prstGeom prst="wedgeRectCallout">
            <a:avLst>
              <a:gd name="adj1" fmla="val -108006"/>
              <a:gd name="adj2" fmla="val -7651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…improving the methods for evaluating</a:t>
            </a:r>
          </a:p>
          <a:p>
            <a:r>
              <a:rPr lang="en-US" dirty="0"/>
              <a:t>the ROI and economic and national</a:t>
            </a:r>
          </a:p>
          <a:p>
            <a:r>
              <a:rPr lang="en-US" dirty="0"/>
              <a:t>security impacts of federally funded R&amp;D…</a:t>
            </a:r>
          </a:p>
        </p:txBody>
      </p:sp>
      <p:sp>
        <p:nvSpPr>
          <p:cNvPr id="19" name="TextBox 18"/>
          <p:cNvSpPr txBox="1"/>
          <p:nvPr/>
        </p:nvSpPr>
        <p:spPr>
          <a:xfrm>
            <a:off x="4699443" y="5251509"/>
            <a:ext cx="3411404" cy="338554"/>
          </a:xfrm>
          <a:prstGeom prst="rect">
            <a:avLst/>
          </a:prstGeom>
          <a:noFill/>
        </p:spPr>
        <p:txBody>
          <a:bodyPr wrap="square" rtlCol="0">
            <a:spAutoFit/>
          </a:bodyPr>
          <a:lstStyle/>
          <a:p>
            <a:r>
              <a:rPr lang="en-US" sz="1600" dirty="0"/>
              <a:t>Source: OMB, 2018.</a:t>
            </a:r>
          </a:p>
        </p:txBody>
      </p:sp>
    </p:spTree>
    <p:extLst>
      <p:ext uri="{BB962C8B-B14F-4D97-AF65-F5344CB8AC3E}">
        <p14:creationId xmlns:p14="http://schemas.microsoft.com/office/powerpoint/2010/main" val="3667946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5204055"/>
            <a:ext cx="9144000" cy="338554"/>
          </a:xfrm>
          <a:prstGeom prst="rect">
            <a:avLst/>
          </a:prstGeom>
          <a:noFill/>
        </p:spPr>
        <p:txBody>
          <a:bodyPr wrap="square" rtlCol="0">
            <a:spAutoFit/>
          </a:bodyPr>
          <a:lstStyle/>
          <a:p>
            <a:pPr marL="457200" lvl="0" indent="-457200">
              <a:spcAft>
                <a:spcPts val="600"/>
              </a:spcAft>
            </a:pPr>
            <a:r>
              <a:rPr lang="en-US" sz="1600" dirty="0">
                <a:solidFill>
                  <a:prstClr val="black"/>
                </a:solidFill>
              </a:rPr>
              <a:t>Source: “CMS Medicare Budget Overview,” 2018. ; “US Spending”, </a:t>
            </a:r>
            <a:r>
              <a:rPr lang="en-US" sz="1600" dirty="0" err="1">
                <a:solidFill>
                  <a:prstClr val="black"/>
                </a:solidFill>
              </a:rPr>
              <a:t>nd</a:t>
            </a:r>
            <a:r>
              <a:rPr lang="en-US" sz="1600" dirty="0">
                <a:solidFill>
                  <a:prstClr val="black"/>
                </a:solidFill>
              </a:rPr>
              <a:t>. </a:t>
            </a:r>
          </a:p>
        </p:txBody>
      </p:sp>
      <p:graphicFrame>
        <p:nvGraphicFramePr>
          <p:cNvPr id="4" name="Object 3"/>
          <p:cNvGraphicFramePr>
            <a:graphicFrameLocks noChangeAspect="1"/>
          </p:cNvGraphicFramePr>
          <p:nvPr>
            <p:extLst>
              <p:ext uri="{D42A27DB-BD31-4B8C-83A1-F6EECF244321}">
                <p14:modId xmlns:p14="http://schemas.microsoft.com/office/powerpoint/2010/main" val="616891978"/>
              </p:ext>
            </p:extLst>
          </p:nvPr>
        </p:nvGraphicFramePr>
        <p:xfrm>
          <a:off x="228600" y="94998"/>
          <a:ext cx="8686800" cy="5044696"/>
        </p:xfrm>
        <a:graphic>
          <a:graphicData uri="http://schemas.openxmlformats.org/presentationml/2006/ole">
            <mc:AlternateContent xmlns:mc="http://schemas.openxmlformats.org/markup-compatibility/2006">
              <mc:Choice xmlns:v="urn:schemas-microsoft-com:vml" Requires="v">
                <p:oleObj spid="_x0000_s3460" name="Worksheet" r:id="rId4" imgW="7038854" imgH="4086180" progId="Excel.Sheet.8">
                  <p:embed followColorScheme="full"/>
                </p:oleObj>
              </mc:Choice>
              <mc:Fallback>
                <p:oleObj name="Worksheet" r:id="rId4" imgW="7038854" imgH="4086180" progId="Excel.Sheet.8">
                  <p:embed followColorScheme="full"/>
                  <p:pic>
                    <p:nvPicPr>
                      <p:cNvPr id="0" name=""/>
                      <p:cNvPicPr/>
                      <p:nvPr/>
                    </p:nvPicPr>
                    <p:blipFill>
                      <a:blip r:embed="rId5"/>
                      <a:stretch>
                        <a:fillRect/>
                      </a:stretch>
                    </p:blipFill>
                    <p:spPr>
                      <a:xfrm>
                        <a:off x="228600" y="94998"/>
                        <a:ext cx="8686800" cy="5044696"/>
                      </a:xfrm>
                      <a:prstGeom prst="rect">
                        <a:avLst/>
                      </a:prstGeom>
                    </p:spPr>
                  </p:pic>
                </p:oleObj>
              </mc:Fallback>
            </mc:AlternateContent>
          </a:graphicData>
        </a:graphic>
      </p:graphicFrame>
    </p:spTree>
    <p:extLst>
      <p:ext uri="{BB962C8B-B14F-4D97-AF65-F5344CB8AC3E}">
        <p14:creationId xmlns:p14="http://schemas.microsoft.com/office/powerpoint/2010/main" val="38609793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179462" y="1381125"/>
            <a:ext cx="4011881" cy="3605028"/>
          </a:xfrm>
          <a:prstGeom prst="rect">
            <a:avLst/>
          </a:prstGeom>
          <a:solidFill>
            <a:schemeClr val="accent2">
              <a:alpha val="25000"/>
            </a:schemeClr>
          </a:solidFill>
          <a:ln w="635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ular Callout 14"/>
          <p:cNvSpPr/>
          <p:nvPr/>
        </p:nvSpPr>
        <p:spPr>
          <a:xfrm>
            <a:off x="4542755" y="724991"/>
            <a:ext cx="4381804" cy="1935081"/>
          </a:xfrm>
          <a:prstGeom prst="wedgeRoundRectCallout">
            <a:avLst>
              <a:gd name="adj1" fmla="val -57071"/>
              <a:gd name="adj2" fmla="val 74814"/>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From 1909 to 1949, increased productivity driven by technological change accounted for roughly 80 percent of the increase in U.S. </a:t>
            </a:r>
            <a:r>
              <a:rPr lang="en-US" i="1" dirty="0"/>
              <a:t>per capita </a:t>
            </a:r>
            <a:r>
              <a:rPr lang="en-US" dirty="0"/>
              <a:t>Gross National Product.</a:t>
            </a:r>
          </a:p>
          <a:p>
            <a:endParaRPr lang="en-US" dirty="0"/>
          </a:p>
          <a:p>
            <a:pPr algn="r"/>
            <a:r>
              <a:rPr lang="en-US" sz="1600" dirty="0"/>
              <a:t>Source: Solow, 1957</a:t>
            </a:r>
          </a:p>
        </p:txBody>
      </p:sp>
    </p:spTree>
    <p:extLst>
      <p:ext uri="{BB962C8B-B14F-4D97-AF65-F5344CB8AC3E}">
        <p14:creationId xmlns:p14="http://schemas.microsoft.com/office/powerpoint/2010/main" val="38927625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Literature Review</a:t>
            </a:r>
          </a:p>
        </p:txBody>
      </p:sp>
    </p:spTree>
    <p:extLst>
      <p:ext uri="{BB962C8B-B14F-4D97-AF65-F5344CB8AC3E}">
        <p14:creationId xmlns:p14="http://schemas.microsoft.com/office/powerpoint/2010/main" val="36675979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1950471915"/>
              </p:ext>
            </p:extLst>
          </p:nvPr>
        </p:nvGraphicFramePr>
        <p:xfrm>
          <a:off x="91440" y="731521"/>
          <a:ext cx="8961120" cy="351861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598446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4" name="Diagram 3"/>
          <p:cNvGraphicFramePr>
            <a:graphicFrameLocks/>
          </p:cNvGraphicFramePr>
          <p:nvPr>
            <p:extLst>
              <p:ext uri="{D42A27DB-BD31-4B8C-83A1-F6EECF244321}">
                <p14:modId xmlns:p14="http://schemas.microsoft.com/office/powerpoint/2010/main" val="2476302868"/>
              </p:ext>
            </p:extLst>
          </p:nvPr>
        </p:nvGraphicFramePr>
        <p:xfrm>
          <a:off x="92014" y="731520"/>
          <a:ext cx="8961120" cy="21677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6" name="Diagram 5"/>
          <p:cNvGraphicFramePr>
            <a:graphicFrameLocks/>
          </p:cNvGraphicFramePr>
          <p:nvPr>
            <p:extLst>
              <p:ext uri="{D42A27DB-BD31-4B8C-83A1-F6EECF244321}">
                <p14:modId xmlns:p14="http://schemas.microsoft.com/office/powerpoint/2010/main" val="3420173521"/>
              </p:ext>
            </p:extLst>
          </p:nvPr>
        </p:nvGraphicFramePr>
        <p:xfrm>
          <a:off x="91440" y="2944369"/>
          <a:ext cx="8961120" cy="2637129"/>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101834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3364858466"/>
              </p:ext>
            </p:extLst>
          </p:nvPr>
        </p:nvGraphicFramePr>
        <p:xfrm>
          <a:off x="91440" y="731521"/>
          <a:ext cx="8961120" cy="352592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012770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1647947255"/>
              </p:ext>
            </p:extLst>
          </p:nvPr>
        </p:nvGraphicFramePr>
        <p:xfrm>
          <a:off x="91440" y="731520"/>
          <a:ext cx="8961120" cy="28225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541793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3629121537"/>
              </p:ext>
            </p:extLst>
          </p:nvPr>
        </p:nvGraphicFramePr>
        <p:xfrm>
          <a:off x="91440" y="731520"/>
          <a:ext cx="8961120" cy="351129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216964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Research Questions and Hypotheses</a:t>
            </a:r>
          </a:p>
        </p:txBody>
      </p:sp>
    </p:spTree>
    <p:extLst>
      <p:ext uri="{BB962C8B-B14F-4D97-AF65-F5344CB8AC3E}">
        <p14:creationId xmlns:p14="http://schemas.microsoft.com/office/powerpoint/2010/main" val="42251675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Research Questions</a:t>
            </a:r>
          </a:p>
        </p:txBody>
      </p:sp>
      <p:graphicFrame>
        <p:nvGraphicFramePr>
          <p:cNvPr id="5" name="Table 4"/>
          <p:cNvGraphicFramePr>
            <a:graphicFrameLocks noGrp="1"/>
          </p:cNvGraphicFramePr>
          <p:nvPr>
            <p:extLst>
              <p:ext uri="{D42A27DB-BD31-4B8C-83A1-F6EECF244321}">
                <p14:modId xmlns:p14="http://schemas.microsoft.com/office/powerpoint/2010/main" val="2043275558"/>
              </p:ext>
            </p:extLst>
          </p:nvPr>
        </p:nvGraphicFramePr>
        <p:xfrm>
          <a:off x="228600" y="914400"/>
          <a:ext cx="7359732" cy="1988059"/>
        </p:xfrm>
        <a:graphic>
          <a:graphicData uri="http://schemas.openxmlformats.org/drawingml/2006/table">
            <a:tbl>
              <a:tblPr firstRow="1" firstCol="1" bandRow="1"/>
              <a:tblGrid>
                <a:gridCol w="507670">
                  <a:extLst>
                    <a:ext uri="{9D8B030D-6E8A-4147-A177-3AD203B41FA5}">
                      <a16:colId xmlns:a16="http://schemas.microsoft.com/office/drawing/2014/main" xmlns="" val="20000"/>
                    </a:ext>
                  </a:extLst>
                </a:gridCol>
                <a:gridCol w="6852062">
                  <a:extLst>
                    <a:ext uri="{9D8B030D-6E8A-4147-A177-3AD203B41FA5}">
                      <a16:colId xmlns:a16="http://schemas.microsoft.com/office/drawing/2014/main" xmlns="" val="20001"/>
                    </a:ext>
                  </a:extLst>
                </a:gridCol>
              </a:tblGrid>
              <a:tr h="914401">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Q1</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What public policy alternatives are available for increasing the transfer of technologies derived from federally-funded research and development (R&amp;D) to the private sector taking into consideration the potential role of development stage and geography?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xmlns="" val="10000"/>
                  </a:ext>
                </a:extLst>
              </a:tr>
              <a:tr h="676328">
                <a:tc>
                  <a:txBody>
                    <a:bodyPr/>
                    <a:lstStyle/>
                    <a:p>
                      <a:pPr marL="0" marR="0">
                        <a:lnSpc>
                          <a:spcPct val="114000"/>
                        </a:lnSpc>
                        <a:spcBef>
                          <a:spcPts val="0"/>
                        </a:spcBef>
                        <a:spcAft>
                          <a:spcPts val="0"/>
                        </a:spcAft>
                      </a:pPr>
                      <a:r>
                        <a:rPr lang="en-US" sz="1800">
                          <a:solidFill>
                            <a:srgbClr val="000000"/>
                          </a:solidFill>
                          <a:effectLst/>
                          <a:latin typeface="+mn-lt"/>
                          <a:ea typeface="Calibri"/>
                          <a:cs typeface="Times New Roman"/>
                        </a:rPr>
                        <a:t>Q2</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rgbClr val="C0C0C0"/>
                    </a:solidFill>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What is current federal public policy regarding the transfer of technologies derived from federally-funded R&amp;D to the private sector?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rgbClr val="C0C0C0"/>
                    </a:solidFill>
                  </a:tcPr>
                </a:tc>
                <a:extLst>
                  <a:ext uri="{0D108BD9-81ED-4DB2-BD59-A6C34878D82A}">
                    <a16:rowId xmlns:a16="http://schemas.microsoft.com/office/drawing/2014/main" xmlns="" val="10001"/>
                  </a:ext>
                </a:extLst>
              </a:tr>
            </a:tbl>
          </a:graphicData>
        </a:graphic>
      </p:graphicFrame>
      <p:sp>
        <p:nvSpPr>
          <p:cNvPr id="2" name="TextBox 1"/>
          <p:cNvSpPr txBox="1"/>
          <p:nvPr/>
        </p:nvSpPr>
        <p:spPr>
          <a:xfrm>
            <a:off x="7683335" y="1222610"/>
            <a:ext cx="1371600" cy="646331"/>
          </a:xfrm>
          <a:prstGeom prst="rect">
            <a:avLst/>
          </a:prstGeom>
          <a:noFill/>
        </p:spPr>
        <p:txBody>
          <a:bodyPr wrap="square" lIns="0" rIns="0" rtlCol="0">
            <a:spAutoFit/>
          </a:bodyPr>
          <a:lstStyle/>
          <a:p>
            <a:r>
              <a:rPr lang="en-US" dirty="0"/>
              <a:t>Policy Alternatives</a:t>
            </a:r>
          </a:p>
        </p:txBody>
      </p:sp>
      <p:sp>
        <p:nvSpPr>
          <p:cNvPr id="6" name="TextBox 5"/>
          <p:cNvSpPr txBox="1"/>
          <p:nvPr/>
        </p:nvSpPr>
        <p:spPr>
          <a:xfrm>
            <a:off x="7683335" y="2329504"/>
            <a:ext cx="1371600" cy="369332"/>
          </a:xfrm>
          <a:prstGeom prst="rect">
            <a:avLst/>
          </a:prstGeom>
          <a:noFill/>
        </p:spPr>
        <p:txBody>
          <a:bodyPr wrap="square" lIns="0" rIns="0" rtlCol="0">
            <a:spAutoFit/>
          </a:bodyPr>
          <a:lstStyle/>
          <a:p>
            <a:r>
              <a:rPr lang="en-US" dirty="0" smtClean="0"/>
              <a:t>Policy</a:t>
            </a:r>
            <a:endParaRPr lang="en-US" dirty="0"/>
          </a:p>
        </p:txBody>
      </p:sp>
    </p:spTree>
    <p:extLst>
      <p:ext uri="{BB962C8B-B14F-4D97-AF65-F5344CB8AC3E}">
        <p14:creationId xmlns:p14="http://schemas.microsoft.com/office/powerpoint/2010/main" val="15721055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Research Questions</a:t>
            </a:r>
          </a:p>
        </p:txBody>
      </p:sp>
      <p:graphicFrame>
        <p:nvGraphicFramePr>
          <p:cNvPr id="5" name="Table 4"/>
          <p:cNvGraphicFramePr>
            <a:graphicFrameLocks noGrp="1"/>
          </p:cNvGraphicFramePr>
          <p:nvPr>
            <p:extLst>
              <p:ext uri="{D42A27DB-BD31-4B8C-83A1-F6EECF244321}">
                <p14:modId xmlns:p14="http://schemas.microsoft.com/office/powerpoint/2010/main" val="1720684166"/>
              </p:ext>
            </p:extLst>
          </p:nvPr>
        </p:nvGraphicFramePr>
        <p:xfrm>
          <a:off x="228600" y="914400"/>
          <a:ext cx="7359732" cy="3920301"/>
        </p:xfrm>
        <a:graphic>
          <a:graphicData uri="http://schemas.openxmlformats.org/drawingml/2006/table">
            <a:tbl>
              <a:tblPr firstRow="1" firstCol="1" bandRow="1"/>
              <a:tblGrid>
                <a:gridCol w="507670">
                  <a:extLst>
                    <a:ext uri="{9D8B030D-6E8A-4147-A177-3AD203B41FA5}">
                      <a16:colId xmlns:a16="http://schemas.microsoft.com/office/drawing/2014/main" xmlns="" val="20000"/>
                    </a:ext>
                  </a:extLst>
                </a:gridCol>
                <a:gridCol w="6852062">
                  <a:extLst>
                    <a:ext uri="{9D8B030D-6E8A-4147-A177-3AD203B41FA5}">
                      <a16:colId xmlns:a16="http://schemas.microsoft.com/office/drawing/2014/main" xmlns="" val="20001"/>
                    </a:ext>
                  </a:extLst>
                </a:gridCol>
              </a:tblGrid>
              <a:tr h="676328">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Q3</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rgbClr val="C0C0C0"/>
                    </a:solidFill>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successful transfer to the private sector of technology derived from a federally-funded R&amp;D projects and the development stage attained</a:t>
                      </a:r>
                      <a:r>
                        <a:rPr lang="en-US" sz="1800" baseline="0" dirty="0">
                          <a:solidFill>
                            <a:srgbClr val="000000"/>
                          </a:solidFill>
                          <a:effectLst/>
                          <a:latin typeface="+mn-lt"/>
                          <a:ea typeface="Calibri"/>
                          <a:cs typeface="Times New Roman"/>
                        </a:rPr>
                        <a:t> by</a:t>
                      </a:r>
                      <a:r>
                        <a:rPr lang="en-US" sz="1800" dirty="0">
                          <a:solidFill>
                            <a:srgbClr val="000000"/>
                          </a:solidFill>
                          <a:effectLst/>
                          <a:latin typeface="+mn-lt"/>
                          <a:ea typeface="Calibri"/>
                          <a:cs typeface="Times New Roman"/>
                        </a:rPr>
                        <a:t> the R&amp;D projects?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rgbClr val="C0C0C0"/>
                    </a:solidFill>
                  </a:tcPr>
                </a:tc>
                <a:extLst>
                  <a:ext uri="{0D108BD9-81ED-4DB2-BD59-A6C34878D82A}">
                    <a16:rowId xmlns:a16="http://schemas.microsoft.com/office/drawing/2014/main" xmlns="" val="10001"/>
                  </a:ext>
                </a:extLst>
              </a:tr>
              <a:tr h="898452">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Q4</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developed stage attained</a:t>
                      </a:r>
                      <a:r>
                        <a:rPr lang="en-US" sz="1800" baseline="0" dirty="0">
                          <a:solidFill>
                            <a:srgbClr val="000000"/>
                          </a:solidFill>
                          <a:effectLst/>
                          <a:latin typeface="+mn-lt"/>
                          <a:ea typeface="Calibri"/>
                          <a:cs typeface="Times New Roman"/>
                        </a:rPr>
                        <a:t> by </a:t>
                      </a:r>
                      <a:r>
                        <a:rPr lang="en-US" sz="1800" dirty="0">
                          <a:solidFill>
                            <a:srgbClr val="000000"/>
                          </a:solidFill>
                          <a:effectLst/>
                          <a:latin typeface="+mn-lt"/>
                          <a:ea typeface="Calibri"/>
                          <a:cs typeface="Times New Roman"/>
                        </a:rPr>
                        <a:t>federally-funded R&amp;D projects and the spatial distance between where the R&amp;D projects are conducted and the nearest cities?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xmlns="" val="10002"/>
                  </a:ext>
                </a:extLst>
              </a:tr>
              <a:tr h="989987">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Q5</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solidFill>
                      <a:srgbClr val="C0C0C0"/>
                    </a:solidFill>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successful transfer to the private sector of technology derived from federally-funded R&amp;D projects and the spatial distance between where the R&amp;D projects are conducted and the nearest cities?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0C0C0"/>
                    </a:solidFill>
                  </a:tcPr>
                </a:tc>
                <a:extLst>
                  <a:ext uri="{0D108BD9-81ED-4DB2-BD59-A6C34878D82A}">
                    <a16:rowId xmlns:a16="http://schemas.microsoft.com/office/drawing/2014/main" xmlns="" val="10003"/>
                  </a:ext>
                </a:extLst>
              </a:tr>
            </a:tbl>
          </a:graphicData>
        </a:graphic>
      </p:graphicFrame>
      <p:sp>
        <p:nvSpPr>
          <p:cNvPr id="6" name="TextBox 5"/>
          <p:cNvSpPr txBox="1"/>
          <p:nvPr/>
        </p:nvSpPr>
        <p:spPr>
          <a:xfrm>
            <a:off x="7683335" y="1184704"/>
            <a:ext cx="1371600" cy="646331"/>
          </a:xfrm>
          <a:prstGeom prst="rect">
            <a:avLst/>
          </a:prstGeom>
          <a:noFill/>
        </p:spPr>
        <p:txBody>
          <a:bodyPr wrap="square" lIns="0" rIns="0" rtlCol="0">
            <a:spAutoFit/>
          </a:bodyPr>
          <a:lstStyle/>
          <a:p>
            <a:r>
              <a:rPr lang="en-US" dirty="0"/>
              <a:t>Development Stage</a:t>
            </a:r>
          </a:p>
        </p:txBody>
      </p:sp>
      <p:sp>
        <p:nvSpPr>
          <p:cNvPr id="7" name="TextBox 6"/>
          <p:cNvSpPr txBox="1"/>
          <p:nvPr/>
        </p:nvSpPr>
        <p:spPr>
          <a:xfrm>
            <a:off x="7683335" y="2406430"/>
            <a:ext cx="1371600" cy="923330"/>
          </a:xfrm>
          <a:prstGeom prst="rect">
            <a:avLst/>
          </a:prstGeom>
          <a:noFill/>
        </p:spPr>
        <p:txBody>
          <a:bodyPr wrap="square" lIns="0" rIns="0" rtlCol="0">
            <a:spAutoFit/>
          </a:bodyPr>
          <a:lstStyle/>
          <a:p>
            <a:r>
              <a:rPr lang="en-US" dirty="0"/>
              <a:t>Development Stage &amp; Geography</a:t>
            </a:r>
          </a:p>
        </p:txBody>
      </p:sp>
      <p:sp>
        <p:nvSpPr>
          <p:cNvPr id="8" name="TextBox 7"/>
          <p:cNvSpPr txBox="1"/>
          <p:nvPr/>
        </p:nvSpPr>
        <p:spPr>
          <a:xfrm>
            <a:off x="7683335" y="3940930"/>
            <a:ext cx="1371600" cy="369332"/>
          </a:xfrm>
          <a:prstGeom prst="rect">
            <a:avLst/>
          </a:prstGeom>
          <a:noFill/>
        </p:spPr>
        <p:txBody>
          <a:bodyPr wrap="square" lIns="0" rIns="0" rtlCol="0">
            <a:spAutoFit/>
          </a:bodyPr>
          <a:lstStyle/>
          <a:p>
            <a:r>
              <a:rPr lang="en-US" dirty="0"/>
              <a:t>Geography</a:t>
            </a:r>
          </a:p>
        </p:txBody>
      </p:sp>
    </p:spTree>
    <p:extLst>
      <p:ext uri="{BB962C8B-B14F-4D97-AF65-F5344CB8AC3E}">
        <p14:creationId xmlns:p14="http://schemas.microsoft.com/office/powerpoint/2010/main" val="32303740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Hypotheses</a:t>
            </a:r>
          </a:p>
        </p:txBody>
      </p:sp>
      <p:graphicFrame>
        <p:nvGraphicFramePr>
          <p:cNvPr id="2" name="Table 1"/>
          <p:cNvGraphicFramePr>
            <a:graphicFrameLocks noGrp="1"/>
          </p:cNvGraphicFramePr>
          <p:nvPr>
            <p:extLst>
              <p:ext uri="{D42A27DB-BD31-4B8C-83A1-F6EECF244321}">
                <p14:modId xmlns:p14="http://schemas.microsoft.com/office/powerpoint/2010/main" val="292324932"/>
              </p:ext>
            </p:extLst>
          </p:nvPr>
        </p:nvGraphicFramePr>
        <p:xfrm>
          <a:off x="274320" y="691114"/>
          <a:ext cx="8595360" cy="3753962"/>
        </p:xfrm>
        <a:graphic>
          <a:graphicData uri="http://schemas.openxmlformats.org/drawingml/2006/table">
            <a:tbl>
              <a:tblPr firstRow="1" firstCol="1" bandRow="1"/>
              <a:tblGrid>
                <a:gridCol w="497576">
                  <a:extLst>
                    <a:ext uri="{9D8B030D-6E8A-4147-A177-3AD203B41FA5}">
                      <a16:colId xmlns:a16="http://schemas.microsoft.com/office/drawing/2014/main" xmlns="" val="20000"/>
                    </a:ext>
                  </a:extLst>
                </a:gridCol>
                <a:gridCol w="8097784">
                  <a:extLst>
                    <a:ext uri="{9D8B030D-6E8A-4147-A177-3AD203B41FA5}">
                      <a16:colId xmlns:a16="http://schemas.microsoft.com/office/drawing/2014/main" xmlns="" val="20001"/>
                    </a:ext>
                  </a:extLst>
                </a:gridCol>
              </a:tblGrid>
              <a:tr h="1188892">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H1</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bg1"/>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probability</a:t>
                      </a:r>
                      <a:r>
                        <a:rPr lang="en-US" sz="1800" baseline="0" dirty="0">
                          <a:solidFill>
                            <a:srgbClr val="000000"/>
                          </a:solidFill>
                          <a:effectLst/>
                          <a:latin typeface="+mn-lt"/>
                          <a:ea typeface="Calibri"/>
                          <a:cs typeface="Times New Roman"/>
                        </a:rPr>
                        <a:t> that a technology </a:t>
                      </a:r>
                      <a:r>
                        <a:rPr lang="en-US" sz="1800" dirty="0">
                          <a:solidFill>
                            <a:srgbClr val="000000"/>
                          </a:solidFill>
                          <a:effectLst/>
                          <a:latin typeface="+mn-lt"/>
                          <a:ea typeface="Calibri"/>
                          <a:cs typeface="Times New Roman"/>
                        </a:rPr>
                        <a:t>derived from a federally-funded R&amp;D project is transferred to the private sector is associated with the final development stage attained by the R&amp;D project</a:t>
                      </a:r>
                      <a:r>
                        <a:rPr lang="en-US" sz="1800" baseline="0" dirty="0">
                          <a:solidFill>
                            <a:srgbClr val="000000"/>
                          </a:solidFill>
                          <a:effectLst/>
                          <a:latin typeface="+mn-lt"/>
                          <a:ea typeface="Calibri"/>
                          <a:cs typeface="Times New Roman"/>
                        </a:rPr>
                        <a:t>. </a:t>
                      </a:r>
                      <a:endParaRPr lang="en-US" sz="1800" dirty="0">
                        <a:solidFill>
                          <a:srgbClr val="000000"/>
                        </a:solidFill>
                        <a:effectLst/>
                        <a:latin typeface="+mn-lt"/>
                        <a:ea typeface="Calibri"/>
                        <a:cs typeface="Times New Roman"/>
                      </a:endParaRPr>
                    </a:p>
                  </a:txBody>
                  <a:tcPr marL="59258" marR="59258" marT="29887" marB="29887">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bg1"/>
                    </a:solidFill>
                  </a:tcPr>
                </a:tc>
                <a:extLst>
                  <a:ext uri="{0D108BD9-81ED-4DB2-BD59-A6C34878D82A}">
                    <a16:rowId xmlns:a16="http://schemas.microsoft.com/office/drawing/2014/main" xmlns="" val="10000"/>
                  </a:ext>
                </a:extLst>
              </a:tr>
              <a:tr h="1294411">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H2</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final development stage attained by a federally-funded R&amp;D project is associated with the spatial distance between where the R&amp;D project is conducted</a:t>
                      </a:r>
                      <a:r>
                        <a:rPr lang="en-US" sz="1800" baseline="0" dirty="0">
                          <a:solidFill>
                            <a:srgbClr val="000000"/>
                          </a:solidFill>
                          <a:effectLst/>
                          <a:latin typeface="+mn-lt"/>
                          <a:ea typeface="Calibri"/>
                          <a:cs typeface="Times New Roman"/>
                        </a:rPr>
                        <a:t> </a:t>
                      </a:r>
                      <a:r>
                        <a:rPr lang="en-US" sz="1800" dirty="0">
                          <a:solidFill>
                            <a:srgbClr val="000000"/>
                          </a:solidFill>
                          <a:effectLst/>
                          <a:latin typeface="+mn-lt"/>
                          <a:ea typeface="Calibri"/>
                          <a:cs typeface="Times New Roman"/>
                        </a:rPr>
                        <a:t>and the nearest city.</a:t>
                      </a:r>
                    </a:p>
                  </a:txBody>
                  <a:tcPr marL="59258" marR="59258" marT="29887" marB="29887">
                    <a:lnL>
                      <a:noFill/>
                    </a:lnL>
                    <a:lnR w="12700" cap="flat" cmpd="sng" algn="ctr">
                      <a:solidFill>
                        <a:schemeClr val="tx1"/>
                      </a:solidFill>
                      <a:prstDash val="solid"/>
                      <a:round/>
                      <a:headEnd type="none" w="med" len="med"/>
                      <a:tailEnd type="none" w="med" len="med"/>
                    </a:lnR>
                    <a:lnT>
                      <a:noFill/>
                    </a:lnT>
                    <a:lnB>
                      <a:noFill/>
                    </a:lnB>
                    <a:solidFill>
                      <a:srgbClr val="C0C0C0"/>
                    </a:solidFill>
                  </a:tcPr>
                </a:tc>
                <a:extLst>
                  <a:ext uri="{0D108BD9-81ED-4DB2-BD59-A6C34878D82A}">
                    <a16:rowId xmlns:a16="http://schemas.microsoft.com/office/drawing/2014/main" xmlns="" val="10001"/>
                  </a:ext>
                </a:extLst>
              </a:tr>
              <a:tr h="1270659">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H3</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chemeClr val="bg1"/>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probability that a technology derived</a:t>
                      </a:r>
                      <a:r>
                        <a:rPr lang="en-US" sz="1800" baseline="0" dirty="0">
                          <a:solidFill>
                            <a:srgbClr val="000000"/>
                          </a:solidFill>
                          <a:effectLst/>
                          <a:latin typeface="+mn-lt"/>
                          <a:ea typeface="Calibri"/>
                          <a:cs typeface="Times New Roman"/>
                        </a:rPr>
                        <a:t> from a federally-funded R&amp;D project is transferred to the private sector is associated with the spatial distance between where the R&amp;D project is conducted and the nearest city. </a:t>
                      </a:r>
                    </a:p>
                  </a:txBody>
                  <a:tcPr marL="59258" marR="59258" marT="29887" marB="29887">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10002"/>
                  </a:ext>
                </a:extLst>
              </a:tr>
            </a:tbl>
          </a:graphicData>
        </a:graphic>
      </p:graphicFrame>
    </p:spTree>
    <p:extLst>
      <p:ext uri="{BB962C8B-B14F-4D97-AF65-F5344CB8AC3E}">
        <p14:creationId xmlns:p14="http://schemas.microsoft.com/office/powerpoint/2010/main" val="2762505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Methodology</a:t>
            </a:r>
          </a:p>
        </p:txBody>
      </p:sp>
    </p:spTree>
    <p:extLst>
      <p:ext uri="{BB962C8B-B14F-4D97-AF65-F5344CB8AC3E}">
        <p14:creationId xmlns:p14="http://schemas.microsoft.com/office/powerpoint/2010/main" val="459881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ight Arrow 14"/>
          <p:cNvSpPr/>
          <p:nvPr/>
        </p:nvSpPr>
        <p:spPr>
          <a:xfrm>
            <a:off x="6172012" y="1856700"/>
            <a:ext cx="2743200" cy="1828800"/>
          </a:xfrm>
          <a:prstGeom prst="rightArrow">
            <a:avLst/>
          </a:prstGeom>
          <a:solidFill>
            <a:schemeClr val="accent3">
              <a:alpha val="70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285750" indent="-285750">
              <a:buFont typeface="Arial" panose="020B0604020202020204" pitchFamily="34" charset="0"/>
              <a:buChar char="•"/>
            </a:pPr>
            <a:r>
              <a:rPr lang="en-US" dirty="0" smtClean="0"/>
              <a:t>PPA</a:t>
            </a:r>
          </a:p>
          <a:p>
            <a:pPr marL="285750" indent="-285750">
              <a:buFont typeface="Arial" panose="020B0604020202020204" pitchFamily="34" charset="0"/>
              <a:buChar char="•"/>
            </a:pPr>
            <a:r>
              <a:rPr lang="en-US" dirty="0" smtClean="0"/>
              <a:t>Delphi method</a:t>
            </a:r>
            <a:endParaRPr lang="en-US" dirty="0"/>
          </a:p>
        </p:txBody>
      </p:sp>
      <p:sp>
        <p:nvSpPr>
          <p:cNvPr id="13" name="Right Arrow 12"/>
          <p:cNvSpPr/>
          <p:nvPr/>
        </p:nvSpPr>
        <p:spPr>
          <a:xfrm>
            <a:off x="1842328" y="2907813"/>
            <a:ext cx="2743200" cy="1828800"/>
          </a:xfrm>
          <a:prstGeom prst="rightArrow">
            <a:avLst/>
          </a:prstGeom>
          <a:solidFill>
            <a:schemeClr val="accent1">
              <a:alpha val="7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dirty="0" smtClean="0"/>
              <a:t>Regression analysis</a:t>
            </a:r>
          </a:p>
          <a:p>
            <a:pPr marL="285750" indent="-285750">
              <a:buFont typeface="Arial" panose="020B0604020202020204" pitchFamily="34" charset="0"/>
              <a:buChar char="•"/>
            </a:pPr>
            <a:r>
              <a:rPr lang="en-US" dirty="0" smtClean="0"/>
              <a:t>Kendall’s tau</a:t>
            </a:r>
            <a:endParaRPr lang="en-US" dirty="0"/>
          </a:p>
        </p:txBody>
      </p:sp>
      <p:sp>
        <p:nvSpPr>
          <p:cNvPr id="12" name="Right Arrow 11"/>
          <p:cNvSpPr/>
          <p:nvPr/>
        </p:nvSpPr>
        <p:spPr>
          <a:xfrm>
            <a:off x="1842328" y="626983"/>
            <a:ext cx="2743200" cy="1828800"/>
          </a:xfrm>
          <a:prstGeom prst="rightArrow">
            <a:avLst/>
          </a:prstGeom>
          <a:solidFill>
            <a:schemeClr val="accent6">
              <a:alpha val="7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marL="285750" indent="-285750">
              <a:buFont typeface="Arial" panose="020B0604020202020204" pitchFamily="34" charset="0"/>
              <a:buChar char="•"/>
            </a:pPr>
            <a:r>
              <a:rPr lang="en-US" dirty="0" smtClean="0"/>
              <a:t>Content analysis</a:t>
            </a:r>
          </a:p>
          <a:p>
            <a:pPr marL="285750" indent="-285750">
              <a:buFont typeface="Arial" panose="020B0604020202020204" pitchFamily="34" charset="0"/>
              <a:buChar char="•"/>
            </a:pPr>
            <a:r>
              <a:rPr lang="en-US" dirty="0" smtClean="0"/>
              <a:t>Logic model</a:t>
            </a:r>
            <a:endParaRPr lang="en-US" dirty="0"/>
          </a:p>
        </p:txBody>
      </p:sp>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Methodology</a:t>
            </a:r>
          </a:p>
        </p:txBody>
      </p:sp>
      <p:sp>
        <p:nvSpPr>
          <p:cNvPr id="3" name="TextBox 2"/>
          <p:cNvSpPr txBox="1"/>
          <p:nvPr/>
        </p:nvSpPr>
        <p:spPr>
          <a:xfrm>
            <a:off x="149609" y="2455783"/>
            <a:ext cx="2103120" cy="369332"/>
          </a:xfrm>
          <a:prstGeom prst="rect">
            <a:avLst/>
          </a:prstGeom>
          <a:noFill/>
        </p:spPr>
        <p:txBody>
          <a:bodyPr wrap="square" rtlCol="0">
            <a:spAutoFit/>
          </a:bodyPr>
          <a:lstStyle/>
          <a:p>
            <a:r>
              <a:rPr lang="en-US" dirty="0"/>
              <a:t>Research Question </a:t>
            </a:r>
            <a:r>
              <a:rPr lang="en-US" dirty="0" smtClean="0"/>
              <a:t>2</a:t>
            </a:r>
            <a:endParaRPr lang="en-US" dirty="0"/>
          </a:p>
        </p:txBody>
      </p:sp>
      <p:sp>
        <p:nvSpPr>
          <p:cNvPr id="5" name="TextBox 4"/>
          <p:cNvSpPr txBox="1"/>
          <p:nvPr/>
        </p:nvSpPr>
        <p:spPr>
          <a:xfrm>
            <a:off x="149609" y="4736613"/>
            <a:ext cx="2103120" cy="369332"/>
          </a:xfrm>
          <a:prstGeom prst="rect">
            <a:avLst/>
          </a:prstGeom>
          <a:noFill/>
        </p:spPr>
        <p:txBody>
          <a:bodyPr wrap="square" rtlCol="0">
            <a:spAutoFit/>
          </a:bodyPr>
          <a:lstStyle/>
          <a:p>
            <a:r>
              <a:rPr lang="en-US" dirty="0"/>
              <a:t>Research Question </a:t>
            </a:r>
            <a:r>
              <a:rPr lang="en-US" dirty="0" smtClean="0"/>
              <a:t>3</a:t>
            </a:r>
            <a:endParaRPr lang="en-US" dirty="0"/>
          </a:p>
        </p:txBody>
      </p:sp>
      <p:sp>
        <p:nvSpPr>
          <p:cNvPr id="6" name="TextBox 5"/>
          <p:cNvSpPr txBox="1"/>
          <p:nvPr/>
        </p:nvSpPr>
        <p:spPr>
          <a:xfrm>
            <a:off x="149609" y="5005964"/>
            <a:ext cx="2103120" cy="369332"/>
          </a:xfrm>
          <a:prstGeom prst="rect">
            <a:avLst/>
          </a:prstGeom>
          <a:noFill/>
        </p:spPr>
        <p:txBody>
          <a:bodyPr wrap="square" rtlCol="0">
            <a:spAutoFit/>
          </a:bodyPr>
          <a:lstStyle/>
          <a:p>
            <a:r>
              <a:rPr lang="en-US" dirty="0"/>
              <a:t>Research Question </a:t>
            </a:r>
            <a:r>
              <a:rPr lang="en-US" dirty="0" smtClean="0"/>
              <a:t>4</a:t>
            </a:r>
            <a:endParaRPr lang="en-US" dirty="0"/>
          </a:p>
        </p:txBody>
      </p:sp>
      <p:sp>
        <p:nvSpPr>
          <p:cNvPr id="7" name="TextBox 6"/>
          <p:cNvSpPr txBox="1"/>
          <p:nvPr/>
        </p:nvSpPr>
        <p:spPr>
          <a:xfrm>
            <a:off x="4530120" y="3701481"/>
            <a:ext cx="2103120" cy="369332"/>
          </a:xfrm>
          <a:prstGeom prst="rect">
            <a:avLst/>
          </a:prstGeom>
          <a:noFill/>
        </p:spPr>
        <p:txBody>
          <a:bodyPr wrap="square" rtlCol="0">
            <a:spAutoFit/>
          </a:bodyPr>
          <a:lstStyle/>
          <a:p>
            <a:r>
              <a:rPr lang="en-US" dirty="0"/>
              <a:t>Research Question 1</a:t>
            </a:r>
          </a:p>
        </p:txBody>
      </p:sp>
      <p:sp>
        <p:nvSpPr>
          <p:cNvPr id="8" name="TextBox 7"/>
          <p:cNvSpPr txBox="1"/>
          <p:nvPr/>
        </p:nvSpPr>
        <p:spPr>
          <a:xfrm>
            <a:off x="149609" y="5276522"/>
            <a:ext cx="2103120" cy="369332"/>
          </a:xfrm>
          <a:prstGeom prst="rect">
            <a:avLst/>
          </a:prstGeom>
          <a:noFill/>
        </p:spPr>
        <p:txBody>
          <a:bodyPr wrap="square" rtlCol="0">
            <a:spAutoFit/>
          </a:bodyPr>
          <a:lstStyle/>
          <a:p>
            <a:r>
              <a:rPr lang="en-US" dirty="0"/>
              <a:t>Research Question </a:t>
            </a:r>
            <a:r>
              <a:rPr lang="en-US" dirty="0" smtClean="0"/>
              <a:t>5</a:t>
            </a:r>
            <a:endParaRPr lang="en-US" dirty="0"/>
          </a:p>
        </p:txBody>
      </p:sp>
      <p:sp>
        <p:nvSpPr>
          <p:cNvPr id="9" name="Oval 8"/>
          <p:cNvSpPr/>
          <p:nvPr/>
        </p:nvSpPr>
        <p:spPr>
          <a:xfrm>
            <a:off x="286769" y="2907813"/>
            <a:ext cx="1828800" cy="18288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dirty="0" smtClean="0"/>
              <a:t>Quantitative</a:t>
            </a:r>
            <a:endParaRPr lang="en-US" dirty="0"/>
          </a:p>
        </p:txBody>
      </p:sp>
      <p:sp>
        <p:nvSpPr>
          <p:cNvPr id="10" name="Oval 9"/>
          <p:cNvSpPr/>
          <p:nvPr/>
        </p:nvSpPr>
        <p:spPr>
          <a:xfrm>
            <a:off x="286769" y="626983"/>
            <a:ext cx="1828800" cy="1828800"/>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lIns="0" rIns="0" rtlCol="0" anchor="ctr"/>
          <a:lstStyle/>
          <a:p>
            <a:pPr algn="ctr"/>
            <a:r>
              <a:rPr lang="en-US" dirty="0" smtClean="0"/>
              <a:t>Qualitative</a:t>
            </a:r>
            <a:endParaRPr lang="en-US" dirty="0"/>
          </a:p>
        </p:txBody>
      </p:sp>
      <p:sp>
        <p:nvSpPr>
          <p:cNvPr id="11" name="Oval 10"/>
          <p:cNvSpPr/>
          <p:nvPr/>
        </p:nvSpPr>
        <p:spPr>
          <a:xfrm>
            <a:off x="4667280" y="1856700"/>
            <a:ext cx="1828800" cy="1828800"/>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lIns="0" rIns="0" rtlCol="0" anchor="ctr"/>
          <a:lstStyle/>
          <a:p>
            <a:pPr algn="ctr"/>
            <a:r>
              <a:rPr lang="en-US" dirty="0" smtClean="0"/>
              <a:t>Qualitative</a:t>
            </a:r>
            <a:endParaRPr lang="en-US" dirty="0"/>
          </a:p>
        </p:txBody>
      </p:sp>
    </p:spTree>
    <p:extLst>
      <p:ext uri="{BB962C8B-B14F-4D97-AF65-F5344CB8AC3E}">
        <p14:creationId xmlns:p14="http://schemas.microsoft.com/office/powerpoint/2010/main" val="34821480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1900384905"/>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64890221"/>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9847323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3964234599"/>
              </p:ext>
            </p:extLst>
          </p:nvPr>
        </p:nvGraphicFramePr>
        <p:xfrm>
          <a:off x="91440"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665110680"/>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40024936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4140785331"/>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853594639"/>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572414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3942801235"/>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075579221"/>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276113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156356225"/>
              </p:ext>
            </p:extLst>
          </p:nvPr>
        </p:nvGraphicFramePr>
        <p:xfrm>
          <a:off x="228600" y="147266"/>
          <a:ext cx="8686800" cy="5047488"/>
        </p:xfrm>
        <a:graphic>
          <a:graphicData uri="http://schemas.openxmlformats.org/drawingml/2006/table">
            <a:tbl>
              <a:tblPr firstRow="1" firstCol="1" bandRow="1"/>
              <a:tblGrid>
                <a:gridCol w="1531918">
                  <a:extLst>
                    <a:ext uri="{9D8B030D-6E8A-4147-A177-3AD203B41FA5}">
                      <a16:colId xmlns:a16="http://schemas.microsoft.com/office/drawing/2014/main" xmlns="" val="20000"/>
                    </a:ext>
                  </a:extLst>
                </a:gridCol>
                <a:gridCol w="4046516">
                  <a:extLst>
                    <a:ext uri="{9D8B030D-6E8A-4147-A177-3AD203B41FA5}">
                      <a16:colId xmlns:a16="http://schemas.microsoft.com/office/drawing/2014/main" xmlns="" val="20001"/>
                    </a:ext>
                  </a:extLst>
                </a:gridCol>
                <a:gridCol w="3108366">
                  <a:extLst>
                    <a:ext uri="{9D8B030D-6E8A-4147-A177-3AD203B41FA5}">
                      <a16:colId xmlns:a16="http://schemas.microsoft.com/office/drawing/2014/main" xmlns="" val="20002"/>
                    </a:ext>
                  </a:extLst>
                </a:gridCol>
              </a:tblGrid>
              <a:tr h="563377">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Level</a:t>
                      </a:r>
                      <a:r>
                        <a:rPr lang="en-US" sz="1800" b="1" baseline="0" dirty="0">
                          <a:solidFill>
                            <a:srgbClr val="FFFFFF"/>
                          </a:solidFill>
                          <a:effectLst/>
                          <a:latin typeface="Times New Roman"/>
                          <a:ea typeface="Calibri"/>
                          <a:cs typeface="Times New Roman"/>
                        </a:rPr>
                        <a:t> of Measurement</a:t>
                      </a:r>
                      <a:endParaRPr lang="en-US" sz="1800" b="1" dirty="0">
                        <a:solidFill>
                          <a:srgbClr val="FFFFFF"/>
                        </a:solidFill>
                        <a:effectLst/>
                        <a:latin typeface="Times New Roman"/>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Value 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extLst>
                  <a:ext uri="{0D108BD9-81ED-4DB2-BD59-A6C34878D82A}">
                    <a16:rowId xmlns:a16="http://schemas.microsoft.com/office/drawing/2014/main" xmlns="" val="10000"/>
                  </a:ext>
                </a:extLst>
              </a:tr>
              <a:tr h="327272">
                <a:tc>
                  <a:txBody>
                    <a:bodyPr/>
                    <a:lstStyle/>
                    <a:p>
                      <a:pPr marL="0" marR="0">
                        <a:lnSpc>
                          <a:spcPct val="115000"/>
                        </a:lnSpc>
                        <a:spcBef>
                          <a:spcPts val="0"/>
                        </a:spcBef>
                        <a:spcAft>
                          <a:spcPts val="0"/>
                        </a:spcAft>
                      </a:pPr>
                      <a:r>
                        <a:rPr lang="en-US" sz="1800" dirty="0">
                          <a:effectLst/>
                          <a:latin typeface="Times New Roman"/>
                          <a:ea typeface="Calibri"/>
                          <a:cs typeface="Times New Roman"/>
                        </a:rPr>
                        <a:t>Var01</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ProjID</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unique identifier for each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Nominal</a:t>
                      </a:r>
                    </a:p>
                    <a:p>
                      <a:pPr marL="0" marR="0">
                        <a:lnSpc>
                          <a:spcPct val="115000"/>
                        </a:lnSpc>
                        <a:spcBef>
                          <a:spcPts val="0"/>
                        </a:spcBef>
                        <a:spcAft>
                          <a:spcPts val="0"/>
                        </a:spcAft>
                      </a:pPr>
                      <a:r>
                        <a:rPr lang="en-US" sz="1800" dirty="0">
                          <a:effectLst/>
                          <a:latin typeface="Times New Roman"/>
                          <a:ea typeface="Calibri"/>
                          <a:cs typeface="Times New Roman"/>
                        </a:rPr>
                        <a:t>Character data</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a16="http://schemas.microsoft.com/office/drawing/2014/main" xmlns="" val="10001"/>
                  </a:ext>
                </a:extLst>
              </a:tr>
              <a:tr h="705365">
                <a:tc>
                  <a:txBody>
                    <a:bodyPr/>
                    <a:lstStyle/>
                    <a:p>
                      <a:pPr marL="0" marR="0">
                        <a:lnSpc>
                          <a:spcPct val="115000"/>
                        </a:lnSpc>
                        <a:spcBef>
                          <a:spcPts val="0"/>
                        </a:spcBef>
                        <a:spcAft>
                          <a:spcPts val="0"/>
                        </a:spcAft>
                      </a:pPr>
                      <a:r>
                        <a:rPr lang="en-US" sz="1800" dirty="0">
                          <a:effectLst/>
                          <a:latin typeface="Times New Roman"/>
                          <a:ea typeface="Calibri"/>
                          <a:cs typeface="Times New Roman"/>
                        </a:rPr>
                        <a:t>Var02</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NewTech</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An indicator of whether or not the federally-funded R&amp;D project produced new technology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 technology produced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Technology produced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xmlns="" val="10002"/>
                  </a:ext>
                </a:extLst>
              </a:tr>
              <a:tr h="724395">
                <a:tc>
                  <a:txBody>
                    <a:bodyPr/>
                    <a:lstStyle/>
                    <a:p>
                      <a:pPr marL="0" marR="0">
                        <a:lnSpc>
                          <a:spcPct val="115000"/>
                        </a:lnSpc>
                        <a:spcBef>
                          <a:spcPts val="0"/>
                        </a:spcBef>
                        <a:spcAft>
                          <a:spcPts val="0"/>
                        </a:spcAft>
                      </a:pPr>
                      <a:r>
                        <a:rPr lang="en-US" sz="1800">
                          <a:effectLst/>
                          <a:latin typeface="Times New Roman"/>
                          <a:ea typeface="Calibri"/>
                          <a:cs typeface="Times New Roman"/>
                        </a:rPr>
                        <a:t>Var03</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TechTran</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whether or not the technology derived from each federally-funded R&amp;D project was transferred to the private sector.</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Technology NOT transferred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Technology transferred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a16="http://schemas.microsoft.com/office/drawing/2014/main" xmlns="" val="10003"/>
                  </a:ext>
                </a:extLst>
              </a:tr>
              <a:tr h="405471">
                <a:tc>
                  <a:txBody>
                    <a:bodyPr/>
                    <a:lstStyle/>
                    <a:p>
                      <a:pPr marL="0" marR="0">
                        <a:lnSpc>
                          <a:spcPct val="115000"/>
                        </a:lnSpc>
                        <a:spcBef>
                          <a:spcPts val="0"/>
                        </a:spcBef>
                        <a:spcAft>
                          <a:spcPts val="0"/>
                        </a:spcAft>
                      </a:pPr>
                      <a:r>
                        <a:rPr lang="en-US" sz="1800">
                          <a:effectLst/>
                          <a:latin typeface="Times New Roman"/>
                          <a:ea typeface="Calibri"/>
                          <a:cs typeface="Times New Roman"/>
                        </a:rPr>
                        <a:t>Var04</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TRL</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the development stage of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Ordinal</a:t>
                      </a:r>
                    </a:p>
                    <a:p>
                      <a:pPr marL="0" marR="0">
                        <a:lnSpc>
                          <a:spcPct val="115000"/>
                        </a:lnSpc>
                        <a:spcBef>
                          <a:spcPts val="0"/>
                        </a:spcBef>
                        <a:spcAft>
                          <a:spcPts val="0"/>
                        </a:spcAft>
                      </a:pPr>
                      <a:r>
                        <a:rPr lang="en-US" sz="1800" dirty="0">
                          <a:effectLst/>
                          <a:latin typeface="Times New Roman"/>
                          <a:ea typeface="Calibri"/>
                          <a:cs typeface="Times New Roman"/>
                        </a:rPr>
                        <a:t>Integer values from 1 to 9</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xmlns="" val="10004"/>
                  </a:ext>
                </a:extLst>
              </a:tr>
              <a:tr h="432435">
                <a:tc>
                  <a:txBody>
                    <a:bodyPr/>
                    <a:lstStyle/>
                    <a:p>
                      <a:pPr marL="0" marR="0">
                        <a:lnSpc>
                          <a:spcPct val="115000"/>
                        </a:lnSpc>
                        <a:spcBef>
                          <a:spcPts val="0"/>
                        </a:spcBef>
                        <a:spcAft>
                          <a:spcPts val="0"/>
                        </a:spcAft>
                      </a:pPr>
                      <a:r>
                        <a:rPr lang="en-US" sz="1800">
                          <a:effectLst/>
                          <a:latin typeface="Times New Roman"/>
                          <a:ea typeface="Calibri"/>
                          <a:cs typeface="Times New Roman"/>
                        </a:rPr>
                        <a:t>Var05</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Distance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spatial distance to between where the federally-funded R&amp;D project was conducted and the nearest city.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Ratio</a:t>
                      </a:r>
                    </a:p>
                    <a:p>
                      <a:pPr marL="0" marR="0">
                        <a:lnSpc>
                          <a:spcPct val="115000"/>
                        </a:lnSpc>
                        <a:spcBef>
                          <a:spcPts val="0"/>
                        </a:spcBef>
                        <a:spcAft>
                          <a:spcPts val="0"/>
                        </a:spcAft>
                      </a:pPr>
                      <a:r>
                        <a:rPr lang="en-US" sz="1800" dirty="0">
                          <a:effectLst/>
                          <a:latin typeface="Times New Roman"/>
                          <a:ea typeface="Calibri"/>
                          <a:cs typeface="Times New Roman"/>
                        </a:rPr>
                        <a:t>Continuous values from 0 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a16="http://schemas.microsoft.com/office/drawing/2014/main" xmlns="" val="10005"/>
                  </a:ext>
                </a:extLst>
              </a:tr>
            </a:tbl>
          </a:graphicData>
        </a:graphic>
      </p:graphicFrame>
    </p:spTree>
    <p:extLst>
      <p:ext uri="{BB962C8B-B14F-4D97-AF65-F5344CB8AC3E}">
        <p14:creationId xmlns:p14="http://schemas.microsoft.com/office/powerpoint/2010/main" val="31374162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746778838"/>
              </p:ext>
            </p:extLst>
          </p:nvPr>
        </p:nvGraphicFramePr>
        <p:xfrm>
          <a:off x="228600" y="147266"/>
          <a:ext cx="8686800" cy="5047488"/>
        </p:xfrm>
        <a:graphic>
          <a:graphicData uri="http://schemas.openxmlformats.org/drawingml/2006/table">
            <a:tbl>
              <a:tblPr firstRow="1" firstCol="1" bandRow="1"/>
              <a:tblGrid>
                <a:gridCol w="1531918">
                  <a:extLst>
                    <a:ext uri="{9D8B030D-6E8A-4147-A177-3AD203B41FA5}">
                      <a16:colId xmlns:a16="http://schemas.microsoft.com/office/drawing/2014/main" xmlns="" val="20000"/>
                    </a:ext>
                  </a:extLst>
                </a:gridCol>
                <a:gridCol w="4046516">
                  <a:extLst>
                    <a:ext uri="{9D8B030D-6E8A-4147-A177-3AD203B41FA5}">
                      <a16:colId xmlns:a16="http://schemas.microsoft.com/office/drawing/2014/main" xmlns="" val="20001"/>
                    </a:ext>
                  </a:extLst>
                </a:gridCol>
                <a:gridCol w="3108366">
                  <a:extLst>
                    <a:ext uri="{9D8B030D-6E8A-4147-A177-3AD203B41FA5}">
                      <a16:colId xmlns:a16="http://schemas.microsoft.com/office/drawing/2014/main" xmlns="" val="20002"/>
                    </a:ext>
                  </a:extLst>
                </a:gridCol>
              </a:tblGrid>
              <a:tr h="563377">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Value 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extLst>
                  <a:ext uri="{0D108BD9-81ED-4DB2-BD59-A6C34878D82A}">
                    <a16:rowId xmlns:a16="http://schemas.microsoft.com/office/drawing/2014/main" xmlns="" val="10000"/>
                  </a:ext>
                </a:extLst>
              </a:tr>
              <a:tr h="285860">
                <a:tc>
                  <a:txBody>
                    <a:bodyPr/>
                    <a:lstStyle/>
                    <a:p>
                      <a:pPr marL="0" marR="0">
                        <a:lnSpc>
                          <a:spcPct val="115000"/>
                        </a:lnSpc>
                        <a:spcBef>
                          <a:spcPts val="0"/>
                        </a:spcBef>
                        <a:spcAft>
                          <a:spcPts val="0"/>
                        </a:spcAft>
                      </a:pPr>
                      <a:r>
                        <a:rPr lang="en-US" sz="1800" dirty="0">
                          <a:effectLst/>
                          <a:latin typeface="Times New Roman"/>
                          <a:ea typeface="Calibri"/>
                          <a:cs typeface="Times New Roman"/>
                        </a:rPr>
                        <a:t>Var06</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TechCat</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category of the technology derived from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Nominal</a:t>
                      </a:r>
                    </a:p>
                    <a:p>
                      <a:pPr marL="0" marR="0">
                        <a:lnSpc>
                          <a:spcPct val="115000"/>
                        </a:lnSpc>
                        <a:spcBef>
                          <a:spcPts val="0"/>
                        </a:spcBef>
                        <a:spcAft>
                          <a:spcPts val="0"/>
                        </a:spcAft>
                      </a:pPr>
                      <a:r>
                        <a:rPr lang="en-US" sz="1800" dirty="0">
                          <a:effectLst/>
                          <a:latin typeface="Times New Roman"/>
                          <a:ea typeface="Calibri"/>
                          <a:cs typeface="Times New Roman"/>
                        </a:rPr>
                        <a:t>1 = Life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2 = Physical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3 = Social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4 = All other</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xmlns="" val="10001"/>
                  </a:ext>
                </a:extLst>
              </a:tr>
              <a:tr h="480978">
                <a:tc>
                  <a:txBody>
                    <a:bodyPr/>
                    <a:lstStyle/>
                    <a:p>
                      <a:pPr marL="0" marR="0">
                        <a:lnSpc>
                          <a:spcPct val="115000"/>
                        </a:lnSpc>
                        <a:spcBef>
                          <a:spcPts val="0"/>
                        </a:spcBef>
                        <a:spcAft>
                          <a:spcPts val="0"/>
                        </a:spcAft>
                      </a:pPr>
                      <a:r>
                        <a:rPr lang="en-US" sz="1800">
                          <a:effectLst/>
                          <a:latin typeface="Times New Roman"/>
                          <a:ea typeface="Calibri"/>
                          <a:cs typeface="Times New Roman"/>
                        </a:rPr>
                        <a:t>Var07</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InstitutionSize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size of the institution that conducted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Ratio</a:t>
                      </a:r>
                    </a:p>
                    <a:p>
                      <a:pPr marL="0" marR="0">
                        <a:lnSpc>
                          <a:spcPct val="115000"/>
                        </a:lnSpc>
                        <a:spcBef>
                          <a:spcPts val="0"/>
                        </a:spcBef>
                        <a:spcAft>
                          <a:spcPts val="0"/>
                        </a:spcAft>
                      </a:pPr>
                      <a:r>
                        <a:rPr lang="en-US" sz="1800" dirty="0">
                          <a:effectLst/>
                          <a:latin typeface="Times New Roman"/>
                          <a:ea typeface="Calibri"/>
                          <a:cs typeface="Times New Roman"/>
                        </a:rPr>
                        <a:t>Continuous values from 0 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a16="http://schemas.microsoft.com/office/drawing/2014/main" xmlns="" val="10002"/>
                  </a:ext>
                </a:extLst>
              </a:tr>
              <a:tr h="626695">
                <a:tc>
                  <a:txBody>
                    <a:bodyPr/>
                    <a:lstStyle/>
                    <a:p>
                      <a:pPr marL="0" marR="0">
                        <a:lnSpc>
                          <a:spcPct val="115000"/>
                        </a:lnSpc>
                        <a:spcBef>
                          <a:spcPts val="0"/>
                        </a:spcBef>
                        <a:spcAft>
                          <a:spcPts val="0"/>
                        </a:spcAft>
                      </a:pPr>
                      <a:r>
                        <a:rPr lang="en-US" sz="1800">
                          <a:effectLst/>
                          <a:latin typeface="Times New Roman"/>
                          <a:ea typeface="Calibri"/>
                          <a:cs typeface="Times New Roman"/>
                        </a:rPr>
                        <a:t>Var08</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AllowedPatent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an allowed U.S. patent.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xmlns="" val="10003"/>
                  </a:ext>
                </a:extLst>
              </a:tr>
              <a:tr h="563248">
                <a:tc>
                  <a:txBody>
                    <a:bodyPr/>
                    <a:lstStyle/>
                    <a:p>
                      <a:pPr marL="0" marR="0">
                        <a:lnSpc>
                          <a:spcPct val="115000"/>
                        </a:lnSpc>
                        <a:spcBef>
                          <a:spcPts val="0"/>
                        </a:spcBef>
                        <a:spcAft>
                          <a:spcPts val="0"/>
                        </a:spcAft>
                      </a:pPr>
                      <a:r>
                        <a:rPr lang="en-US" sz="1800">
                          <a:effectLst/>
                          <a:latin typeface="Times New Roman"/>
                          <a:ea typeface="Calibri"/>
                          <a:cs typeface="Times New Roman"/>
                        </a:rPr>
                        <a:t>Var09</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PatentApp</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disallowed U.S. patent application.</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a16="http://schemas.microsoft.com/office/drawing/2014/main" xmlns="" val="10004"/>
                  </a:ext>
                </a:extLst>
              </a:tr>
            </a:tbl>
          </a:graphicData>
        </a:graphic>
      </p:graphicFrame>
    </p:spTree>
    <p:extLst>
      <p:ext uri="{BB962C8B-B14F-4D97-AF65-F5344CB8AC3E}">
        <p14:creationId xmlns:p14="http://schemas.microsoft.com/office/powerpoint/2010/main" val="42246693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618016735"/>
              </p:ext>
            </p:extLst>
          </p:nvPr>
        </p:nvGraphicFramePr>
        <p:xfrm>
          <a:off x="228600" y="147266"/>
          <a:ext cx="8686800" cy="2839212"/>
        </p:xfrm>
        <a:graphic>
          <a:graphicData uri="http://schemas.openxmlformats.org/drawingml/2006/table">
            <a:tbl>
              <a:tblPr firstRow="1" firstCol="1" bandRow="1"/>
              <a:tblGrid>
                <a:gridCol w="1531918">
                  <a:extLst>
                    <a:ext uri="{9D8B030D-6E8A-4147-A177-3AD203B41FA5}">
                      <a16:colId xmlns:a16="http://schemas.microsoft.com/office/drawing/2014/main" xmlns="" val="20000"/>
                    </a:ext>
                  </a:extLst>
                </a:gridCol>
                <a:gridCol w="4046516">
                  <a:extLst>
                    <a:ext uri="{9D8B030D-6E8A-4147-A177-3AD203B41FA5}">
                      <a16:colId xmlns:a16="http://schemas.microsoft.com/office/drawing/2014/main" xmlns="" val="20001"/>
                    </a:ext>
                  </a:extLst>
                </a:gridCol>
                <a:gridCol w="3108366">
                  <a:extLst>
                    <a:ext uri="{9D8B030D-6E8A-4147-A177-3AD203B41FA5}">
                      <a16:colId xmlns:a16="http://schemas.microsoft.com/office/drawing/2014/main" xmlns="" val="20002"/>
                    </a:ext>
                  </a:extLst>
                </a:gridCol>
              </a:tblGrid>
              <a:tr h="563377">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Description</a:t>
                      </a:r>
                      <a:endParaRPr lang="en-US" sz="1800" dirty="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Value 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extLst>
                  <a:ext uri="{0D108BD9-81ED-4DB2-BD59-A6C34878D82A}">
                    <a16:rowId xmlns:a16="http://schemas.microsoft.com/office/drawing/2014/main" xmlns="" val="10000"/>
                  </a:ext>
                </a:extLst>
              </a:tr>
              <a:tr h="274169">
                <a:tc>
                  <a:txBody>
                    <a:bodyPr/>
                    <a:lstStyle/>
                    <a:p>
                      <a:pPr marL="0" marR="0">
                        <a:lnSpc>
                          <a:spcPct val="115000"/>
                        </a:lnSpc>
                        <a:spcBef>
                          <a:spcPts val="0"/>
                        </a:spcBef>
                        <a:spcAft>
                          <a:spcPts val="0"/>
                        </a:spcAft>
                      </a:pPr>
                      <a:r>
                        <a:rPr lang="en-US" sz="1800" dirty="0">
                          <a:effectLst/>
                          <a:latin typeface="Times New Roman"/>
                          <a:ea typeface="Calibri"/>
                          <a:cs typeface="Times New Roman"/>
                        </a:rPr>
                        <a:t>Var10</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Article</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published peer-reviewed journal article.</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xmlns="" val="10001"/>
                  </a:ext>
                </a:extLst>
              </a:tr>
              <a:tr h="519481">
                <a:tc>
                  <a:txBody>
                    <a:bodyPr/>
                    <a:lstStyle/>
                    <a:p>
                      <a:pPr marL="0" marR="0">
                        <a:lnSpc>
                          <a:spcPct val="115000"/>
                        </a:lnSpc>
                        <a:spcBef>
                          <a:spcPts val="0"/>
                        </a:spcBef>
                        <a:spcAft>
                          <a:spcPts val="0"/>
                        </a:spcAft>
                      </a:pPr>
                      <a:r>
                        <a:rPr lang="en-US" sz="1800">
                          <a:effectLst/>
                          <a:latin typeface="Times New Roman"/>
                          <a:ea typeface="Calibri"/>
                          <a:cs typeface="Times New Roman"/>
                        </a:rPr>
                        <a:t>Var11</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Report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project report.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a16="http://schemas.microsoft.com/office/drawing/2014/main" xmlns="" val="10002"/>
                  </a:ext>
                </a:extLst>
              </a:tr>
            </a:tbl>
          </a:graphicData>
        </a:graphic>
      </p:graphicFrame>
    </p:spTree>
    <p:extLst>
      <p:ext uri="{BB962C8B-B14F-4D97-AF65-F5344CB8AC3E}">
        <p14:creationId xmlns:p14="http://schemas.microsoft.com/office/powerpoint/2010/main" val="29261640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Data Collection</a:t>
            </a:r>
          </a:p>
        </p:txBody>
      </p:sp>
    </p:spTree>
    <p:extLst>
      <p:ext uri="{BB962C8B-B14F-4D97-AF65-F5344CB8AC3E}">
        <p14:creationId xmlns:p14="http://schemas.microsoft.com/office/powerpoint/2010/main" val="16303708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062163" y="182880"/>
            <a:ext cx="5019675" cy="5371624"/>
            <a:chOff x="280988" y="242888"/>
            <a:chExt cx="5019675" cy="5371624"/>
          </a:xfrm>
        </p:grpSpPr>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988" y="242888"/>
              <a:ext cx="5019675" cy="1457325"/>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pic>
          <p:nvPicPr>
            <p:cNvPr id="614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8195" y="1566863"/>
              <a:ext cx="4206240" cy="4047649"/>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grpSp>
    </p:spTree>
    <p:extLst>
      <p:ext uri="{BB962C8B-B14F-4D97-AF65-F5344CB8AC3E}">
        <p14:creationId xmlns:p14="http://schemas.microsoft.com/office/powerpoint/2010/main" val="41373868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l="26377" t="12663" r="27623" b="7955"/>
          <a:stretch/>
        </p:blipFill>
        <p:spPr bwMode="auto">
          <a:xfrm>
            <a:off x="1744653" y="142503"/>
            <a:ext cx="5654694" cy="5486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 name="Picture 3" descr="C:\Users\townesm\Downloads\clipart886407.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74220" y="4330598"/>
            <a:ext cx="1690771" cy="5852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87956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1" name="Picture 3"/>
          <p:cNvPicPr>
            <a:picLocks noChangeAspect="1" noChangeArrowheads="1"/>
          </p:cNvPicPr>
          <p:nvPr/>
        </p:nvPicPr>
        <p:blipFill rotWithShape="1">
          <a:blip r:embed="rId3">
            <a:extLst>
              <a:ext uri="{28A0092B-C50C-407E-A947-70E740481C1C}">
                <a14:useLocalDpi xmlns:a14="http://schemas.microsoft.com/office/drawing/2010/main" val="0"/>
              </a:ext>
            </a:extLst>
          </a:blip>
          <a:srcRect t="12478" b="5471"/>
          <a:stretch/>
        </p:blipFill>
        <p:spPr bwMode="auto">
          <a:xfrm>
            <a:off x="91440" y="182880"/>
            <a:ext cx="8961120" cy="4133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 name="Picture 4" descr="C:\Users\townesm\Downloads\kisspng-close-up-font-underline-5b0c091aeb9c10.6365625315275154189651.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37356" y="2078710"/>
            <a:ext cx="1097280" cy="120774"/>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C:\Users\townesm\Downloads\kisspng-close-up-font-underline-5b0c091aeb9c10.6365625315275154189651.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2476" y="1755622"/>
            <a:ext cx="1097280" cy="1207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66323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3363" b="36183"/>
          <a:stretch/>
        </p:blipFill>
        <p:spPr bwMode="auto">
          <a:xfrm>
            <a:off x="91440" y="182880"/>
            <a:ext cx="8961120" cy="254187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195" name="Picture 3"/>
          <p:cNvPicPr>
            <a:picLocks noChangeAspect="1" noChangeArrowheads="1"/>
          </p:cNvPicPr>
          <p:nvPr/>
        </p:nvPicPr>
        <p:blipFill rotWithShape="1">
          <a:blip r:embed="rId4">
            <a:extLst>
              <a:ext uri="{28A0092B-C50C-407E-A947-70E740481C1C}">
                <a14:useLocalDpi xmlns:a14="http://schemas.microsoft.com/office/drawing/2010/main" val="0"/>
              </a:ext>
            </a:extLst>
          </a:blip>
          <a:srcRect l="26381" t="12927" r="23111" b="33214"/>
          <a:stretch/>
        </p:blipFill>
        <p:spPr bwMode="auto">
          <a:xfrm>
            <a:off x="2586037" y="3154875"/>
            <a:ext cx="3971926" cy="2381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5694356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717"/>
          <a:stretch/>
        </p:blipFill>
        <p:spPr bwMode="auto">
          <a:xfrm>
            <a:off x="91440" y="182880"/>
            <a:ext cx="8961120" cy="412073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170148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t="12735" b="5443"/>
          <a:stretch/>
        </p:blipFill>
        <p:spPr bwMode="auto">
          <a:xfrm>
            <a:off x="91440" y="182880"/>
            <a:ext cx="8961120" cy="4122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971609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482"/>
          <a:stretch/>
        </p:blipFill>
        <p:spPr bwMode="auto">
          <a:xfrm>
            <a:off x="91440" y="182880"/>
            <a:ext cx="8961120" cy="41326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2938391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Data Analysis</a:t>
            </a:r>
          </a:p>
        </p:txBody>
      </p:sp>
    </p:spTree>
    <p:extLst>
      <p:ext uri="{BB962C8B-B14F-4D97-AF65-F5344CB8AC3E}">
        <p14:creationId xmlns:p14="http://schemas.microsoft.com/office/powerpoint/2010/main" val="364836140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Rectangle 1"/>
              <p:cNvSpPr/>
              <p:nvPr/>
            </p:nvSpPr>
            <p:spPr>
              <a:xfrm>
                <a:off x="0" y="712598"/>
                <a:ext cx="9144000" cy="1039708"/>
              </a:xfrm>
              <a:prstGeom prst="rect">
                <a:avLst/>
              </a:prstGeom>
            </p:spPr>
            <p:txBody>
              <a:bodyPr wrap="square" lIns="9144" rIns="9144">
                <a:spAutoFit/>
              </a:bodyPr>
              <a:lstStyle/>
              <a:p>
                <a:pPr marL="228600" marR="0">
                  <a:lnSpc>
                    <a:spcPct val="114000"/>
                  </a:lnSpc>
                  <a:spcBef>
                    <a:spcPts val="0"/>
                  </a:spcBef>
                  <a:spcAft>
                    <a:spcPts val="0"/>
                  </a:spcAft>
                </a:pPr>
                <a:r>
                  <a:rPr lang="en-US" dirty="0">
                    <a:ea typeface="Calibri"/>
                    <a:cs typeface="Times New Roman"/>
                  </a:rPr>
                  <a:t>Logit[</a:t>
                </a:r>
                <a14:m>
                  <m:oMath xmlns:m="http://schemas.openxmlformats.org/officeDocument/2006/math">
                    <m:r>
                      <a:rPr lang="en-US" i="1" dirty="0" smtClean="0">
                        <a:latin typeface="Cambria Math"/>
                        <a:ea typeface="Calibri"/>
                        <a:cs typeface="Times New Roman"/>
                      </a:rPr>
                      <m:t>𝑝</m:t>
                    </m:r>
                  </m:oMath>
                </a14:m>
                <a:r>
                  <a:rPr lang="en-US" dirty="0">
                    <a:latin typeface="Courier New"/>
                    <a:ea typeface="Calibri"/>
                    <a:cs typeface="Times New Roman"/>
                  </a:rPr>
                  <a:t>(</a:t>
                </a:r>
                <a:r>
                  <a:rPr lang="en-US" dirty="0" err="1">
                    <a:latin typeface="Courier New"/>
                    <a:ea typeface="Calibri"/>
                    <a:cs typeface="Times New Roman"/>
                  </a:rPr>
                  <a:t>TechTran</a:t>
                </a:r>
                <a:r>
                  <a:rPr lang="en-US" dirty="0">
                    <a:latin typeface="Courier New"/>
                    <a:ea typeface="Calibri"/>
                    <a:cs typeface="Times New Roman"/>
                  </a:rPr>
                  <a:t>=1)</a:t>
                </a:r>
                <a:r>
                  <a:rPr lang="en-US" dirty="0">
                    <a:ea typeface="Calibri"/>
                    <a:cs typeface="Times New Roman"/>
                  </a:rPr>
                  <a:t>] </a:t>
                </a:r>
                <a:r>
                  <a:rPr lang="en-US" dirty="0">
                    <a:latin typeface="Times New Roman"/>
                    <a:ea typeface="Calibri"/>
                    <a:cs typeface="Times New Roman"/>
                  </a:rPr>
                  <a:t>=  β</a:t>
                </a:r>
                <a:r>
                  <a:rPr lang="en-US" baseline="-25000" dirty="0">
                    <a:latin typeface="Times New Roman"/>
                    <a:ea typeface="Calibri"/>
                    <a:cs typeface="Times New Roman"/>
                  </a:rPr>
                  <a:t>0</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ea typeface="Calibri"/>
                    <a:cs typeface="Times New Roman"/>
                  </a:rPr>
                  <a:t>(Variable) + </a:t>
                </a:r>
                <a:r>
                  <a:rPr lang="en-US" dirty="0">
                    <a:latin typeface="Times New Roman"/>
                    <a:ea typeface="Calibri"/>
                    <a:cs typeface="Times New Roman"/>
                  </a:rPr>
                  <a:t>β</a:t>
                </a:r>
                <a:r>
                  <a:rPr lang="en-US" baseline="-25000" dirty="0">
                    <a:latin typeface="Times New Roman"/>
                    <a:ea typeface="Calibri"/>
                    <a:cs typeface="Times New Roman"/>
                  </a:rPr>
                  <a:t>2</a:t>
                </a:r>
                <a:r>
                  <a:rPr lang="en-US" dirty="0">
                    <a:ea typeface="Calibri"/>
                    <a:cs typeface="Times New Roman"/>
                  </a:rPr>
                  <a:t>(</a:t>
                </a:r>
                <a:r>
                  <a:rPr lang="en-US" dirty="0" err="1">
                    <a:latin typeface="Courier New"/>
                    <a:ea typeface="Calibri"/>
                    <a:cs typeface="Times New Roman"/>
                  </a:rPr>
                  <a:t>TechCat</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3</a:t>
                </a:r>
                <a:r>
                  <a:rPr lang="en-US" dirty="0">
                    <a:ea typeface="Calibri"/>
                    <a:cs typeface="Times New Roman"/>
                  </a:rPr>
                  <a:t>(</a:t>
                </a:r>
                <a:r>
                  <a:rPr lang="en-US" dirty="0" err="1">
                    <a:latin typeface="Courier New"/>
                    <a:ea typeface="Calibri"/>
                    <a:cs typeface="Times New Roman"/>
                  </a:rPr>
                  <a:t>InstitutionSize</a:t>
                </a:r>
                <a:r>
                  <a:rPr lang="en-US" dirty="0">
                    <a:ea typeface="Calibri"/>
                    <a:cs typeface="Times New Roman"/>
                  </a:rPr>
                  <a:t>) </a:t>
                </a:r>
                <a:r>
                  <a:rPr lang="en-US" dirty="0">
                    <a:latin typeface="Times New Roman"/>
                    <a:ea typeface="Calibri"/>
                    <a:cs typeface="Times New Roman"/>
                  </a:rPr>
                  <a:t>+ </a:t>
                </a:r>
                <a:r>
                  <a:rPr lang="en-US" dirty="0">
                    <a:ea typeface="Calibri"/>
                    <a:cs typeface="Times New Roman"/>
                  </a:rPr>
                  <a:t>	</a:t>
                </a:r>
                <a:r>
                  <a:rPr lang="en-US" dirty="0">
                    <a:latin typeface="Times New Roman"/>
                    <a:ea typeface="Calibri"/>
                    <a:cs typeface="Times New Roman"/>
                  </a:rPr>
                  <a:t>		  β</a:t>
                </a:r>
                <a:r>
                  <a:rPr lang="en-US" baseline="-25000" dirty="0">
                    <a:latin typeface="Times New Roman"/>
                    <a:ea typeface="Calibri"/>
                    <a:cs typeface="Times New Roman"/>
                  </a:rPr>
                  <a:t>4</a:t>
                </a:r>
                <a:r>
                  <a:rPr lang="en-US" dirty="0">
                    <a:ea typeface="Calibri"/>
                    <a:cs typeface="Times New Roman"/>
                  </a:rPr>
                  <a:t>(</a:t>
                </a:r>
                <a:r>
                  <a:rPr lang="en-US" dirty="0" err="1">
                    <a:latin typeface="Courier New"/>
                    <a:ea typeface="Calibri"/>
                    <a:cs typeface="Times New Roman"/>
                  </a:rPr>
                  <a:t>AllowedPatent</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5</a:t>
                </a:r>
                <a:r>
                  <a:rPr lang="en-US" dirty="0">
                    <a:ea typeface="Calibri"/>
                    <a:cs typeface="Times New Roman"/>
                  </a:rPr>
                  <a:t>(</a:t>
                </a:r>
                <a:r>
                  <a:rPr lang="en-US" dirty="0" err="1">
                    <a:latin typeface="Courier New"/>
                    <a:ea typeface="Calibri"/>
                    <a:cs typeface="Times New Roman"/>
                  </a:rPr>
                  <a:t>PatentApp</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6</a:t>
                </a:r>
                <a:r>
                  <a:rPr lang="en-US" dirty="0">
                    <a:ea typeface="Calibri"/>
                    <a:cs typeface="Times New Roman"/>
                  </a:rPr>
                  <a:t>(</a:t>
                </a:r>
                <a:r>
                  <a:rPr lang="en-US" dirty="0">
                    <a:latin typeface="Courier New"/>
                    <a:ea typeface="Calibri"/>
                    <a:cs typeface="Times New Roman"/>
                  </a:rPr>
                  <a:t>Article)</a:t>
                </a:r>
                <a:r>
                  <a:rPr lang="en-US" dirty="0">
                    <a:ea typeface="Calibri"/>
                    <a:cs typeface="Times New Roman"/>
                  </a:rPr>
                  <a:t> </a:t>
                </a:r>
                <a:r>
                  <a:rPr lang="en-US" dirty="0">
                    <a:latin typeface="Times New Roman"/>
                    <a:ea typeface="Calibri"/>
                    <a:cs typeface="Times New Roman"/>
                  </a:rPr>
                  <a:t>+ 			  β</a:t>
                </a:r>
                <a:r>
                  <a:rPr lang="en-US" baseline="-25000" dirty="0">
                    <a:latin typeface="Times New Roman"/>
                    <a:ea typeface="Calibri"/>
                    <a:cs typeface="Times New Roman"/>
                  </a:rPr>
                  <a:t>7</a:t>
                </a:r>
                <a:r>
                  <a:rPr lang="en-US" dirty="0">
                    <a:ea typeface="Calibri"/>
                    <a:cs typeface="Times New Roman"/>
                  </a:rPr>
                  <a:t>(</a:t>
                </a:r>
                <a:r>
                  <a:rPr lang="en-US" dirty="0">
                    <a:latin typeface="Courier New"/>
                    <a:ea typeface="Calibri"/>
                    <a:cs typeface="Times New Roman"/>
                  </a:rPr>
                  <a:t>Report</a:t>
                </a:r>
                <a:r>
                  <a:rPr lang="en-US" dirty="0">
                    <a:ea typeface="Calibri"/>
                    <a:cs typeface="Times New Roman"/>
                  </a:rPr>
                  <a:t>) </a:t>
                </a:r>
                <a:r>
                  <a:rPr lang="en-US" dirty="0">
                    <a:ea typeface="Calibri"/>
                    <a:cs typeface="Courier New" panose="02070309020205020404" pitchFamily="49" charset="0"/>
                  </a:rPr>
                  <a:t>+</a:t>
                </a:r>
                <a:r>
                  <a:rPr lang="en-US" dirty="0">
                    <a:ea typeface="Calibri"/>
                    <a:cs typeface="Times New Roman"/>
                  </a:rPr>
                  <a:t> </a:t>
                </a:r>
                <a:r>
                  <a:rPr lang="en-US" dirty="0">
                    <a:latin typeface="Courier New"/>
                    <a:ea typeface="Calibri"/>
                    <a:cs typeface="Times New Roman"/>
                  </a:rPr>
                  <a:t>ε</a:t>
                </a:r>
                <a:r>
                  <a:rPr lang="en-US" sz="1050" dirty="0">
                    <a:ea typeface="Calibri"/>
                    <a:cs typeface="Times New Roman"/>
                  </a:rPr>
                  <a:t> </a:t>
                </a:r>
                <a:r>
                  <a:rPr lang="en-US" sz="1200" dirty="0">
                    <a:ea typeface="Calibri"/>
                    <a:cs typeface="Times New Roman"/>
                  </a:rPr>
                  <a:t> </a:t>
                </a:r>
              </a:p>
            </p:txBody>
          </p:sp>
        </mc:Choice>
        <mc:Fallback xmlns="">
          <p:sp>
            <p:nvSpPr>
              <p:cNvPr id="2" name="Rectangle 1"/>
              <p:cNvSpPr>
                <a:spLocks noRot="1" noChangeAspect="1" noMove="1" noResize="1" noEditPoints="1" noAdjustHandles="1" noChangeArrowheads="1" noChangeShapeType="1" noTextEdit="1"/>
              </p:cNvSpPr>
              <p:nvPr/>
            </p:nvSpPr>
            <p:spPr>
              <a:xfrm>
                <a:off x="0" y="712598"/>
                <a:ext cx="9144000" cy="1039708"/>
              </a:xfrm>
              <a:prstGeom prst="rect">
                <a:avLst/>
              </a:prstGeom>
              <a:blipFill rotWithShape="1">
                <a:blip r:embed="rId3"/>
                <a:stretch>
                  <a:fillRect t="-1765" b="-82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Rectangle 2"/>
              <p:cNvSpPr/>
              <p:nvPr/>
            </p:nvSpPr>
            <p:spPr>
              <a:xfrm>
                <a:off x="3385036" y="1816318"/>
                <a:ext cx="1148071" cy="408125"/>
              </a:xfrm>
              <a:prstGeom prst="rect">
                <a:avLst/>
              </a:prstGeom>
            </p:spPr>
            <p:txBody>
              <a:bodyPr wrap="none">
                <a:spAutoFit/>
              </a:bodyPr>
              <a:lstStyle/>
              <a:p>
                <a:pPr>
                  <a:lnSpc>
                    <a:spcPct val="114000"/>
                  </a:lnSpc>
                </a:pPr>
                <a:r>
                  <a:rPr lang="en-US" dirty="0">
                    <a:ea typeface="Calibri"/>
                    <a:cs typeface="Times New Roman"/>
                  </a:rPr>
                  <a:t>H</a:t>
                </a:r>
                <a:r>
                  <a:rPr lang="en-US" baseline="-25000" dirty="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3" name="Rectangle 2"/>
              <p:cNvSpPr>
                <a:spLocks noRot="1" noChangeAspect="1" noMove="1" noResize="1" noEditPoints="1" noAdjustHandles="1" noChangeArrowheads="1" noChangeShapeType="1" noTextEdit="1"/>
              </p:cNvSpPr>
              <p:nvPr/>
            </p:nvSpPr>
            <p:spPr>
              <a:xfrm>
                <a:off x="3385036" y="1816318"/>
                <a:ext cx="1148071" cy="408125"/>
              </a:xfrm>
              <a:prstGeom prst="rect">
                <a:avLst/>
              </a:prstGeom>
              <a:blipFill rotWithShape="1">
                <a:blip r:embed="rId4"/>
                <a:stretch>
                  <a:fillRect l="-4233" t="-4478" r="-1058"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3385036" y="2224440"/>
                <a:ext cx="1120820" cy="408125"/>
              </a:xfrm>
              <a:prstGeom prst="rect">
                <a:avLst/>
              </a:prstGeom>
            </p:spPr>
            <p:txBody>
              <a:bodyPr wrap="none">
                <a:spAutoFit/>
              </a:bodyPr>
              <a:lstStyle/>
              <a:p>
                <a:pPr>
                  <a:lnSpc>
                    <a:spcPct val="114000"/>
                  </a:lnSpc>
                </a:pPr>
                <a:r>
                  <a:rPr lang="en-US" dirty="0">
                    <a:ea typeface="Calibri"/>
                    <a:cs typeface="Times New Roman"/>
                  </a:rPr>
                  <a:t>H</a:t>
                </a:r>
                <a:r>
                  <a:rPr lang="en-US" baseline="-25000" dirty="0">
                    <a:ea typeface="Calibri"/>
                    <a:cs typeface="Times New Roman"/>
                  </a:rPr>
                  <a:t>A</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sz="1600" dirty="0">
                    <a:ea typeface="Calibri"/>
                    <a:cs typeface="Times New Roman"/>
                  </a:rPr>
                  <a:t> </a:t>
                </a:r>
                <a:r>
                  <a:rPr lang="en-US" dirty="0">
                    <a:ea typeface="Calibri"/>
                    <a:cs typeface="Times New Roman" panose="02020603050405020304" pitchFamily="18" charset="0"/>
                  </a:rPr>
                  <a:t>0</a:t>
                </a:r>
              </a:p>
            </p:txBody>
          </p:sp>
        </mc:Choice>
        <mc:Fallback xmlns="">
          <p:sp>
            <p:nvSpPr>
              <p:cNvPr id="4" name="Rectangle 3"/>
              <p:cNvSpPr>
                <a:spLocks noRot="1" noChangeAspect="1" noMove="1" noResize="1" noEditPoints="1" noAdjustHandles="1" noChangeArrowheads="1" noChangeShapeType="1" noTextEdit="1"/>
              </p:cNvSpPr>
              <p:nvPr/>
            </p:nvSpPr>
            <p:spPr>
              <a:xfrm>
                <a:off x="3385036" y="2224440"/>
                <a:ext cx="1120820" cy="408125"/>
              </a:xfrm>
              <a:prstGeom prst="rect">
                <a:avLst/>
              </a:prstGeom>
              <a:blipFill rotWithShape="1">
                <a:blip r:embed="rId5"/>
                <a:stretch>
                  <a:fillRect l="-4348" t="-4478" r="-3804" b="-17910"/>
                </a:stretch>
              </a:blipFill>
            </p:spPr>
            <p:txBody>
              <a:bodyPr/>
              <a:lstStyle/>
              <a:p>
                <a:r>
                  <a:rPr lang="en-US">
                    <a:noFill/>
                  </a:rPr>
                  <a:t> </a:t>
                </a:r>
              </a:p>
            </p:txBody>
          </p:sp>
        </mc:Fallback>
      </mc:AlternateContent>
      <p:sp>
        <p:nvSpPr>
          <p:cNvPr id="9" name="TextBox 8"/>
          <p:cNvSpPr txBox="1"/>
          <p:nvPr/>
        </p:nvSpPr>
        <p:spPr>
          <a:xfrm>
            <a:off x="5486400" y="1816317"/>
            <a:ext cx="3657600" cy="923330"/>
          </a:xfrm>
          <a:prstGeom prst="rect">
            <a:avLst/>
          </a:prstGeom>
          <a:noFill/>
        </p:spPr>
        <p:txBody>
          <a:bodyPr wrap="square" rtlCol="0">
            <a:spAutoFit/>
          </a:bodyPr>
          <a:lstStyle/>
          <a:p>
            <a:r>
              <a:rPr lang="en-US" dirty="0"/>
              <a:t>Coding for </a:t>
            </a:r>
            <a:r>
              <a:rPr lang="en-US" dirty="0" err="1">
                <a:latin typeface="Courier New" panose="02070309020205020404" pitchFamily="49" charset="0"/>
                <a:cs typeface="Courier New" panose="02070309020205020404" pitchFamily="49" charset="0"/>
              </a:rPr>
              <a:t>TechTran</a:t>
            </a:r>
            <a:r>
              <a:rPr lang="en-US" dirty="0">
                <a:cs typeface="Courier New" panose="02070309020205020404" pitchFamily="49" charset="0"/>
              </a:rPr>
              <a:t>:</a:t>
            </a:r>
            <a:endParaRPr lang="en-US" dirty="0">
              <a:latin typeface="Courier New" panose="02070309020205020404" pitchFamily="49" charset="0"/>
              <a:cs typeface="Courier New" panose="02070309020205020404" pitchFamily="49" charset="0"/>
            </a:endParaRPr>
          </a:p>
          <a:p>
            <a:r>
              <a:rPr lang="en-US" dirty="0"/>
              <a:t>1 = Technology was transferred</a:t>
            </a:r>
          </a:p>
          <a:p>
            <a:r>
              <a:rPr lang="en-US" dirty="0"/>
              <a:t>0 = Technology was NOT transferred</a:t>
            </a:r>
          </a:p>
        </p:txBody>
      </p:sp>
      <p:sp>
        <p:nvSpPr>
          <p:cNvPr id="10" name="TextBox 9"/>
          <p:cNvSpPr txBox="1"/>
          <p:nvPr/>
        </p:nvSpPr>
        <p:spPr>
          <a:xfrm>
            <a:off x="0" y="91440"/>
            <a:ext cx="9144000" cy="523220"/>
          </a:xfrm>
          <a:prstGeom prst="rect">
            <a:avLst/>
          </a:prstGeom>
          <a:noFill/>
        </p:spPr>
        <p:txBody>
          <a:bodyPr wrap="square" rtlCol="0">
            <a:spAutoFit/>
          </a:bodyPr>
          <a:lstStyle/>
          <a:p>
            <a:pPr algn="ctr"/>
            <a:r>
              <a:rPr lang="en-US" sz="2800" b="1" dirty="0"/>
              <a:t>Regression Analyses</a:t>
            </a:r>
          </a:p>
        </p:txBody>
      </p:sp>
      <mc:AlternateContent xmlns:mc="http://schemas.openxmlformats.org/markup-compatibility/2006" xmlns:a14="http://schemas.microsoft.com/office/drawing/2010/main">
        <mc:Choice Requires="a14">
          <p:sp>
            <p:nvSpPr>
              <p:cNvPr id="11" name="Rectangle 10"/>
              <p:cNvSpPr/>
              <p:nvPr/>
            </p:nvSpPr>
            <p:spPr>
              <a:xfrm>
                <a:off x="182869" y="4245111"/>
                <a:ext cx="1263487" cy="408125"/>
              </a:xfrm>
              <a:prstGeom prst="rect">
                <a:avLst/>
              </a:prstGeom>
            </p:spPr>
            <p:txBody>
              <a:bodyPr wrap="none">
                <a:spAutoFit/>
              </a:bodyPr>
              <a:lstStyle/>
              <a:p>
                <a:pPr>
                  <a:lnSpc>
                    <a:spcPct val="114000"/>
                  </a:lnSpc>
                </a:pPr>
                <a:r>
                  <a:rPr lang="en-US" dirty="0">
                    <a:ea typeface="Calibri"/>
                    <a:cs typeface="Times New Roman"/>
                  </a:rPr>
                  <a:t>H2</a:t>
                </a:r>
                <a:r>
                  <a:rPr lang="en-US" baseline="-25000" dirty="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11" name="Rectangle 10"/>
              <p:cNvSpPr>
                <a:spLocks noRot="1" noChangeAspect="1" noMove="1" noResize="1" noEditPoints="1" noAdjustHandles="1" noChangeArrowheads="1" noChangeShapeType="1" noTextEdit="1"/>
              </p:cNvSpPr>
              <p:nvPr/>
            </p:nvSpPr>
            <p:spPr>
              <a:xfrm>
                <a:off x="182869" y="4245111"/>
                <a:ext cx="1263487" cy="408125"/>
              </a:xfrm>
              <a:prstGeom prst="rect">
                <a:avLst/>
              </a:prstGeom>
              <a:blipFill rotWithShape="1">
                <a:blip r:embed="rId6"/>
                <a:stretch>
                  <a:fillRect l="-4348" t="-4478" r="-966"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182869" y="4653236"/>
                <a:ext cx="1245854" cy="388633"/>
              </a:xfrm>
              <a:prstGeom prst="rect">
                <a:avLst/>
              </a:prstGeom>
            </p:spPr>
            <p:txBody>
              <a:bodyPr wrap="none">
                <a:spAutoFit/>
              </a:bodyPr>
              <a:lstStyle/>
              <a:p>
                <a:pPr>
                  <a:lnSpc>
                    <a:spcPct val="114000"/>
                  </a:lnSpc>
                </a:pPr>
                <a:r>
                  <a:rPr lang="en-US" dirty="0">
                    <a:ea typeface="Calibri"/>
                    <a:cs typeface="Times New Roman"/>
                  </a:rPr>
                  <a:t>H2</a:t>
                </a:r>
                <a:r>
                  <a:rPr lang="en-US" baseline="-25000" dirty="0">
                    <a:ea typeface="Calibri"/>
                    <a:cs typeface="Times New Roman"/>
                  </a:rPr>
                  <a:t>A</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dirty="0">
                    <a:ea typeface="Calibri"/>
                    <a:cs typeface="Times New Roman"/>
                  </a:rPr>
                  <a:t> 0</a:t>
                </a:r>
              </a:p>
            </p:txBody>
          </p:sp>
        </mc:Choice>
        <mc:Fallback xmlns="">
          <p:sp>
            <p:nvSpPr>
              <p:cNvPr id="12" name="Rectangle 11"/>
              <p:cNvSpPr>
                <a:spLocks noRot="1" noChangeAspect="1" noMove="1" noResize="1" noEditPoints="1" noAdjustHandles="1" noChangeArrowheads="1" noChangeShapeType="1" noTextEdit="1"/>
              </p:cNvSpPr>
              <p:nvPr/>
            </p:nvSpPr>
            <p:spPr>
              <a:xfrm>
                <a:off x="182869" y="4653236"/>
                <a:ext cx="1245854" cy="388633"/>
              </a:xfrm>
              <a:prstGeom prst="rect">
                <a:avLst/>
              </a:prstGeom>
              <a:blipFill rotWithShape="1">
                <a:blip r:embed="rId7"/>
                <a:stretch>
                  <a:fillRect l="-4412" t="-4688" r="-2941" b="-23438"/>
                </a:stretch>
              </a:blipFill>
            </p:spPr>
            <p:txBody>
              <a:bodyPr/>
              <a:lstStyle/>
              <a:p>
                <a:r>
                  <a:rPr lang="en-US">
                    <a:noFill/>
                  </a:rPr>
                  <a:t> </a:t>
                </a:r>
              </a:p>
            </p:txBody>
          </p:sp>
        </mc:Fallback>
      </mc:AlternateContent>
      <p:sp>
        <p:nvSpPr>
          <p:cNvPr id="13" name="Rectangle 12"/>
          <p:cNvSpPr/>
          <p:nvPr/>
        </p:nvSpPr>
        <p:spPr>
          <a:xfrm>
            <a:off x="0" y="3409466"/>
            <a:ext cx="9144000" cy="723916"/>
          </a:xfrm>
          <a:prstGeom prst="rect">
            <a:avLst/>
          </a:prstGeom>
        </p:spPr>
        <p:txBody>
          <a:bodyPr wrap="square" lIns="9144" rIns="9144">
            <a:spAutoFit/>
          </a:bodyPr>
          <a:lstStyle/>
          <a:p>
            <a:pPr marL="228600" marR="0">
              <a:lnSpc>
                <a:spcPct val="114000"/>
              </a:lnSpc>
              <a:spcBef>
                <a:spcPts val="0"/>
              </a:spcBef>
              <a:spcAft>
                <a:spcPts val="0"/>
              </a:spcAft>
            </a:pPr>
            <a:r>
              <a:rPr lang="en-US" dirty="0">
                <a:latin typeface="Courier New"/>
                <a:ea typeface="Calibri"/>
                <a:cs typeface="Times New Roman"/>
              </a:rPr>
              <a:t>TRL</a:t>
            </a:r>
            <a:r>
              <a:rPr lang="en-US" dirty="0">
                <a:latin typeface="Times New Roman"/>
                <a:ea typeface="Calibri"/>
                <a:cs typeface="Times New Roman"/>
              </a:rPr>
              <a:t> =  β</a:t>
            </a:r>
            <a:r>
              <a:rPr lang="en-US" baseline="-25000" dirty="0">
                <a:latin typeface="Times New Roman"/>
                <a:ea typeface="Calibri"/>
                <a:cs typeface="Times New Roman"/>
              </a:rPr>
              <a:t>0</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ea typeface="Calibri"/>
                <a:cs typeface="Times New Roman"/>
              </a:rPr>
              <a:t>(</a:t>
            </a:r>
            <a:r>
              <a:rPr lang="en-US" dirty="0">
                <a:latin typeface="Courier New"/>
                <a:ea typeface="Calibri"/>
                <a:cs typeface="Times New Roman"/>
              </a:rPr>
              <a:t>Distance</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2</a:t>
            </a:r>
            <a:r>
              <a:rPr lang="en-US" dirty="0">
                <a:ea typeface="Calibri"/>
                <a:cs typeface="Times New Roman"/>
              </a:rPr>
              <a:t>(</a:t>
            </a:r>
            <a:r>
              <a:rPr lang="en-US" dirty="0" err="1">
                <a:latin typeface="Courier New"/>
                <a:ea typeface="Calibri"/>
                <a:cs typeface="Times New Roman"/>
              </a:rPr>
              <a:t>TechCat</a:t>
            </a:r>
            <a:r>
              <a:rPr lang="en-US" dirty="0">
                <a:ea typeface="Calibri"/>
                <a:cs typeface="Times New Roman"/>
              </a:rPr>
              <a:t>) +</a:t>
            </a:r>
            <a:r>
              <a:rPr lang="en-US" dirty="0">
                <a:latin typeface="Times New Roman"/>
                <a:ea typeface="Calibri"/>
                <a:cs typeface="Times New Roman"/>
              </a:rPr>
              <a:t> β</a:t>
            </a:r>
            <a:r>
              <a:rPr lang="en-US" baseline="-25000" dirty="0">
                <a:latin typeface="Times New Roman"/>
                <a:ea typeface="Calibri"/>
                <a:cs typeface="Times New Roman"/>
              </a:rPr>
              <a:t>3</a:t>
            </a:r>
            <a:r>
              <a:rPr lang="en-US" dirty="0">
                <a:ea typeface="Calibri"/>
                <a:cs typeface="Times New Roman"/>
              </a:rPr>
              <a:t>(</a:t>
            </a:r>
            <a:r>
              <a:rPr lang="en-US" dirty="0" err="1">
                <a:latin typeface="Courier New"/>
                <a:ea typeface="Calibri"/>
                <a:cs typeface="Times New Roman"/>
              </a:rPr>
              <a:t>InstitutionSize</a:t>
            </a:r>
            <a:r>
              <a:rPr lang="en-US" dirty="0">
                <a:ea typeface="Calibri"/>
                <a:cs typeface="Times New Roman"/>
              </a:rPr>
              <a:t>) +</a:t>
            </a:r>
            <a:br>
              <a:rPr lang="en-US" dirty="0">
                <a:ea typeface="Calibri"/>
                <a:cs typeface="Times New Roman"/>
              </a:rPr>
            </a:b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4</a:t>
            </a:r>
            <a:r>
              <a:rPr lang="en-US" dirty="0">
                <a:ea typeface="Calibri"/>
                <a:cs typeface="Times New Roman"/>
              </a:rPr>
              <a:t>(</a:t>
            </a:r>
            <a:r>
              <a:rPr lang="en-US" dirty="0" err="1">
                <a:latin typeface="Courier New"/>
                <a:ea typeface="Calibri"/>
                <a:cs typeface="Times New Roman"/>
              </a:rPr>
              <a:t>AllowedPatent</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5</a:t>
            </a:r>
            <a:r>
              <a:rPr lang="en-US" dirty="0">
                <a:ea typeface="Calibri"/>
                <a:cs typeface="Times New Roman"/>
              </a:rPr>
              <a:t>(</a:t>
            </a:r>
            <a:r>
              <a:rPr lang="en-US" dirty="0" err="1">
                <a:latin typeface="Courier New"/>
                <a:ea typeface="Calibri"/>
                <a:cs typeface="Times New Roman"/>
              </a:rPr>
              <a:t>PatentApp</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6</a:t>
            </a:r>
            <a:r>
              <a:rPr lang="en-US" dirty="0">
                <a:ea typeface="Calibri"/>
                <a:cs typeface="Times New Roman"/>
              </a:rPr>
              <a:t>(</a:t>
            </a:r>
            <a:r>
              <a:rPr lang="en-US" dirty="0">
                <a:latin typeface="Courier New"/>
                <a:ea typeface="Calibri"/>
                <a:cs typeface="Times New Roman"/>
              </a:rPr>
              <a:t>Article</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7</a:t>
            </a:r>
            <a:r>
              <a:rPr lang="en-US" dirty="0">
                <a:ea typeface="Calibri"/>
                <a:cs typeface="Times New Roman"/>
              </a:rPr>
              <a:t>(</a:t>
            </a:r>
            <a:r>
              <a:rPr lang="en-US" dirty="0">
                <a:latin typeface="Courier New"/>
                <a:ea typeface="Calibri"/>
                <a:cs typeface="Times New Roman"/>
              </a:rPr>
              <a:t>Report</a:t>
            </a:r>
            <a:r>
              <a:rPr lang="en-US" dirty="0">
                <a:ea typeface="Calibri"/>
                <a:cs typeface="Times New Roman"/>
              </a:rPr>
              <a:t>) </a:t>
            </a:r>
            <a:r>
              <a:rPr lang="en-US" dirty="0">
                <a:ea typeface="Calibri"/>
                <a:cs typeface="Courier New" panose="02070309020205020404" pitchFamily="49" charset="0"/>
              </a:rPr>
              <a:t>+</a:t>
            </a:r>
            <a:r>
              <a:rPr lang="en-US" dirty="0">
                <a:ea typeface="Calibri"/>
                <a:cs typeface="Times New Roman"/>
              </a:rPr>
              <a:t> </a:t>
            </a:r>
            <a:r>
              <a:rPr lang="en-US" dirty="0">
                <a:latin typeface="Courier New"/>
                <a:ea typeface="Calibri"/>
                <a:cs typeface="Times New Roman"/>
              </a:rPr>
              <a:t>ε</a:t>
            </a:r>
            <a:r>
              <a:rPr lang="en-US" sz="1050" dirty="0">
                <a:ea typeface="Calibri"/>
                <a:cs typeface="Times New Roman"/>
              </a:rPr>
              <a:t> </a:t>
            </a:r>
            <a:r>
              <a:rPr lang="en-US" sz="1200" dirty="0">
                <a:ea typeface="Calibri"/>
                <a:cs typeface="Times New Roman"/>
              </a:rPr>
              <a:t> </a:t>
            </a:r>
          </a:p>
        </p:txBody>
      </p:sp>
      <p:sp>
        <p:nvSpPr>
          <p:cNvPr id="14" name="Rectangle 13"/>
          <p:cNvSpPr/>
          <p:nvPr/>
        </p:nvSpPr>
        <p:spPr>
          <a:xfrm>
            <a:off x="182869" y="1816317"/>
            <a:ext cx="1959191" cy="408125"/>
          </a:xfrm>
          <a:prstGeom prst="rect">
            <a:avLst/>
          </a:prstGeom>
        </p:spPr>
        <p:txBody>
          <a:bodyPr wrap="none">
            <a:spAutoFit/>
          </a:bodyPr>
          <a:lstStyle/>
          <a:p>
            <a:pPr>
              <a:lnSpc>
                <a:spcPct val="114000"/>
              </a:lnSpc>
            </a:pPr>
            <a:r>
              <a:rPr lang="en-US" dirty="0">
                <a:ea typeface="Calibri"/>
                <a:cs typeface="Times New Roman"/>
              </a:rPr>
              <a:t>H1: Variable = </a:t>
            </a:r>
            <a:r>
              <a:rPr lang="en-US" dirty="0">
                <a:latin typeface="Courier New" panose="02070309020205020404" pitchFamily="49" charset="0"/>
                <a:ea typeface="Calibri"/>
                <a:cs typeface="Courier New" panose="02070309020205020404" pitchFamily="49" charset="0"/>
              </a:rPr>
              <a:t>TRL</a:t>
            </a:r>
            <a:endParaRPr lang="en-US" sz="1600" dirty="0">
              <a:latin typeface="Courier New" panose="02070309020205020404" pitchFamily="49" charset="0"/>
              <a:ea typeface="Calibri"/>
              <a:cs typeface="Courier New" panose="02070309020205020404" pitchFamily="49" charset="0"/>
            </a:endParaRPr>
          </a:p>
        </p:txBody>
      </p:sp>
      <p:sp>
        <p:nvSpPr>
          <p:cNvPr id="15" name="Rectangle 14"/>
          <p:cNvSpPr/>
          <p:nvPr/>
        </p:nvSpPr>
        <p:spPr>
          <a:xfrm>
            <a:off x="182869" y="2224442"/>
            <a:ext cx="2752677" cy="408125"/>
          </a:xfrm>
          <a:prstGeom prst="rect">
            <a:avLst/>
          </a:prstGeom>
        </p:spPr>
        <p:txBody>
          <a:bodyPr wrap="none">
            <a:spAutoFit/>
          </a:bodyPr>
          <a:lstStyle/>
          <a:p>
            <a:pPr>
              <a:lnSpc>
                <a:spcPct val="114000"/>
              </a:lnSpc>
            </a:pPr>
            <a:r>
              <a:rPr lang="en-US" dirty="0">
                <a:ea typeface="Calibri"/>
                <a:cs typeface="Times New Roman"/>
              </a:rPr>
              <a:t>H3: Variable = </a:t>
            </a:r>
            <a:r>
              <a:rPr lang="en-US" dirty="0">
                <a:latin typeface="Courier New" panose="02070309020205020404" pitchFamily="49" charset="0"/>
                <a:ea typeface="Calibri"/>
                <a:cs typeface="Courier New" panose="02070309020205020404" pitchFamily="49" charset="0"/>
              </a:rPr>
              <a:t>Distance</a:t>
            </a:r>
            <a:endParaRPr lang="en-US" sz="1600" dirty="0">
              <a:latin typeface="Courier New" panose="02070309020205020404" pitchFamily="49" charset="0"/>
              <a:ea typeface="Calibri"/>
              <a:cs typeface="Courier New" panose="02070309020205020404" pitchFamily="49" charset="0"/>
            </a:endParaRPr>
          </a:p>
        </p:txBody>
      </p:sp>
    </p:spTree>
    <p:extLst>
      <p:ext uri="{BB962C8B-B14F-4D97-AF65-F5344CB8AC3E}">
        <p14:creationId xmlns:p14="http://schemas.microsoft.com/office/powerpoint/2010/main" val="19008100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Kendall’s Tau</a:t>
            </a:r>
          </a:p>
        </p:txBody>
      </p:sp>
      <p:graphicFrame>
        <p:nvGraphicFramePr>
          <p:cNvPr id="4" name="Table 3"/>
          <p:cNvGraphicFramePr>
            <a:graphicFrameLocks noGrp="1"/>
          </p:cNvGraphicFramePr>
          <p:nvPr>
            <p:extLst>
              <p:ext uri="{D42A27DB-BD31-4B8C-83A1-F6EECF244321}">
                <p14:modId xmlns:p14="http://schemas.microsoft.com/office/powerpoint/2010/main" val="61076017"/>
              </p:ext>
            </p:extLst>
          </p:nvPr>
        </p:nvGraphicFramePr>
        <p:xfrm>
          <a:off x="82068" y="570018"/>
          <a:ext cx="4321682" cy="2506600"/>
        </p:xfrm>
        <a:graphic>
          <a:graphicData uri="http://schemas.openxmlformats.org/drawingml/2006/table">
            <a:tbl>
              <a:tblPr firstRow="1" bandRow="1">
                <a:tableStyleId>{5C22544A-7EE6-4342-B048-85BDC9FD1C3A}</a:tableStyleId>
              </a:tblPr>
              <a:tblGrid>
                <a:gridCol w="1176146">
                  <a:extLst>
                    <a:ext uri="{9D8B030D-6E8A-4147-A177-3AD203B41FA5}">
                      <a16:colId xmlns:a16="http://schemas.microsoft.com/office/drawing/2014/main" xmlns="" val="20000"/>
                    </a:ext>
                  </a:extLst>
                </a:gridCol>
                <a:gridCol w="1148487">
                  <a:extLst>
                    <a:ext uri="{9D8B030D-6E8A-4147-A177-3AD203B41FA5}">
                      <a16:colId xmlns:a16="http://schemas.microsoft.com/office/drawing/2014/main" xmlns="" val="20001"/>
                    </a:ext>
                  </a:extLst>
                </a:gridCol>
                <a:gridCol w="716889">
                  <a:extLst>
                    <a:ext uri="{9D8B030D-6E8A-4147-A177-3AD203B41FA5}">
                      <a16:colId xmlns:a16="http://schemas.microsoft.com/office/drawing/2014/main" xmlns="" val="20002"/>
                    </a:ext>
                  </a:extLst>
                </a:gridCol>
                <a:gridCol w="651458">
                  <a:extLst>
                    <a:ext uri="{9D8B030D-6E8A-4147-A177-3AD203B41FA5}">
                      <a16:colId xmlns:a16="http://schemas.microsoft.com/office/drawing/2014/main" xmlns="" val="20003"/>
                    </a:ext>
                  </a:extLst>
                </a:gridCol>
                <a:gridCol w="628702">
                  <a:extLst>
                    <a:ext uri="{9D8B030D-6E8A-4147-A177-3AD203B41FA5}">
                      <a16:colId xmlns:a16="http://schemas.microsoft.com/office/drawing/2014/main" xmlns="" val="20004"/>
                    </a:ext>
                  </a:extLst>
                </a:gridCol>
              </a:tblGrid>
              <a:tr h="1080660">
                <a:tc>
                  <a:txBody>
                    <a:bodyPr/>
                    <a:lstStyle/>
                    <a:p>
                      <a:r>
                        <a:rPr lang="en-US" sz="1600" dirty="0"/>
                        <a:t>R&amp;D Project</a:t>
                      </a:r>
                    </a:p>
                  </a:txBody>
                  <a:tcPr anchor="b"/>
                </a:tc>
                <a:tc>
                  <a:txBody>
                    <a:bodyPr/>
                    <a:lstStyle/>
                    <a:p>
                      <a:r>
                        <a:rPr lang="en-US" sz="1600" dirty="0" err="1"/>
                        <a:t>TechTran</a:t>
                      </a:r>
                      <a:endParaRPr lang="en-US" sz="1600" dirty="0"/>
                    </a:p>
                    <a:p>
                      <a:r>
                        <a:rPr lang="en-US" sz="1600" dirty="0"/>
                        <a:t>ranked</a:t>
                      </a:r>
                    </a:p>
                  </a:txBody>
                  <a:tcPr anchor="b"/>
                </a:tc>
                <a:tc>
                  <a:txBody>
                    <a:bodyPr/>
                    <a:lstStyle/>
                    <a:p>
                      <a:r>
                        <a:rPr lang="en-US" sz="1600" dirty="0"/>
                        <a:t>TRL</a:t>
                      </a:r>
                    </a:p>
                  </a:txBody>
                  <a:tcPr anchor="b"/>
                </a:tc>
                <a:tc>
                  <a:txBody>
                    <a:bodyPr/>
                    <a:lstStyle/>
                    <a:p>
                      <a:r>
                        <a:rPr lang="en-US" sz="1600" dirty="0"/>
                        <a:t>Concordant Pairs</a:t>
                      </a:r>
                    </a:p>
                  </a:txBody>
                  <a:tcPr vert="vert270" anchor="b"/>
                </a:tc>
                <a:tc>
                  <a:txBody>
                    <a:bodyPr/>
                    <a:lstStyle/>
                    <a:p>
                      <a:r>
                        <a:rPr lang="en-US" sz="1600" dirty="0"/>
                        <a:t>Discordant Pairs</a:t>
                      </a:r>
                    </a:p>
                  </a:txBody>
                  <a:tcPr vert="vert270" anchor="b"/>
                </a:tc>
                <a:extLst>
                  <a:ext uri="{0D108BD9-81ED-4DB2-BD59-A6C34878D82A}">
                    <a16:rowId xmlns:a16="http://schemas.microsoft.com/office/drawing/2014/main" xmlns="" val="10000"/>
                  </a:ext>
                </a:extLst>
              </a:tr>
              <a:tr h="356485">
                <a:tc>
                  <a:txBody>
                    <a:bodyPr/>
                    <a:lstStyle/>
                    <a:p>
                      <a:r>
                        <a:rPr lang="en-US" sz="1600" dirty="0"/>
                        <a:t>Project 1</a:t>
                      </a:r>
                    </a:p>
                  </a:txBody>
                  <a:tcPr/>
                </a:tc>
                <a:tc>
                  <a:txBody>
                    <a:bodyPr/>
                    <a:lstStyle/>
                    <a:p>
                      <a:r>
                        <a:rPr lang="en-US" sz="1600" dirty="0"/>
                        <a:t>TechTran</a:t>
                      </a:r>
                      <a:r>
                        <a:rPr lang="en-US" sz="1600" baseline="-25000" dirty="0"/>
                        <a:t>1</a:t>
                      </a:r>
                      <a:endParaRPr lang="en-US" sz="1600" dirty="0"/>
                    </a:p>
                  </a:txBody>
                  <a:tcPr/>
                </a:tc>
                <a:tc>
                  <a:txBody>
                    <a:bodyPr/>
                    <a:lstStyle/>
                    <a:p>
                      <a:r>
                        <a:rPr lang="en-US" sz="1600" dirty="0"/>
                        <a:t>TRL</a:t>
                      </a:r>
                      <a:r>
                        <a:rPr lang="en-US" sz="1600" baseline="-25000" dirty="0"/>
                        <a:t>1</a:t>
                      </a:r>
                      <a:endParaRPr lang="en-US" sz="1600" dirty="0"/>
                    </a:p>
                  </a:txBody>
                  <a:tcPr/>
                </a:tc>
                <a:tc>
                  <a:txBody>
                    <a:bodyPr/>
                    <a:lstStyle/>
                    <a:p>
                      <a:r>
                        <a:rPr lang="en-US" sz="1600" baseline="0" dirty="0"/>
                        <a:t>C</a:t>
                      </a:r>
                      <a:r>
                        <a:rPr lang="en-US" sz="1600" baseline="-25000" dirty="0"/>
                        <a:t>1</a:t>
                      </a:r>
                      <a:endParaRPr lang="en-US" sz="1600" dirty="0"/>
                    </a:p>
                  </a:txBody>
                  <a:tcPr/>
                </a:tc>
                <a:tc>
                  <a:txBody>
                    <a:bodyPr/>
                    <a:lstStyle/>
                    <a:p>
                      <a:r>
                        <a:rPr lang="en-US" sz="1600" dirty="0"/>
                        <a:t>D</a:t>
                      </a:r>
                      <a:r>
                        <a:rPr lang="en-US" sz="1600" baseline="-25000" dirty="0"/>
                        <a:t>1</a:t>
                      </a:r>
                      <a:endParaRPr lang="en-US" sz="1600" dirty="0"/>
                    </a:p>
                  </a:txBody>
                  <a:tcPr/>
                </a:tc>
                <a:extLst>
                  <a:ext uri="{0D108BD9-81ED-4DB2-BD59-A6C34878D82A}">
                    <a16:rowId xmlns:a16="http://schemas.microsoft.com/office/drawing/2014/main" xmlns="" val="10001"/>
                  </a:ext>
                </a:extLst>
              </a:tr>
              <a:tr h="356485">
                <a:tc>
                  <a:txBody>
                    <a:bodyPr/>
                    <a:lstStyle/>
                    <a:p>
                      <a:r>
                        <a:rPr lang="en-US" sz="1600" dirty="0"/>
                        <a:t>Project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a16="http://schemas.microsoft.com/office/drawing/2014/main" xmlns="" val="10002"/>
                  </a:ext>
                </a:extLst>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extLst>
                  <a:ext uri="{0D108BD9-81ED-4DB2-BD59-A6C34878D82A}">
                    <a16:rowId xmlns:a16="http://schemas.microsoft.com/office/drawing/2014/main" xmlns="" val="10003"/>
                  </a:ext>
                </a:extLst>
              </a:tr>
              <a:tr h="356485">
                <a:tc>
                  <a:txBody>
                    <a:bodyPr/>
                    <a:lstStyle/>
                    <a:p>
                      <a:r>
                        <a:rPr lang="en-US" sz="1600" dirty="0"/>
                        <a:t>Project 400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a16="http://schemas.microsoft.com/office/drawing/2014/main" xmlns="" val="10004"/>
                  </a:ext>
                </a:extLst>
              </a:tr>
            </a:tbl>
          </a:graphicData>
        </a:graphic>
      </p:graphicFrame>
      <p:grpSp>
        <p:nvGrpSpPr>
          <p:cNvPr id="10" name="Group 9"/>
          <p:cNvGrpSpPr/>
          <p:nvPr/>
        </p:nvGrpSpPr>
        <p:grpSpPr>
          <a:xfrm>
            <a:off x="116207" y="2351355"/>
            <a:ext cx="4164793" cy="380016"/>
            <a:chOff x="719194" y="2802571"/>
            <a:chExt cx="4164793" cy="380016"/>
          </a:xfrm>
        </p:grpSpPr>
        <p:sp>
          <p:nvSpPr>
            <p:cNvPr id="5" name="TextBox 4"/>
            <p:cNvSpPr txBox="1"/>
            <p:nvPr/>
          </p:nvSpPr>
          <p:spPr>
            <a:xfrm>
              <a:off x="719194" y="2802576"/>
              <a:ext cx="461665" cy="380011"/>
            </a:xfrm>
            <a:prstGeom prst="rect">
              <a:avLst/>
            </a:prstGeom>
            <a:noFill/>
          </p:spPr>
          <p:txBody>
            <a:bodyPr vert="vert270" wrap="square" rtlCol="0" anchor="ctr">
              <a:spAutoFit/>
            </a:bodyPr>
            <a:lstStyle/>
            <a:p>
              <a:pPr algn="ctr"/>
              <a:r>
                <a:rPr lang="en-US" dirty="0"/>
                <a:t>…</a:t>
              </a:r>
            </a:p>
          </p:txBody>
        </p:sp>
        <p:sp>
          <p:nvSpPr>
            <p:cNvPr id="6" name="TextBox 5"/>
            <p:cNvSpPr txBox="1"/>
            <p:nvPr/>
          </p:nvSpPr>
          <p:spPr>
            <a:xfrm>
              <a:off x="1902730" y="2802573"/>
              <a:ext cx="461665" cy="380011"/>
            </a:xfrm>
            <a:prstGeom prst="rect">
              <a:avLst/>
            </a:prstGeom>
            <a:noFill/>
          </p:spPr>
          <p:txBody>
            <a:bodyPr vert="vert270" wrap="square" rtlCol="0" anchor="ctr">
              <a:spAutoFit/>
            </a:bodyPr>
            <a:lstStyle/>
            <a:p>
              <a:pPr algn="ctr"/>
              <a:r>
                <a:rPr lang="en-US" dirty="0"/>
                <a:t>…</a:t>
              </a:r>
            </a:p>
          </p:txBody>
        </p:sp>
        <p:sp>
          <p:nvSpPr>
            <p:cNvPr id="7" name="TextBox 6"/>
            <p:cNvSpPr txBox="1"/>
            <p:nvPr/>
          </p:nvSpPr>
          <p:spPr>
            <a:xfrm>
              <a:off x="2676643" y="2802576"/>
              <a:ext cx="461665" cy="380011"/>
            </a:xfrm>
            <a:prstGeom prst="rect">
              <a:avLst/>
            </a:prstGeom>
            <a:noFill/>
          </p:spPr>
          <p:txBody>
            <a:bodyPr vert="vert270" wrap="square" rtlCol="0" anchor="ctr">
              <a:spAutoFit/>
            </a:bodyPr>
            <a:lstStyle/>
            <a:p>
              <a:pPr algn="ctr"/>
              <a:r>
                <a:rPr lang="en-US" dirty="0"/>
                <a:t>…</a:t>
              </a:r>
            </a:p>
          </p:txBody>
        </p:sp>
        <p:sp>
          <p:nvSpPr>
            <p:cNvPr id="8" name="TextBox 7"/>
            <p:cNvSpPr txBox="1"/>
            <p:nvPr/>
          </p:nvSpPr>
          <p:spPr>
            <a:xfrm>
              <a:off x="3834952" y="2802572"/>
              <a:ext cx="461665" cy="380011"/>
            </a:xfrm>
            <a:prstGeom prst="rect">
              <a:avLst/>
            </a:prstGeom>
            <a:noFill/>
          </p:spPr>
          <p:txBody>
            <a:bodyPr vert="vert270" wrap="square" rtlCol="0" anchor="ctr">
              <a:spAutoFit/>
            </a:bodyPr>
            <a:lstStyle/>
            <a:p>
              <a:pPr algn="ctr"/>
              <a:r>
                <a:rPr lang="en-US" dirty="0"/>
                <a:t>…</a:t>
              </a:r>
            </a:p>
          </p:txBody>
        </p:sp>
        <p:sp>
          <p:nvSpPr>
            <p:cNvPr id="9" name="TextBox 8"/>
            <p:cNvSpPr txBox="1"/>
            <p:nvPr/>
          </p:nvSpPr>
          <p:spPr>
            <a:xfrm>
              <a:off x="4422322" y="2802571"/>
              <a:ext cx="461665" cy="380011"/>
            </a:xfrm>
            <a:prstGeom prst="rect">
              <a:avLst/>
            </a:prstGeom>
            <a:noFill/>
          </p:spPr>
          <p:txBody>
            <a:bodyPr vert="vert270" wrap="square" rtlCol="0" anchor="ctr">
              <a:spAutoFit/>
            </a:bodyPr>
            <a:lstStyle/>
            <a:p>
              <a:pPr algn="ctr"/>
              <a:r>
                <a:rPr lang="en-US" dirty="0"/>
                <a:t>…</a:t>
              </a:r>
            </a:p>
          </p:txBody>
        </p:sp>
      </p:grpSp>
      <p:graphicFrame>
        <p:nvGraphicFramePr>
          <p:cNvPr id="11" name="Table 10"/>
          <p:cNvGraphicFramePr>
            <a:graphicFrameLocks noGrp="1"/>
          </p:cNvGraphicFramePr>
          <p:nvPr>
            <p:extLst>
              <p:ext uri="{D42A27DB-BD31-4B8C-83A1-F6EECF244321}">
                <p14:modId xmlns:p14="http://schemas.microsoft.com/office/powerpoint/2010/main" val="224813904"/>
              </p:ext>
            </p:extLst>
          </p:nvPr>
        </p:nvGraphicFramePr>
        <p:xfrm>
          <a:off x="4670205" y="570019"/>
          <a:ext cx="4276285" cy="2506597"/>
        </p:xfrm>
        <a:graphic>
          <a:graphicData uri="http://schemas.openxmlformats.org/drawingml/2006/table">
            <a:tbl>
              <a:tblPr firstRow="1" bandRow="1">
                <a:tableStyleId>{5C22544A-7EE6-4342-B048-85BDC9FD1C3A}</a:tableStyleId>
              </a:tblPr>
              <a:tblGrid>
                <a:gridCol w="1160009">
                  <a:extLst>
                    <a:ext uri="{9D8B030D-6E8A-4147-A177-3AD203B41FA5}">
                      <a16:colId xmlns:a16="http://schemas.microsoft.com/office/drawing/2014/main" xmlns="" val="20000"/>
                    </a:ext>
                  </a:extLst>
                </a:gridCol>
                <a:gridCol w="1133856">
                  <a:extLst>
                    <a:ext uri="{9D8B030D-6E8A-4147-A177-3AD203B41FA5}">
                      <a16:colId xmlns:a16="http://schemas.microsoft.com/office/drawing/2014/main" xmlns="" val="20001"/>
                    </a:ext>
                  </a:extLst>
                </a:gridCol>
                <a:gridCol w="724205">
                  <a:extLst>
                    <a:ext uri="{9D8B030D-6E8A-4147-A177-3AD203B41FA5}">
                      <a16:colId xmlns:a16="http://schemas.microsoft.com/office/drawing/2014/main" xmlns="" val="20002"/>
                    </a:ext>
                  </a:extLst>
                </a:gridCol>
                <a:gridCol w="547104">
                  <a:extLst>
                    <a:ext uri="{9D8B030D-6E8A-4147-A177-3AD203B41FA5}">
                      <a16:colId xmlns:a16="http://schemas.microsoft.com/office/drawing/2014/main" xmlns="" val="20003"/>
                    </a:ext>
                  </a:extLst>
                </a:gridCol>
                <a:gridCol w="711111">
                  <a:extLst>
                    <a:ext uri="{9D8B030D-6E8A-4147-A177-3AD203B41FA5}">
                      <a16:colId xmlns:a16="http://schemas.microsoft.com/office/drawing/2014/main" xmlns="" val="20004"/>
                    </a:ext>
                  </a:extLst>
                </a:gridCol>
              </a:tblGrid>
              <a:tr h="1080657">
                <a:tc>
                  <a:txBody>
                    <a:bodyPr/>
                    <a:lstStyle/>
                    <a:p>
                      <a:r>
                        <a:rPr lang="en-US" sz="1600" dirty="0"/>
                        <a:t>R&amp;D Project</a:t>
                      </a:r>
                    </a:p>
                  </a:txBody>
                  <a:tcPr anchor="b"/>
                </a:tc>
                <a:tc>
                  <a:txBody>
                    <a:bodyPr/>
                    <a:lstStyle/>
                    <a:p>
                      <a:r>
                        <a:rPr lang="en-US" sz="1600" dirty="0" err="1"/>
                        <a:t>TechTran</a:t>
                      </a:r>
                      <a:endParaRPr lang="en-US" sz="1600" dirty="0"/>
                    </a:p>
                    <a:p>
                      <a:r>
                        <a:rPr lang="en-US" sz="1600" dirty="0"/>
                        <a:t>ranked</a:t>
                      </a:r>
                    </a:p>
                  </a:txBody>
                  <a:tcPr anchor="b"/>
                </a:tc>
                <a:tc>
                  <a:txBody>
                    <a:bodyPr/>
                    <a:lstStyle/>
                    <a:p>
                      <a:pPr algn="l"/>
                      <a:r>
                        <a:rPr lang="en-US" sz="1600" dirty="0"/>
                        <a:t>Distance</a:t>
                      </a:r>
                    </a:p>
                  </a:txBody>
                  <a:tcPr vert="vert270" anchor="ctr"/>
                </a:tc>
                <a:tc>
                  <a:txBody>
                    <a:bodyPr/>
                    <a:lstStyle/>
                    <a:p>
                      <a:r>
                        <a:rPr lang="en-US" sz="1600" dirty="0"/>
                        <a:t>Concordant Pairs</a:t>
                      </a:r>
                    </a:p>
                  </a:txBody>
                  <a:tcPr vert="vert270" anchor="b"/>
                </a:tc>
                <a:tc>
                  <a:txBody>
                    <a:bodyPr/>
                    <a:lstStyle/>
                    <a:p>
                      <a:r>
                        <a:rPr lang="en-US" sz="1600" dirty="0"/>
                        <a:t>Discordant Pairs</a:t>
                      </a:r>
                    </a:p>
                  </a:txBody>
                  <a:tcPr vert="vert270" anchor="b"/>
                </a:tc>
                <a:extLst>
                  <a:ext uri="{0D108BD9-81ED-4DB2-BD59-A6C34878D82A}">
                    <a16:rowId xmlns:a16="http://schemas.microsoft.com/office/drawing/2014/main" xmlns="" val="10000"/>
                  </a:ext>
                </a:extLst>
              </a:tr>
              <a:tr h="356485">
                <a:tc>
                  <a:txBody>
                    <a:bodyPr/>
                    <a:lstStyle/>
                    <a:p>
                      <a:r>
                        <a:rPr lang="en-US" sz="1600" dirty="0"/>
                        <a:t>Project 1</a:t>
                      </a:r>
                    </a:p>
                  </a:txBody>
                  <a:tcPr/>
                </a:tc>
                <a:tc>
                  <a:txBody>
                    <a:bodyPr/>
                    <a:lstStyle/>
                    <a:p>
                      <a:r>
                        <a:rPr lang="en-US" sz="1600" dirty="0"/>
                        <a:t>TechTran</a:t>
                      </a:r>
                      <a:r>
                        <a:rPr lang="en-US" sz="1600" baseline="-25000" dirty="0"/>
                        <a:t>1</a:t>
                      </a:r>
                      <a:endParaRPr lang="en-US" sz="1600" dirty="0"/>
                    </a:p>
                  </a:txBody>
                  <a:tcPr/>
                </a:tc>
                <a:tc>
                  <a:txBody>
                    <a:bodyPr/>
                    <a:lstStyle/>
                    <a:p>
                      <a:r>
                        <a:rPr lang="en-US" sz="1600" baseline="0" dirty="0"/>
                        <a:t>Dist</a:t>
                      </a:r>
                      <a:r>
                        <a:rPr lang="en-US" sz="1600" baseline="-25000" dirty="0"/>
                        <a:t>1</a:t>
                      </a:r>
                      <a:endParaRPr lang="en-US" sz="1600" dirty="0"/>
                    </a:p>
                  </a:txBody>
                  <a:tcPr/>
                </a:tc>
                <a:tc>
                  <a:txBody>
                    <a:bodyPr/>
                    <a:lstStyle/>
                    <a:p>
                      <a:r>
                        <a:rPr lang="en-US" sz="1600" baseline="0" dirty="0"/>
                        <a:t>C</a:t>
                      </a:r>
                      <a:r>
                        <a:rPr lang="en-US" sz="1600" baseline="-25000" dirty="0"/>
                        <a:t>1</a:t>
                      </a:r>
                      <a:endParaRPr lang="en-US" sz="1600" dirty="0"/>
                    </a:p>
                  </a:txBody>
                  <a:tcPr/>
                </a:tc>
                <a:tc>
                  <a:txBody>
                    <a:bodyPr/>
                    <a:lstStyle/>
                    <a:p>
                      <a:r>
                        <a:rPr lang="en-US" sz="1600" dirty="0"/>
                        <a:t>D</a:t>
                      </a:r>
                      <a:r>
                        <a:rPr lang="en-US" sz="1600" baseline="-25000" dirty="0"/>
                        <a:t>1</a:t>
                      </a:r>
                      <a:endParaRPr lang="en-US" sz="1600" dirty="0"/>
                    </a:p>
                  </a:txBody>
                  <a:tcPr/>
                </a:tc>
                <a:extLst>
                  <a:ext uri="{0D108BD9-81ED-4DB2-BD59-A6C34878D82A}">
                    <a16:rowId xmlns:a16="http://schemas.microsoft.com/office/drawing/2014/main" xmlns="" val="10001"/>
                  </a:ext>
                </a:extLst>
              </a:tr>
              <a:tr h="356485">
                <a:tc>
                  <a:txBody>
                    <a:bodyPr/>
                    <a:lstStyle/>
                    <a:p>
                      <a:r>
                        <a:rPr lang="en-US" sz="1600" dirty="0"/>
                        <a:t>Project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a16="http://schemas.microsoft.com/office/drawing/2014/main" xmlns="" val="10002"/>
                  </a:ext>
                </a:extLst>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extLst>
                  <a:ext uri="{0D108BD9-81ED-4DB2-BD59-A6C34878D82A}">
                    <a16:rowId xmlns:a16="http://schemas.microsoft.com/office/drawing/2014/main" xmlns="" val="10003"/>
                  </a:ext>
                </a:extLst>
              </a:tr>
              <a:tr h="356485">
                <a:tc>
                  <a:txBody>
                    <a:bodyPr/>
                    <a:lstStyle/>
                    <a:p>
                      <a:r>
                        <a:rPr lang="en-US" sz="1600" dirty="0"/>
                        <a:t>Project 400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a16="http://schemas.microsoft.com/office/drawing/2014/main" xmlns="" val="10004"/>
                  </a:ext>
                </a:extLst>
              </a:tr>
            </a:tbl>
          </a:graphicData>
        </a:graphic>
      </p:graphicFrame>
      <p:grpSp>
        <p:nvGrpSpPr>
          <p:cNvPr id="18" name="Group 17"/>
          <p:cNvGrpSpPr/>
          <p:nvPr/>
        </p:nvGrpSpPr>
        <p:grpSpPr>
          <a:xfrm>
            <a:off x="4658790" y="2351360"/>
            <a:ext cx="4164793" cy="380016"/>
            <a:chOff x="719194" y="2802571"/>
            <a:chExt cx="4164793" cy="380016"/>
          </a:xfrm>
        </p:grpSpPr>
        <p:sp>
          <p:nvSpPr>
            <p:cNvPr id="19" name="TextBox 18"/>
            <p:cNvSpPr txBox="1"/>
            <p:nvPr/>
          </p:nvSpPr>
          <p:spPr>
            <a:xfrm>
              <a:off x="719194" y="2802576"/>
              <a:ext cx="461665" cy="380011"/>
            </a:xfrm>
            <a:prstGeom prst="rect">
              <a:avLst/>
            </a:prstGeom>
            <a:noFill/>
          </p:spPr>
          <p:txBody>
            <a:bodyPr vert="vert270" wrap="square" rtlCol="0" anchor="ctr">
              <a:spAutoFit/>
            </a:bodyPr>
            <a:lstStyle/>
            <a:p>
              <a:pPr algn="ctr"/>
              <a:r>
                <a:rPr lang="en-US" dirty="0"/>
                <a:t>…</a:t>
              </a:r>
            </a:p>
          </p:txBody>
        </p:sp>
        <p:sp>
          <p:nvSpPr>
            <p:cNvPr id="20" name="TextBox 19"/>
            <p:cNvSpPr txBox="1"/>
            <p:nvPr/>
          </p:nvSpPr>
          <p:spPr>
            <a:xfrm>
              <a:off x="1902730" y="2802573"/>
              <a:ext cx="461665" cy="380011"/>
            </a:xfrm>
            <a:prstGeom prst="rect">
              <a:avLst/>
            </a:prstGeom>
            <a:noFill/>
          </p:spPr>
          <p:txBody>
            <a:bodyPr vert="vert270" wrap="square" rtlCol="0" anchor="ctr">
              <a:spAutoFit/>
            </a:bodyPr>
            <a:lstStyle/>
            <a:p>
              <a:pPr algn="ctr"/>
              <a:r>
                <a:rPr lang="en-US" dirty="0"/>
                <a:t>…</a:t>
              </a:r>
            </a:p>
          </p:txBody>
        </p:sp>
        <p:sp>
          <p:nvSpPr>
            <p:cNvPr id="21" name="TextBox 20"/>
            <p:cNvSpPr txBox="1"/>
            <p:nvPr/>
          </p:nvSpPr>
          <p:spPr>
            <a:xfrm>
              <a:off x="2676643" y="2802576"/>
              <a:ext cx="461665" cy="380011"/>
            </a:xfrm>
            <a:prstGeom prst="rect">
              <a:avLst/>
            </a:prstGeom>
            <a:noFill/>
          </p:spPr>
          <p:txBody>
            <a:bodyPr vert="vert270" wrap="square" rtlCol="0" anchor="ctr">
              <a:spAutoFit/>
            </a:bodyPr>
            <a:lstStyle/>
            <a:p>
              <a:pPr algn="ctr"/>
              <a:r>
                <a:rPr lang="en-US" dirty="0"/>
                <a:t>…</a:t>
              </a:r>
            </a:p>
          </p:txBody>
        </p:sp>
        <p:sp>
          <p:nvSpPr>
            <p:cNvPr id="22" name="TextBox 21"/>
            <p:cNvSpPr txBox="1"/>
            <p:nvPr/>
          </p:nvSpPr>
          <p:spPr>
            <a:xfrm>
              <a:off x="3834952" y="2802572"/>
              <a:ext cx="461665" cy="380011"/>
            </a:xfrm>
            <a:prstGeom prst="rect">
              <a:avLst/>
            </a:prstGeom>
            <a:noFill/>
          </p:spPr>
          <p:txBody>
            <a:bodyPr vert="vert270" wrap="square" rtlCol="0" anchor="ctr">
              <a:spAutoFit/>
            </a:bodyPr>
            <a:lstStyle/>
            <a:p>
              <a:pPr algn="ctr"/>
              <a:r>
                <a:rPr lang="en-US" dirty="0"/>
                <a:t>…</a:t>
              </a:r>
            </a:p>
          </p:txBody>
        </p:sp>
        <p:sp>
          <p:nvSpPr>
            <p:cNvPr id="23" name="TextBox 22"/>
            <p:cNvSpPr txBox="1"/>
            <p:nvPr/>
          </p:nvSpPr>
          <p:spPr>
            <a:xfrm>
              <a:off x="4422322" y="2802571"/>
              <a:ext cx="461665" cy="380011"/>
            </a:xfrm>
            <a:prstGeom prst="rect">
              <a:avLst/>
            </a:prstGeom>
            <a:noFill/>
          </p:spPr>
          <p:txBody>
            <a:bodyPr vert="vert270" wrap="square" rtlCol="0" anchor="ctr">
              <a:spAutoFit/>
            </a:bodyPr>
            <a:lstStyle/>
            <a:p>
              <a:pPr algn="ctr"/>
              <a:r>
                <a:rPr lang="en-US" dirty="0"/>
                <a:t>…</a:t>
              </a:r>
            </a:p>
          </p:txBody>
        </p:sp>
      </p:grpSp>
      <p:graphicFrame>
        <p:nvGraphicFramePr>
          <p:cNvPr id="24" name="Table 23"/>
          <p:cNvGraphicFramePr>
            <a:graphicFrameLocks noGrp="1"/>
          </p:cNvGraphicFramePr>
          <p:nvPr>
            <p:extLst>
              <p:ext uri="{D42A27DB-BD31-4B8C-83A1-F6EECF244321}">
                <p14:modId xmlns:p14="http://schemas.microsoft.com/office/powerpoint/2010/main" val="2815652249"/>
              </p:ext>
            </p:extLst>
          </p:nvPr>
        </p:nvGraphicFramePr>
        <p:xfrm>
          <a:off x="116207" y="3172775"/>
          <a:ext cx="4288051" cy="2506600"/>
        </p:xfrm>
        <a:graphic>
          <a:graphicData uri="http://schemas.openxmlformats.org/drawingml/2006/table">
            <a:tbl>
              <a:tblPr firstRow="1" bandRow="1">
                <a:tableStyleId>{5C22544A-7EE6-4342-B048-85BDC9FD1C3A}</a:tableStyleId>
              </a:tblPr>
              <a:tblGrid>
                <a:gridCol w="1181251">
                  <a:extLst>
                    <a:ext uri="{9D8B030D-6E8A-4147-A177-3AD203B41FA5}">
                      <a16:colId xmlns:a16="http://schemas.microsoft.com/office/drawing/2014/main" xmlns="" val="20000"/>
                    </a:ext>
                  </a:extLst>
                </a:gridCol>
                <a:gridCol w="786422">
                  <a:extLst>
                    <a:ext uri="{9D8B030D-6E8A-4147-A177-3AD203B41FA5}">
                      <a16:colId xmlns:a16="http://schemas.microsoft.com/office/drawing/2014/main" xmlns="" val="20001"/>
                    </a:ext>
                  </a:extLst>
                </a:gridCol>
                <a:gridCol w="1169121">
                  <a:extLst>
                    <a:ext uri="{9D8B030D-6E8A-4147-A177-3AD203B41FA5}">
                      <a16:colId xmlns:a16="http://schemas.microsoft.com/office/drawing/2014/main" xmlns="" val="20002"/>
                    </a:ext>
                  </a:extLst>
                </a:gridCol>
                <a:gridCol w="583121">
                  <a:extLst>
                    <a:ext uri="{9D8B030D-6E8A-4147-A177-3AD203B41FA5}">
                      <a16:colId xmlns:a16="http://schemas.microsoft.com/office/drawing/2014/main" xmlns="" val="20003"/>
                    </a:ext>
                  </a:extLst>
                </a:gridCol>
                <a:gridCol w="568136">
                  <a:extLst>
                    <a:ext uri="{9D8B030D-6E8A-4147-A177-3AD203B41FA5}">
                      <a16:colId xmlns:a16="http://schemas.microsoft.com/office/drawing/2014/main" xmlns="" val="20004"/>
                    </a:ext>
                  </a:extLst>
                </a:gridCol>
              </a:tblGrid>
              <a:tr h="1080660">
                <a:tc>
                  <a:txBody>
                    <a:bodyPr/>
                    <a:lstStyle/>
                    <a:p>
                      <a:r>
                        <a:rPr lang="en-US" sz="1600" dirty="0"/>
                        <a:t>R&amp;D Project</a:t>
                      </a:r>
                    </a:p>
                  </a:txBody>
                  <a:tcPr anchor="b"/>
                </a:tc>
                <a:tc>
                  <a:txBody>
                    <a:bodyPr/>
                    <a:lstStyle/>
                    <a:p>
                      <a:r>
                        <a:rPr lang="en-US" sz="1600" dirty="0"/>
                        <a:t>TRL</a:t>
                      </a:r>
                    </a:p>
                    <a:p>
                      <a:r>
                        <a:rPr lang="en-US" sz="1600" dirty="0"/>
                        <a:t>ranked</a:t>
                      </a:r>
                    </a:p>
                  </a:txBody>
                  <a:tcPr anchor="b"/>
                </a:tc>
                <a:tc>
                  <a:txBody>
                    <a:bodyPr/>
                    <a:lstStyle/>
                    <a:p>
                      <a:r>
                        <a:rPr lang="en-US" sz="1600" dirty="0"/>
                        <a:t>Distance</a:t>
                      </a:r>
                    </a:p>
                  </a:txBody>
                  <a:tcPr anchor="b"/>
                </a:tc>
                <a:tc>
                  <a:txBody>
                    <a:bodyPr/>
                    <a:lstStyle/>
                    <a:p>
                      <a:r>
                        <a:rPr lang="en-US" sz="1600" dirty="0"/>
                        <a:t>Concordant Pairs</a:t>
                      </a:r>
                    </a:p>
                  </a:txBody>
                  <a:tcPr vert="vert270" anchor="b"/>
                </a:tc>
                <a:tc>
                  <a:txBody>
                    <a:bodyPr/>
                    <a:lstStyle/>
                    <a:p>
                      <a:r>
                        <a:rPr lang="en-US" sz="1600" dirty="0"/>
                        <a:t>Discordant Pairs</a:t>
                      </a:r>
                    </a:p>
                  </a:txBody>
                  <a:tcPr vert="vert270" anchor="b"/>
                </a:tc>
                <a:extLst>
                  <a:ext uri="{0D108BD9-81ED-4DB2-BD59-A6C34878D82A}">
                    <a16:rowId xmlns:a16="http://schemas.microsoft.com/office/drawing/2014/main" xmlns="" val="10000"/>
                  </a:ext>
                </a:extLst>
              </a:tr>
              <a:tr h="356485">
                <a:tc>
                  <a:txBody>
                    <a:bodyPr/>
                    <a:lstStyle/>
                    <a:p>
                      <a:r>
                        <a:rPr lang="en-US" sz="1600" dirty="0"/>
                        <a:t>Project 1</a:t>
                      </a:r>
                    </a:p>
                  </a:txBody>
                  <a:tcPr/>
                </a:tc>
                <a:tc>
                  <a:txBody>
                    <a:bodyPr/>
                    <a:lstStyle/>
                    <a:p>
                      <a:r>
                        <a:rPr lang="en-US" sz="1600" dirty="0"/>
                        <a:t>TRL</a:t>
                      </a:r>
                      <a:r>
                        <a:rPr lang="en-US" sz="1600" baseline="-25000" dirty="0"/>
                        <a:t>1</a:t>
                      </a:r>
                      <a:endParaRPr lang="en-US" sz="1600" dirty="0"/>
                    </a:p>
                  </a:txBody>
                  <a:tcPr/>
                </a:tc>
                <a:tc>
                  <a:txBody>
                    <a:bodyPr/>
                    <a:lstStyle/>
                    <a:p>
                      <a:r>
                        <a:rPr lang="en-US" sz="1600" baseline="0" dirty="0"/>
                        <a:t>Distance</a:t>
                      </a:r>
                      <a:r>
                        <a:rPr lang="en-US" sz="1600" baseline="-25000" dirty="0"/>
                        <a:t>1</a:t>
                      </a:r>
                      <a:endParaRPr lang="en-US" sz="1600" dirty="0"/>
                    </a:p>
                  </a:txBody>
                  <a:tcPr/>
                </a:tc>
                <a:tc>
                  <a:txBody>
                    <a:bodyPr/>
                    <a:lstStyle/>
                    <a:p>
                      <a:r>
                        <a:rPr lang="en-US" sz="1600" baseline="0" dirty="0"/>
                        <a:t>C</a:t>
                      </a:r>
                      <a:r>
                        <a:rPr lang="en-US" sz="1600" baseline="-25000" dirty="0"/>
                        <a:t>1</a:t>
                      </a:r>
                      <a:endParaRPr lang="en-US" sz="1600" dirty="0"/>
                    </a:p>
                  </a:txBody>
                  <a:tcPr/>
                </a:tc>
                <a:tc>
                  <a:txBody>
                    <a:bodyPr/>
                    <a:lstStyle/>
                    <a:p>
                      <a:r>
                        <a:rPr lang="en-US" sz="1600" dirty="0"/>
                        <a:t>D</a:t>
                      </a:r>
                      <a:r>
                        <a:rPr lang="en-US" sz="1600" baseline="-25000" dirty="0"/>
                        <a:t>1</a:t>
                      </a:r>
                      <a:endParaRPr lang="en-US" sz="1600" dirty="0"/>
                    </a:p>
                  </a:txBody>
                  <a:tcPr/>
                </a:tc>
                <a:extLst>
                  <a:ext uri="{0D108BD9-81ED-4DB2-BD59-A6C34878D82A}">
                    <a16:rowId xmlns:a16="http://schemas.microsoft.com/office/drawing/2014/main" xmlns="" val="10001"/>
                  </a:ext>
                </a:extLst>
              </a:tr>
              <a:tr h="356485">
                <a:tc>
                  <a:txBody>
                    <a:bodyPr/>
                    <a:lstStyle/>
                    <a:p>
                      <a:r>
                        <a:rPr lang="en-US" sz="1600" dirty="0"/>
                        <a:t>Project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a16="http://schemas.microsoft.com/office/drawing/2014/main" xmlns="" val="10002"/>
                  </a:ext>
                </a:extLst>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extLst>
                  <a:ext uri="{0D108BD9-81ED-4DB2-BD59-A6C34878D82A}">
                    <a16:rowId xmlns:a16="http://schemas.microsoft.com/office/drawing/2014/main" xmlns="" val="10003"/>
                  </a:ext>
                </a:extLst>
              </a:tr>
              <a:tr h="356485">
                <a:tc>
                  <a:txBody>
                    <a:bodyPr/>
                    <a:lstStyle/>
                    <a:p>
                      <a:r>
                        <a:rPr lang="en-US" sz="1600" dirty="0"/>
                        <a:t>Project 400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a16="http://schemas.microsoft.com/office/drawing/2014/main" xmlns="" val="10004"/>
                  </a:ext>
                </a:extLst>
              </a:tr>
            </a:tbl>
          </a:graphicData>
        </a:graphic>
      </p:graphicFrame>
      <p:grpSp>
        <p:nvGrpSpPr>
          <p:cNvPr id="25" name="Group 24"/>
          <p:cNvGrpSpPr/>
          <p:nvPr/>
        </p:nvGrpSpPr>
        <p:grpSpPr>
          <a:xfrm>
            <a:off x="143659" y="4914444"/>
            <a:ext cx="4164793" cy="380016"/>
            <a:chOff x="719194" y="2802571"/>
            <a:chExt cx="4164793" cy="380016"/>
          </a:xfrm>
        </p:grpSpPr>
        <p:sp>
          <p:nvSpPr>
            <p:cNvPr id="26" name="TextBox 25"/>
            <p:cNvSpPr txBox="1"/>
            <p:nvPr/>
          </p:nvSpPr>
          <p:spPr>
            <a:xfrm>
              <a:off x="719194" y="2802576"/>
              <a:ext cx="461665" cy="380011"/>
            </a:xfrm>
            <a:prstGeom prst="rect">
              <a:avLst/>
            </a:prstGeom>
            <a:noFill/>
          </p:spPr>
          <p:txBody>
            <a:bodyPr vert="vert270" wrap="square" rtlCol="0" anchor="ctr">
              <a:spAutoFit/>
            </a:bodyPr>
            <a:lstStyle/>
            <a:p>
              <a:pPr algn="ctr"/>
              <a:r>
                <a:rPr lang="en-US" dirty="0"/>
                <a:t>…</a:t>
              </a:r>
            </a:p>
          </p:txBody>
        </p:sp>
        <p:sp>
          <p:nvSpPr>
            <p:cNvPr id="27" name="TextBox 26"/>
            <p:cNvSpPr txBox="1"/>
            <p:nvPr/>
          </p:nvSpPr>
          <p:spPr>
            <a:xfrm>
              <a:off x="1902730" y="2802573"/>
              <a:ext cx="461665" cy="380011"/>
            </a:xfrm>
            <a:prstGeom prst="rect">
              <a:avLst/>
            </a:prstGeom>
            <a:noFill/>
          </p:spPr>
          <p:txBody>
            <a:bodyPr vert="vert270" wrap="square" rtlCol="0" anchor="ctr">
              <a:spAutoFit/>
            </a:bodyPr>
            <a:lstStyle/>
            <a:p>
              <a:pPr algn="ctr"/>
              <a:r>
                <a:rPr lang="en-US" dirty="0"/>
                <a:t>…</a:t>
              </a:r>
            </a:p>
          </p:txBody>
        </p:sp>
        <p:sp>
          <p:nvSpPr>
            <p:cNvPr id="28" name="TextBox 27"/>
            <p:cNvSpPr txBox="1"/>
            <p:nvPr/>
          </p:nvSpPr>
          <p:spPr>
            <a:xfrm>
              <a:off x="2676643" y="2802576"/>
              <a:ext cx="461665" cy="380011"/>
            </a:xfrm>
            <a:prstGeom prst="rect">
              <a:avLst/>
            </a:prstGeom>
            <a:noFill/>
          </p:spPr>
          <p:txBody>
            <a:bodyPr vert="vert270" wrap="square" rtlCol="0" anchor="ctr">
              <a:spAutoFit/>
            </a:bodyPr>
            <a:lstStyle/>
            <a:p>
              <a:pPr algn="ctr"/>
              <a:r>
                <a:rPr lang="en-US" dirty="0"/>
                <a:t>…</a:t>
              </a:r>
            </a:p>
          </p:txBody>
        </p:sp>
        <p:sp>
          <p:nvSpPr>
            <p:cNvPr id="29" name="TextBox 28"/>
            <p:cNvSpPr txBox="1"/>
            <p:nvPr/>
          </p:nvSpPr>
          <p:spPr>
            <a:xfrm>
              <a:off x="3834952" y="2802572"/>
              <a:ext cx="461665" cy="380011"/>
            </a:xfrm>
            <a:prstGeom prst="rect">
              <a:avLst/>
            </a:prstGeom>
            <a:noFill/>
          </p:spPr>
          <p:txBody>
            <a:bodyPr vert="vert270" wrap="square" rtlCol="0" anchor="ctr">
              <a:spAutoFit/>
            </a:bodyPr>
            <a:lstStyle/>
            <a:p>
              <a:pPr algn="ctr"/>
              <a:r>
                <a:rPr lang="en-US" dirty="0"/>
                <a:t>…</a:t>
              </a:r>
            </a:p>
          </p:txBody>
        </p:sp>
        <p:sp>
          <p:nvSpPr>
            <p:cNvPr id="30" name="TextBox 29"/>
            <p:cNvSpPr txBox="1"/>
            <p:nvPr/>
          </p:nvSpPr>
          <p:spPr>
            <a:xfrm>
              <a:off x="4422322" y="2802571"/>
              <a:ext cx="461665" cy="380011"/>
            </a:xfrm>
            <a:prstGeom prst="rect">
              <a:avLst/>
            </a:prstGeom>
            <a:noFill/>
          </p:spPr>
          <p:txBody>
            <a:bodyPr vert="vert270" wrap="square" rtlCol="0" anchor="ctr">
              <a:spAutoFit/>
            </a:bodyPr>
            <a:lstStyle/>
            <a:p>
              <a:pPr algn="ctr"/>
              <a:r>
                <a:rPr lang="en-US" dirty="0"/>
                <a:t>…</a:t>
              </a:r>
            </a:p>
          </p:txBody>
        </p:sp>
      </p:grpSp>
      <mc:AlternateContent xmlns:mc="http://schemas.openxmlformats.org/markup-compatibility/2006" xmlns:a14="http://schemas.microsoft.com/office/drawing/2010/main">
        <mc:Choice Requires="a14">
          <p:sp>
            <p:nvSpPr>
              <p:cNvPr id="31" name="TextBox 30"/>
              <p:cNvSpPr txBox="1"/>
              <p:nvPr/>
            </p:nvSpPr>
            <p:spPr>
              <a:xfrm>
                <a:off x="4677807" y="3372592"/>
                <a:ext cx="2790701" cy="641201"/>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i="1" smtClean="0">
                          <a:latin typeface="Cambria Math"/>
                          <a:ea typeface="Cambria Math"/>
                        </a:rPr>
                        <m:t>𝜏</m:t>
                      </m:r>
                      <m:r>
                        <a:rPr lang="en-US" b="0" i="1" smtClean="0">
                          <a:latin typeface="Cambria Math"/>
                          <a:ea typeface="Cambria Math"/>
                        </a:rPr>
                        <m:t> = </m:t>
                      </m:r>
                      <m:f>
                        <m:fPr>
                          <m:ctrlPr>
                            <a:rPr lang="en-US" b="0" i="1" smtClean="0">
                              <a:latin typeface="Cambria Math"/>
                              <a:ea typeface="Cambria Math"/>
                            </a:rPr>
                          </m:ctrlPr>
                        </m:fPr>
                        <m:num>
                          <m:r>
                            <a:rPr lang="en-US" b="0" i="1" smtClean="0">
                              <a:latin typeface="Cambria Math"/>
                              <a:ea typeface="Cambria Math"/>
                            </a:rPr>
                            <m:t>𝐶</m:t>
                          </m:r>
                          <m:r>
                            <a:rPr lang="en-US" b="0" i="1" smtClean="0">
                              <a:latin typeface="Cambria Math"/>
                              <a:ea typeface="Cambria Math"/>
                            </a:rPr>
                            <m:t> −</m:t>
                          </m:r>
                          <m:r>
                            <a:rPr lang="en-US" b="0" i="1" smtClean="0">
                              <a:latin typeface="Cambria Math"/>
                              <a:ea typeface="Cambria Math"/>
                            </a:rPr>
                            <m:t>𝐷</m:t>
                          </m:r>
                        </m:num>
                        <m:den>
                          <m:r>
                            <a:rPr lang="en-US" b="0" i="1" smtClean="0">
                              <a:latin typeface="Cambria Math"/>
                              <a:ea typeface="Cambria Math"/>
                            </a:rPr>
                            <m:t>𝐶</m:t>
                          </m:r>
                          <m:r>
                            <a:rPr lang="en-US" b="0" i="1" smtClean="0">
                              <a:latin typeface="Cambria Math"/>
                              <a:ea typeface="Cambria Math"/>
                            </a:rPr>
                            <m:t>+</m:t>
                          </m:r>
                          <m:r>
                            <a:rPr lang="en-US" b="0" i="1" smtClean="0">
                              <a:latin typeface="Cambria Math"/>
                              <a:ea typeface="Cambria Math"/>
                            </a:rPr>
                            <m:t>𝐷</m:t>
                          </m:r>
                        </m:den>
                      </m:f>
                    </m:oMath>
                  </m:oMathPara>
                </a14:m>
                <a:endParaRPr lang="en-US" dirty="0"/>
              </a:p>
            </p:txBody>
          </p:sp>
        </mc:Choice>
        <mc:Fallback xmlns="">
          <p:sp>
            <p:nvSpPr>
              <p:cNvPr id="31" name="TextBox 30"/>
              <p:cNvSpPr txBox="1">
                <a:spLocks noRot="1" noChangeAspect="1" noMove="1" noResize="1" noEditPoints="1" noAdjustHandles="1" noChangeArrowheads="1" noChangeShapeType="1" noTextEdit="1"/>
              </p:cNvSpPr>
              <p:nvPr/>
            </p:nvSpPr>
            <p:spPr>
              <a:xfrm>
                <a:off x="4677807" y="3372592"/>
                <a:ext cx="2790701" cy="641201"/>
              </a:xfrm>
              <a:prstGeom prst="rect">
                <a:avLst/>
              </a:prstGeom>
              <a:blipFill rotWithShape="1">
                <a:blip r:embed="rId3"/>
                <a:stretch>
                  <a:fillRect/>
                </a:stretch>
              </a:blipFill>
            </p:spPr>
            <p:txBody>
              <a:bodyPr/>
              <a:lstStyle/>
              <a:p>
                <a:r>
                  <a:rPr lang="en-US">
                    <a:noFill/>
                  </a:rPr>
                  <a:t> </a:t>
                </a:r>
              </a:p>
            </p:txBody>
          </p:sp>
        </mc:Fallback>
      </mc:AlternateContent>
      <p:sp>
        <p:nvSpPr>
          <p:cNvPr id="32" name="TextBox 31"/>
          <p:cNvSpPr txBox="1"/>
          <p:nvPr/>
        </p:nvSpPr>
        <p:spPr>
          <a:xfrm>
            <a:off x="4658789" y="4215740"/>
            <a:ext cx="4390208" cy="369332"/>
          </a:xfrm>
          <a:prstGeom prst="rect">
            <a:avLst/>
          </a:prstGeom>
          <a:noFill/>
        </p:spPr>
        <p:txBody>
          <a:bodyPr wrap="square" rtlCol="0">
            <a:spAutoFit/>
          </a:bodyPr>
          <a:lstStyle/>
          <a:p>
            <a:r>
              <a:rPr lang="en-US" dirty="0"/>
              <a:t>Ordinal or continuous level or measurement</a:t>
            </a:r>
          </a:p>
        </p:txBody>
      </p:sp>
      <p:sp>
        <p:nvSpPr>
          <p:cNvPr id="33" name="TextBox 32"/>
          <p:cNvSpPr txBox="1"/>
          <p:nvPr/>
        </p:nvSpPr>
        <p:spPr>
          <a:xfrm>
            <a:off x="4651967" y="4566927"/>
            <a:ext cx="4390208" cy="369332"/>
          </a:xfrm>
          <a:prstGeom prst="rect">
            <a:avLst/>
          </a:prstGeom>
          <a:noFill/>
        </p:spPr>
        <p:txBody>
          <a:bodyPr wrap="square" rtlCol="0">
            <a:spAutoFit/>
          </a:bodyPr>
          <a:lstStyle/>
          <a:p>
            <a:r>
              <a:rPr lang="en-US" dirty="0"/>
              <a:t>Monotonic relationship between variables</a:t>
            </a:r>
          </a:p>
        </p:txBody>
      </p:sp>
    </p:spTree>
    <p:extLst>
      <p:ext uri="{BB962C8B-B14F-4D97-AF65-F5344CB8AC3E}">
        <p14:creationId xmlns:p14="http://schemas.microsoft.com/office/powerpoint/2010/main" val="39720913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a:t>Expected Results</a:t>
            </a:r>
          </a:p>
        </p:txBody>
      </p:sp>
      <p:graphicFrame>
        <p:nvGraphicFramePr>
          <p:cNvPr id="3" name="Table 2"/>
          <p:cNvGraphicFramePr>
            <a:graphicFrameLocks noGrp="1"/>
          </p:cNvGraphicFramePr>
          <p:nvPr>
            <p:extLst>
              <p:ext uri="{D42A27DB-BD31-4B8C-83A1-F6EECF244321}">
                <p14:modId xmlns:p14="http://schemas.microsoft.com/office/powerpoint/2010/main" val="1311115074"/>
              </p:ext>
            </p:extLst>
          </p:nvPr>
        </p:nvGraphicFramePr>
        <p:xfrm>
          <a:off x="274320" y="869240"/>
          <a:ext cx="8595360" cy="3904641"/>
        </p:xfrm>
        <a:graphic>
          <a:graphicData uri="http://schemas.openxmlformats.org/drawingml/2006/table">
            <a:tbl>
              <a:tblPr firstRow="1" firstCol="1" bandRow="1">
                <a:tableStyleId>{616DA210-FB5B-4158-B5E0-FEB733F419BA}</a:tableStyleId>
              </a:tblPr>
              <a:tblGrid>
                <a:gridCol w="497576">
                  <a:extLst>
                    <a:ext uri="{9D8B030D-6E8A-4147-A177-3AD203B41FA5}">
                      <a16:colId xmlns:a16="http://schemas.microsoft.com/office/drawing/2014/main" xmlns="" val="20000"/>
                    </a:ext>
                  </a:extLst>
                </a:gridCol>
                <a:gridCol w="8097784">
                  <a:extLst>
                    <a:ext uri="{9D8B030D-6E8A-4147-A177-3AD203B41FA5}">
                      <a16:colId xmlns:a16="http://schemas.microsoft.com/office/drawing/2014/main" xmlns="" val="20001"/>
                    </a:ext>
                  </a:extLst>
                </a:gridCol>
              </a:tblGrid>
              <a:tr h="1280194">
                <a:tc>
                  <a:txBody>
                    <a:bodyPr/>
                    <a:lstStyle/>
                    <a:p>
                      <a:pPr marL="0" marR="0">
                        <a:lnSpc>
                          <a:spcPct val="115000"/>
                        </a:lnSpc>
                        <a:spcBef>
                          <a:spcPts val="0"/>
                        </a:spcBef>
                        <a:spcAft>
                          <a:spcPts val="0"/>
                        </a:spcAft>
                      </a:pPr>
                      <a:r>
                        <a:rPr lang="en-US" sz="1800" b="0" dirty="0">
                          <a:effectLst/>
                        </a:rPr>
                        <a:t>H1</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b="0" baseline="0" dirty="0">
                          <a:effectLst/>
                        </a:rPr>
                        <a:t>The probably that a technology derived from federally-funded R&amp;D projects will be transferred to the private sector will increase with each unit increase in the final development stage attained by the federally-funded R&amp;D projects.</a:t>
                      </a:r>
                      <a:endParaRPr lang="en-US" sz="1600" b="0" dirty="0">
                        <a:solidFill>
                          <a:srgbClr val="000000"/>
                        </a:solidFill>
                        <a:effectLst/>
                        <a:latin typeface="+mn-lt"/>
                        <a:ea typeface="Calibri"/>
                        <a:cs typeface="Times New Roman"/>
                      </a:endParaRPr>
                    </a:p>
                  </a:txBody>
                  <a:tcPr marL="59258" marR="59258" marT="29887" marB="29887"/>
                </a:tc>
                <a:extLst>
                  <a:ext uri="{0D108BD9-81ED-4DB2-BD59-A6C34878D82A}">
                    <a16:rowId xmlns:a16="http://schemas.microsoft.com/office/drawing/2014/main" xmlns="" val="10000"/>
                  </a:ext>
                </a:extLst>
              </a:tr>
              <a:tr h="1282535">
                <a:tc>
                  <a:txBody>
                    <a:bodyPr/>
                    <a:lstStyle/>
                    <a:p>
                      <a:pPr marL="0" marR="0">
                        <a:lnSpc>
                          <a:spcPct val="115000"/>
                        </a:lnSpc>
                        <a:spcBef>
                          <a:spcPts val="0"/>
                        </a:spcBef>
                        <a:spcAft>
                          <a:spcPts val="0"/>
                        </a:spcAft>
                      </a:pPr>
                      <a:r>
                        <a:rPr lang="en-US" sz="1800" b="0" dirty="0">
                          <a:effectLst/>
                        </a:rPr>
                        <a:t>H2</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dirty="0">
                          <a:effectLst/>
                        </a:rPr>
                        <a:t>The final development stage</a:t>
                      </a:r>
                      <a:r>
                        <a:rPr lang="en-US" sz="1800" baseline="0" dirty="0">
                          <a:effectLst/>
                        </a:rPr>
                        <a:t> attained by federally-funded R&amp;D projects will be negatively associated with t</a:t>
                      </a:r>
                      <a:r>
                        <a:rPr lang="en-US" sz="1800" dirty="0">
                          <a:effectLst/>
                        </a:rPr>
                        <a:t>he spatial distance between where R&amp;D project are conducted and the nearest city.</a:t>
                      </a:r>
                      <a:endParaRPr lang="en-US" sz="1600" dirty="0">
                        <a:solidFill>
                          <a:srgbClr val="000000"/>
                        </a:solidFill>
                        <a:effectLst/>
                        <a:latin typeface="+mn-lt"/>
                        <a:ea typeface="Calibri"/>
                        <a:cs typeface="Times New Roman"/>
                      </a:endParaRPr>
                    </a:p>
                  </a:txBody>
                  <a:tcPr marL="59258" marR="59258" marT="29887" marB="29887"/>
                </a:tc>
                <a:extLst>
                  <a:ext uri="{0D108BD9-81ED-4DB2-BD59-A6C34878D82A}">
                    <a16:rowId xmlns:a16="http://schemas.microsoft.com/office/drawing/2014/main" xmlns="" val="10001"/>
                  </a:ext>
                </a:extLst>
              </a:tr>
              <a:tr h="1341912">
                <a:tc>
                  <a:txBody>
                    <a:bodyPr/>
                    <a:lstStyle/>
                    <a:p>
                      <a:pPr marL="0" marR="0">
                        <a:lnSpc>
                          <a:spcPct val="115000"/>
                        </a:lnSpc>
                        <a:spcBef>
                          <a:spcPts val="0"/>
                        </a:spcBef>
                        <a:spcAft>
                          <a:spcPts val="0"/>
                        </a:spcAft>
                      </a:pPr>
                      <a:r>
                        <a:rPr lang="en-US" sz="1800" b="0" dirty="0">
                          <a:effectLst/>
                        </a:rPr>
                        <a:t>H3</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kumimoji="0" lang="en-US" sz="1800" b="0" i="0" u="none" strike="noStrike" kern="1200" cap="none" spc="0" normalizeH="0" baseline="0" noProof="0" dirty="0">
                          <a:ln>
                            <a:noFill/>
                          </a:ln>
                          <a:solidFill>
                            <a:prstClr val="black"/>
                          </a:solidFill>
                          <a:effectLst/>
                          <a:uLnTx/>
                          <a:uFillTx/>
                          <a:latin typeface="+mn-lt"/>
                          <a:ea typeface="+mn-ea"/>
                          <a:cs typeface="+mn-cs"/>
                        </a:rPr>
                        <a:t>The probably that a technology derived from federally-funded R&amp;D projects will be transferred to the private sector will increase with each unit decrease in t</a:t>
                      </a:r>
                      <a:r>
                        <a:rPr lang="en-US" sz="1800" dirty="0">
                          <a:effectLst/>
                        </a:rPr>
                        <a:t>he spatial distance</a:t>
                      </a:r>
                      <a:r>
                        <a:rPr lang="en-US" sz="1800" baseline="0" dirty="0">
                          <a:effectLst/>
                        </a:rPr>
                        <a:t> between where R&amp;D projects are conducted and the nearest city.</a:t>
                      </a:r>
                      <a:endParaRPr lang="en-US" sz="1800" dirty="0">
                        <a:solidFill>
                          <a:srgbClr val="000000"/>
                        </a:solidFill>
                        <a:effectLst/>
                        <a:latin typeface="+mn-lt"/>
                        <a:ea typeface="Calibri"/>
                        <a:cs typeface="Times New Roman"/>
                      </a:endParaRPr>
                    </a:p>
                  </a:txBody>
                  <a:tcPr marL="59258" marR="59258" marT="29887" marB="29887"/>
                </a:tc>
                <a:extLst>
                  <a:ext uri="{0D108BD9-81ED-4DB2-BD59-A6C34878D82A}">
                    <a16:rowId xmlns:a16="http://schemas.microsoft.com/office/drawing/2014/main" xmlns="" val="10002"/>
                  </a:ext>
                </a:extLst>
              </a:tr>
            </a:tbl>
          </a:graphicData>
        </a:graphic>
      </p:graphicFrame>
    </p:spTree>
    <p:extLst>
      <p:ext uri="{BB962C8B-B14F-4D97-AF65-F5344CB8AC3E}">
        <p14:creationId xmlns:p14="http://schemas.microsoft.com/office/powerpoint/2010/main" val="4683382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0" name="Picture 2" descr="File:Logic Model OER.pdf"/>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000" y="114287"/>
            <a:ext cx="7620000" cy="470535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270662" y="5018233"/>
            <a:ext cx="8873338" cy="523220"/>
          </a:xfrm>
          <a:prstGeom prst="rect">
            <a:avLst/>
          </a:prstGeom>
          <a:noFill/>
        </p:spPr>
        <p:txBody>
          <a:bodyPr wrap="square" rtlCol="0">
            <a:spAutoFit/>
          </a:bodyPr>
          <a:lstStyle/>
          <a:p>
            <a:pPr indent="-457200"/>
            <a:r>
              <a:rPr lang="en-US" sz="1400" dirty="0"/>
              <a:t>Source: </a:t>
            </a:r>
            <a:r>
              <a:rPr lang="en-US" sz="1400" dirty="0" err="1"/>
              <a:t>Ainali</a:t>
            </a:r>
            <a:r>
              <a:rPr lang="en-US" sz="1400" dirty="0"/>
              <a:t>, J. (2014). Wikimedia Commons. CC-BY-SA-3.0 [http://creativecommons.org/licenses/by-sa/3.0/]. No changes made. Retrieved from https://commons.wikimedia.org/wiki/File:Logic_Model_OER.pdf</a:t>
            </a:r>
          </a:p>
        </p:txBody>
      </p:sp>
      <p:sp>
        <p:nvSpPr>
          <p:cNvPr id="2" name="TextBox 1"/>
          <p:cNvSpPr txBox="1"/>
          <p:nvPr/>
        </p:nvSpPr>
        <p:spPr>
          <a:xfrm rot="20241623">
            <a:off x="449887" y="2238883"/>
            <a:ext cx="8002828" cy="1015663"/>
          </a:xfrm>
          <a:prstGeom prst="rect">
            <a:avLst/>
          </a:prstGeom>
          <a:noFill/>
          <a:ln>
            <a:noFill/>
          </a:ln>
        </p:spPr>
        <p:txBody>
          <a:bodyPr wrap="square" rtlCol="0">
            <a:spAutoFit/>
          </a:bodyPr>
          <a:lstStyle/>
          <a:p>
            <a:pPr algn="ctr"/>
            <a:r>
              <a:rPr lang="en-US" sz="6000" b="1" dirty="0">
                <a:solidFill>
                  <a:schemeClr val="accent2">
                    <a:lumMod val="60000"/>
                    <a:lumOff val="40000"/>
                  </a:schemeClr>
                </a:solidFill>
              </a:rPr>
              <a:t>Sample Logic Model</a:t>
            </a:r>
          </a:p>
        </p:txBody>
      </p:sp>
    </p:spTree>
    <p:extLst>
      <p:ext uri="{BB962C8B-B14F-4D97-AF65-F5344CB8AC3E}">
        <p14:creationId xmlns:p14="http://schemas.microsoft.com/office/powerpoint/2010/main" val="37936938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C:\Users\townesm\AppData\Local\Temp\DELPHIST.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28800" y="1012471"/>
            <a:ext cx="5486400" cy="421818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0" y="91440"/>
            <a:ext cx="9144000" cy="954107"/>
          </a:xfrm>
          <a:prstGeom prst="rect">
            <a:avLst/>
          </a:prstGeom>
          <a:noFill/>
        </p:spPr>
        <p:txBody>
          <a:bodyPr wrap="square" lIns="182880" rIns="182880" rtlCol="0">
            <a:spAutoFit/>
          </a:bodyPr>
          <a:lstStyle/>
          <a:p>
            <a:r>
              <a:rPr lang="en-US" sz="2800" b="1" dirty="0"/>
              <a:t>Generate policy alternatives by conducting a participatory policy analysis (PPA) using the Delphi method.</a:t>
            </a:r>
          </a:p>
        </p:txBody>
      </p:sp>
      <p:sp>
        <p:nvSpPr>
          <p:cNvPr id="2" name="TextBox 1"/>
          <p:cNvSpPr txBox="1"/>
          <p:nvPr/>
        </p:nvSpPr>
        <p:spPr>
          <a:xfrm>
            <a:off x="270662" y="5018233"/>
            <a:ext cx="8873338" cy="523220"/>
          </a:xfrm>
          <a:prstGeom prst="rect">
            <a:avLst/>
          </a:prstGeom>
          <a:noFill/>
        </p:spPr>
        <p:txBody>
          <a:bodyPr wrap="square" rtlCol="0">
            <a:spAutoFit/>
          </a:bodyPr>
          <a:lstStyle/>
          <a:p>
            <a:pPr indent="-457200"/>
            <a:r>
              <a:rPr lang="en-US" sz="1400" dirty="0"/>
              <a:t>Source: User: </a:t>
            </a:r>
            <a:r>
              <a:rPr lang="en-US" sz="1400" dirty="0" err="1"/>
              <a:t>Czkssa</a:t>
            </a:r>
            <a:r>
              <a:rPr lang="en-US" sz="1400" dirty="0"/>
              <a:t>. (2001). Wikimedia Commons. CC-BY-SA-3.0 [http://creativecommons.org/licenses/by-sa/3.0/]. No changes made. Retrieved from https://commons.wikimedia.org/wiki/File:DELPHIST.png</a:t>
            </a:r>
          </a:p>
        </p:txBody>
      </p:sp>
    </p:spTree>
    <p:extLst>
      <p:ext uri="{BB962C8B-B14F-4D97-AF65-F5344CB8AC3E}">
        <p14:creationId xmlns:p14="http://schemas.microsoft.com/office/powerpoint/2010/main" val="372788837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4"/>
          <p:cNvGraphicFramePr>
            <a:graphicFrameLocks noChangeAspect="1"/>
          </p:cNvGraphicFramePr>
          <p:nvPr>
            <p:extLst>
              <p:ext uri="{D42A27DB-BD31-4B8C-83A1-F6EECF244321}">
                <p14:modId xmlns:p14="http://schemas.microsoft.com/office/powerpoint/2010/main" val="999702629"/>
              </p:ext>
            </p:extLst>
          </p:nvPr>
        </p:nvGraphicFramePr>
        <p:xfrm>
          <a:off x="128588" y="709613"/>
          <a:ext cx="8886825" cy="4295775"/>
        </p:xfrm>
        <a:graphic>
          <a:graphicData uri="http://schemas.openxmlformats.org/presentationml/2006/ole">
            <mc:AlternateContent xmlns:mc="http://schemas.openxmlformats.org/markup-compatibility/2006">
              <mc:Choice xmlns:v="urn:schemas-microsoft-com:vml" Requires="v">
                <p:oleObj spid="_x0000_s5252" name="Worksheet" r:id="rId3" imgW="8886833" imgH="4295700" progId="Excel.Sheet.12">
                  <p:embed/>
                </p:oleObj>
              </mc:Choice>
              <mc:Fallback>
                <p:oleObj name="Worksheet" r:id="rId3" imgW="8886833" imgH="4295700" progId="Excel.Sheet.12">
                  <p:embed/>
                  <p:pic>
                    <p:nvPicPr>
                      <p:cNvPr id="0" name=""/>
                      <p:cNvPicPr/>
                      <p:nvPr/>
                    </p:nvPicPr>
                    <p:blipFill>
                      <a:blip r:embed="rId4"/>
                      <a:stretch>
                        <a:fillRect/>
                      </a:stretch>
                    </p:blipFill>
                    <p:spPr>
                      <a:xfrm>
                        <a:off x="128588" y="709613"/>
                        <a:ext cx="8886825" cy="4295775"/>
                      </a:xfrm>
                      <a:prstGeom prst="rect">
                        <a:avLst/>
                      </a:prstGeom>
                    </p:spPr>
                  </p:pic>
                </p:oleObj>
              </mc:Fallback>
            </mc:AlternateContent>
          </a:graphicData>
        </a:graphic>
      </p:graphicFrame>
    </p:spTree>
    <p:extLst>
      <p:ext uri="{BB962C8B-B14F-4D97-AF65-F5344CB8AC3E}">
        <p14:creationId xmlns:p14="http://schemas.microsoft.com/office/powerpoint/2010/main" val="226577762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a:t>Limitations and Future Study</a:t>
            </a:r>
          </a:p>
        </p:txBody>
      </p:sp>
      <p:sp>
        <p:nvSpPr>
          <p:cNvPr id="3" name="TextBox 2"/>
          <p:cNvSpPr txBox="1"/>
          <p:nvPr/>
        </p:nvSpPr>
        <p:spPr>
          <a:xfrm>
            <a:off x="0" y="1097280"/>
            <a:ext cx="9144000" cy="2539157"/>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a:t>Does not establish generalizability to other various types of research and development (R&amp;D) projects.</a:t>
            </a:r>
          </a:p>
          <a:p>
            <a:pPr marL="285750" indent="-285750">
              <a:spcAft>
                <a:spcPts val="600"/>
              </a:spcAft>
              <a:buFont typeface="Arial" panose="020B0604020202020204" pitchFamily="34" charset="0"/>
              <a:buChar char="•"/>
            </a:pPr>
            <a:r>
              <a:rPr lang="en-US" dirty="0"/>
              <a:t>Does not establish causality between development stage and </a:t>
            </a:r>
            <a:r>
              <a:rPr lang="en-US" dirty="0" smtClean="0"/>
              <a:t>the transfer of technology to the private sector.</a:t>
            </a:r>
            <a:endParaRPr lang="en-US" dirty="0"/>
          </a:p>
          <a:p>
            <a:pPr marL="285750" indent="-285750">
              <a:spcAft>
                <a:spcPts val="600"/>
              </a:spcAft>
              <a:buFont typeface="Arial" panose="020B0604020202020204" pitchFamily="34" charset="0"/>
              <a:buChar char="•"/>
            </a:pPr>
            <a:r>
              <a:rPr lang="en-US" dirty="0"/>
              <a:t>Does not establish causality between development stage and </a:t>
            </a:r>
            <a:r>
              <a:rPr lang="en-US" dirty="0" smtClean="0"/>
              <a:t>spatial </a:t>
            </a:r>
            <a:r>
              <a:rPr lang="en-US" dirty="0"/>
              <a:t>distance between </a:t>
            </a:r>
            <a:r>
              <a:rPr lang="en-US" dirty="0" smtClean="0"/>
              <a:t>the location </a:t>
            </a:r>
            <a:r>
              <a:rPr lang="en-US" dirty="0"/>
              <a:t>of R&amp;D performance and cities.</a:t>
            </a:r>
          </a:p>
          <a:p>
            <a:pPr marL="285750" indent="-285750">
              <a:spcAft>
                <a:spcPts val="600"/>
              </a:spcAft>
              <a:buFont typeface="Arial" panose="020B0604020202020204" pitchFamily="34" charset="0"/>
              <a:buChar char="•"/>
            </a:pPr>
            <a:r>
              <a:rPr lang="en-US" dirty="0"/>
              <a:t>Does not establish causality of spatial between </a:t>
            </a:r>
            <a:r>
              <a:rPr lang="en-US" dirty="0" smtClean="0"/>
              <a:t>the location of </a:t>
            </a:r>
            <a:r>
              <a:rPr lang="en-US" dirty="0"/>
              <a:t>R&amp;D performance and cities </a:t>
            </a:r>
            <a:r>
              <a:rPr lang="en-US" dirty="0" smtClean="0"/>
              <a:t>and</a:t>
            </a:r>
            <a:r>
              <a:rPr lang="en-US" dirty="0" smtClean="0"/>
              <a:t> </a:t>
            </a:r>
            <a:r>
              <a:rPr lang="en-US" dirty="0"/>
              <a:t>the final development stage attained by R&amp;D projects</a:t>
            </a:r>
            <a:r>
              <a:rPr lang="en-US" dirty="0" smtClean="0"/>
              <a:t>.</a:t>
            </a:r>
          </a:p>
        </p:txBody>
      </p:sp>
    </p:spTree>
    <p:extLst>
      <p:ext uri="{BB962C8B-B14F-4D97-AF65-F5344CB8AC3E}">
        <p14:creationId xmlns:p14="http://schemas.microsoft.com/office/powerpoint/2010/main" val="32287807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a:t>Policy Implications</a:t>
            </a:r>
          </a:p>
        </p:txBody>
      </p:sp>
      <p:sp>
        <p:nvSpPr>
          <p:cNvPr id="3" name="TextBox 2"/>
          <p:cNvSpPr txBox="1"/>
          <p:nvPr/>
        </p:nvSpPr>
        <p:spPr>
          <a:xfrm>
            <a:off x="0" y="1097280"/>
            <a:ext cx="9144000" cy="4231928"/>
          </a:xfrm>
          <a:prstGeom prst="rect">
            <a:avLst/>
          </a:prstGeom>
          <a:noFill/>
        </p:spPr>
        <p:txBody>
          <a:bodyPr wrap="square" lIns="457200" rIns="457200" rtlCol="0">
            <a:spAutoFit/>
          </a:bodyPr>
          <a:lstStyle/>
          <a:p>
            <a:pPr marL="285750" indent="-285750">
              <a:spcAft>
                <a:spcPts val="600"/>
              </a:spcAft>
              <a:buFont typeface="Arial" panose="020B0604020202020204" pitchFamily="34" charset="0"/>
              <a:buChar char="•"/>
            </a:pPr>
            <a:r>
              <a:rPr lang="en-US" dirty="0"/>
              <a:t>Provides a more holistic understanding of federal technology transfer </a:t>
            </a:r>
            <a:r>
              <a:rPr lang="en-US" dirty="0" smtClean="0"/>
              <a:t>policy</a:t>
            </a:r>
            <a:r>
              <a:rPr lang="en-US" dirty="0"/>
              <a:t>.</a:t>
            </a:r>
          </a:p>
          <a:p>
            <a:pPr marL="285750" indent="-285750">
              <a:spcAft>
                <a:spcPts val="600"/>
              </a:spcAft>
              <a:buFont typeface="Arial" panose="020B0604020202020204" pitchFamily="34" charset="0"/>
              <a:buChar char="•"/>
            </a:pPr>
            <a:r>
              <a:rPr lang="en-US" dirty="0"/>
              <a:t>Provides insight into whether development stage and geography are factors that policymakers should consider when formulating technology transfer </a:t>
            </a:r>
            <a:r>
              <a:rPr lang="en-US" dirty="0" smtClean="0"/>
              <a:t>policy</a:t>
            </a:r>
            <a:r>
              <a:rPr lang="en-US" dirty="0"/>
              <a:t>.  </a:t>
            </a:r>
          </a:p>
          <a:p>
            <a:pPr marL="285750" indent="-285750">
              <a:spcAft>
                <a:spcPts val="600"/>
              </a:spcAft>
              <a:buFont typeface="Arial" panose="020B0604020202020204" pitchFamily="34" charset="0"/>
              <a:buChar char="•"/>
            </a:pPr>
            <a:r>
              <a:rPr lang="en-US" dirty="0"/>
              <a:t>Provides policy alternatives for policymakers to consider. </a:t>
            </a:r>
          </a:p>
          <a:p>
            <a:pPr marL="285750" indent="-285750">
              <a:spcAft>
                <a:spcPts val="600"/>
              </a:spcAft>
              <a:buFont typeface="Arial" panose="020B0604020202020204" pitchFamily="34" charset="0"/>
              <a:buChar char="•"/>
            </a:pPr>
            <a:r>
              <a:rPr lang="en-US" dirty="0"/>
              <a:t>Demonstrates alternative methods for measuring technology transfer outcomes and covariates.</a:t>
            </a:r>
          </a:p>
          <a:p>
            <a:pPr marL="285750" indent="-285750">
              <a:spcAft>
                <a:spcPts val="600"/>
              </a:spcAft>
              <a:buFont typeface="Arial" panose="020B0604020202020204" pitchFamily="34" charset="0"/>
              <a:buChar char="•"/>
            </a:pPr>
            <a:r>
              <a:rPr lang="en-US" dirty="0"/>
              <a:t>Provides baseline data to facilitate future formative and summative evaluations of federal technology transfer policy as a whole.</a:t>
            </a:r>
          </a:p>
          <a:p>
            <a:pPr marL="285750" indent="-285750">
              <a:spcAft>
                <a:spcPts val="600"/>
              </a:spcAft>
              <a:buFont typeface="Arial" panose="020B0604020202020204" pitchFamily="34" charset="0"/>
              <a:buChar char="•"/>
            </a:pPr>
            <a:r>
              <a:rPr lang="en-US" dirty="0"/>
              <a:t>Provides data that other researchers can use for studies not yet envisioned.</a:t>
            </a:r>
          </a:p>
          <a:p>
            <a:pPr marL="285750" indent="-285750">
              <a:spcAft>
                <a:spcPts val="600"/>
              </a:spcAft>
              <a:buFont typeface="Arial" panose="020B0604020202020204" pitchFamily="34" charset="0"/>
              <a:buChar char="•"/>
            </a:pPr>
            <a:r>
              <a:rPr lang="en-US" dirty="0"/>
              <a:t>Demonstrates an approach to achieve increased levels of construct validity with regard to technology transfer.</a:t>
            </a:r>
          </a:p>
          <a:p>
            <a:pPr marL="285750" indent="-285750">
              <a:spcAft>
                <a:spcPts val="600"/>
              </a:spcAft>
              <a:buFont typeface="Arial" panose="020B0604020202020204" pitchFamily="34" charset="0"/>
              <a:buChar char="•"/>
            </a:pPr>
            <a:r>
              <a:rPr lang="en-US" dirty="0"/>
              <a:t>Demonstrates an approach to achieve increased levels of construct validity with regard to technology.</a:t>
            </a:r>
          </a:p>
        </p:txBody>
      </p:sp>
    </p:spTree>
    <p:extLst>
      <p:ext uri="{BB962C8B-B14F-4D97-AF65-F5344CB8AC3E}">
        <p14:creationId xmlns:p14="http://schemas.microsoft.com/office/powerpoint/2010/main" val="33521926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a:t>Acknowledgements</a:t>
            </a:r>
          </a:p>
        </p:txBody>
      </p:sp>
      <p:sp>
        <p:nvSpPr>
          <p:cNvPr id="3" name="TextBox 2"/>
          <p:cNvSpPr txBox="1"/>
          <p:nvPr/>
        </p:nvSpPr>
        <p:spPr>
          <a:xfrm>
            <a:off x="0" y="1097280"/>
            <a:ext cx="9144000" cy="1831271"/>
          </a:xfrm>
          <a:prstGeom prst="rect">
            <a:avLst/>
          </a:prstGeom>
          <a:noFill/>
        </p:spPr>
        <p:txBody>
          <a:bodyPr wrap="square" lIns="457200" rtlCol="0">
            <a:spAutoFit/>
          </a:bodyPr>
          <a:lstStyle/>
          <a:p>
            <a:pPr>
              <a:spcAft>
                <a:spcPts val="600"/>
              </a:spcAft>
            </a:pPr>
            <a:r>
              <a:rPr lang="en-US" dirty="0"/>
              <a:t>I would like to thank Dr. Terry </a:t>
            </a:r>
            <a:r>
              <a:rPr lang="en-US" dirty="0" err="1"/>
              <a:t>Tomazic</a:t>
            </a:r>
            <a:r>
              <a:rPr lang="en-US" dirty="0"/>
              <a:t> of Saint Louis University who provided extremely helpful insights and recommendations for structuring this proposed research study as well as comments on early versions of the research proposal.</a:t>
            </a:r>
          </a:p>
          <a:p>
            <a:pPr>
              <a:spcAft>
                <a:spcPts val="600"/>
              </a:spcAft>
            </a:pPr>
            <a:r>
              <a:rPr lang="en-US" dirty="0"/>
              <a:t>I’m also very appreciative of my classmates in SOC 5600 Research Methodology who offered  questions, comments, and suggestions that helped improve the design of this proposed research study.</a:t>
            </a:r>
          </a:p>
        </p:txBody>
      </p:sp>
    </p:spTree>
    <p:extLst>
      <p:ext uri="{BB962C8B-B14F-4D97-AF65-F5344CB8AC3E}">
        <p14:creationId xmlns:p14="http://schemas.microsoft.com/office/powerpoint/2010/main" val="410502994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Questions and Suggestions</a:t>
            </a:r>
          </a:p>
        </p:txBody>
      </p:sp>
      <p:sp>
        <p:nvSpPr>
          <p:cNvPr id="3" name="Text Placeholder 2"/>
          <p:cNvSpPr>
            <a:spLocks noGrp="1"/>
          </p:cNvSpPr>
          <p:nvPr>
            <p:ph type="body" idx="1"/>
          </p:nvPr>
        </p:nvSpPr>
        <p:spPr/>
        <p:txBody>
          <a:bodyPr/>
          <a:lstStyle/>
          <a:p>
            <a:r>
              <a:rPr lang="en-US" dirty="0"/>
              <a:t>Open Discussion</a:t>
            </a:r>
          </a:p>
        </p:txBody>
      </p:sp>
    </p:spTree>
    <p:extLst>
      <p:ext uri="{BB962C8B-B14F-4D97-AF65-F5344CB8AC3E}">
        <p14:creationId xmlns:p14="http://schemas.microsoft.com/office/powerpoint/2010/main" val="178981745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4801314"/>
          </a:xfrm>
          <a:prstGeom prst="rect">
            <a:avLst/>
          </a:prstGeom>
          <a:noFill/>
        </p:spPr>
        <p:txBody>
          <a:bodyPr wrap="square" rtlCol="0">
            <a:spAutoFit/>
          </a:bodyPr>
          <a:lstStyle/>
          <a:p>
            <a:r>
              <a:rPr lang="en-US" dirty="0"/>
              <a:t>Andersen, M. S., Bray, J. W., &amp; Link, A. N. (</a:t>
            </a:r>
            <a:r>
              <a:rPr lang="en-US" dirty="0" err="1"/>
              <a:t>n.d.</a:t>
            </a:r>
            <a:r>
              <a:rPr lang="en-US" dirty="0"/>
              <a:t>). On the failure of scientific research: an analysis of SBIR projects funded by the US National Institutes of Health. </a:t>
            </a:r>
            <a:r>
              <a:rPr lang="en-US" i="1" dirty="0"/>
              <a:t>SCIENTOMETRICS</a:t>
            </a:r>
            <a:r>
              <a:rPr lang="en-US" dirty="0"/>
              <a:t>, 112(1), 431–442. https://doi.org/10.1007/s11192-017-2353-7</a:t>
            </a:r>
          </a:p>
          <a:p>
            <a:endParaRPr lang="en-US" dirty="0"/>
          </a:p>
          <a:p>
            <a:r>
              <a:rPr lang="en-US" dirty="0" err="1"/>
              <a:t>Cairney</a:t>
            </a:r>
            <a:r>
              <a:rPr lang="en-US" dirty="0"/>
              <a:t>, P. (2016).  </a:t>
            </a:r>
            <a:r>
              <a:rPr lang="en-US" i="1" dirty="0"/>
              <a:t>What is Policy? </a:t>
            </a:r>
            <a:r>
              <a:rPr lang="en-US" dirty="0"/>
              <a:t>Retrieved April 11, 2019, from https://paulcairney.wordpress.com/2016/03/04/what-is-policy-3/</a:t>
            </a:r>
          </a:p>
          <a:p>
            <a:pPr lvl="0"/>
            <a:endParaRPr lang="en-US" dirty="0">
              <a:solidFill>
                <a:prstClr val="black"/>
              </a:solidFill>
            </a:endParaRPr>
          </a:p>
          <a:p>
            <a:pPr lvl="0"/>
            <a:r>
              <a:rPr lang="en-US" dirty="0">
                <a:solidFill>
                  <a:prstClr val="black"/>
                </a:solidFill>
              </a:rPr>
              <a:t>“CMS Medicare Budget Overview.” 2018. Centers for Medicare and Medicaid Services. U.S. Department of Health &amp; Human Services. Retrieved from https://www.hhs.gov/about/budget/fy2018/budget-in-brief/cms/medicare/index.html.</a:t>
            </a:r>
          </a:p>
          <a:p>
            <a:endParaRPr lang="en-US" dirty="0"/>
          </a:p>
          <a:p>
            <a:pPr lvl="0"/>
            <a:r>
              <a:rPr lang="en-US" dirty="0">
                <a:solidFill>
                  <a:prstClr val="black"/>
                </a:solidFill>
              </a:rPr>
              <a:t>Dai, Y., Popp, D. and </a:t>
            </a:r>
            <a:r>
              <a:rPr lang="en-US" dirty="0" err="1">
                <a:solidFill>
                  <a:prstClr val="black"/>
                </a:solidFill>
              </a:rPr>
              <a:t>Bretschneider</a:t>
            </a:r>
            <a:r>
              <a:rPr lang="en-US" dirty="0">
                <a:solidFill>
                  <a:prstClr val="black"/>
                </a:solidFill>
              </a:rPr>
              <a:t>, S. (2005). Institutions and intellectual property: The influence of institutional forces on university patenting. Journal of Policy Analysis and Management 24(3).  Available from https://onlinelibrary.wiley.com</a:t>
            </a:r>
          </a:p>
          <a:p>
            <a:pPr lvl="0"/>
            <a:endParaRPr lang="en-US" dirty="0">
              <a:solidFill>
                <a:prstClr val="black"/>
              </a:solidFill>
            </a:endParaRPr>
          </a:p>
          <a:p>
            <a:pPr lvl="0"/>
            <a:r>
              <a:rPr lang="en-US" dirty="0">
                <a:solidFill>
                  <a:prstClr val="black"/>
                </a:solidFill>
              </a:rPr>
              <a:t>Dye, T. R. (1976). </a:t>
            </a:r>
            <a:r>
              <a:rPr lang="en-US" i="1" dirty="0">
                <a:solidFill>
                  <a:prstClr val="black"/>
                </a:solidFill>
              </a:rPr>
              <a:t>Understanding Public Policy. </a:t>
            </a:r>
            <a:r>
              <a:rPr lang="en-US" dirty="0">
                <a:solidFill>
                  <a:prstClr val="black"/>
                </a:solidFill>
              </a:rPr>
              <a:t>Upper Saddle River, NJ: Prentice-Hall.</a:t>
            </a:r>
          </a:p>
          <a:p>
            <a:pPr lvl="0"/>
            <a:endParaRPr lang="en-US" dirty="0">
              <a:solidFill>
                <a:prstClr val="black"/>
              </a:solidFill>
            </a:endParaRPr>
          </a:p>
        </p:txBody>
      </p:sp>
    </p:spTree>
    <p:extLst>
      <p:ext uri="{BB962C8B-B14F-4D97-AF65-F5344CB8AC3E}">
        <p14:creationId xmlns:p14="http://schemas.microsoft.com/office/powerpoint/2010/main" val="11597410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4524315"/>
          </a:xfrm>
          <a:prstGeom prst="rect">
            <a:avLst/>
          </a:prstGeom>
          <a:noFill/>
        </p:spPr>
        <p:txBody>
          <a:bodyPr wrap="square" rtlCol="0">
            <a:spAutoFit/>
          </a:bodyPr>
          <a:lstStyle/>
          <a:p>
            <a:pPr lvl="0"/>
            <a:r>
              <a:rPr lang="en-US" dirty="0">
                <a:solidFill>
                  <a:prstClr val="black"/>
                </a:solidFill>
              </a:rPr>
              <a:t>“Economic growth.” (2019). Wikipedia. Retrieved April 12, 2019, from https://en.wikipedia.org/wiki/Economic_growth</a:t>
            </a:r>
          </a:p>
          <a:p>
            <a:pPr lvl="0"/>
            <a:endParaRPr lang="en-US" dirty="0"/>
          </a:p>
          <a:p>
            <a:r>
              <a:rPr lang="en-US" dirty="0"/>
              <a:t>Florida, R., Adler, P., &amp; </a:t>
            </a:r>
            <a:r>
              <a:rPr lang="en-US" dirty="0" err="1"/>
              <a:t>Mellander</a:t>
            </a:r>
            <a:r>
              <a:rPr lang="en-US" dirty="0"/>
              <a:t>, C. (2017). The city as innovation machine. </a:t>
            </a:r>
            <a:r>
              <a:rPr lang="en-US" i="1" dirty="0"/>
              <a:t>Regional Studies, 51</a:t>
            </a:r>
            <a:r>
              <a:rPr lang="en-US" dirty="0"/>
              <a:t>(1), 86-96. </a:t>
            </a:r>
            <a:r>
              <a:rPr lang="en-US" dirty="0" err="1"/>
              <a:t>doi</a:t>
            </a:r>
            <a:r>
              <a:rPr lang="en-US" dirty="0"/>
              <a:t>: http://dx.doi.org/10.1080/00343404.2016.1255324</a:t>
            </a:r>
          </a:p>
          <a:p>
            <a:pPr lvl="0"/>
            <a:endParaRPr lang="en-US" dirty="0"/>
          </a:p>
          <a:p>
            <a:pPr lvl="0"/>
            <a:r>
              <a:rPr lang="en-US" dirty="0"/>
              <a:t>Florida, R., &amp; </a:t>
            </a:r>
            <a:r>
              <a:rPr lang="en-US" dirty="0" err="1"/>
              <a:t>Mellander</a:t>
            </a:r>
            <a:r>
              <a:rPr lang="en-US" dirty="0"/>
              <a:t>, C. (2016). Rise of the startup city: the changing geography of the venture capital financed innovation. </a:t>
            </a:r>
            <a:r>
              <a:rPr lang="en-US" i="1" dirty="0"/>
              <a:t>California Management Review</a:t>
            </a:r>
            <a:r>
              <a:rPr lang="en-US" dirty="0"/>
              <a:t>, (1). Retrieved from http://search.ebscohost.com/login.aspx?direct=true&amp;db=edsbig&amp;AN=edsbig.A482290258&amp;site=eds-live</a:t>
            </a:r>
          </a:p>
          <a:p>
            <a:pPr lvl="0"/>
            <a:endParaRPr lang="en-US" dirty="0"/>
          </a:p>
          <a:p>
            <a:pPr lvl="0"/>
            <a:r>
              <a:rPr lang="en-US" dirty="0" err="1"/>
              <a:t>Hemel</a:t>
            </a:r>
            <a:r>
              <a:rPr lang="en-US" dirty="0"/>
              <a:t>, D. J., &amp; Ouellette, L. L. (2019). Innovation Policy Pluralism. </a:t>
            </a:r>
            <a:r>
              <a:rPr lang="en-US" i="1" dirty="0"/>
              <a:t>Yale Law Journal</a:t>
            </a:r>
            <a:r>
              <a:rPr lang="en-US" dirty="0"/>
              <a:t>, (3). Retrieved from http://search.ebscohost.com/login.aspx?direct=true&amp;db=edsbig&amp;AN=edsbig.A576378943&amp;site=eds-live</a:t>
            </a:r>
          </a:p>
          <a:p>
            <a:pPr lvl="0"/>
            <a:endParaRPr lang="en-US" dirty="0"/>
          </a:p>
        </p:txBody>
      </p:sp>
    </p:spTree>
    <p:extLst>
      <p:ext uri="{BB962C8B-B14F-4D97-AF65-F5344CB8AC3E}">
        <p14:creationId xmlns:p14="http://schemas.microsoft.com/office/powerpoint/2010/main" val="75752809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4524315"/>
          </a:xfrm>
          <a:prstGeom prst="rect">
            <a:avLst/>
          </a:prstGeom>
          <a:noFill/>
        </p:spPr>
        <p:txBody>
          <a:bodyPr wrap="square" rtlCol="0">
            <a:spAutoFit/>
          </a:bodyPr>
          <a:lstStyle/>
          <a:p>
            <a:pPr lvl="0"/>
            <a:r>
              <a:rPr lang="en-US" dirty="0"/>
              <a:t>Joshi, A. M., Inouye, T. M., &amp; Robinson, J. A. (</a:t>
            </a:r>
            <a:r>
              <a:rPr lang="en-US" dirty="0" err="1"/>
              <a:t>n.d.</a:t>
            </a:r>
            <a:r>
              <a:rPr lang="en-US" dirty="0"/>
              <a:t>). How does agency workforce diversity influence Federal R&amp;D funding of minority and women technology entrepreneurs? An analysis of the SBIR and STTR programs, 2001-2011. </a:t>
            </a:r>
            <a:r>
              <a:rPr lang="en-US" i="1" dirty="0"/>
              <a:t>SMALL BUSINESS ECONOMICS</a:t>
            </a:r>
            <a:r>
              <a:rPr lang="en-US" dirty="0"/>
              <a:t>, </a:t>
            </a:r>
            <a:r>
              <a:rPr lang="en-US" i="1" dirty="0"/>
              <a:t>50</a:t>
            </a:r>
            <a:r>
              <a:rPr lang="en-US" dirty="0"/>
              <a:t>(3), 499–519. https://doi.org/10.1007/s11187-017-9882-6</a:t>
            </a:r>
            <a:endParaRPr lang="en-US" dirty="0">
              <a:solidFill>
                <a:prstClr val="black"/>
              </a:solidFill>
            </a:endParaRPr>
          </a:p>
          <a:p>
            <a:pPr lvl="0"/>
            <a:endParaRPr lang="en-US" dirty="0">
              <a:solidFill>
                <a:prstClr val="black"/>
              </a:solidFill>
            </a:endParaRPr>
          </a:p>
          <a:p>
            <a:pPr lvl="0"/>
            <a:r>
              <a:rPr lang="en-US" dirty="0">
                <a:solidFill>
                  <a:prstClr val="black"/>
                </a:solidFill>
              </a:rPr>
              <a:t>Office of Management and Budget [OMB]. (2018). </a:t>
            </a:r>
            <a:r>
              <a:rPr lang="en-US" i="1" dirty="0">
                <a:solidFill>
                  <a:prstClr val="black"/>
                </a:solidFill>
              </a:rPr>
              <a:t>The President's Management Agenda. </a:t>
            </a:r>
            <a:r>
              <a:rPr lang="en-US" dirty="0">
                <a:solidFill>
                  <a:prstClr val="black"/>
                </a:solidFill>
              </a:rPr>
              <a:t>Retrieved from https://www.whitehouse.gov/wp-content/uploads/2018/03/Presidents-Management-Agenda.pdf</a:t>
            </a:r>
            <a:endParaRPr lang="en-US" dirty="0"/>
          </a:p>
          <a:p>
            <a:pPr lvl="0"/>
            <a:endParaRPr lang="en-US" dirty="0"/>
          </a:p>
          <a:p>
            <a:pPr lvl="0"/>
            <a:r>
              <a:rPr lang="en-US" dirty="0" err="1"/>
              <a:t>Reuer</a:t>
            </a:r>
            <a:r>
              <a:rPr lang="en-US" dirty="0"/>
              <a:t>, J. J., &amp; </a:t>
            </a:r>
            <a:r>
              <a:rPr lang="en-US" dirty="0" err="1"/>
              <a:t>Lahiri</a:t>
            </a:r>
            <a:r>
              <a:rPr lang="en-US" dirty="0"/>
              <a:t>, N. (2014). Searching for alliance partners: effects of geographic distance on the formation of </a:t>
            </a:r>
            <a:r>
              <a:rPr lang="en-US" dirty="0" err="1"/>
              <a:t>r&amp;d</a:t>
            </a:r>
            <a:r>
              <a:rPr lang="en-US" dirty="0"/>
              <a:t> collaborations. </a:t>
            </a:r>
            <a:r>
              <a:rPr lang="en-US" i="1" dirty="0"/>
              <a:t>Organization Science</a:t>
            </a:r>
            <a:r>
              <a:rPr lang="en-US" dirty="0"/>
              <a:t>, (1). Retrieved from http://search.ebscohost.com/login.aspx?direct=true&amp;db=edsbig&amp;AN=edsbig.A365471788&amp;site=eds-live</a:t>
            </a:r>
          </a:p>
          <a:p>
            <a:pPr lvl="0"/>
            <a:endParaRPr lang="en-US" dirty="0"/>
          </a:p>
          <a:p>
            <a:pPr lvl="0"/>
            <a:r>
              <a:rPr lang="en-US" dirty="0"/>
              <a:t>Solow, R. M. (1957). Technical change and the aggregate production function. </a:t>
            </a:r>
            <a:r>
              <a:rPr lang="en-US" i="1" dirty="0"/>
              <a:t>The review of Economics and Statistics, 39</a:t>
            </a:r>
            <a:r>
              <a:rPr lang="en-US" dirty="0"/>
              <a:t>(3), 312-320. </a:t>
            </a:r>
            <a:endParaRPr lang="en-US" dirty="0">
              <a:solidFill>
                <a:prstClr val="black"/>
              </a:solidFill>
            </a:endParaRPr>
          </a:p>
        </p:txBody>
      </p:sp>
    </p:spTree>
    <p:extLst>
      <p:ext uri="{BB962C8B-B14F-4D97-AF65-F5344CB8AC3E}">
        <p14:creationId xmlns:p14="http://schemas.microsoft.com/office/powerpoint/2010/main" val="413186811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2585323"/>
          </a:xfrm>
          <a:prstGeom prst="rect">
            <a:avLst/>
          </a:prstGeom>
          <a:noFill/>
        </p:spPr>
        <p:txBody>
          <a:bodyPr wrap="square" rtlCol="0">
            <a:spAutoFit/>
          </a:bodyPr>
          <a:lstStyle/>
          <a:p>
            <a:pPr lvl="0"/>
            <a:r>
              <a:rPr lang="en-US" dirty="0">
                <a:solidFill>
                  <a:prstClr val="black"/>
                </a:solidFill>
              </a:rPr>
              <a:t>“US Spending”. </a:t>
            </a:r>
            <a:r>
              <a:rPr lang="en-US" dirty="0" err="1">
                <a:solidFill>
                  <a:prstClr val="black"/>
                </a:solidFill>
              </a:rPr>
              <a:t>nd</a:t>
            </a:r>
            <a:r>
              <a:rPr lang="en-US" dirty="0">
                <a:solidFill>
                  <a:prstClr val="black"/>
                </a:solidFill>
              </a:rPr>
              <a:t>. USGovernmentSpending.com. Retrieved from https://www.usgovernmentspending.com/year_spending_2018USbn_20bs2n_4041_605#usgs302</a:t>
            </a:r>
          </a:p>
          <a:p>
            <a:pPr lvl="0"/>
            <a:endParaRPr lang="en-US" dirty="0">
              <a:solidFill>
                <a:prstClr val="black"/>
              </a:solidFill>
            </a:endParaRPr>
          </a:p>
          <a:p>
            <a:pPr lvl="0"/>
            <a:r>
              <a:rPr lang="en-US" dirty="0" err="1"/>
              <a:t>Jianling</a:t>
            </a:r>
            <a:r>
              <a:rPr lang="en-US" dirty="0"/>
              <a:t> Wang, </a:t>
            </a:r>
            <a:r>
              <a:rPr lang="en-US" dirty="0" err="1"/>
              <a:t>Eltayyar</a:t>
            </a:r>
            <a:r>
              <a:rPr lang="en-US" dirty="0"/>
              <a:t>, M. E. S. S., </a:t>
            </a:r>
            <a:r>
              <a:rPr lang="en-US" dirty="0" err="1"/>
              <a:t>Junyan</a:t>
            </a:r>
            <a:r>
              <a:rPr lang="en-US" dirty="0"/>
              <a:t> Wu, &amp; Lei Xiang. (2016). The Grey Correlation Analysis between Technology Readiness Level and Performance in Civil Aircraft. </a:t>
            </a:r>
            <a:r>
              <a:rPr lang="en-US" i="1" dirty="0"/>
              <a:t>Journal of Grey System</a:t>
            </a:r>
            <a:r>
              <a:rPr lang="en-US" dirty="0"/>
              <a:t>, </a:t>
            </a:r>
            <a:r>
              <a:rPr lang="en-US" i="1" dirty="0"/>
              <a:t>28</a:t>
            </a:r>
            <a:r>
              <a:rPr lang="en-US" dirty="0"/>
              <a:t>(1), 109–117. Retrieved from http://search.ebscohost.com/login.aspx?direct=true&amp;db=a9h&amp;AN=112989107&amp;site=eds-live</a:t>
            </a:r>
            <a:endParaRPr lang="en-US" dirty="0">
              <a:solidFill>
                <a:prstClr val="black"/>
              </a:solidFill>
            </a:endParaRPr>
          </a:p>
        </p:txBody>
      </p:sp>
    </p:spTree>
    <p:extLst>
      <p:ext uri="{BB962C8B-B14F-4D97-AF65-F5344CB8AC3E}">
        <p14:creationId xmlns:p14="http://schemas.microsoft.com/office/powerpoint/2010/main" val="9416165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1730</TotalTime>
  <Words>3132</Words>
  <Application>Microsoft Office PowerPoint</Application>
  <PresentationFormat>On-screen Show (16:10)</PresentationFormat>
  <Paragraphs>494</Paragraphs>
  <Slides>49</Slides>
  <Notes>17</Notes>
  <HiddenSlides>0</HiddenSlides>
  <MMClips>0</MMClips>
  <ScaleCrop>false</ScaleCrop>
  <HeadingPairs>
    <vt:vector size="6" baseType="variant">
      <vt:variant>
        <vt:lpstr>Theme</vt:lpstr>
      </vt:variant>
      <vt:variant>
        <vt:i4>1</vt:i4>
      </vt:variant>
      <vt:variant>
        <vt:lpstr>Embedded OLE Servers</vt:lpstr>
      </vt:variant>
      <vt:variant>
        <vt:i4>1</vt:i4>
      </vt:variant>
      <vt:variant>
        <vt:lpstr>Slide Titles</vt:lpstr>
      </vt:variant>
      <vt:variant>
        <vt:i4>49</vt:i4>
      </vt:variant>
    </vt:vector>
  </HeadingPairs>
  <TitlesOfParts>
    <vt:vector size="51" baseType="lpstr">
      <vt:lpstr>Office Theme</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Questions and Suggestions</vt:lpstr>
      <vt:lpstr>PowerPoint Presentation</vt:lpstr>
      <vt:lpstr>PowerPoint Presentation</vt:lpstr>
      <vt:lpstr>PowerPoint Presentation</vt:lpstr>
      <vt:lpstr>PowerPoint Presentation</vt:lpstr>
    </vt:vector>
  </TitlesOfParts>
  <Company>Saint Louis University</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Malcolm S. Townes</dc:creator>
  <cp:lastModifiedBy>Malcolm S. Townes</cp:lastModifiedBy>
  <cp:revision>324</cp:revision>
  <cp:lastPrinted>2018-11-28T15:13:03Z</cp:lastPrinted>
  <dcterms:created xsi:type="dcterms:W3CDTF">2018-11-26T20:29:52Z</dcterms:created>
  <dcterms:modified xsi:type="dcterms:W3CDTF">2019-04-16T21:52:51Z</dcterms:modified>
</cp:coreProperties>
</file>