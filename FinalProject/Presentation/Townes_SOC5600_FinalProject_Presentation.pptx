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handoutMasterIdLst>
    <p:handoutMasterId r:id="rId33"/>
  </p:handoutMasterIdLst>
  <p:sldIdLst>
    <p:sldId id="256" r:id="rId2"/>
    <p:sldId id="294" r:id="rId3"/>
    <p:sldId id="298" r:id="rId4"/>
    <p:sldId id="274" r:id="rId5"/>
    <p:sldId id="280" r:id="rId6"/>
    <p:sldId id="260" r:id="rId7"/>
    <p:sldId id="289" r:id="rId8"/>
    <p:sldId id="299" r:id="rId9"/>
    <p:sldId id="285" r:id="rId10"/>
    <p:sldId id="300" r:id="rId11"/>
    <p:sldId id="301" r:id="rId12"/>
    <p:sldId id="273" r:id="rId13"/>
    <p:sldId id="290" r:id="rId14"/>
    <p:sldId id="293" r:id="rId15"/>
    <p:sldId id="297" r:id="rId16"/>
    <p:sldId id="291" r:id="rId17"/>
    <p:sldId id="292" r:id="rId18"/>
    <p:sldId id="257" r:id="rId19"/>
    <p:sldId id="258" r:id="rId20"/>
    <p:sldId id="259" r:id="rId21"/>
    <p:sldId id="272" r:id="rId22"/>
    <p:sldId id="264" r:id="rId23"/>
    <p:sldId id="270" r:id="rId24"/>
    <p:sldId id="271" r:id="rId25"/>
    <p:sldId id="275" r:id="rId26"/>
    <p:sldId id="281" r:id="rId27"/>
    <p:sldId id="288" r:id="rId28"/>
    <p:sldId id="296" r:id="rId29"/>
    <p:sldId id="282" r:id="rId30"/>
    <p:sldId id="295" r:id="rId31"/>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88632" autoAdjust="0"/>
  </p:normalViewPr>
  <p:slideViewPr>
    <p:cSldViewPr snapToGrid="0">
      <p:cViewPr>
        <p:scale>
          <a:sx n="80" d="100"/>
          <a:sy n="80" d="100"/>
        </p:scale>
        <p:origin x="-1080" y="-162"/>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a:pPr>
            <a:r>
              <a:rPr lang="en-US" dirty="0"/>
              <a:t>Percent </a:t>
            </a:r>
            <a:r>
              <a:rPr lang="en-US" dirty="0" smtClean="0"/>
              <a:t>Contribution to Gross Domestic</a:t>
            </a:r>
            <a:r>
              <a:rPr lang="en-US" baseline="0" dirty="0" smtClean="0"/>
              <a:t> Product</a:t>
            </a:r>
            <a:endParaRPr lang="en-US" dirty="0"/>
          </a:p>
        </c:rich>
      </c:tx>
      <c:layout/>
      <c:overlay val="0"/>
    </c:title>
    <c:autoTitleDeleted val="0"/>
    <c:plotArea>
      <c:layout/>
      <c:pieChart>
        <c:varyColors val="1"/>
        <c:ser>
          <c:idx val="0"/>
          <c:order val="0"/>
          <c:tx>
            <c:strRef>
              <c:f>Sheet1!$B$1</c:f>
              <c:strCache>
                <c:ptCount val="1"/>
                <c:pt idx="0">
                  <c:v>Percent Contribution</c:v>
                </c:pt>
              </c:strCache>
            </c:strRef>
          </c:tx>
          <c:explosion val="25"/>
          <c:dLbls>
            <c:dLblPos val="outEnd"/>
            <c:showLegendKey val="0"/>
            <c:showVal val="0"/>
            <c:showCatName val="1"/>
            <c:showSerName val="0"/>
            <c:showPercent val="1"/>
            <c:showBubbleSize val="0"/>
            <c:separator>, </c:separator>
            <c:showLeaderLines val="1"/>
          </c:dLbls>
          <c:cat>
            <c:strRef>
              <c:f>Sheet1!$A$2:$A$3</c:f>
              <c:strCache>
                <c:ptCount val="2"/>
                <c:pt idx="0">
                  <c:v>Technology</c:v>
                </c:pt>
                <c:pt idx="1">
                  <c:v>All other factors</c:v>
                </c:pt>
              </c:strCache>
            </c:strRef>
          </c:cat>
          <c:val>
            <c:numRef>
              <c:f>Sheet1!$B$2:$B$3</c:f>
              <c:numCache>
                <c:formatCode>General</c:formatCode>
                <c:ptCount val="2"/>
                <c:pt idx="0">
                  <c:v>80</c:v>
                </c:pt>
                <c:pt idx="1">
                  <c:v>20</c:v>
                </c:pt>
              </c:numCache>
            </c:numRef>
          </c:val>
        </c:ser>
        <c:dLbls>
          <c:showLegendKey val="0"/>
          <c:showVal val="1"/>
          <c:showCatName val="0"/>
          <c:showSerName val="0"/>
          <c:showPercent val="0"/>
          <c:showBubbleSize val="0"/>
          <c:showLeaderLines val="1"/>
        </c:dLbls>
        <c:firstSliceAng val="0"/>
      </c:pieChart>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pt>
  </dgm:ptLst>
  <dgm:cxnLst>
    <dgm:cxn modelId="{BC6251F1-B4B1-4418-8CC3-1C322C59228C}" srcId="{E8371B40-932D-4D58-B0FA-03B0822BBA63}" destId="{9B4EC237-8822-4BBB-8CEA-053275063984}" srcOrd="6" destOrd="0" parTransId="{0E4DD1AD-A666-4612-8D23-B5D80390E8FE}" sibTransId="{39D612C0-AB2B-428F-B37B-99B621CBC2B2}"/>
    <dgm:cxn modelId="{25834EAF-E348-4D3A-A65E-46864A676B0E}" type="presOf" srcId="{7872EC56-464A-4AF7-A325-D8C04EC15CBC}" destId="{E74D4CFD-B51F-4EF3-BA49-144E2D33D50E}" srcOrd="0" destOrd="0" presId="urn:microsoft.com/office/officeart/2005/8/layout/vList3"/>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Technology</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phldr="1"/>
      <dgm:spPr/>
      <dgm:t>
        <a:bodyPr/>
        <a:lstStyle/>
        <a:p>
          <a:endParaRPr lang="en-US"/>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The conveyance from one person or entity to another person or entity of a capability to perform a useful task or replicate a beneficial accomplishment.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dgm:spPr/>
      <dgm:t>
        <a:bodyPr/>
        <a:lstStyle/>
        <a:p>
          <a:endParaRPr lang="en-US"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EE855B06-5CCC-4C53-AF4C-575A8770D0D5}" type="presOf" srcId="{2645AA64-F59A-4567-9741-8E504AE7F8ED}" destId="{BBE81636-BCDD-48A0-B978-839FA7B950F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4D5FBDEE-5039-4DEC-9B2D-8DC78F5DBCD6}" type="presOf" srcId="{56D25664-E470-4423-B8A9-9B6E4F3E9501}" destId="{1F2FC209-C6F9-4BD8-BE18-C50B50281548}" srcOrd="1" destOrd="0"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2A97522C-8E05-402F-80C9-8EA1026F7377}" type="presOf" srcId="{E7E09A88-A855-416A-B17D-5608BAB5F968}" destId="{7C1FE252-E5CE-40AF-AE08-799A5F741FEE}" srcOrd="0" destOrd="0"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E773E674-A783-4995-8E89-A8CE90DE21E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511B2E3-3D89-4684-885C-D90F4247E6D7}" srcId="{275823A6-DA31-4015-971F-013EA967541C}" destId="{E86116AF-FF1A-4CAC-B9D5-550DB396EE8F}" srcOrd="1" destOrd="0" parTransId="{CCDF520B-145F-4867-B3CD-BCC75C361749}" sibTransId="{537CA541-56E8-4D37-B7FD-9142DEB1394C}"/>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FB05A8F-32F0-47C2-B277-80D43295C560}" type="presOf" srcId="{D264B8C8-0C74-4047-BC3D-D328ABB04B07}" destId="{4428B23C-049C-4D7B-92D7-DD65A1003E4E}"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DCB0E8B-E40A-46BF-A80C-48D12181F989}" type="presOf" srcId="{E12051B9-F660-41FB-9BFB-187ECABCD821}" destId="{4413368B-ACCA-469B-9D0E-1FEFC4075FB0}" srcOrd="0" destOrd="0" presId="urn:microsoft.com/office/officeart/2005/8/layout/hProcess7"/>
    <dgm:cxn modelId="{A9B89EF9-F82A-4EBA-A47E-749577125864}" type="presOf" srcId="{56D25664-E470-4423-B8A9-9B6E4F3E9501}" destId="{5EE1D2E5-E13B-4FA3-A68E-FA18C8AD1A1A}" srcOrd="0" destOrd="0" presId="urn:microsoft.com/office/officeart/2005/8/layout/hProcess7"/>
    <dgm:cxn modelId="{69C9D0F3-829B-4461-B559-125E7B0F6BD8}" type="presOf" srcId="{F754AD28-8B54-47D9-83F1-8D45F35B4A81}" destId="{0F07502A-98A4-4880-9779-27EA2BEB6F02}" srcOrd="0" destOrd="0" presId="urn:microsoft.com/office/officeart/2005/8/layout/hProcess7"/>
    <dgm:cxn modelId="{7A8D3746-761E-436E-9D68-02DFB7320333}"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A2618021-D9DF-4BBF-ADD8-C03C668E0045}"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F8BE258-6651-4AF5-974E-C603005E76DC}" type="presOf" srcId="{56D25664-E470-4423-B8A9-9B6E4F3E9501}" destId="{1F2FC209-C6F9-4BD8-BE18-C50B50281548}" srcOrd="1" destOrd="0" presId="urn:microsoft.com/office/officeart/2005/8/layout/hProcess7"/>
    <dgm:cxn modelId="{1DD4A1DA-135B-49BF-9350-62AC15AE81C1}" type="presOf" srcId="{2645AA64-F59A-4567-9741-8E504AE7F8ED}" destId="{BBE81636-BCDD-48A0-B978-839FA7B950F8}" srcOrd="0" destOrd="0" presId="urn:microsoft.com/office/officeart/2005/8/layout/hProcess7"/>
    <dgm:cxn modelId="{3117F6BB-9235-48C7-AC2C-0786C30C6D96}" type="presOf" srcId="{275823A6-DA31-4015-971F-013EA967541C}" destId="{752682F3-57CE-4B43-B292-A62B3D508EDD}" srcOrd="1" destOrd="0" presId="urn:microsoft.com/office/officeart/2005/8/layout/hProcess7"/>
    <dgm:cxn modelId="{DD72C822-C095-4605-AFE0-15A11E69EEF4}" type="presOf" srcId="{2645AA64-F59A-4567-9741-8E504AE7F8ED}" destId="{5002EEF7-AB5F-41AC-BBA4-49DC2C142864}" srcOrd="1" destOrd="0" presId="urn:microsoft.com/office/officeart/2005/8/layout/hProcess7"/>
    <dgm:cxn modelId="{982372C1-8C9C-4675-8127-16CC2E9ECBF0}" type="presParOf" srcId="{4413368B-ACCA-469B-9D0E-1FEFC4075FB0}" destId="{8E1BCC0E-B989-4435-8915-645304C71A64}" srcOrd="0" destOrd="0" presId="urn:microsoft.com/office/officeart/2005/8/layout/hProcess7"/>
    <dgm:cxn modelId="{BB151F75-FBB6-4D87-B387-80FD67284D6D}" type="presParOf" srcId="{8E1BCC0E-B989-4435-8915-645304C71A64}" destId="{5EE1D2E5-E13B-4FA3-A68E-FA18C8AD1A1A}" srcOrd="0" destOrd="0" presId="urn:microsoft.com/office/officeart/2005/8/layout/hProcess7"/>
    <dgm:cxn modelId="{BDBB870A-0470-41B2-ADC4-839699906F99}" type="presParOf" srcId="{8E1BCC0E-B989-4435-8915-645304C71A64}" destId="{1F2FC209-C6F9-4BD8-BE18-C50B50281548}" srcOrd="1" destOrd="0" presId="urn:microsoft.com/office/officeart/2005/8/layout/hProcess7"/>
    <dgm:cxn modelId="{6C0DF607-246D-41E6-9A01-6FF57A431DCB}" type="presParOf" srcId="{8E1BCC0E-B989-4435-8915-645304C71A64}" destId="{0F07502A-98A4-4880-9779-27EA2BEB6F02}" srcOrd="2" destOrd="0" presId="urn:microsoft.com/office/officeart/2005/8/layout/hProcess7"/>
    <dgm:cxn modelId="{FADF5633-1325-4528-A19A-B0C00C3D2735}" type="presParOf" srcId="{4413368B-ACCA-469B-9D0E-1FEFC4075FB0}" destId="{13ACBB4E-2F0C-4773-92A7-F091255EA962}" srcOrd="1" destOrd="0" presId="urn:microsoft.com/office/officeart/2005/8/layout/hProcess7"/>
    <dgm:cxn modelId="{A7331F66-5890-4894-BE56-6440995884B0}" type="presParOf" srcId="{4413368B-ACCA-469B-9D0E-1FEFC4075FB0}" destId="{BAD87237-2D53-4DFC-BA2E-02EC39493885}" srcOrd="2" destOrd="0" presId="urn:microsoft.com/office/officeart/2005/8/layout/hProcess7"/>
    <dgm:cxn modelId="{BE009C92-D8B1-474D-A13F-587F115DA890}" type="presParOf" srcId="{BAD87237-2D53-4DFC-BA2E-02EC39493885}" destId="{221F174E-2568-4C2B-B98A-B21C733FC119}" srcOrd="0" destOrd="0" presId="urn:microsoft.com/office/officeart/2005/8/layout/hProcess7"/>
    <dgm:cxn modelId="{4E722D4A-C5BF-45FC-9554-FF196591DAE5}" type="presParOf" srcId="{BAD87237-2D53-4DFC-BA2E-02EC39493885}" destId="{45668240-D897-4FC1-8421-6DD785B65040}" srcOrd="1" destOrd="0" presId="urn:microsoft.com/office/officeart/2005/8/layout/hProcess7"/>
    <dgm:cxn modelId="{9E45E02C-C297-430E-9FDE-90FE58F9B3A6}" type="presParOf" srcId="{BAD87237-2D53-4DFC-BA2E-02EC39493885}" destId="{50ECFA14-9F36-4C35-911C-A780FF037D2C}" srcOrd="2" destOrd="0" presId="urn:microsoft.com/office/officeart/2005/8/layout/hProcess7"/>
    <dgm:cxn modelId="{92687990-CCDE-4F4F-91E4-6FC2BFE16181}" type="presParOf" srcId="{4413368B-ACCA-469B-9D0E-1FEFC4075FB0}" destId="{B0CEB5DD-B27E-454F-A39C-A559A187214D}" srcOrd="3" destOrd="0" presId="urn:microsoft.com/office/officeart/2005/8/layout/hProcess7"/>
    <dgm:cxn modelId="{4AF07E81-536E-446D-8A9C-588BDEB25A54}" type="presParOf" srcId="{4413368B-ACCA-469B-9D0E-1FEFC4075FB0}" destId="{4C92115F-DFB0-4372-AF66-CF11B70A8EFD}" srcOrd="4" destOrd="0" presId="urn:microsoft.com/office/officeart/2005/8/layout/hProcess7"/>
    <dgm:cxn modelId="{8786D10C-DC19-43F2-BFD4-28EFD07FB9DF}" type="presParOf" srcId="{4C92115F-DFB0-4372-AF66-CF11B70A8EFD}" destId="{CB5EA34A-627A-4C1F-96E3-4088D2A98FDD}" srcOrd="0" destOrd="0" presId="urn:microsoft.com/office/officeart/2005/8/layout/hProcess7"/>
    <dgm:cxn modelId="{9EA3AC4B-EC12-4593-920B-AE47A6807270}" type="presParOf" srcId="{4C92115F-DFB0-4372-AF66-CF11B70A8EFD}" destId="{752682F3-57CE-4B43-B292-A62B3D508EDD}" srcOrd="1" destOrd="0" presId="urn:microsoft.com/office/officeart/2005/8/layout/hProcess7"/>
    <dgm:cxn modelId="{8D27A9DB-0D78-4DB5-B8FD-0EB184D926C1}" type="presParOf" srcId="{4C92115F-DFB0-4372-AF66-CF11B70A8EFD}" destId="{7C1FE252-E5CE-40AF-AE08-799A5F741FEE}" srcOrd="2" destOrd="0" presId="urn:microsoft.com/office/officeart/2005/8/layout/hProcess7"/>
    <dgm:cxn modelId="{2C204B41-A25F-42BB-88A6-F550AB1BEA96}" type="presParOf" srcId="{4413368B-ACCA-469B-9D0E-1FEFC4075FB0}" destId="{E94DD569-30C2-4DB5-BFE9-2EA1C054A099}" srcOrd="5" destOrd="0" presId="urn:microsoft.com/office/officeart/2005/8/layout/hProcess7"/>
    <dgm:cxn modelId="{4610FEDD-6AAF-4115-9D7A-91C3A0E812A4}" type="presParOf" srcId="{4413368B-ACCA-469B-9D0E-1FEFC4075FB0}" destId="{D0762C22-9124-4CFC-9FEF-33DB241A1B75}" srcOrd="6" destOrd="0" presId="urn:microsoft.com/office/officeart/2005/8/layout/hProcess7"/>
    <dgm:cxn modelId="{CA0AC121-AC36-44ED-8E6B-0FD93C0427B2}" type="presParOf" srcId="{D0762C22-9124-4CFC-9FEF-33DB241A1B75}" destId="{C8DF72E1-70D1-4214-8DAD-40E18FF824F5}" srcOrd="0" destOrd="0" presId="urn:microsoft.com/office/officeart/2005/8/layout/hProcess7"/>
    <dgm:cxn modelId="{F823FE92-B244-4C09-AB5F-E756286C81C8}" type="presParOf" srcId="{D0762C22-9124-4CFC-9FEF-33DB241A1B75}" destId="{BAC8B8B3-49A2-4BE7-B498-654C601FE809}" srcOrd="1" destOrd="0" presId="urn:microsoft.com/office/officeart/2005/8/layout/hProcess7"/>
    <dgm:cxn modelId="{BF514EF4-B838-4058-B688-A72008B19755}" type="presParOf" srcId="{D0762C22-9124-4CFC-9FEF-33DB241A1B75}" destId="{4A5065A5-7398-4E75-9460-0F7770025FB9}" srcOrd="2" destOrd="0" presId="urn:microsoft.com/office/officeart/2005/8/layout/hProcess7"/>
    <dgm:cxn modelId="{12305878-B7C7-4800-8FBE-8A03692EBDD4}" type="presParOf" srcId="{4413368B-ACCA-469B-9D0E-1FEFC4075FB0}" destId="{2AE61FAA-6DD0-4F7B-8C42-F1DA0A887180}" srcOrd="7" destOrd="0" presId="urn:microsoft.com/office/officeart/2005/8/layout/hProcess7"/>
    <dgm:cxn modelId="{83481AD0-02C7-4D9F-9AD4-187706297601}" type="presParOf" srcId="{4413368B-ACCA-469B-9D0E-1FEFC4075FB0}" destId="{72B73D94-A19D-488F-A34B-978C721C47B4}" srcOrd="8" destOrd="0" presId="urn:microsoft.com/office/officeart/2005/8/layout/hProcess7"/>
    <dgm:cxn modelId="{2A46774C-C407-456B-9403-A5594D5E28BE}" type="presParOf" srcId="{72B73D94-A19D-488F-A34B-978C721C47B4}" destId="{BBE81636-BCDD-48A0-B978-839FA7B950F8}" srcOrd="0" destOrd="0" presId="urn:microsoft.com/office/officeart/2005/8/layout/hProcess7"/>
    <dgm:cxn modelId="{175F35A6-039F-4C78-9AD5-4FF57B3A4BB6}" type="presParOf" srcId="{72B73D94-A19D-488F-A34B-978C721C47B4}" destId="{5002EEF7-AB5F-41AC-BBA4-49DC2C142864}" srcOrd="1" destOrd="0" presId="urn:microsoft.com/office/officeart/2005/8/layout/hProcess7"/>
    <dgm:cxn modelId="{BCE54644-BBB4-4644-8AD2-152B0489A1B5}"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F7153C57-A186-40D1-881C-A7EE007B6A84}" type="presOf" srcId="{275823A6-DA31-4015-971F-013EA967541C}" destId="{CB5EA34A-627A-4C1F-96E3-4088D2A98FDD}"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0E53BA19-074F-4E8A-B108-53D222C78913}" type="presOf" srcId="{D264B8C8-0C74-4047-BC3D-D328ABB04B07}" destId="{4428B23C-049C-4D7B-92D7-DD65A1003E4E}" srcOrd="0" destOrd="0" presId="urn:microsoft.com/office/officeart/2005/8/layout/hProcess7"/>
    <dgm:cxn modelId="{BA86AA22-E0A6-4B2D-8870-B6EE9B7D21A2}" type="presOf" srcId="{56D25664-E470-4423-B8A9-9B6E4F3E9501}" destId="{1F2FC209-C6F9-4BD8-BE18-C50B50281548}"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55316F3-D59D-4E22-BAC5-4B54F7BE800A}" srcId="{275823A6-DA31-4015-971F-013EA967541C}" destId="{E7E09A88-A855-416A-B17D-5608BAB5F968}" srcOrd="0" destOrd="0" parTransId="{791A9365-62E9-4724-B5DD-36351582D82E}" sibTransId="{C2A5DE0A-7824-4E35-BB27-47DBE8541DB5}"/>
    <dgm:cxn modelId="{7437843E-C873-4F0A-B5EA-DE17D4B19CEC}" srcId="{E12051B9-F660-41FB-9BFB-187ECABCD821}" destId="{275823A6-DA31-4015-971F-013EA967541C}" srcOrd="1" destOrd="0" parTransId="{875E5474-64E5-4108-955A-9C4C5981F19E}" sibTransId="{51902D99-3A7E-49E6-ACF4-64573B002DF3}"/>
    <dgm:cxn modelId="{21301622-77BE-4754-8338-241574961FCF}" type="presOf" srcId="{2645AA64-F59A-4567-9741-8E504AE7F8ED}" destId="{BBE81636-BCDD-48A0-B978-839FA7B950F8}" srcOrd="0" destOrd="0" presId="urn:microsoft.com/office/officeart/2005/8/layout/hProcess7"/>
    <dgm:cxn modelId="{4637551F-0D3F-4D2D-9008-B218D2EB9464}"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F1659B10-4FBE-4A63-A462-5D6031D737B1}" type="presOf" srcId="{56D25664-E470-4423-B8A9-9B6E4F3E9501}" destId="{5EE1D2E5-E13B-4FA3-A68E-FA18C8AD1A1A}" srcOrd="0" destOrd="0"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4E3401AA-1E24-4535-A79F-BA5D946C0D40}" type="presOf" srcId="{E7E09A88-A855-416A-B17D-5608BAB5F968}" destId="{7C1FE252-E5CE-40AF-AE08-799A5F741FEE}" srcOrd="0" destOrd="0" presId="urn:microsoft.com/office/officeart/2005/8/layout/hProcess7"/>
    <dgm:cxn modelId="{AC461C10-B64E-47D2-876A-1F8E2E4FB198}" type="presOf" srcId="{F754AD28-8B54-47D9-83F1-8D45F35B4A81}" destId="{0F07502A-98A4-4880-9779-27EA2BEB6F02}"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277D3C4-3EBC-4B13-9391-E571FAB7D778}" type="presOf" srcId="{E12051B9-F660-41FB-9BFB-187ECABCD821}" destId="{4413368B-ACCA-469B-9D0E-1FEFC4075FB0}" srcOrd="0" destOrd="0" presId="urn:microsoft.com/office/officeart/2005/8/layout/hProcess7"/>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3893ABA4-7B69-4D33-BC00-E43B7028591B}" type="presOf" srcId="{275823A6-DA31-4015-971F-013EA967541C}" destId="{752682F3-57CE-4B43-B292-A62B3D508EDD}" srcOrd="1"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CD334E6-E5C6-4C59-9387-0466A6740A69}" type="presOf" srcId="{56D25664-E470-4423-B8A9-9B6E4F3E9501}" destId="{1F2FC209-C6F9-4BD8-BE18-C50B50281548}"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56A77E-384F-4C09-AC6E-469F6C9D238D}"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CD48B93-ABB8-433A-A639-193F0A28CBE5}" srcId="{E12051B9-F660-41FB-9BFB-187ECABCD821}" destId="{2645AA64-F59A-4567-9741-8E504AE7F8ED}" srcOrd="2" destOrd="0" parTransId="{AC7E47B7-C191-494F-A858-138D80EBAA8B}" sibTransId="{8534D89E-94B4-4294-B728-B7172A8E774D}"/>
    <dgm:cxn modelId="{FA79C83B-0A67-4DC7-ADBE-DB83B0AF2D79}" type="presOf" srcId="{F754AD28-8B54-47D9-83F1-8D45F35B4A81}" destId="{0F07502A-98A4-4880-9779-27EA2BEB6F02}" srcOrd="0"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B0E41DD-BBBD-4BC6-B3BC-6EE03599BEEF}" type="presOf" srcId="{2645AA64-F59A-4567-9741-8E504AE7F8ED}" destId="{BBE81636-BCDD-48A0-B978-839FA7B950F8}"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72CA96-9220-4AFD-88F9-936C50BD554D}" type="presOf" srcId="{56D25664-E470-4423-B8A9-9B6E4F3E9501}" destId="{5EE1D2E5-E13B-4FA3-A68E-FA18C8AD1A1A}" srcOrd="0" destOrd="0"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0BE03BD5-FE23-46AA-ADDD-3EB80CE083C8}" type="presOf" srcId="{56D25664-E470-4423-B8A9-9B6E4F3E9501}" destId="{5EE1D2E5-E13B-4FA3-A68E-FA18C8AD1A1A}"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61BFFC1-AE7C-498C-83A0-CA1826D78F8F}" type="presOf" srcId="{F754AD28-8B54-47D9-83F1-8D45F35B4A81}" destId="{0F07502A-98A4-4880-9779-27EA2BEB6F02}"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7C7262B7-24DB-4213-B4DB-EFC966CC1B57}" type="presOf" srcId="{275823A6-DA31-4015-971F-013EA967541C}" destId="{CB5EA34A-627A-4C1F-96E3-4088D2A98FDD}" srcOrd="0"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71495D02-A03D-428D-8DF2-B60DC303D478}" type="presOf" srcId="{275823A6-DA31-4015-971F-013EA967541C}" destId="{752682F3-57CE-4B43-B292-A62B3D508EDD}"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8711CA19-EAD8-4409-B0C5-6BE45B888BBE}" type="presOf" srcId="{56D25664-E470-4423-B8A9-9B6E4F3E9501}" destId="{1F2FC209-C6F9-4BD8-BE18-C50B50281548}"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FB0031A1-CB53-450E-9938-8DE34F88DDF6}"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10979F0-7634-4B80-B15B-DE718853D504}" type="presOf" srcId="{E7E09A88-A855-416A-B17D-5608BAB5F968}" destId="{7C1FE252-E5CE-40AF-AE08-799A5F741FEE}" srcOrd="0" destOrd="0" presId="urn:microsoft.com/office/officeart/2005/8/layout/hProcess7"/>
    <dgm:cxn modelId="{7D4AA11D-AECE-4F13-83A5-2F30DAC3FCE9}" type="presOf" srcId="{E12051B9-F660-41FB-9BFB-187ECABCD821}" destId="{4413368B-ACCA-469B-9D0E-1FEFC4075FB0}"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0" presStyleCnt="3" custScaleX="135007" custLinFactNeighborX="27001" custLinFactNeighborY="93990">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0" presStyleCnt="3"/>
      <dgm:spPr/>
      <dgm:t>
        <a:bodyPr/>
        <a:lstStyle/>
        <a:p>
          <a:endParaRPr lang="en-US"/>
        </a:p>
      </dgm:t>
    </dgm:pt>
    <dgm:pt modelId="{3A448A58-6617-48D2-9581-3D27DDBA145C}" type="pres">
      <dgm:prSet presAssocID="{D299AA71-1BEF-44A0-AF96-5BEF7421E37A}" presName="parentText" presStyleLbl="node1" presStyleIdx="0" presStyleCnt="3" custScaleX="211352" custScaleY="211352" custLinFactY="64232" custLinFactNeighborY="100000">
        <dgm:presLayoutVars>
          <dgm:chMax val="1"/>
          <dgm:bulletEnabled val="1"/>
        </dgm:presLayoutVars>
      </dgm:prSet>
      <dgm:spPr/>
    </dgm:pt>
    <dgm:pt modelId="{887BAB45-CEC3-4219-A10C-C5F59E915AEB}" type="pres">
      <dgm:prSet presAssocID="{D299AA71-1BEF-44A0-AF96-5BEF7421E37A}" presName="aSpace" presStyleCnt="0"/>
      <dgm:spPr/>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1" presStyleCnt="3" custScaleX="146100" custLinFactNeighborX="10563" custLinFactNeighborY="2817">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1" presStyleCnt="3"/>
      <dgm:spPr/>
      <dgm:t>
        <a:bodyPr/>
        <a:lstStyle/>
        <a:p>
          <a:endParaRPr lang="en-US"/>
        </a:p>
      </dgm:t>
    </dgm:pt>
    <dgm:pt modelId="{088E468E-E6DE-4F0F-A86F-AFEFEA680604}" type="pres">
      <dgm:prSet presAssocID="{000E87EB-6BC1-4467-8911-3A6D4307DC52}" presName="parentText" presStyleLbl="node1" presStyleIdx="1" presStyleCnt="3" custScaleX="211352" custScaleY="211352" custLinFactNeighborX="-56970" custLinFactNeighborY="4942">
        <dgm:presLayoutVars>
          <dgm:chMax val="1"/>
          <dgm:bulletEnabled val="1"/>
        </dgm:presLayoutVars>
      </dgm:prSet>
      <dgm:spPr/>
    </dgm:pt>
    <dgm:pt modelId="{EE72B062-F5FF-487A-93EE-75AEE915B1B4}" type="pres">
      <dgm:prSet presAssocID="{000E87EB-6BC1-4467-8911-3A6D4307DC52}"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362BDEBC-B5FE-4F3A-993A-4856B29172C3}" srcId="{DAD13305-C33C-4D5D-8E70-FA8D16F7D6E7}" destId="{27E0F1EB-E191-4957-A96C-74E644B233D2}" srcOrd="0" destOrd="0" parTransId="{060AD8E2-FB38-4136-87CF-9997C41B9785}" sibTransId="{E9D2AB2E-23B4-4871-B87D-9DAF9AC1EBCD}"/>
    <dgm:cxn modelId="{39BF23E3-002E-4489-8E32-8088769DC0DD}" type="presOf" srcId="{000E87EB-6BC1-4467-8911-3A6D4307DC52}" destId="{088E468E-E6DE-4F0F-A86F-AFEFEA680604}" srcOrd="0" destOrd="0" presId="urn:microsoft.com/office/officeart/2005/8/layout/hProcess6"/>
    <dgm:cxn modelId="{8B7AF42C-D02F-468C-8259-9CAC7295960F}" type="presOf" srcId="{1D821791-7814-455A-9399-EDDBA6237C3A}" destId="{712DED06-2F47-4A50-B22C-7F91F1296605}" srcOrd="0" destOrd="0" presId="urn:microsoft.com/office/officeart/2005/8/layout/hProcess6"/>
    <dgm:cxn modelId="{0F279899-A876-4A93-B223-D843FAACA7D7}" type="presOf" srcId="{52206868-3460-4CAE-B5C9-26C67358723C}" destId="{49908BEB-6F47-45A2-8B4B-490BBC29E29A}" srcOrd="1" destOrd="0" presId="urn:microsoft.com/office/officeart/2005/8/layout/hProcess6"/>
    <dgm:cxn modelId="{36599549-5E22-4541-BB4C-1EC03272B1E0}" type="presOf" srcId="{5755E862-5F30-47F4-BE53-0D0D635BC754}" destId="{C7B07B6A-2913-4481-A94E-4F0876271F1C}" srcOrd="0" destOrd="0" presId="urn:microsoft.com/office/officeart/2005/8/layout/hProcess6"/>
    <dgm:cxn modelId="{635620E7-9896-499B-901B-79342BB036E6}" srcId="{1D821791-7814-455A-9399-EDDBA6237C3A}" destId="{D299AA71-1BEF-44A0-AF96-5BEF7421E37A}" srcOrd="0" destOrd="0" parTransId="{7473B43F-9657-45AB-95F6-883C898FD0BD}" sibTransId="{34CE16CB-D278-4EDD-9B9E-8516387F3D42}"/>
    <dgm:cxn modelId="{2BE8F809-EB22-43F7-BEE2-119B520AFBF3}" type="presOf" srcId="{4D8913DF-90C6-421D-BEAA-AE7CC581B4C5}" destId="{49908BEB-6F47-45A2-8B4B-490BBC29E29A}" srcOrd="1" destOrd="1"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14945C8B-8671-4B28-B4D2-CFF695C9AEBD}" type="presOf" srcId="{27E0F1EB-E191-4957-A96C-74E644B233D2}" destId="{4AC6C886-7EF8-4E51-BFD3-EFBDE5FE3CF4}" srcOrd="1" destOrd="0" presId="urn:microsoft.com/office/officeart/2005/8/layout/hProcess6"/>
    <dgm:cxn modelId="{CA3340A9-6635-4EE0-B467-726BF787CB90}" type="presOf" srcId="{52206868-3460-4CAE-B5C9-26C67358723C}" destId="{CF065CDD-DFD7-4D33-9DBE-0AD4241E5EB9}" srcOrd="0" destOrd="0" presId="urn:microsoft.com/office/officeart/2005/8/layout/hProcess6"/>
    <dgm:cxn modelId="{C3D4BBCC-8D08-4B5F-84C2-4CE7664D711F}" srcId="{DAD13305-C33C-4D5D-8E70-FA8D16F7D6E7}" destId="{EECED6DC-7595-4B84-BF9E-4F3A80443BF1}" srcOrd="1" destOrd="0" parTransId="{D9A4142C-920B-4638-BD88-2B5B989E713A}" sibTransId="{B5DB54B2-2209-4C5C-8EC9-188180D016F7}"/>
    <dgm:cxn modelId="{846BC4A8-DA87-4F93-BD10-F7E525786947}" type="presOf" srcId="{D299AA71-1BEF-44A0-AF96-5BEF7421E37A}" destId="{3A448A58-6617-48D2-9581-3D27DDBA145C}" srcOrd="0" destOrd="0"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2A4FA233-245E-489A-B734-C5BBC0337079}" type="presOf" srcId="{27E0F1EB-E191-4957-A96C-74E644B233D2}" destId="{762703CE-4815-4B8A-B298-2820EF25E80C}" srcOrd="0" destOrd="0" presId="urn:microsoft.com/office/officeart/2005/8/layout/hProcess6"/>
    <dgm:cxn modelId="{B070D238-721F-4815-990B-1800E8A53FC1}" type="presOf" srcId="{EECED6DC-7595-4B84-BF9E-4F3A80443BF1}" destId="{4AC6C886-7EF8-4E51-BFD3-EFBDE5FE3CF4}" srcOrd="1" destOrd="1"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490262F8-9857-4390-AEF4-E84CB57A1312}" type="presOf" srcId="{EECED6DC-7595-4B84-BF9E-4F3A80443BF1}" destId="{762703CE-4815-4B8A-B298-2820EF25E80C}" srcOrd="0" destOrd="1" presId="urn:microsoft.com/office/officeart/2005/8/layout/hProcess6"/>
    <dgm:cxn modelId="{A7A50A9C-9D0C-4953-B235-88BDCCC21357}" type="presOf" srcId="{5755E862-5F30-47F4-BE53-0D0D635BC754}" destId="{661E9B89-062D-4CF5-BDE6-95F3A25DA3F7}" srcOrd="1" destOrd="0" presId="urn:microsoft.com/office/officeart/2005/8/layout/hProcess6"/>
    <dgm:cxn modelId="{EB0538B6-3D10-43C6-906C-83914CFD5BD0}" srcId="{D299AA71-1BEF-44A0-AF96-5BEF7421E37A}" destId="{5755E862-5F30-47F4-BE53-0D0D635BC754}" srcOrd="0" destOrd="0" parTransId="{87CB2BA6-54FD-4F34-89FD-1AD541CFAFC8}" sibTransId="{08E4A303-1A13-4BC8-9CEB-5DC28C3306FC}"/>
    <dgm:cxn modelId="{08ED08A5-BB45-4A95-89BD-505F3F5D30C6}" type="presOf" srcId="{DAD13305-C33C-4D5D-8E70-FA8D16F7D6E7}" destId="{9DB06BE9-448D-4829-BF41-0662BB4070BC}" srcOrd="0" destOrd="0" presId="urn:microsoft.com/office/officeart/2005/8/layout/hProcess6"/>
    <dgm:cxn modelId="{A73323D9-1177-4D14-9CE2-D2A2CEA16DEB}" type="presOf" srcId="{4D8913DF-90C6-421D-BEAA-AE7CC581B4C5}" destId="{CF065CDD-DFD7-4D33-9DBE-0AD4241E5EB9}" srcOrd="0" destOrd="1" presId="urn:microsoft.com/office/officeart/2005/8/layout/hProcess6"/>
    <dgm:cxn modelId="{732D3501-A355-4810-88FA-925004F762BE}" srcId="{1D821791-7814-455A-9399-EDDBA6237C3A}" destId="{000E87EB-6BC1-4467-8911-3A6D4307DC52}" srcOrd="1" destOrd="0" parTransId="{3D21AF0B-E8B7-4657-B29B-FBDA3FC0E89D}" sibTransId="{B2C799AB-29BE-4ECA-B81A-3E5512C86A1C}"/>
    <dgm:cxn modelId="{793E570C-2D53-4092-966C-B6F9DA593260}" type="presParOf" srcId="{712DED06-2F47-4A50-B22C-7F91F1296605}" destId="{80B7E9A7-6843-447F-8AA5-519F4C5B44D1}" srcOrd="0" destOrd="0" presId="urn:microsoft.com/office/officeart/2005/8/layout/hProcess6"/>
    <dgm:cxn modelId="{977BDF24-8730-4448-AFB9-FB29851A75BF}" type="presParOf" srcId="{80B7E9A7-6843-447F-8AA5-519F4C5B44D1}" destId="{1DCB60A7-274A-480C-A23B-AC5D76C24606}" srcOrd="0" destOrd="0" presId="urn:microsoft.com/office/officeart/2005/8/layout/hProcess6"/>
    <dgm:cxn modelId="{501F10DA-7378-448D-AF25-22A938808D02}" type="presParOf" srcId="{80B7E9A7-6843-447F-8AA5-519F4C5B44D1}" destId="{C7B07B6A-2913-4481-A94E-4F0876271F1C}" srcOrd="1" destOrd="0" presId="urn:microsoft.com/office/officeart/2005/8/layout/hProcess6"/>
    <dgm:cxn modelId="{95501B2C-EC8D-430D-9851-58ADF8AD0B26}" type="presParOf" srcId="{80B7E9A7-6843-447F-8AA5-519F4C5B44D1}" destId="{661E9B89-062D-4CF5-BDE6-95F3A25DA3F7}" srcOrd="2" destOrd="0" presId="urn:microsoft.com/office/officeart/2005/8/layout/hProcess6"/>
    <dgm:cxn modelId="{415A292B-64A0-4EC1-AEBC-860F0DFBD39A}" type="presParOf" srcId="{80B7E9A7-6843-447F-8AA5-519F4C5B44D1}" destId="{3A448A58-6617-48D2-9581-3D27DDBA145C}" srcOrd="3" destOrd="0" presId="urn:microsoft.com/office/officeart/2005/8/layout/hProcess6"/>
    <dgm:cxn modelId="{21AA9C18-90FE-49FE-96AC-A73D926F7B7E}" type="presParOf" srcId="{712DED06-2F47-4A50-B22C-7F91F1296605}" destId="{887BAB45-CEC3-4219-A10C-C5F59E915AEB}" srcOrd="1" destOrd="0" presId="urn:microsoft.com/office/officeart/2005/8/layout/hProcess6"/>
    <dgm:cxn modelId="{24B9E8F4-BA75-43B4-8AA5-7A361A00CCB0}" type="presParOf" srcId="{712DED06-2F47-4A50-B22C-7F91F1296605}" destId="{C0944675-5977-4151-89A2-6E985505641A}" srcOrd="2" destOrd="0" presId="urn:microsoft.com/office/officeart/2005/8/layout/hProcess6"/>
    <dgm:cxn modelId="{99EDB77B-B0AB-446E-9328-F0AC2AB731CC}" type="presParOf" srcId="{C0944675-5977-4151-89A2-6E985505641A}" destId="{943BE74F-1EDA-4FD9-9D78-4015F7B7F494}" srcOrd="0" destOrd="0" presId="urn:microsoft.com/office/officeart/2005/8/layout/hProcess6"/>
    <dgm:cxn modelId="{534F951D-7919-476E-B9F2-1B55C409AC3A}" type="presParOf" srcId="{C0944675-5977-4151-89A2-6E985505641A}" destId="{CF065CDD-DFD7-4D33-9DBE-0AD4241E5EB9}" srcOrd="1" destOrd="0" presId="urn:microsoft.com/office/officeart/2005/8/layout/hProcess6"/>
    <dgm:cxn modelId="{DD6CD03C-6E81-49CC-A7FC-4465D0306B98}" type="presParOf" srcId="{C0944675-5977-4151-89A2-6E985505641A}" destId="{49908BEB-6F47-45A2-8B4B-490BBC29E29A}" srcOrd="2" destOrd="0" presId="urn:microsoft.com/office/officeart/2005/8/layout/hProcess6"/>
    <dgm:cxn modelId="{C886BB4B-1F7C-42AC-86F0-843344F03A33}" type="presParOf" srcId="{C0944675-5977-4151-89A2-6E985505641A}" destId="{088E468E-E6DE-4F0F-A86F-AFEFEA680604}" srcOrd="3" destOrd="0" presId="urn:microsoft.com/office/officeart/2005/8/layout/hProcess6"/>
    <dgm:cxn modelId="{9EF39CCA-C059-41A9-895D-30CF1F7E3CF5}" type="presParOf" srcId="{712DED06-2F47-4A50-B22C-7F91F1296605}" destId="{EE72B062-F5FF-487A-93EE-75AEE915B1B4}" srcOrd="3" destOrd="0" presId="urn:microsoft.com/office/officeart/2005/8/layout/hProcess6"/>
    <dgm:cxn modelId="{AAC231F4-4211-4F2C-9772-6F55F246DC30}" type="presParOf" srcId="{712DED06-2F47-4A50-B22C-7F91F1296605}" destId="{3CFA8F38-D795-4145-8454-76B04FF505EF}" srcOrd="4" destOrd="0" presId="urn:microsoft.com/office/officeart/2005/8/layout/hProcess6"/>
    <dgm:cxn modelId="{22C59DD8-ADBA-4D21-BACC-995619FC0CB3}" type="presParOf" srcId="{3CFA8F38-D795-4145-8454-76B04FF505EF}" destId="{7ED1D09B-3D6E-429F-B238-55746FCC46D5}" srcOrd="0" destOrd="0" presId="urn:microsoft.com/office/officeart/2005/8/layout/hProcess6"/>
    <dgm:cxn modelId="{6F029CE3-1DF8-4892-82A2-A6801992FDD1}" type="presParOf" srcId="{3CFA8F38-D795-4145-8454-76B04FF505EF}" destId="{762703CE-4815-4B8A-B298-2820EF25E80C}" srcOrd="1" destOrd="0" presId="urn:microsoft.com/office/officeart/2005/8/layout/hProcess6"/>
    <dgm:cxn modelId="{C7218580-E157-4A45-A117-905EA8BAF4D6}" type="presParOf" srcId="{3CFA8F38-D795-4145-8454-76B04FF505EF}" destId="{4AC6C886-7EF8-4E51-BFD3-EFBDE5FE3CF4}" srcOrd="2" destOrd="0" presId="urn:microsoft.com/office/officeart/2005/8/layout/hProcess6"/>
    <dgm:cxn modelId="{32447853-6AF9-4334-A137-809C6FADD087}"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phldr="1"/>
      <dgm:spPr/>
      <dgm:t>
        <a:bodyPr/>
        <a:lstStyle/>
        <a:p>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dgm:spPr/>
      <dgm:t>
        <a:bodyPr/>
        <a:lstStyle/>
        <a:p>
          <a:r>
            <a:rPr lang="en-US" dirty="0" smtClean="0"/>
            <a:t>Operationalization</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phldr="1"/>
      <dgm:spPr/>
      <dgm:t>
        <a:bodyPr/>
        <a:lstStyle/>
        <a:p>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dgm:spPr/>
      <dgm:t>
        <a:bodyPr/>
        <a:lstStyle/>
        <a:p>
          <a:r>
            <a:rPr lang="en-US" dirty="0" smtClean="0"/>
            <a:t>Variables and Data</a:t>
          </a:r>
          <a:endParaRPr lang="en-US"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Lst>
  <dgm:cxnLst>
    <dgm:cxn modelId="{9B12C2B8-7A5B-4F6D-8FAC-6951263DFFE6}" type="presOf" srcId="{E12051B9-F660-41FB-9BFB-187ECABCD821}" destId="{4413368B-ACCA-469B-9D0E-1FEFC4075FB0}" srcOrd="0" destOrd="0"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2BE3415A-4C64-4D29-B5AB-F2DF894FF9D7}" type="presOf" srcId="{F754AD28-8B54-47D9-83F1-8D45F35B4A81}" destId="{0F07502A-98A4-4880-9779-27EA2BEB6F02}"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DB884937-1E09-49E0-BABE-97AC4679294D}" srcId="{E7E09A88-A855-416A-B17D-5608BAB5F968}" destId="{D264B8C8-0C74-4047-BC3D-D328ABB04B07}" srcOrd="0" destOrd="0" parTransId="{EFE8DCE1-CB9B-44C0-BE30-595BF1898A8E}" sibTransId="{E5F6790C-BCA3-4DEC-A52E-7D738F9F57BD}"/>
    <dgm:cxn modelId="{955316F3-D59D-4E22-BAC5-4B54F7BE800A}" srcId="{E12051B9-F660-41FB-9BFB-187ECABCD821}" destId="{E7E09A88-A855-416A-B17D-5608BAB5F968}" srcOrd="1" destOrd="0" parTransId="{791A9365-62E9-4724-B5DD-36351582D82E}" sibTransId="{C2A5DE0A-7824-4E35-BB27-47DBE8541DB5}"/>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703CB32B-A1E8-4113-A3E5-62F002D74F02}" type="presOf" srcId="{56D25664-E470-4423-B8A9-9B6E4F3E9501}" destId="{5EE1D2E5-E13B-4FA3-A68E-FA18C8AD1A1A}" srcOrd="0" destOrd="0"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2AF991F4-295B-47A4-96C4-FF1BFB05195E}" type="presOf" srcId="{56D25664-E470-4423-B8A9-9B6E4F3E9501}" destId="{1F2FC209-C6F9-4BD8-BE18-C50B50281548}"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r>
            <a:rPr lang="en-US" sz="3700" kern="1200" dirty="0" smtClean="0"/>
            <a:t>Technology</a:t>
          </a:r>
          <a:endParaRPr lang="en-US" sz="37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6625649" y="0"/>
        <a:ext cx="2174274" cy="1917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r>
            <a:rPr lang="en-US" sz="1500" kern="1200" dirty="0" smtClean="0"/>
            <a:t>The conveyance from one person or entity to another person or entity of a capability to perform a useful task or replicate a beneficial accomplishment.</a:t>
          </a:r>
          <a:endParaRPr lang="en-US" sz="1500" kern="1200" dirty="0"/>
        </a:p>
        <a:p>
          <a:pPr lvl="0" algn="l" defTabSz="666750">
            <a:lnSpc>
              <a:spcPct val="90000"/>
            </a:lnSpc>
            <a:spcBef>
              <a:spcPct val="0"/>
            </a:spcBef>
            <a:spcAft>
              <a:spcPct val="35000"/>
            </a:spcAft>
          </a:pPr>
          <a:endParaRPr lang="en-US" sz="1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endParaRPr lang="en-US" sz="1500" kern="1200"/>
        </a:p>
      </dsp:txBody>
      <dsp:txXfrm>
        <a:off x="6625649" y="0"/>
        <a:ext cx="2174274" cy="1917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B07B6A-2913-4481-A94E-4F0876271F1C}">
      <dsp:nvSpPr>
        <dsp:cNvPr id="0" name=""/>
        <dsp:cNvSpPr/>
      </dsp:nvSpPr>
      <dsp:spPr>
        <a:xfrm>
          <a:off x="1019681" y="2915695"/>
          <a:ext cx="2205832" cy="1428203"/>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lvl="0" algn="ctr" defTabSz="800100">
            <a:lnSpc>
              <a:spcPct val="90000"/>
            </a:lnSpc>
            <a:spcBef>
              <a:spcPct val="0"/>
            </a:spcBef>
            <a:spcAft>
              <a:spcPct val="35000"/>
            </a:spcAft>
          </a:pPr>
          <a:r>
            <a:rPr lang="en-US" sz="1800" kern="1200" dirty="0" smtClean="0"/>
            <a:t>Content Analysis</a:t>
          </a:r>
          <a:endParaRPr lang="en-US" sz="1800" kern="1200" dirty="0"/>
        </a:p>
      </dsp:txBody>
      <dsp:txXfrm>
        <a:off x="1571139" y="3129925"/>
        <a:ext cx="1154503" cy="999743"/>
      </dsp:txXfrm>
    </dsp:sp>
    <dsp:sp modelId="{3A448A58-6617-48D2-9581-3D27DDBA145C}">
      <dsp:nvSpPr>
        <dsp:cNvPr id="0" name=""/>
        <dsp:cNvSpPr/>
      </dsp:nvSpPr>
      <dsp:spPr>
        <a:xfrm>
          <a:off x="1203" y="2765791"/>
          <a:ext cx="1726603" cy="1726603"/>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54058" y="3018646"/>
        <a:ext cx="1220893" cy="1220893"/>
      </dsp:txXfrm>
    </dsp:sp>
    <dsp:sp modelId="{CF065CDD-DFD7-4D33-9DBE-0AD4241E5EB9}">
      <dsp:nvSpPr>
        <dsp:cNvPr id="0" name=""/>
        <dsp:cNvSpPr/>
      </dsp:nvSpPr>
      <dsp:spPr>
        <a:xfrm>
          <a:off x="3545751" y="1613559"/>
          <a:ext cx="2387076" cy="1428203"/>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4142520" y="1827789"/>
        <a:ext cx="1290436" cy="999743"/>
      </dsp:txXfrm>
    </dsp:sp>
    <dsp:sp modelId="{088E468E-E6DE-4F0F-A86F-AFEFEA680604}">
      <dsp:nvSpPr>
        <dsp:cNvPr id="0" name=""/>
        <dsp:cNvSpPr/>
      </dsp:nvSpPr>
      <dsp:spPr>
        <a:xfrm>
          <a:off x="2421063" y="1464499"/>
          <a:ext cx="1726603" cy="1726603"/>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673918" y="1717354"/>
        <a:ext cx="1220893" cy="1220893"/>
      </dsp:txXfrm>
    </dsp:sp>
    <dsp:sp modelId="{762703CE-4815-4B8A-B298-2820EF25E80C}">
      <dsp:nvSpPr>
        <dsp:cNvPr id="0" name=""/>
        <dsp:cNvSpPr/>
      </dsp:nvSpPr>
      <dsp:spPr>
        <a:xfrm>
          <a:off x="6293389" y="281659"/>
          <a:ext cx="2286005" cy="1428203"/>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64890" y="495889"/>
        <a:ext cx="1214633" cy="999743"/>
      </dsp:txXfrm>
    </dsp:sp>
    <dsp:sp modelId="{9DB06BE9-448D-4829-BF41-0662BB4070BC}">
      <dsp:nvSpPr>
        <dsp:cNvPr id="0" name=""/>
        <dsp:cNvSpPr/>
      </dsp:nvSpPr>
      <dsp:spPr>
        <a:xfrm>
          <a:off x="5146015" y="133112"/>
          <a:ext cx="1726603" cy="1726603"/>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398870" y="385967"/>
        <a:ext cx="1220893" cy="122089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1435" rIns="66675" bIns="0" numCol="1" spcCol="1270" anchor="t" anchorCtr="0">
          <a:noAutofit/>
        </a:bodyPr>
        <a:lstStyle/>
        <a:p>
          <a:pPr lvl="0" algn="r" defTabSz="666750">
            <a:lnSpc>
              <a:spcPct val="90000"/>
            </a:lnSpc>
            <a:spcBef>
              <a:spcPct val="0"/>
            </a:spcBef>
            <a:spcAft>
              <a:spcPct val="35000"/>
            </a:spcAft>
          </a:pPr>
          <a:r>
            <a:rPr lang="en-US" sz="1500" kern="1200" dirty="0" smtClean="0"/>
            <a:t>Construct</a:t>
          </a:r>
          <a:endParaRPr lang="en-US" sz="1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584376" y="0"/>
        <a:ext cx="2174274" cy="1917700"/>
      </dsp:txXfrm>
    </dsp:sp>
    <dsp:sp modelId="{63E694CA-EB8A-49E7-8F7E-40E9648E8D50}">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1435" rIns="66675" bIns="0" numCol="1" spcCol="1270" anchor="t" anchorCtr="0">
          <a:noAutofit/>
        </a:bodyPr>
        <a:lstStyle/>
        <a:p>
          <a:pPr lvl="0" algn="r" defTabSz="666750">
            <a:lnSpc>
              <a:spcPct val="90000"/>
            </a:lnSpc>
            <a:spcBef>
              <a:spcPct val="0"/>
            </a:spcBef>
            <a:spcAft>
              <a:spcPct val="35000"/>
            </a:spcAft>
          </a:pPr>
          <a:r>
            <a:rPr lang="en-US" sz="1500" kern="1200" dirty="0" smtClean="0"/>
            <a:t>Operationalization</a:t>
          </a:r>
          <a:endParaRPr lang="en-US" sz="1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3605013" y="0"/>
        <a:ext cx="2174274" cy="1917700"/>
      </dsp:txXfrm>
    </dsp:sp>
    <dsp:sp modelId="{89F889ED-FCCD-445E-BB3B-3F65B70521C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51435" rIns="66675" bIns="0" numCol="1" spcCol="1270" anchor="t" anchorCtr="0">
          <a:noAutofit/>
        </a:bodyPr>
        <a:lstStyle/>
        <a:p>
          <a:pPr lvl="0" algn="r" defTabSz="666750">
            <a:lnSpc>
              <a:spcPct val="90000"/>
            </a:lnSpc>
            <a:spcBef>
              <a:spcPct val="0"/>
            </a:spcBef>
            <a:spcAft>
              <a:spcPct val="35000"/>
            </a:spcAft>
          </a:pPr>
          <a:r>
            <a:rPr lang="en-US" sz="1500" kern="1200" dirty="0" smtClean="0"/>
            <a:t>Variables and Data</a:t>
          </a:r>
          <a:endParaRPr lang="en-US" sz="1500" kern="1200" dirty="0"/>
        </a:p>
      </dsp:txBody>
      <dsp:txXfrm rot="16200000">
        <a:off x="5547544" y="494408"/>
        <a:ext cx="1572514" cy="583697"/>
      </dsp:txXfrm>
    </dsp:sp>
    <dsp:sp modelId="{0B1D8E78-2B68-4C5D-9329-AB01D008FC04}">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04/11/2019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04/11/2019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a:t>
            </a:r>
            <a:r>
              <a:rPr lang="en-US" baseline="0" dirty="0" smtClean="0"/>
              <a:t> impact </a:t>
            </a:r>
            <a:r>
              <a:rPr lang="en-US" dirty="0" smtClean="0"/>
              <a:t>on general</a:t>
            </a:r>
            <a:r>
              <a:rPr lang="en-US" baseline="0" dirty="0" smtClean="0"/>
              <a:t> societal welfare.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30003300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18</a:t>
            </a:fld>
            <a:endParaRPr lang="en-US"/>
          </a:p>
        </p:txBody>
      </p:sp>
    </p:spTree>
    <p:extLst>
      <p:ext uri="{BB962C8B-B14F-4D97-AF65-F5344CB8AC3E}">
        <p14:creationId xmlns:p14="http://schemas.microsoft.com/office/powerpoint/2010/main" val="8102330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Excluded</a:t>
            </a:r>
            <a:r>
              <a:rPr lang="en-US" baseline="0" dirty="0" smtClean="0"/>
              <a:t> CMADE and RATIOCIT because of logical reasoning.</a:t>
            </a:r>
          </a:p>
          <a:p>
            <a:r>
              <a:rPr lang="en-US" baseline="0" dirty="0" smtClean="0"/>
              <a:t>Excluded other predictor variables that were not continuous interval. </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22</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result of the Omnibus test indicates that including the CLAIMS, GYEAR, GENERAL, and ORIGINAL variables improved the model fit.  </a:t>
            </a:r>
          </a:p>
          <a:p>
            <a:pPr marL="174708" indent="-174708">
              <a:buFont typeface="Arial" panose="020B0604020202020204" pitchFamily="34" charset="0"/>
              <a:buChar char="•"/>
            </a:pPr>
            <a:r>
              <a:rPr lang="en-US" dirty="0" smtClean="0"/>
              <a:t>One or more of these IVs predict the dependent variable.  </a:t>
            </a:r>
          </a:p>
          <a:p>
            <a:pPr marL="174708" indent="-174708">
              <a:buFont typeface="Arial" panose="020B0604020202020204" pitchFamily="34" charset="0"/>
              <a:buChar char="•"/>
            </a:pPr>
            <a:r>
              <a:rPr lang="en-US" dirty="0" smtClean="0"/>
              <a:t>The p-value was less than 0.001, which was significant.  </a:t>
            </a:r>
          </a:p>
          <a:p>
            <a:pPr marL="174708" indent="-174708">
              <a:buFont typeface="Arial" panose="020B0604020202020204" pitchFamily="34" charset="0"/>
              <a:buChar char="•"/>
            </a:pPr>
            <a:r>
              <a:rPr lang="en-US" dirty="0" smtClean="0"/>
              <a:t>The -2 Log likelihood was reduced from 2,623.109 to 1,906.867, which was a decrease of 716.242.  </a:t>
            </a:r>
          </a:p>
          <a:p>
            <a:pPr marL="174708" indent="-174708">
              <a:buFont typeface="Arial" panose="020B0604020202020204" pitchFamily="34" charset="0"/>
              <a:buChar char="•"/>
            </a:pPr>
            <a:r>
              <a:rPr lang="en-US" dirty="0" smtClean="0"/>
              <a:t>The </a:t>
            </a:r>
            <a:r>
              <a:rPr lang="en-US" dirty="0" err="1" smtClean="0"/>
              <a:t>Nagelkerke</a:t>
            </a:r>
            <a:r>
              <a:rPr lang="en-US" dirty="0" smtClean="0"/>
              <a:t> R</a:t>
            </a:r>
            <a:r>
              <a:rPr lang="en-US" baseline="30000" dirty="0" smtClean="0"/>
              <a:t>2</a:t>
            </a:r>
            <a:r>
              <a:rPr lang="en-US" dirty="0" smtClean="0"/>
              <a:t> was 0.415, which indicates that 41.5 percent of the probability that a patent received more than 2 citations was explained by the IVs included in the model. </a:t>
            </a:r>
          </a:p>
          <a:p>
            <a:endParaRPr lang="en-US" dirty="0" smtClean="0"/>
          </a:p>
          <a:p>
            <a:r>
              <a:rPr lang="en-US" dirty="0" smtClean="0"/>
              <a:t>Hosmer-</a:t>
            </a:r>
            <a:r>
              <a:rPr lang="en-US" dirty="0" err="1" smtClean="0"/>
              <a:t>Lemeshow</a:t>
            </a:r>
            <a:r>
              <a:rPr lang="en-US" baseline="0" dirty="0" smtClean="0"/>
              <a:t> Test results suggest a lack of fit for the model.</a:t>
            </a:r>
          </a:p>
          <a:p>
            <a:pPr marL="174708" indent="-174708">
              <a:buFont typeface="Arial" panose="020B0604020202020204" pitchFamily="34" charset="0"/>
              <a:buChar char="•"/>
            </a:pPr>
            <a:r>
              <a:rPr lang="en-US" dirty="0" smtClean="0"/>
              <a:t>The chi-square value was 23.671, which does not seem very small.  </a:t>
            </a:r>
          </a:p>
          <a:p>
            <a:pPr marL="174708" indent="-174708">
              <a:buFont typeface="Arial" panose="020B0604020202020204" pitchFamily="34" charset="0"/>
              <a:buChar char="•"/>
            </a:pPr>
            <a:r>
              <a:rPr lang="en-US" dirty="0" smtClean="0"/>
              <a:t>The p-value was 0.003 which is not much above the 0.001 significance level. </a:t>
            </a:r>
          </a:p>
          <a:p>
            <a:endParaRPr lang="en-US" dirty="0" smtClean="0"/>
          </a:p>
          <a:p>
            <a:r>
              <a:rPr lang="en-US" dirty="0" smtClean="0"/>
              <a:t>Predictive ability</a:t>
            </a:r>
            <a:r>
              <a:rPr lang="en-US" baseline="0" dirty="0" smtClean="0"/>
              <a:t> vs. goodness-of-fit</a:t>
            </a:r>
            <a:endParaRPr lang="en-US" dirty="0" smtClean="0"/>
          </a:p>
          <a:p>
            <a:pPr defTabSz="931774"/>
            <a:r>
              <a:rPr lang="en-US" dirty="0" smtClean="0"/>
              <a:t>Hosmer-</a:t>
            </a:r>
            <a:r>
              <a:rPr lang="en-US" dirty="0" err="1" smtClean="0"/>
              <a:t>Lemeshow</a:t>
            </a:r>
            <a:r>
              <a:rPr lang="en-US" baseline="0" dirty="0" smtClean="0"/>
              <a:t> </a:t>
            </a:r>
            <a:r>
              <a:rPr lang="en-US" dirty="0" smtClean="0"/>
              <a:t>Test results affected by</a:t>
            </a:r>
            <a:r>
              <a:rPr lang="en-US" baseline="0" dirty="0" smtClean="0"/>
              <a:t> the number of groups and sample size (larger n exacerbates the </a:t>
            </a:r>
            <a:r>
              <a:rPr lang="en-US" baseline="0" dirty="0" err="1" smtClean="0"/>
              <a:t>inherant</a:t>
            </a:r>
            <a:r>
              <a:rPr lang="en-US" baseline="0" dirty="0" smtClean="0"/>
              <a:t> </a:t>
            </a:r>
            <a:r>
              <a:rPr lang="en-US" baseline="0" dirty="0" err="1" smtClean="0"/>
              <a:t>discrepency</a:t>
            </a:r>
            <a:r>
              <a:rPr lang="en-US" baseline="0" dirty="0" smtClean="0"/>
              <a:t> between the logistic form and real-world process)</a:t>
            </a:r>
            <a:endParaRPr lang="en-US" dirty="0" smtClean="0"/>
          </a:p>
          <a:p>
            <a:r>
              <a:rPr lang="en-US" dirty="0" smtClean="0"/>
              <a:t>-2 log likelihood statistic is a measure of how “poorly” the model predicts the data;</a:t>
            </a:r>
            <a:r>
              <a:rPr lang="en-US" baseline="0" dirty="0" smtClean="0"/>
              <a:t> t</a:t>
            </a:r>
            <a:r>
              <a:rPr lang="en-US" dirty="0" smtClean="0"/>
              <a:t>he smaller the statistic the better the model.</a:t>
            </a:r>
          </a:p>
          <a:p>
            <a:r>
              <a:rPr lang="en-US" dirty="0" smtClean="0"/>
              <a:t>The deviance, or -2 log-likelihood (-2LL) statistic</a:t>
            </a:r>
            <a:r>
              <a:rPr lang="en-US" smtClean="0"/>
              <a:t>, is </a:t>
            </a:r>
            <a:r>
              <a:rPr lang="en-US" dirty="0" smtClean="0"/>
              <a:t>basically a measure of how much unexplained variation there is in our logistic regression model – the higher the value the less accurate the model.</a:t>
            </a:r>
          </a:p>
          <a:p>
            <a:endParaRPr lang="en-US" dirty="0" smtClean="0"/>
          </a:p>
          <a:p>
            <a:r>
              <a:rPr lang="en-US" dirty="0" smtClean="0"/>
              <a:t>References</a:t>
            </a:r>
          </a:p>
          <a:p>
            <a:r>
              <a:rPr lang="en-US" dirty="0" smtClean="0"/>
              <a:t>https://stats.stackexchange.com/questions/273966/logistic-regression-with-poor-goodness-of-fit-hosmer-lemeshow</a:t>
            </a:r>
          </a:p>
          <a:p>
            <a:r>
              <a:rPr lang="en-US" dirty="0" smtClean="0"/>
              <a:t>https://stats.stackexchange.com/questions/169000/goodness-of-fit-test-in-logistic-regression-which-fit-do-we-want-to-test</a:t>
            </a:r>
          </a:p>
          <a:p>
            <a:r>
              <a:rPr lang="en-US" dirty="0" smtClean="0"/>
              <a:t>https://statisticalhorizons.com/hosmer-lemeshow</a:t>
            </a:r>
          </a:p>
          <a:p>
            <a:r>
              <a:rPr lang="en-US" dirty="0" smtClean="0"/>
              <a:t>https://www.revolvy.com/page/Omnibus-test</a:t>
            </a:r>
          </a:p>
          <a:p>
            <a:r>
              <a:rPr lang="en-US" dirty="0" smtClean="0"/>
              <a:t>http://www.restore.ac.uk/srme/www/fac/soc/wie/research-new/srme/modules/mod4/6/index.html</a:t>
            </a:r>
          </a:p>
          <a:p>
            <a:r>
              <a:rPr lang="en-US" dirty="0" smtClean="0"/>
              <a:t>http://www.restore.ac.uk/srme/www/fac/soc/wie/research-new/srme/glossary/index1695.html?selectedLetter=D#deviance-2ll</a:t>
            </a:r>
          </a:p>
        </p:txBody>
      </p:sp>
      <p:sp>
        <p:nvSpPr>
          <p:cNvPr id="4" name="Slide Number Placeholder 3"/>
          <p:cNvSpPr>
            <a:spLocks noGrp="1"/>
          </p:cNvSpPr>
          <p:nvPr>
            <p:ph type="sldNum" sz="quarter" idx="10"/>
          </p:nvPr>
        </p:nvSpPr>
        <p:spPr/>
        <p:txBody>
          <a:bodyPr/>
          <a:lstStyle/>
          <a:p>
            <a:fld id="{76C7EBE9-FBA5-4606-B4BF-D5A892555425}" type="slidenum">
              <a:rPr lang="en-US" smtClean="0"/>
              <a:t>23</a:t>
            </a:fld>
            <a:endParaRPr lang="en-US"/>
          </a:p>
        </p:txBody>
      </p:sp>
    </p:spTree>
    <p:extLst>
      <p:ext uri="{BB962C8B-B14F-4D97-AF65-F5344CB8AC3E}">
        <p14:creationId xmlns:p14="http://schemas.microsoft.com/office/powerpoint/2010/main" val="22303875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GENERAL variable had the strongest association with the DV.  </a:t>
            </a:r>
          </a:p>
          <a:p>
            <a:r>
              <a:rPr lang="en-US" dirty="0" smtClean="0"/>
              <a:t>For a one unit increase in the GENERAL variable, the patent was 113.6 times more likely to have been cited by 3 or more times</a:t>
            </a:r>
            <a:r>
              <a:rPr lang="en-US" baseline="0" dirty="0" smtClean="0"/>
              <a:t> by </a:t>
            </a:r>
            <a:r>
              <a:rPr lang="en-US" dirty="0" smtClean="0"/>
              <a:t>other patents. </a:t>
            </a:r>
          </a:p>
          <a:p>
            <a:r>
              <a:rPr lang="en-US" dirty="0" smtClean="0"/>
              <a:t>Influence of the GENERAL</a:t>
            </a:r>
            <a:r>
              <a:rPr lang="en-US" baseline="0" dirty="0" smtClean="0"/>
              <a:t> variable was much higher than expected.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24</a:t>
            </a:fld>
            <a:endParaRPr lang="en-US"/>
          </a:p>
        </p:txBody>
      </p:sp>
    </p:spTree>
    <p:extLst>
      <p:ext uri="{BB962C8B-B14F-4D97-AF65-F5344CB8AC3E}">
        <p14:creationId xmlns:p14="http://schemas.microsoft.com/office/powerpoint/2010/main" val="4292587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04/11/2019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04/11/2019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04/11/2019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04/11/2019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725048687"/>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innovation 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271"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p:cNvGraphicFramePr>
            <a:graphicFrameLocks noChangeAspect="1"/>
          </p:cNvGraphicFramePr>
          <p:nvPr>
            <p:extLst>
              <p:ext uri="{D42A27DB-BD31-4B8C-83A1-F6EECF244321}">
                <p14:modId xmlns:p14="http://schemas.microsoft.com/office/powerpoint/2010/main" val="443779935"/>
              </p:ext>
            </p:extLst>
          </p:nvPr>
        </p:nvGraphicFramePr>
        <p:xfrm>
          <a:off x="708747" y="114300"/>
          <a:ext cx="7726507" cy="54864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215588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55825998"/>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573423342"/>
              </p:ext>
            </p:extLst>
          </p:nvPr>
        </p:nvGraphicFramePr>
        <p:xfrm>
          <a:off x="91440" y="3023705"/>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85832414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495531"/>
              </p:ext>
            </p:extLst>
          </p:nvPr>
        </p:nvGraphicFramePr>
        <p:xfrm>
          <a:off x="91440" y="3164291"/>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15281896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2537048077"/>
              </p:ext>
            </p:extLst>
          </p:nvPr>
        </p:nvGraphicFramePr>
        <p:xfrm>
          <a:off x="91440" y="3033662"/>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619146090"/>
              </p:ext>
            </p:extLst>
          </p:nvPr>
        </p:nvGraphicFramePr>
        <p:xfrm>
          <a:off x="274320" y="691115"/>
          <a:ext cx="8595360" cy="4893541"/>
        </p:xfrm>
        <a:graphic>
          <a:graphicData uri="http://schemas.openxmlformats.org/drawingml/2006/table">
            <a:tbl>
              <a:tblPr firstRow="1" firstCol="1" bandRow="1"/>
              <a:tblGrid>
                <a:gridCol w="497576"/>
                <a:gridCol w="8097784"/>
              </a:tblGrid>
              <a:tr h="876629">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H1</a:t>
                      </a:r>
                      <a:r>
                        <a:rPr lang="en-US" sz="1400" baseline="-25000" dirty="0">
                          <a:solidFill>
                            <a:srgbClr val="000000"/>
                          </a:solidFill>
                          <a:effectLst/>
                          <a:latin typeface="+mn-lt"/>
                          <a:ea typeface="Calibri"/>
                          <a:cs typeface="Times New Roman"/>
                        </a:rPr>
                        <a:t>0</a:t>
                      </a:r>
                      <a:r>
                        <a:rPr lang="en-US" sz="1400" dirty="0">
                          <a:solidFill>
                            <a:srgbClr val="000000"/>
                          </a:solidFill>
                          <a:effectLst/>
                          <a:latin typeface="+mn-lt"/>
                          <a:ea typeface="Calibri"/>
                          <a:cs typeface="Times New Roman"/>
                        </a:rPr>
                        <a:t> </a:t>
                      </a:r>
                      <a:endParaRPr lang="en-US" sz="1200" dirty="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Technologies derived from federally-funded R&amp;D projects that progress further along the development process are NOT transferred to the private sector at significantly greater rates than technologies derived from federally-funded R&amp;D projects that don’t progress very far in the development process.</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876629">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H1</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Technologies derived from federally-funded R&amp;D projects that progress further along the development process are transferred to the private sector at significantly greater rates than technologies derived from federally-funded R&amp;D projects that don’t progress very far in the development process.</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H2</a:t>
                      </a:r>
                      <a:r>
                        <a:rPr lang="en-US" sz="1400" baseline="-25000">
                          <a:solidFill>
                            <a:srgbClr val="000000"/>
                          </a:solidFill>
                          <a:effectLst/>
                          <a:latin typeface="+mn-lt"/>
                          <a:ea typeface="Calibri"/>
                          <a:cs typeface="Times New Roman"/>
                        </a:rPr>
                        <a:t>0</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The spatial distance between where the R&amp;D project is conducted and the nearest city is NOT negatively associated (i.e., either positively associated or not associated) with the final development stage attained by the R&amp;D project.</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H2</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The spatial distance between where the R&amp;D project is conducted and the nearest city is negatively associated with the final development stage attained by the R&amp;D project.</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76629">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H3</a:t>
                      </a:r>
                      <a:r>
                        <a:rPr lang="en-US" sz="1400" baseline="-25000">
                          <a:solidFill>
                            <a:srgbClr val="000000"/>
                          </a:solidFill>
                          <a:effectLst/>
                          <a:latin typeface="+mn-lt"/>
                          <a:ea typeface="Calibri"/>
                          <a:cs typeface="Times New Roman"/>
                        </a:rPr>
                        <a:t>0</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Instances of technologies derived from federally-funded R&amp;D projects that are successfully transferred to the private sector are NOT negatively associated (i.e., either positively associated or not associated) with the spatial distance between where the R&amp;D project is conducted and the nearest city.</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H3</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Instances of technologies derived from federally-funded R&amp;D projects that are successfully transferred to the private sector are negatively associated with the spatial distance between where the R&amp;D project is conducted and the nearest city.</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 and Data</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2568826668"/>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1710046" y="4991229"/>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4203864" y="3718590"/>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4203864" y="4087922"/>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97682" y="244793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4203864" y="4495690"/>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236893647"/>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856939870"/>
              </p:ext>
            </p:extLst>
          </p:nvPr>
        </p:nvGraphicFramePr>
        <p:xfrm>
          <a:off x="50006" y="457200"/>
          <a:ext cx="4389120" cy="3768253"/>
        </p:xfrm>
        <a:graphic>
          <a:graphicData uri="http://schemas.openxmlformats.org/drawingml/2006/table">
            <a:tbl>
              <a:tblPr firstRow="1" firstCol="1" bandRow="1">
                <a:tableStyleId>{5C22544A-7EE6-4342-B048-85BDC9FD1C3A}</a:tableStyleId>
              </a:tblPr>
              <a:tblGrid>
                <a:gridCol w="598516"/>
                <a:gridCol w="864523"/>
                <a:gridCol w="1130530"/>
                <a:gridCol w="1795551"/>
              </a:tblGrid>
              <a:tr h="246496">
                <a:tc>
                  <a:txBody>
                    <a:bodyPr/>
                    <a:lstStyle/>
                    <a:p>
                      <a:pPr marL="0" marR="0" algn="l">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9081" marR="9081" marT="4543" marB="4543" anchor="ctr"/>
                </a:tc>
                <a:tc>
                  <a:txBody>
                    <a:bodyPr/>
                    <a:lstStyle/>
                    <a:p>
                      <a:pPr marL="0" marR="0" algn="l">
                        <a:lnSpc>
                          <a:spcPct val="100000"/>
                        </a:lnSpc>
                        <a:spcBef>
                          <a:spcPts val="0"/>
                        </a:spcBef>
                        <a:spcAft>
                          <a:spcPts val="0"/>
                        </a:spcAft>
                      </a:pPr>
                      <a:r>
                        <a:rPr lang="en-US" sz="800" dirty="0" smtClean="0">
                          <a:effectLst/>
                        </a:rPr>
                        <a:t>Variable </a:t>
                      </a:r>
                      <a:r>
                        <a:rPr lang="en-US" sz="800" dirty="0">
                          <a:effectLst/>
                        </a:rPr>
                        <a:t>Type</a:t>
                      </a:r>
                      <a:endParaRPr lang="en-US" sz="800" dirty="0">
                        <a:effectLst/>
                        <a:latin typeface="Calibri"/>
                        <a:ea typeface="Calibri"/>
                        <a:cs typeface="Times New Roman"/>
                      </a:endParaRPr>
                    </a:p>
                  </a:txBody>
                  <a:tcPr marL="9081" marR="9081" marT="4543" marB="4543" anchor="ctr"/>
                </a:tc>
                <a:tc>
                  <a:txBody>
                    <a:bodyPr/>
                    <a:lstStyle/>
                    <a:p>
                      <a:pPr marL="0" marR="0" algn="l">
                        <a:lnSpc>
                          <a:spcPct val="100000"/>
                        </a:lnSpc>
                        <a:spcBef>
                          <a:spcPts val="0"/>
                        </a:spcBef>
                        <a:spcAft>
                          <a:spcPts val="0"/>
                        </a:spcAft>
                      </a:pPr>
                      <a:r>
                        <a:rPr lang="en-US" sz="800" dirty="0">
                          <a:effectLst/>
                        </a:rPr>
                        <a:t>Extended Name</a:t>
                      </a:r>
                      <a:endParaRPr lang="en-US" sz="800" dirty="0">
                        <a:effectLst/>
                        <a:latin typeface="Calibri"/>
                        <a:ea typeface="Calibri"/>
                        <a:cs typeface="Times New Roman"/>
                      </a:endParaRPr>
                    </a:p>
                  </a:txBody>
                  <a:tcPr marL="9081" marR="9081" marT="4543" marB="4543" anchor="ctr"/>
                </a:tc>
                <a:tc>
                  <a:txBody>
                    <a:bodyPr/>
                    <a:lstStyle/>
                    <a:p>
                      <a:pPr marL="0" marR="0" algn="l">
                        <a:lnSpc>
                          <a:spcPct val="100000"/>
                        </a:lnSpc>
                        <a:spcBef>
                          <a:spcPts val="0"/>
                        </a:spcBef>
                        <a:spcAft>
                          <a:spcPts val="0"/>
                        </a:spcAft>
                      </a:pPr>
                      <a:r>
                        <a:rPr lang="en-US" sz="800" dirty="0">
                          <a:effectLst/>
                        </a:rPr>
                        <a:t>Description</a:t>
                      </a:r>
                      <a:endParaRPr lang="en-US" sz="800" dirty="0">
                        <a:effectLst/>
                        <a:latin typeface="Calibri"/>
                        <a:ea typeface="Calibri"/>
                        <a:cs typeface="Times New Roman"/>
                      </a:endParaRPr>
                    </a:p>
                  </a:txBody>
                  <a:tcPr marL="9081" marR="9081" marT="4543" marB="4543" anchor="ctr"/>
                </a:tc>
              </a:tr>
              <a:tr h="691640">
                <a:tc>
                  <a:txBody>
                    <a:bodyPr/>
                    <a:lstStyle/>
                    <a:p>
                      <a:pPr marL="0" marR="0">
                        <a:lnSpc>
                          <a:spcPct val="100000"/>
                        </a:lnSpc>
                        <a:spcBef>
                          <a:spcPts val="0"/>
                        </a:spcBef>
                        <a:spcAft>
                          <a:spcPts val="0"/>
                        </a:spcAft>
                      </a:pPr>
                      <a:r>
                        <a:rPr lang="en-US" sz="800" dirty="0">
                          <a:effectLst/>
                        </a:rPr>
                        <a:t>PATENT</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Patent Number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number assigned to the allowed patent by the USPTO.</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integer values between 3070801 and 6009554.</a:t>
                      </a:r>
                      <a:endParaRPr lang="en-US" sz="800" dirty="0">
                        <a:effectLst/>
                        <a:latin typeface="Calibri"/>
                        <a:ea typeface="Calibri"/>
                        <a:cs typeface="Times New Roman"/>
                      </a:endParaRPr>
                    </a:p>
                  </a:txBody>
                  <a:tcPr marL="9081" marR="9081" marT="4543" marB="4543"/>
                </a:tc>
              </a:tr>
              <a:tr h="555129">
                <a:tc>
                  <a:txBody>
                    <a:bodyPr/>
                    <a:lstStyle/>
                    <a:p>
                      <a:pPr marL="0" marR="0">
                        <a:lnSpc>
                          <a:spcPct val="100000"/>
                        </a:lnSpc>
                        <a:spcBef>
                          <a:spcPts val="0"/>
                        </a:spcBef>
                        <a:spcAft>
                          <a:spcPts val="0"/>
                        </a:spcAft>
                      </a:pPr>
                      <a:r>
                        <a:rPr lang="en-US" sz="800" dirty="0">
                          <a:effectLst/>
                        </a:rPr>
                        <a:t>GYEAR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Interval</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Grant Year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year the USPTO allowed the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between 1963 – 1999.</a:t>
                      </a:r>
                      <a:endParaRPr lang="en-US" sz="800" dirty="0">
                        <a:effectLst/>
                        <a:latin typeface="Calibri"/>
                        <a:ea typeface="Calibri"/>
                        <a:cs typeface="Times New Roman"/>
                      </a:endParaRPr>
                    </a:p>
                  </a:txBody>
                  <a:tcPr marL="9081" marR="9081" marT="4543" marB="4543"/>
                </a:tc>
              </a:tr>
              <a:tr h="964662">
                <a:tc>
                  <a:txBody>
                    <a:bodyPr/>
                    <a:lstStyle/>
                    <a:p>
                      <a:pPr marL="0" marR="0">
                        <a:lnSpc>
                          <a:spcPct val="100000"/>
                        </a:lnSpc>
                        <a:spcBef>
                          <a:spcPts val="0"/>
                        </a:spcBef>
                        <a:spcAft>
                          <a:spcPts val="0"/>
                        </a:spcAft>
                      </a:pPr>
                      <a:r>
                        <a:rPr lang="en-US" sz="800">
                          <a:effectLst/>
                        </a:rPr>
                        <a:t>GDATE</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Interval</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Grant Date</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date the USPTO allowed the patent expressed in terms of the number of weeks elapsed since </a:t>
                      </a:r>
                      <a:br>
                        <a:rPr lang="en-US" sz="800" dirty="0">
                          <a:effectLst/>
                        </a:rPr>
                      </a:br>
                      <a:r>
                        <a:rPr lang="en-US" sz="800" dirty="0">
                          <a:effectLst/>
                        </a:rPr>
                        <a:t>January 1, 1960.</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between 156 and 2,028.</a:t>
                      </a:r>
                      <a:endParaRPr lang="en-US" sz="800" dirty="0">
                        <a:effectLst/>
                        <a:latin typeface="Calibri"/>
                        <a:ea typeface="Calibri"/>
                        <a:cs typeface="Times New Roman"/>
                      </a:endParaRPr>
                    </a:p>
                  </a:txBody>
                  <a:tcPr marL="9081" marR="9081" marT="4543" marB="4543"/>
                </a:tc>
              </a:tr>
              <a:tr h="691640">
                <a:tc>
                  <a:txBody>
                    <a:bodyPr/>
                    <a:lstStyle/>
                    <a:p>
                      <a:pPr marL="0" marR="0">
                        <a:lnSpc>
                          <a:spcPct val="100000"/>
                        </a:lnSpc>
                        <a:spcBef>
                          <a:spcPts val="0"/>
                        </a:spcBef>
                        <a:spcAft>
                          <a:spcPts val="0"/>
                        </a:spcAft>
                      </a:pPr>
                      <a:r>
                        <a:rPr lang="en-US" sz="800">
                          <a:effectLst/>
                        </a:rPr>
                        <a:t>APPYEAR</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Application Year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year the patent application was submitted to the USPTO.</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between 1963 – 1999.</a:t>
                      </a:r>
                      <a:endParaRPr lang="en-US" sz="800" dirty="0">
                        <a:effectLst/>
                        <a:latin typeface="Calibri"/>
                        <a:ea typeface="Calibri"/>
                        <a:cs typeface="Times New Roman"/>
                      </a:endParaRPr>
                    </a:p>
                  </a:txBody>
                  <a:tcPr marL="9081" marR="9081" marT="4543" marB="4543"/>
                </a:tc>
              </a:tr>
              <a:tr h="614483">
                <a:tc>
                  <a:txBody>
                    <a:bodyPr/>
                    <a:lstStyle/>
                    <a:p>
                      <a:pPr marL="0" marR="0">
                        <a:lnSpc>
                          <a:spcPct val="100000"/>
                        </a:lnSpc>
                        <a:spcBef>
                          <a:spcPts val="0"/>
                        </a:spcBef>
                        <a:spcAft>
                          <a:spcPts val="0"/>
                        </a:spcAft>
                      </a:pPr>
                      <a:r>
                        <a:rPr lang="en-US" sz="800">
                          <a:effectLst/>
                        </a:rPr>
                        <a:t>COUNTRY</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a:effectLst/>
                        </a:rPr>
                        <a:t>Character</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Country of First Inventor</a:t>
                      </a:r>
                      <a:endParaRPr lang="en-US" sz="800" dirty="0">
                        <a:effectLst/>
                        <a:latin typeface="Calibri"/>
                        <a:ea typeface="Calibri"/>
                        <a:cs typeface="Times New Roman"/>
                      </a:endParaRPr>
                    </a:p>
                  </a:txBody>
                  <a:tcPr marL="9081" marR="9081" marT="4543" marB="4543"/>
                </a:tc>
                <a:tc>
                  <a:txBody>
                    <a:bodyPr/>
                    <a:lstStyle/>
                    <a:p>
                      <a:pPr marL="0" marR="0">
                        <a:lnSpc>
                          <a:spcPct val="100000"/>
                        </a:lnSpc>
                        <a:spcBef>
                          <a:spcPts val="0"/>
                        </a:spcBef>
                        <a:spcAft>
                          <a:spcPts val="0"/>
                        </a:spcAft>
                      </a:pPr>
                      <a:r>
                        <a:rPr lang="en-US" sz="800" dirty="0">
                          <a:effectLst/>
                        </a:rPr>
                        <a:t>The country of citizenship for the first inventor listed on the patent application.</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of two character string data.</a:t>
                      </a:r>
                      <a:endParaRPr lang="en-US" sz="800" dirty="0">
                        <a:effectLst/>
                        <a:latin typeface="Calibri"/>
                        <a:ea typeface="Calibri"/>
                        <a:cs typeface="Times New Roman"/>
                      </a:endParaRPr>
                    </a:p>
                  </a:txBody>
                  <a:tcPr marL="9081" marR="9081" marT="4543" marB="4543"/>
                </a:tc>
              </a:tr>
            </a:tbl>
          </a:graphicData>
        </a:graphic>
      </p:graphicFrame>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2545416423"/>
                  </p:ext>
                </p:extLst>
              </p:nvPr>
            </p:nvGraphicFramePr>
            <p:xfrm>
              <a:off x="4712496" y="457200"/>
              <a:ext cx="4389120" cy="3283136"/>
            </p:xfrm>
            <a:graphic>
              <a:graphicData uri="http://schemas.openxmlformats.org/drawingml/2006/table">
                <a:tbl>
                  <a:tblPr firstRow="1" firstCol="1" bandRow="1">
                    <a:tableStyleId>{5C22544A-7EE6-4342-B048-85BDC9FD1C3A}</a:tableStyleId>
                  </a:tblPr>
                  <a:tblGrid>
                    <a:gridCol w="598516"/>
                    <a:gridCol w="864523"/>
                    <a:gridCol w="1130531"/>
                    <a:gridCol w="1795550"/>
                  </a:tblGrid>
                  <a:tr h="237884">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Variable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Variable Type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Extended Name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Description</a:t>
                          </a:r>
                        </a:p>
                      </a:txBody>
                      <a:tcPr marL="8927" marR="8927" marT="4466" marB="4466"/>
                    </a:tc>
                  </a:tr>
                  <a:tr h="844955">
                    <a:tc>
                      <a:txBody>
                        <a:bodyPr/>
                        <a:lstStyle/>
                        <a:p>
                          <a:pPr marL="0" marR="0">
                            <a:lnSpc>
                              <a:spcPct val="100000"/>
                            </a:lnSpc>
                            <a:spcBef>
                              <a:spcPts val="0"/>
                            </a:spcBef>
                            <a:spcAft>
                              <a:spcPts val="0"/>
                            </a:spcAft>
                          </a:pPr>
                          <a:r>
                            <a:rPr lang="en-US" sz="800" dirty="0">
                              <a:effectLst/>
                            </a:rPr>
                            <a:t>POSTATE</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Character</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State of First Inventor (US)</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The state of residency for the first inventor listed on the patent application if the country of citizenship is the United States of America.</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of two character string data.</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ASSIGNEE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Assignee Identifier</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Unique identifier for the assignee of the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from 10950 to 99550.</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ASSCODE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Assignee Code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A one character code categorizing the type of assignee.</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from 1 to 7.</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CLAIMS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Number of Claims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Number of independent and dependent claims on the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from 1 to </a:t>
                          </a:r>
                          <a14:m>
                            <m:oMath xmlns:m="http://schemas.openxmlformats.org/officeDocument/2006/math">
                              <m:r>
                                <a:rPr lang="en-US" sz="800">
                                  <a:effectLst/>
                                  <a:latin typeface="Cambria Math"/>
                                </a:rPr>
                                <m:t>∞</m:t>
                              </m:r>
                            </m:oMath>
                          </a14:m>
                          <a:r>
                            <a:rPr lang="en-US" sz="800" dirty="0">
                              <a:effectLst/>
                            </a:rPr>
                            <a:t>.</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NCLASS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Main Patent Class</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A code that categorizes the patent into one of several broad classifications.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from 1 to 800.</a:t>
                          </a:r>
                          <a:endParaRPr lang="en-US" sz="800" dirty="0">
                            <a:effectLst/>
                            <a:latin typeface="Calibri"/>
                            <a:ea typeface="Calibri"/>
                            <a:cs typeface="Times New Roman"/>
                          </a:endParaRPr>
                        </a:p>
                      </a:txBody>
                      <a:tcPr marL="8927" marR="8927" marT="4466" marB="4466"/>
                    </a:tc>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2545416423"/>
                  </p:ext>
                </p:extLst>
              </p:nvPr>
            </p:nvGraphicFramePr>
            <p:xfrm>
              <a:off x="4712496" y="457200"/>
              <a:ext cx="4389120" cy="3283136"/>
            </p:xfrm>
            <a:graphic>
              <a:graphicData uri="http://schemas.openxmlformats.org/drawingml/2006/table">
                <a:tbl>
                  <a:tblPr firstRow="1" firstCol="1" bandRow="1">
                    <a:tableStyleId>{5C22544A-7EE6-4342-B048-85BDC9FD1C3A}</a:tableStyleId>
                  </a:tblPr>
                  <a:tblGrid>
                    <a:gridCol w="598516"/>
                    <a:gridCol w="864523"/>
                    <a:gridCol w="1130531"/>
                    <a:gridCol w="1795550"/>
                  </a:tblGrid>
                  <a:tr h="237884">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Variable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Variable Type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Extended Name</a:t>
                          </a:r>
                        </a:p>
                      </a:txBody>
                      <a:tcPr marL="8927" marR="8927" marT="4466" marB="4466"/>
                    </a:tc>
                    <a:tc>
                      <a:txBody>
                        <a:bodyPr/>
                        <a:lstStyle/>
                        <a:p>
                          <a:pPr marL="0" marR="0" algn="l" defTabSz="914400" rtl="0" eaLnBrk="1" latinLnBrk="0" hangingPunct="1">
                            <a:lnSpc>
                              <a:spcPct val="150000"/>
                            </a:lnSpc>
                            <a:spcBef>
                              <a:spcPts val="0"/>
                            </a:spcBef>
                            <a:spcAft>
                              <a:spcPts val="0"/>
                            </a:spcAft>
                          </a:pPr>
                          <a:r>
                            <a:rPr lang="en-US" sz="800" b="1" kern="1200" dirty="0">
                              <a:solidFill>
                                <a:schemeClr val="lt1"/>
                              </a:solidFill>
                              <a:effectLst/>
                              <a:latin typeface="+mn-lt"/>
                              <a:ea typeface="+mn-ea"/>
                              <a:cs typeface="+mn-cs"/>
                            </a:rPr>
                            <a:t>Description</a:t>
                          </a:r>
                        </a:p>
                      </a:txBody>
                      <a:tcPr marL="8927" marR="8927" marT="4466" marB="4466"/>
                    </a:tc>
                  </a:tr>
                  <a:tr h="862372">
                    <a:tc>
                      <a:txBody>
                        <a:bodyPr/>
                        <a:lstStyle/>
                        <a:p>
                          <a:pPr marL="0" marR="0">
                            <a:lnSpc>
                              <a:spcPct val="100000"/>
                            </a:lnSpc>
                            <a:spcBef>
                              <a:spcPts val="0"/>
                            </a:spcBef>
                            <a:spcAft>
                              <a:spcPts val="0"/>
                            </a:spcAft>
                          </a:pPr>
                          <a:r>
                            <a:rPr lang="en-US" sz="800" dirty="0">
                              <a:effectLst/>
                            </a:rPr>
                            <a:t>POSTATE</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Character</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State of First Inventor (US)</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The state of residency for the first inventor listed on the patent application if the country of citizenship is the United States of America.</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of two character string data.</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ASSIGNEE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Assignee Identifier</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Unique identifier for the assignee of the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from 10950 to 99550.</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ASSCODE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Assignee Code</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A one character code categorizing the type of assignee.</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values from 1 to 7.</a:t>
                          </a:r>
                          <a:endParaRPr lang="en-US" sz="800" dirty="0">
                            <a:effectLst/>
                            <a:latin typeface="Calibri"/>
                            <a:ea typeface="Calibri"/>
                            <a:cs typeface="Times New Roman"/>
                          </a:endParaRPr>
                        </a:p>
                      </a:txBody>
                      <a:tcPr marL="8927" marR="8927" marT="4466" marB="4466"/>
                    </a:tc>
                  </a:tr>
                  <a:tr h="545720">
                    <a:tc>
                      <a:txBody>
                        <a:bodyPr/>
                        <a:lstStyle/>
                        <a:p>
                          <a:pPr marL="0" marR="0">
                            <a:lnSpc>
                              <a:spcPct val="100000"/>
                            </a:lnSpc>
                            <a:spcBef>
                              <a:spcPts val="0"/>
                            </a:spcBef>
                            <a:spcAft>
                              <a:spcPts val="0"/>
                            </a:spcAft>
                          </a:pPr>
                          <a:r>
                            <a:rPr lang="en-US" sz="800">
                              <a:effectLst/>
                            </a:rPr>
                            <a:t>CLAIMS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Number of Claims</a:t>
                          </a:r>
                          <a:endParaRPr lang="en-US" sz="800">
                            <a:effectLst/>
                            <a:latin typeface="Calibri"/>
                            <a:ea typeface="Calibri"/>
                            <a:cs typeface="Times New Roman"/>
                          </a:endParaRPr>
                        </a:p>
                      </a:txBody>
                      <a:tcPr marL="8927" marR="8927" marT="4466" marB="4466"/>
                    </a:tc>
                    <a:tc>
                      <a:txBody>
                        <a:bodyPr/>
                        <a:lstStyle/>
                        <a:p>
                          <a:endParaRPr lang="en-US"/>
                        </a:p>
                      </a:txBody>
                      <a:tcPr marL="8927" marR="8927" marT="4466" marB="4466">
                        <a:blipFill rotWithShape="1">
                          <a:blip r:embed="rId3"/>
                          <a:stretch>
                            <a:fillRect l="-144068" t="-404494" r="-339" b="-103371"/>
                          </a:stretch>
                        </a:blipFill>
                      </a:tcPr>
                    </a:tc>
                  </a:tr>
                  <a:tr h="545720">
                    <a:tc>
                      <a:txBody>
                        <a:bodyPr/>
                        <a:lstStyle/>
                        <a:p>
                          <a:pPr marL="0" marR="0">
                            <a:lnSpc>
                              <a:spcPct val="100000"/>
                            </a:lnSpc>
                            <a:spcBef>
                              <a:spcPts val="0"/>
                            </a:spcBef>
                            <a:spcAft>
                              <a:spcPts val="0"/>
                            </a:spcAft>
                          </a:pPr>
                          <a:r>
                            <a:rPr lang="en-US" sz="800">
                              <a:effectLst/>
                            </a:rPr>
                            <a:t>NCLASS</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Main Patent Class</a:t>
                          </a:r>
                          <a:endParaRPr lang="en-US" sz="800" dirty="0">
                            <a:effectLst/>
                            <a:latin typeface="Calibri"/>
                            <a:ea typeface="Calibri"/>
                            <a:cs typeface="Times New Roman"/>
                          </a:endParaRPr>
                        </a:p>
                      </a:txBody>
                      <a:tcPr marL="8927" marR="8927" marT="4466" marB="4466"/>
                    </a:tc>
                    <a:tc>
                      <a:txBody>
                        <a:bodyPr/>
                        <a:lstStyle/>
                        <a:p>
                          <a:pPr marL="0" marR="0">
                            <a:lnSpc>
                              <a:spcPct val="100000"/>
                            </a:lnSpc>
                            <a:spcBef>
                              <a:spcPts val="0"/>
                            </a:spcBef>
                            <a:spcAft>
                              <a:spcPts val="0"/>
                            </a:spcAft>
                          </a:pPr>
                          <a:r>
                            <a:rPr lang="en-US" sz="800" dirty="0">
                              <a:effectLst/>
                            </a:rPr>
                            <a:t>A code that categorizes the patent into one of several broad classifications.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integer values from 1 to 800.</a:t>
                          </a:r>
                          <a:endParaRPr lang="en-US" sz="800" dirty="0">
                            <a:effectLst/>
                            <a:latin typeface="Calibri"/>
                            <a:ea typeface="Calibri"/>
                            <a:cs typeface="Times New Roman"/>
                          </a:endParaRPr>
                        </a:p>
                      </a:txBody>
                      <a:tcPr marL="8927" marR="8927" marT="4466" marB="4466"/>
                    </a:tc>
                  </a:tr>
                </a:tbl>
              </a:graphicData>
            </a:graphic>
          </p:graphicFrame>
        </mc:Fallback>
      </mc:AlternateContent>
      <p:sp>
        <p:nvSpPr>
          <p:cNvPr id="5" name="TextBox 4"/>
          <p:cNvSpPr txBox="1"/>
          <p:nvPr/>
        </p:nvSpPr>
        <p:spPr>
          <a:xfrm>
            <a:off x="0" y="0"/>
            <a:ext cx="9144000" cy="369332"/>
          </a:xfrm>
          <a:prstGeom prst="rect">
            <a:avLst/>
          </a:prstGeom>
          <a:noFill/>
        </p:spPr>
        <p:txBody>
          <a:bodyPr wrap="square" rtlCol="0">
            <a:spAutoFit/>
          </a:bodyPr>
          <a:lstStyle/>
          <a:p>
            <a:r>
              <a:rPr lang="en-US" dirty="0" smtClean="0"/>
              <a:t>Original USPTO Variables from Source Data</a:t>
            </a:r>
            <a:endParaRPr lang="en-US" dirty="0"/>
          </a:p>
        </p:txBody>
      </p:sp>
      <p:sp>
        <p:nvSpPr>
          <p:cNvPr id="2" name="Rectangle 1"/>
          <p:cNvSpPr/>
          <p:nvPr/>
        </p:nvSpPr>
        <p:spPr>
          <a:xfrm>
            <a:off x="0" y="4450277"/>
            <a:ext cx="9144000" cy="1154162"/>
          </a:xfrm>
          <a:prstGeom prst="rect">
            <a:avLst/>
          </a:prstGeom>
        </p:spPr>
        <p:txBody>
          <a:bodyPr>
            <a:spAutoFit/>
          </a:bodyPr>
          <a:lstStyle/>
          <a:p>
            <a:pPr marL="457200" lvl="0" indent="-457200">
              <a:spcAft>
                <a:spcPts val="600"/>
              </a:spcAft>
            </a:pPr>
            <a:r>
              <a:rPr lang="en-US" sz="1600" dirty="0">
                <a:solidFill>
                  <a:prstClr val="black"/>
                </a:solidFill>
                <a:latin typeface="Times New Roman"/>
                <a:ea typeface="Calibri"/>
                <a:cs typeface="Times New Roman"/>
              </a:rPr>
              <a:t>National Bureau of Economic Research. </a:t>
            </a:r>
            <a:r>
              <a:rPr lang="en-US" sz="1600" dirty="0" smtClean="0">
                <a:solidFill>
                  <a:prstClr val="black"/>
                </a:solidFill>
                <a:latin typeface="Times New Roman"/>
                <a:ea typeface="Calibri"/>
                <a:cs typeface="Times New Roman"/>
              </a:rPr>
              <a:t>(2018). </a:t>
            </a:r>
            <a:r>
              <a:rPr lang="en-US" sz="1600" dirty="0">
                <a:solidFill>
                  <a:prstClr val="black"/>
                </a:solidFill>
                <a:latin typeface="Times New Roman"/>
                <a:ea typeface="Calibri"/>
                <a:cs typeface="Times New Roman"/>
              </a:rPr>
              <a:t>Patent data, including constructed variables [data file]. Retrieved from http://www.nber.org/patents</a:t>
            </a:r>
            <a:r>
              <a:rPr lang="en-US" sz="1600" dirty="0" smtClean="0">
                <a:solidFill>
                  <a:prstClr val="black"/>
                </a:solidFill>
                <a:latin typeface="Times New Roman"/>
                <a:ea typeface="Calibri"/>
                <a:cs typeface="Times New Roman"/>
              </a:rPr>
              <a:t>/</a:t>
            </a:r>
          </a:p>
          <a:p>
            <a:pPr marL="457200" lvl="0" indent="-457200">
              <a:spcAft>
                <a:spcPts val="600"/>
              </a:spcAft>
            </a:pPr>
            <a:r>
              <a:rPr lang="en-US" sz="1600" dirty="0">
                <a:solidFill>
                  <a:prstClr val="black"/>
                </a:solidFill>
                <a:latin typeface="Times New Roman"/>
                <a:ea typeface="Calibri"/>
                <a:cs typeface="Times New Roman"/>
              </a:rPr>
              <a:t>Hall, B. H., Jaffe, A. B. and </a:t>
            </a:r>
            <a:r>
              <a:rPr lang="en-US" sz="1600" dirty="0" err="1">
                <a:solidFill>
                  <a:prstClr val="black"/>
                </a:solidFill>
                <a:latin typeface="Times New Roman"/>
                <a:ea typeface="Calibri"/>
                <a:cs typeface="Times New Roman"/>
              </a:rPr>
              <a:t>Trajtenberg</a:t>
            </a:r>
            <a:r>
              <a:rPr lang="en-US" sz="1600" dirty="0">
                <a:solidFill>
                  <a:prstClr val="black"/>
                </a:solidFill>
                <a:latin typeface="Times New Roman"/>
                <a:ea typeface="Calibri"/>
                <a:cs typeface="Times New Roman"/>
              </a:rPr>
              <a:t>, M. (2001). "The NBER Patent Citation Data File: Lessons, Insights and Methodological Tools." </a:t>
            </a:r>
            <a:r>
              <a:rPr lang="en-US" sz="1600" i="1" dirty="0">
                <a:solidFill>
                  <a:prstClr val="black"/>
                </a:solidFill>
                <a:latin typeface="Times New Roman"/>
                <a:ea typeface="Calibri"/>
                <a:cs typeface="Times New Roman"/>
              </a:rPr>
              <a:t>NBER Working Paper 8498</a:t>
            </a:r>
            <a:r>
              <a:rPr lang="en-US" sz="1600" dirty="0">
                <a:solidFill>
                  <a:prstClr val="black"/>
                </a:solidFill>
                <a:latin typeface="Times New Roman"/>
                <a:ea typeface="Calibri"/>
                <a:cs typeface="Times New Roman"/>
              </a:rPr>
              <a:t>. Retrieved from http://www.nber.org/patents</a:t>
            </a:r>
            <a:r>
              <a:rPr lang="en-US" sz="1600" dirty="0" smtClean="0">
                <a:solidFill>
                  <a:prstClr val="black"/>
                </a:solidFill>
                <a:latin typeface="Times New Roman"/>
                <a:ea typeface="Calibri"/>
                <a:cs typeface="Times New Roman"/>
              </a:rPr>
              <a:t>/</a:t>
            </a:r>
            <a:endParaRPr lang="en-US" sz="1400" dirty="0">
              <a:solidFill>
                <a:prstClr val="black"/>
              </a:solidFill>
              <a:ea typeface="Calibri"/>
              <a:cs typeface="Times New Roman"/>
            </a:endParaRPr>
          </a:p>
        </p:txBody>
      </p:sp>
      <p:pic>
        <p:nvPicPr>
          <p:cNvPr id="6"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0" y="1267131"/>
            <a:ext cx="548640" cy="36576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602025" y="2524999"/>
            <a:ext cx="548640" cy="36576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0" y="2790384"/>
            <a:ext cx="548640" cy="365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322432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7136"/>
            <a:ext cx="9144000" cy="369332"/>
          </a:xfrm>
          <a:prstGeom prst="rect">
            <a:avLst/>
          </a:prstGeom>
          <a:noFill/>
        </p:spPr>
        <p:txBody>
          <a:bodyPr wrap="square" rtlCol="0">
            <a:spAutoFit/>
          </a:bodyPr>
          <a:lstStyle/>
          <a:p>
            <a:r>
              <a:rPr lang="en-US" dirty="0" smtClean="0"/>
              <a:t>Original Constructed Variables from Source Data</a:t>
            </a:r>
            <a:endParaRPr lang="en-US" dirty="0"/>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554949418"/>
                  </p:ext>
                </p:extLst>
              </p:nvPr>
            </p:nvGraphicFramePr>
            <p:xfrm>
              <a:off x="42862" y="457200"/>
              <a:ext cx="4389120" cy="3815112"/>
            </p:xfrm>
            <a:graphic>
              <a:graphicData uri="http://schemas.openxmlformats.org/drawingml/2006/table">
                <a:tbl>
                  <a:tblPr firstRow="1" firstCol="1" bandRow="1">
                    <a:tableStyleId>{5C22544A-7EE6-4342-B048-85BDC9FD1C3A}</a:tableStyleId>
                  </a:tblPr>
                  <a:tblGrid>
                    <a:gridCol w="810297"/>
                    <a:gridCol w="810297"/>
                    <a:gridCol w="1350498"/>
                    <a:gridCol w="1418028"/>
                  </a:tblGrid>
                  <a:tr h="92290">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Variable Type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929" marR="5929" marT="2966" marB="2966"/>
                    </a:tc>
                  </a:tr>
                  <a:tr h="299773">
                    <a:tc>
                      <a:txBody>
                        <a:bodyPr/>
                        <a:lstStyle/>
                        <a:p>
                          <a:pPr marL="0" marR="0">
                            <a:lnSpc>
                              <a:spcPct val="100000"/>
                            </a:lnSpc>
                            <a:spcBef>
                              <a:spcPts val="0"/>
                            </a:spcBef>
                            <a:spcAft>
                              <a:spcPts val="0"/>
                            </a:spcAft>
                          </a:pPr>
                          <a:r>
                            <a:rPr lang="en-US" sz="800">
                              <a:effectLst/>
                            </a:rPr>
                            <a:t>CAT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Technological Category</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A higher-level classification of the Main Patent Class.</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6.</a:t>
                          </a:r>
                          <a:endParaRPr lang="en-US" sz="800">
                            <a:effectLst/>
                            <a:latin typeface="Calibri"/>
                            <a:ea typeface="Calibri"/>
                            <a:cs typeface="Times New Roman"/>
                          </a:endParaRPr>
                        </a:p>
                      </a:txBody>
                      <a:tcPr marL="5929" marR="5929" marT="2966" marB="2966"/>
                    </a:tc>
                  </a:tr>
                  <a:tr h="348468">
                    <a:tc>
                      <a:txBody>
                        <a:bodyPr/>
                        <a:lstStyle/>
                        <a:p>
                          <a:pPr marL="0" marR="0">
                            <a:lnSpc>
                              <a:spcPct val="100000"/>
                            </a:lnSpc>
                            <a:spcBef>
                              <a:spcPts val="0"/>
                            </a:spcBef>
                            <a:spcAft>
                              <a:spcPts val="0"/>
                            </a:spcAft>
                          </a:pPr>
                          <a:r>
                            <a:rPr lang="en-US" sz="800">
                              <a:effectLst/>
                            </a:rPr>
                            <a:t>SUBCAT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Technological Sub-category</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The sub-category of the primary technological category to which the patent is assigned.</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69.</a:t>
                          </a:r>
                          <a:endParaRPr lang="en-US" sz="800">
                            <a:effectLst/>
                            <a:latin typeface="Calibri"/>
                            <a:ea typeface="Calibri"/>
                            <a:cs typeface="Times New Roman"/>
                          </a:endParaRPr>
                        </a:p>
                      </a:txBody>
                      <a:tcPr marL="5929" marR="5929" marT="2966" marB="2966"/>
                    </a:tc>
                  </a:tr>
                  <a:tr h="251078">
                    <a:tc>
                      <a:txBody>
                        <a:bodyPr/>
                        <a:lstStyle/>
                        <a:p>
                          <a:pPr marL="0" marR="0">
                            <a:lnSpc>
                              <a:spcPct val="100000"/>
                            </a:lnSpc>
                            <a:spcBef>
                              <a:spcPts val="0"/>
                            </a:spcBef>
                            <a:spcAft>
                              <a:spcPts val="0"/>
                            </a:spcAft>
                          </a:pPr>
                          <a:r>
                            <a:rPr lang="en-US" sz="800">
                              <a:effectLst/>
                            </a:rPr>
                            <a:t>CMADE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Number of Citations Made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The number of citations made by the patent.</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a:t>
                          </a:r>
                          <a14:m>
                            <m:oMath xmlns:m="http://schemas.openxmlformats.org/officeDocument/2006/math">
                              <m:r>
                                <a:rPr lang="en-US" sz="800">
                                  <a:effectLst/>
                                  <a:latin typeface="Cambria Math"/>
                                </a:rPr>
                                <m:t>∞</m:t>
                              </m:r>
                            </m:oMath>
                          </a14:m>
                          <a:r>
                            <a:rPr lang="en-US" sz="800">
                              <a:effectLst/>
                            </a:rPr>
                            <a:t>.</a:t>
                          </a:r>
                          <a:endParaRPr lang="en-US" sz="800">
                            <a:effectLst/>
                            <a:latin typeface="Calibri"/>
                            <a:ea typeface="Calibri"/>
                            <a:cs typeface="Times New Roman"/>
                          </a:endParaRPr>
                        </a:p>
                      </a:txBody>
                      <a:tcPr marL="5929" marR="5929" marT="2966" marB="2966"/>
                    </a:tc>
                  </a:tr>
                  <a:tr h="299773">
                    <a:tc>
                      <a:txBody>
                        <a:bodyPr/>
                        <a:lstStyle/>
                        <a:p>
                          <a:pPr marL="0" marR="0">
                            <a:lnSpc>
                              <a:spcPct val="100000"/>
                            </a:lnSpc>
                            <a:spcBef>
                              <a:spcPts val="0"/>
                            </a:spcBef>
                            <a:spcAft>
                              <a:spcPts val="0"/>
                            </a:spcAft>
                          </a:pPr>
                          <a:r>
                            <a:rPr lang="en-US" sz="800">
                              <a:effectLst/>
                            </a:rPr>
                            <a:t>CRECEIVE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No. of Citations Received</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The number of citations in other patents that reference the patent.</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a:t>
                          </a:r>
                          <a14:m>
                            <m:oMath xmlns:m="http://schemas.openxmlformats.org/officeDocument/2006/math">
                              <m:r>
                                <a:rPr lang="en-US" sz="800">
                                  <a:effectLst/>
                                  <a:latin typeface="Cambria Math"/>
                                </a:rPr>
                                <m:t>∞</m:t>
                              </m:r>
                            </m:oMath>
                          </a14:m>
                          <a:r>
                            <a:rPr lang="en-US" sz="800">
                              <a:effectLst/>
                            </a:rPr>
                            <a:t>.</a:t>
                          </a:r>
                          <a:endParaRPr lang="en-US" sz="800">
                            <a:effectLst/>
                            <a:latin typeface="Calibri"/>
                            <a:ea typeface="Calibri"/>
                            <a:cs typeface="Times New Roman"/>
                          </a:endParaRPr>
                        </a:p>
                      </a:txBody>
                      <a:tcPr marL="5929" marR="5929" marT="2966" marB="2966"/>
                    </a:tc>
                  </a:tr>
                  <a:tr h="445859">
                    <a:tc>
                      <a:txBody>
                        <a:bodyPr/>
                        <a:lstStyle/>
                        <a:p>
                          <a:pPr marL="0" marR="0">
                            <a:lnSpc>
                              <a:spcPct val="100000"/>
                            </a:lnSpc>
                            <a:spcBef>
                              <a:spcPts val="0"/>
                            </a:spcBef>
                            <a:spcAft>
                              <a:spcPts val="0"/>
                            </a:spcAft>
                          </a:pPr>
                          <a:r>
                            <a:rPr lang="en-US" sz="800">
                              <a:effectLst/>
                            </a:rPr>
                            <a:t>RATIOCIT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Percent of Citations Made to Patents Granted Since 1963</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The ratio of the number of citations made by all patents granted since 1963 to the total number of citations made by the particular patent. </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929" marR="5929" marT="2966" marB="2966"/>
                    </a:tc>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554949418"/>
                  </p:ext>
                </p:extLst>
              </p:nvPr>
            </p:nvGraphicFramePr>
            <p:xfrm>
              <a:off x="42862" y="457200"/>
              <a:ext cx="4389120" cy="3815112"/>
            </p:xfrm>
            <a:graphic>
              <a:graphicData uri="http://schemas.openxmlformats.org/drawingml/2006/table">
                <a:tbl>
                  <a:tblPr firstRow="1" firstCol="1" bandRow="1">
                    <a:tableStyleId>{5C22544A-7EE6-4342-B048-85BDC9FD1C3A}</a:tableStyleId>
                  </a:tblPr>
                  <a:tblGrid>
                    <a:gridCol w="810297"/>
                    <a:gridCol w="810297"/>
                    <a:gridCol w="1350498"/>
                    <a:gridCol w="1418028"/>
                  </a:tblGrid>
                  <a:tr h="127852">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Variable Type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929" marR="5929" marT="2966" marB="2966"/>
                    </a:tc>
                  </a:tr>
                  <a:tr h="615532">
                    <a:tc>
                      <a:txBody>
                        <a:bodyPr/>
                        <a:lstStyle/>
                        <a:p>
                          <a:pPr marL="0" marR="0">
                            <a:lnSpc>
                              <a:spcPct val="100000"/>
                            </a:lnSpc>
                            <a:spcBef>
                              <a:spcPts val="0"/>
                            </a:spcBef>
                            <a:spcAft>
                              <a:spcPts val="0"/>
                            </a:spcAft>
                          </a:pPr>
                          <a:r>
                            <a:rPr lang="en-US" sz="800">
                              <a:effectLst/>
                            </a:rPr>
                            <a:t>CAT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Nominal</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Technological Category</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A higher-level classification of the Main Patent Class.</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6.</a:t>
                          </a:r>
                          <a:endParaRPr lang="en-US" sz="800">
                            <a:effectLst/>
                            <a:latin typeface="Calibri"/>
                            <a:ea typeface="Calibri"/>
                            <a:cs typeface="Times New Roman"/>
                          </a:endParaRPr>
                        </a:p>
                      </a:txBody>
                      <a:tcPr marL="5929" marR="5929" marT="2966" marB="2966"/>
                    </a:tc>
                  </a:tr>
                  <a:tr h="737452">
                    <a:tc>
                      <a:txBody>
                        <a:bodyPr/>
                        <a:lstStyle/>
                        <a:p>
                          <a:pPr marL="0" marR="0">
                            <a:lnSpc>
                              <a:spcPct val="100000"/>
                            </a:lnSpc>
                            <a:spcBef>
                              <a:spcPts val="0"/>
                            </a:spcBef>
                            <a:spcAft>
                              <a:spcPts val="0"/>
                            </a:spcAft>
                          </a:pPr>
                          <a:r>
                            <a:rPr lang="en-US" sz="800">
                              <a:effectLst/>
                            </a:rPr>
                            <a:t>SUBCAT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Nominal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Technological Sub-category</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The sub-category of the primary technological category to which the patent is assigned.</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integer values from 1 to 69.</a:t>
                          </a:r>
                          <a:endParaRPr lang="en-US" sz="800">
                            <a:effectLst/>
                            <a:latin typeface="Calibri"/>
                            <a:ea typeface="Calibri"/>
                            <a:cs typeface="Times New Roman"/>
                          </a:endParaRPr>
                        </a:p>
                      </a:txBody>
                      <a:tcPr marL="5929" marR="5929" marT="2966" marB="2966"/>
                    </a:tc>
                  </a:tr>
                  <a:tr h="615532">
                    <a:tc>
                      <a:txBody>
                        <a:bodyPr/>
                        <a:lstStyle/>
                        <a:p>
                          <a:pPr marL="0" marR="0">
                            <a:lnSpc>
                              <a:spcPct val="100000"/>
                            </a:lnSpc>
                            <a:spcBef>
                              <a:spcPts val="0"/>
                            </a:spcBef>
                            <a:spcAft>
                              <a:spcPts val="0"/>
                            </a:spcAft>
                          </a:pPr>
                          <a:r>
                            <a:rPr lang="en-US" sz="800">
                              <a:effectLst/>
                            </a:rPr>
                            <a:t>CMADE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Number of Citations Made</a:t>
                          </a:r>
                          <a:endParaRPr lang="en-US" sz="800">
                            <a:effectLst/>
                            <a:latin typeface="Calibri"/>
                            <a:ea typeface="Calibri"/>
                            <a:cs typeface="Times New Roman"/>
                          </a:endParaRPr>
                        </a:p>
                      </a:txBody>
                      <a:tcPr marL="5929" marR="5929" marT="2966" marB="2966"/>
                    </a:tc>
                    <a:tc>
                      <a:txBody>
                        <a:bodyPr/>
                        <a:lstStyle/>
                        <a:p>
                          <a:endParaRPr lang="en-US"/>
                        </a:p>
                      </a:txBody>
                      <a:tcPr marL="5929" marR="5929" marT="2966" marB="2966">
                        <a:blipFill rotWithShape="1">
                          <a:blip r:embed="rId2"/>
                          <a:stretch>
                            <a:fillRect l="-209013" t="-244554" r="-429" b="-290099"/>
                          </a:stretch>
                        </a:blipFill>
                      </a:tcPr>
                    </a:tc>
                  </a:tr>
                  <a:tr h="737452">
                    <a:tc>
                      <a:txBody>
                        <a:bodyPr/>
                        <a:lstStyle/>
                        <a:p>
                          <a:pPr marL="0" marR="0">
                            <a:lnSpc>
                              <a:spcPct val="100000"/>
                            </a:lnSpc>
                            <a:spcBef>
                              <a:spcPts val="0"/>
                            </a:spcBef>
                            <a:spcAft>
                              <a:spcPts val="0"/>
                            </a:spcAft>
                          </a:pPr>
                          <a:r>
                            <a:rPr lang="en-US" sz="800">
                              <a:effectLst/>
                            </a:rPr>
                            <a:t>CRECEIVE</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Interval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No. of Citations Received</a:t>
                          </a:r>
                          <a:endParaRPr lang="en-US" sz="800">
                            <a:effectLst/>
                            <a:latin typeface="Calibri"/>
                            <a:ea typeface="Calibri"/>
                            <a:cs typeface="Times New Roman"/>
                          </a:endParaRPr>
                        </a:p>
                      </a:txBody>
                      <a:tcPr marL="5929" marR="5929" marT="2966" marB="2966"/>
                    </a:tc>
                    <a:tc>
                      <a:txBody>
                        <a:bodyPr/>
                        <a:lstStyle/>
                        <a:p>
                          <a:endParaRPr lang="en-US"/>
                        </a:p>
                      </a:txBody>
                      <a:tcPr marL="5929" marR="5929" marT="2966" marB="2966">
                        <a:blipFill rotWithShape="1">
                          <a:blip r:embed="rId2"/>
                          <a:stretch>
                            <a:fillRect l="-209013" t="-287603" r="-429" b="-142149"/>
                          </a:stretch>
                        </a:blipFill>
                      </a:tcPr>
                    </a:tc>
                  </a:tr>
                  <a:tr h="981292">
                    <a:tc>
                      <a:txBody>
                        <a:bodyPr/>
                        <a:lstStyle/>
                        <a:p>
                          <a:pPr marL="0" marR="0">
                            <a:lnSpc>
                              <a:spcPct val="100000"/>
                            </a:lnSpc>
                            <a:spcBef>
                              <a:spcPts val="0"/>
                            </a:spcBef>
                            <a:spcAft>
                              <a:spcPts val="0"/>
                            </a:spcAft>
                          </a:pPr>
                          <a:r>
                            <a:rPr lang="en-US" sz="800">
                              <a:effectLst/>
                            </a:rPr>
                            <a:t>RATIOCIT</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Percent of Citations Made to Patents Granted Since 1963</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The ratio of the number of citations made by all patents granted since 1963 to the total number of citations made by the particular patent. </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929" marR="5929" marT="2966" marB="2966"/>
                    </a:tc>
                  </a:tr>
                </a:tbl>
              </a:graphicData>
            </a:graphic>
          </p:graphicFrame>
        </mc:Fallback>
      </mc:AlternateContent>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1023192790"/>
                  </p:ext>
                </p:extLst>
              </p:nvPr>
            </p:nvGraphicFramePr>
            <p:xfrm>
              <a:off x="4704874" y="457200"/>
              <a:ext cx="4389120" cy="3983394"/>
            </p:xfrm>
            <a:graphic>
              <a:graphicData uri="http://schemas.openxmlformats.org/drawingml/2006/table">
                <a:tbl>
                  <a:tblPr firstRow="1" firstCol="1" bandRow="1">
                    <a:tableStyleId>{5C22544A-7EE6-4342-B048-85BDC9FD1C3A}</a:tableStyleId>
                  </a:tblPr>
                  <a:tblGrid>
                    <a:gridCol w="810299"/>
                    <a:gridCol w="810299"/>
                    <a:gridCol w="1350497"/>
                    <a:gridCol w="1418025"/>
                  </a:tblGrid>
                  <a:tr h="69202">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Variable Type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700" marR="5700" marT="2850" marB="2850"/>
                    </a:tc>
                  </a:tr>
                  <a:tr h="266095">
                    <a:tc>
                      <a:txBody>
                        <a:bodyPr/>
                        <a:lstStyle/>
                        <a:p>
                          <a:pPr marL="0" marR="0">
                            <a:lnSpc>
                              <a:spcPct val="100000"/>
                            </a:lnSpc>
                            <a:spcBef>
                              <a:spcPts val="0"/>
                            </a:spcBef>
                            <a:spcAft>
                              <a:spcPts val="0"/>
                            </a:spcAft>
                          </a:pPr>
                          <a:r>
                            <a:rPr lang="en-US" sz="800" dirty="0">
                              <a:effectLst/>
                            </a:rPr>
                            <a:t>GENERAL</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Measure of Generality</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A measure of how broad the influence of a patent spans across fields as determined by the number of different fields of all patents that cite the patent of interest.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Calculated as the following: </a:t>
                          </a:r>
                        </a:p>
                        <a:p>
                          <a:pPr marL="0" marR="0">
                            <a:lnSpc>
                              <a:spcPct val="100000"/>
                            </a:lnSpc>
                            <a:spcBef>
                              <a:spcPts val="0"/>
                            </a:spcBef>
                            <a:spcAft>
                              <a:spcPts val="0"/>
                            </a:spcAft>
                          </a:pPr>
                          <a:r>
                            <a:rPr lang="en-US" sz="800" dirty="0" err="1">
                              <a:effectLst/>
                            </a:rPr>
                            <a:t>Generality</a:t>
                          </a:r>
                          <a:r>
                            <a:rPr lang="en-US" sz="800" baseline="-25000" dirty="0" err="1">
                              <a:effectLst/>
                            </a:rPr>
                            <a:t>i</a:t>
                          </a:r>
                          <a:r>
                            <a:rPr lang="en-US" sz="800" dirty="0">
                              <a:effectLst/>
                            </a:rPr>
                            <a:t> = 1 - </a:t>
                          </a:r>
                          <a14:m>
                            <m:oMath xmlns:m="http://schemas.openxmlformats.org/officeDocument/2006/math">
                              <m:nary>
                                <m:naryPr>
                                  <m:chr m:val="∑"/>
                                  <m:limLoc m:val="undOvr"/>
                                  <m:ctrlPr>
                                    <a:rPr lang="en-US" sz="800" i="1">
                                      <a:effectLst/>
                                      <a:latin typeface="Cambria Math"/>
                                    </a:rPr>
                                  </m:ctrlPr>
                                </m:naryPr>
                                <m:sub>
                                  <m:r>
                                    <a:rPr lang="en-US" sz="800">
                                      <a:effectLst/>
                                      <a:latin typeface="Cambria Math"/>
                                    </a:rPr>
                                    <m:t>𝑗</m:t>
                                  </m:r>
                                </m:sub>
                                <m:sup>
                                  <m:sSub>
                                    <m:sSubPr>
                                      <m:ctrlPr>
                                        <a:rPr lang="en-US" sz="800" i="1">
                                          <a:effectLst/>
                                          <a:latin typeface="Cambria Math"/>
                                        </a:rPr>
                                      </m:ctrlPr>
                                    </m:sSubPr>
                                    <m:e>
                                      <m:r>
                                        <a:rPr lang="en-US" sz="800">
                                          <a:effectLst/>
                                          <a:latin typeface="Cambria Math"/>
                                        </a:rPr>
                                        <m:t>𝑛</m:t>
                                      </m:r>
                                    </m:e>
                                    <m:sub>
                                      <m:r>
                                        <a:rPr lang="en-US" sz="800">
                                          <a:effectLst/>
                                          <a:latin typeface="Cambria Math"/>
                                        </a:rPr>
                                        <m:t>𝑖</m:t>
                                      </m:r>
                                    </m:sub>
                                  </m:sSub>
                                </m:sup>
                                <m:e>
                                  <m:sSubSup>
                                    <m:sSubSupPr>
                                      <m:ctrlPr>
                                        <a:rPr lang="en-US" sz="800" i="1">
                                          <a:effectLst/>
                                          <a:latin typeface="Cambria Math"/>
                                        </a:rPr>
                                      </m:ctrlPr>
                                    </m:sSubSupPr>
                                    <m:e>
                                      <m:r>
                                        <a:rPr lang="en-US" sz="800">
                                          <a:effectLst/>
                                          <a:latin typeface="Cambria Math"/>
                                        </a:rPr>
                                        <m:t>𝑠</m:t>
                                      </m:r>
                                    </m:e>
                                    <m:sub>
                                      <m:r>
                                        <a:rPr lang="en-US" sz="800">
                                          <a:effectLst/>
                                          <a:latin typeface="Cambria Math"/>
                                        </a:rPr>
                                        <m:t>𝑖𝑗</m:t>
                                      </m:r>
                                    </m:sub>
                                    <m:sup>
                                      <m:r>
                                        <a:rPr lang="en-US" sz="800">
                                          <a:effectLst/>
                                          <a:latin typeface="Cambria Math"/>
                                        </a:rPr>
                                        <m:t>2</m:t>
                                      </m:r>
                                    </m:sup>
                                  </m:sSubSup>
                                </m:e>
                              </m:nary>
                            </m:oMath>
                          </a14:m>
                          <a:r>
                            <a:rPr lang="en-US" sz="800" dirty="0">
                              <a:effectLst/>
                            </a:rPr>
                            <a:t> , where </a:t>
                          </a:r>
                          <a:r>
                            <a:rPr lang="en-US" sz="800" dirty="0" err="1">
                              <a:effectLst/>
                            </a:rPr>
                            <a:t>s</a:t>
                          </a:r>
                          <a:r>
                            <a:rPr lang="en-US" sz="800" baseline="-25000" dirty="0" err="1">
                              <a:effectLst/>
                            </a:rPr>
                            <a:t>ij</a:t>
                          </a:r>
                          <a:r>
                            <a:rPr lang="en-US" sz="800" dirty="0">
                              <a:effectLst/>
                            </a:rPr>
                            <a:t> denotes the percentage of citations received by patent </a:t>
                          </a:r>
                          <a:r>
                            <a:rPr lang="en-US" sz="800" dirty="0" err="1">
                              <a:effectLst/>
                            </a:rPr>
                            <a:t>i</a:t>
                          </a:r>
                          <a:r>
                            <a:rPr lang="en-US" sz="800" dirty="0">
                              <a:effectLst/>
                            </a:rPr>
                            <a:t> that belong to patent class j, out of </a:t>
                          </a:r>
                          <a:r>
                            <a:rPr lang="en-US" sz="800" dirty="0" err="1">
                              <a:effectLst/>
                            </a:rPr>
                            <a:t>n</a:t>
                          </a:r>
                          <a:r>
                            <a:rPr lang="en-US" sz="800" baseline="-25000" dirty="0" err="1">
                              <a:effectLst/>
                            </a:rPr>
                            <a:t>i</a:t>
                          </a:r>
                          <a:r>
                            <a:rPr lang="en-US" sz="800" dirty="0">
                              <a:effectLst/>
                            </a:rPr>
                            <a:t> patent classes.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929" marR="5929" marT="2966" marB="2966"/>
                    </a:tc>
                  </a:tr>
                  <a:tr h="266095">
                    <a:tc>
                      <a:txBody>
                        <a:bodyPr/>
                        <a:lstStyle/>
                        <a:p>
                          <a:pPr marL="0" marR="0">
                            <a:lnSpc>
                              <a:spcPct val="100000"/>
                            </a:lnSpc>
                            <a:spcBef>
                              <a:spcPts val="0"/>
                            </a:spcBef>
                            <a:spcAft>
                              <a:spcPts val="0"/>
                            </a:spcAft>
                          </a:pPr>
                          <a:r>
                            <a:rPr lang="en-US" sz="800">
                              <a:effectLst/>
                            </a:rPr>
                            <a:t>ORIGINAL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Measure of Originality</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A measure of the originality of a patent as determined by the number of different fields for all patents cited by the patent of interest.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Calculated as the following: </a:t>
                          </a:r>
                        </a:p>
                        <a:p>
                          <a:pPr marL="0" marR="0">
                            <a:lnSpc>
                              <a:spcPct val="100000"/>
                            </a:lnSpc>
                            <a:spcBef>
                              <a:spcPts val="0"/>
                            </a:spcBef>
                            <a:spcAft>
                              <a:spcPts val="0"/>
                            </a:spcAft>
                          </a:pPr>
                          <a:r>
                            <a:rPr lang="en-US" sz="800" dirty="0" err="1">
                              <a:effectLst/>
                            </a:rPr>
                            <a:t>Originality</a:t>
                          </a:r>
                          <a:r>
                            <a:rPr lang="en-US" sz="800" baseline="-25000" dirty="0" err="1">
                              <a:effectLst/>
                            </a:rPr>
                            <a:t>i</a:t>
                          </a:r>
                          <a:r>
                            <a:rPr lang="en-US" sz="800" dirty="0">
                              <a:effectLst/>
                            </a:rPr>
                            <a:t> = 1 - </a:t>
                          </a:r>
                          <a14:m>
                            <m:oMath xmlns:m="http://schemas.openxmlformats.org/officeDocument/2006/math">
                              <m:nary>
                                <m:naryPr>
                                  <m:chr m:val="∑"/>
                                  <m:limLoc m:val="undOvr"/>
                                  <m:ctrlPr>
                                    <a:rPr lang="en-US" sz="800" i="1">
                                      <a:effectLst/>
                                      <a:latin typeface="Cambria Math"/>
                                    </a:rPr>
                                  </m:ctrlPr>
                                </m:naryPr>
                                <m:sub>
                                  <m:r>
                                    <a:rPr lang="en-US" sz="800">
                                      <a:effectLst/>
                                      <a:latin typeface="Cambria Math"/>
                                    </a:rPr>
                                    <m:t>𝑗</m:t>
                                  </m:r>
                                </m:sub>
                                <m:sup>
                                  <m:sSub>
                                    <m:sSubPr>
                                      <m:ctrlPr>
                                        <a:rPr lang="en-US" sz="800" i="1">
                                          <a:effectLst/>
                                          <a:latin typeface="Cambria Math"/>
                                        </a:rPr>
                                      </m:ctrlPr>
                                    </m:sSubPr>
                                    <m:e>
                                      <m:r>
                                        <a:rPr lang="en-US" sz="800">
                                          <a:effectLst/>
                                          <a:latin typeface="Cambria Math"/>
                                        </a:rPr>
                                        <m:t>𝑛</m:t>
                                      </m:r>
                                    </m:e>
                                    <m:sub>
                                      <m:r>
                                        <a:rPr lang="en-US" sz="800">
                                          <a:effectLst/>
                                          <a:latin typeface="Cambria Math"/>
                                        </a:rPr>
                                        <m:t>𝑖</m:t>
                                      </m:r>
                                    </m:sub>
                                  </m:sSub>
                                </m:sup>
                                <m:e>
                                  <m:sSubSup>
                                    <m:sSubSupPr>
                                      <m:ctrlPr>
                                        <a:rPr lang="en-US" sz="800" i="1">
                                          <a:effectLst/>
                                          <a:latin typeface="Cambria Math"/>
                                        </a:rPr>
                                      </m:ctrlPr>
                                    </m:sSubSupPr>
                                    <m:e>
                                      <m:r>
                                        <a:rPr lang="en-US" sz="800">
                                          <a:effectLst/>
                                          <a:latin typeface="Cambria Math"/>
                                        </a:rPr>
                                        <m:t>𝑠</m:t>
                                      </m:r>
                                    </m:e>
                                    <m:sub>
                                      <m:r>
                                        <a:rPr lang="en-US" sz="800">
                                          <a:effectLst/>
                                          <a:latin typeface="Cambria Math"/>
                                        </a:rPr>
                                        <m:t>𝑖𝑗</m:t>
                                      </m:r>
                                    </m:sub>
                                    <m:sup>
                                      <m:r>
                                        <a:rPr lang="en-US" sz="800">
                                          <a:effectLst/>
                                          <a:latin typeface="Cambria Math"/>
                                        </a:rPr>
                                        <m:t>2</m:t>
                                      </m:r>
                                    </m:sup>
                                  </m:sSubSup>
                                </m:e>
                              </m:nary>
                            </m:oMath>
                          </a14:m>
                          <a:r>
                            <a:rPr lang="en-US" sz="800" dirty="0">
                              <a:effectLst/>
                            </a:rPr>
                            <a:t> , where </a:t>
                          </a:r>
                          <a:r>
                            <a:rPr lang="en-US" sz="800" dirty="0" err="1">
                              <a:effectLst/>
                            </a:rPr>
                            <a:t>s</a:t>
                          </a:r>
                          <a:r>
                            <a:rPr lang="en-US" sz="800" baseline="-25000" dirty="0" err="1">
                              <a:effectLst/>
                            </a:rPr>
                            <a:t>ij</a:t>
                          </a:r>
                          <a:r>
                            <a:rPr lang="en-US" sz="800" dirty="0">
                              <a:effectLst/>
                            </a:rPr>
                            <a:t> denotes the percentage of citations made by patent </a:t>
                          </a:r>
                          <a:r>
                            <a:rPr lang="en-US" sz="800" dirty="0" err="1">
                              <a:effectLst/>
                            </a:rPr>
                            <a:t>i</a:t>
                          </a:r>
                          <a:r>
                            <a:rPr lang="en-US" sz="800" dirty="0">
                              <a:effectLst/>
                            </a:rPr>
                            <a:t> that belong to patent class j, out of </a:t>
                          </a:r>
                          <a:r>
                            <a:rPr lang="en-US" sz="800" dirty="0" err="1">
                              <a:effectLst/>
                            </a:rPr>
                            <a:t>n</a:t>
                          </a:r>
                          <a:r>
                            <a:rPr lang="en-US" sz="800" baseline="-25000" dirty="0" err="1">
                              <a:effectLst/>
                            </a:rPr>
                            <a:t>i</a:t>
                          </a:r>
                          <a:r>
                            <a:rPr lang="en-US" sz="800" dirty="0">
                              <a:effectLst/>
                            </a:rPr>
                            <a:t> patent classes.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929" marR="5929" marT="2966" marB="2966"/>
                    </a:tc>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1023192790"/>
                  </p:ext>
                </p:extLst>
              </p:nvPr>
            </p:nvGraphicFramePr>
            <p:xfrm>
              <a:off x="4704874" y="457200"/>
              <a:ext cx="4389120" cy="3983394"/>
            </p:xfrm>
            <a:graphic>
              <a:graphicData uri="http://schemas.openxmlformats.org/drawingml/2006/table">
                <a:tbl>
                  <a:tblPr firstRow="1" firstCol="1" bandRow="1">
                    <a:tableStyleId>{5C22544A-7EE6-4342-B048-85BDC9FD1C3A}</a:tableStyleId>
                  </a:tblPr>
                  <a:tblGrid>
                    <a:gridCol w="810299"/>
                    <a:gridCol w="810299"/>
                    <a:gridCol w="1350497"/>
                    <a:gridCol w="1418025"/>
                  </a:tblGrid>
                  <a:tr h="127620">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Variable Type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700" marR="5700" marT="2850" marB="2850"/>
                    </a:tc>
                  </a:tr>
                  <a:tr h="1988847">
                    <a:tc>
                      <a:txBody>
                        <a:bodyPr/>
                        <a:lstStyle/>
                        <a:p>
                          <a:pPr marL="0" marR="0">
                            <a:lnSpc>
                              <a:spcPct val="100000"/>
                            </a:lnSpc>
                            <a:spcBef>
                              <a:spcPts val="0"/>
                            </a:spcBef>
                            <a:spcAft>
                              <a:spcPts val="0"/>
                            </a:spcAft>
                          </a:pPr>
                          <a:r>
                            <a:rPr lang="en-US" sz="800" dirty="0">
                              <a:effectLst/>
                            </a:rPr>
                            <a:t>GENERAL</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Measure of Generality</a:t>
                          </a:r>
                          <a:endParaRPr lang="en-US" sz="800" dirty="0">
                            <a:effectLst/>
                            <a:latin typeface="Calibri"/>
                            <a:ea typeface="Calibri"/>
                            <a:cs typeface="Times New Roman"/>
                          </a:endParaRPr>
                        </a:p>
                      </a:txBody>
                      <a:tcPr marL="5929" marR="5929" marT="2966" marB="2966"/>
                    </a:tc>
                    <a:tc>
                      <a:txBody>
                        <a:bodyPr/>
                        <a:lstStyle/>
                        <a:p>
                          <a:endParaRPr lang="en-US"/>
                        </a:p>
                      </a:txBody>
                      <a:tcPr marL="5929" marR="5929" marT="2966" marB="2966">
                        <a:blipFill rotWithShape="1">
                          <a:blip r:embed="rId3"/>
                          <a:stretch>
                            <a:fillRect l="-209442" t="-7669" b="-97239"/>
                          </a:stretch>
                        </a:blipFill>
                      </a:tcPr>
                    </a:tc>
                  </a:tr>
                  <a:tr h="1866927">
                    <a:tc>
                      <a:txBody>
                        <a:bodyPr/>
                        <a:lstStyle/>
                        <a:p>
                          <a:pPr marL="0" marR="0">
                            <a:lnSpc>
                              <a:spcPct val="100000"/>
                            </a:lnSpc>
                            <a:spcBef>
                              <a:spcPts val="0"/>
                            </a:spcBef>
                            <a:spcAft>
                              <a:spcPts val="0"/>
                            </a:spcAft>
                          </a:pPr>
                          <a:r>
                            <a:rPr lang="en-US" sz="800">
                              <a:effectLst/>
                            </a:rPr>
                            <a:t>ORIGINAL</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929" marR="5929" marT="2966" marB="2966"/>
                    </a:tc>
                    <a:tc>
                      <a:txBody>
                        <a:bodyPr/>
                        <a:lstStyle/>
                        <a:p>
                          <a:pPr marL="0" marR="0">
                            <a:lnSpc>
                              <a:spcPct val="100000"/>
                            </a:lnSpc>
                            <a:spcBef>
                              <a:spcPts val="0"/>
                            </a:spcBef>
                            <a:spcAft>
                              <a:spcPts val="0"/>
                            </a:spcAft>
                          </a:pPr>
                          <a:r>
                            <a:rPr lang="en-US" sz="800" dirty="0">
                              <a:effectLst/>
                            </a:rPr>
                            <a:t>Measure of Originality</a:t>
                          </a:r>
                          <a:endParaRPr lang="en-US" sz="800" dirty="0">
                            <a:effectLst/>
                            <a:latin typeface="Calibri"/>
                            <a:ea typeface="Calibri"/>
                            <a:cs typeface="Times New Roman"/>
                          </a:endParaRPr>
                        </a:p>
                      </a:txBody>
                      <a:tcPr marL="5929" marR="5929" marT="2966" marB="2966"/>
                    </a:tc>
                    <a:tc>
                      <a:txBody>
                        <a:bodyPr/>
                        <a:lstStyle/>
                        <a:p>
                          <a:endParaRPr lang="en-US"/>
                        </a:p>
                      </a:txBody>
                      <a:tcPr marL="5929" marR="5929" marT="2966" marB="2966">
                        <a:blipFill rotWithShape="1">
                          <a:blip r:embed="rId3"/>
                          <a:stretch>
                            <a:fillRect l="-209442" t="-114706" b="-3595"/>
                          </a:stretch>
                        </a:blipFill>
                      </a:tcPr>
                    </a:tc>
                  </a:tr>
                </a:tbl>
              </a:graphicData>
            </a:graphic>
          </p:graphicFrame>
        </mc:Fallback>
      </mc:AlternateContent>
      <p:sp>
        <p:nvSpPr>
          <p:cNvPr id="5" name="Rectangle 4"/>
          <p:cNvSpPr/>
          <p:nvPr/>
        </p:nvSpPr>
        <p:spPr>
          <a:xfrm>
            <a:off x="0" y="4450277"/>
            <a:ext cx="9144000" cy="1154162"/>
          </a:xfrm>
          <a:prstGeom prst="rect">
            <a:avLst/>
          </a:prstGeom>
        </p:spPr>
        <p:txBody>
          <a:bodyPr>
            <a:spAutoFit/>
          </a:bodyPr>
          <a:lstStyle/>
          <a:p>
            <a:pPr marL="457200" lvl="0" indent="-457200">
              <a:spcAft>
                <a:spcPts val="600"/>
              </a:spcAft>
            </a:pPr>
            <a:r>
              <a:rPr lang="en-US" sz="1600" dirty="0">
                <a:solidFill>
                  <a:prstClr val="black"/>
                </a:solidFill>
                <a:latin typeface="Times New Roman"/>
                <a:ea typeface="Calibri"/>
                <a:cs typeface="Times New Roman"/>
              </a:rPr>
              <a:t>National Bureau of Economic Research. </a:t>
            </a:r>
            <a:r>
              <a:rPr lang="en-US" sz="1600" dirty="0" smtClean="0">
                <a:solidFill>
                  <a:prstClr val="black"/>
                </a:solidFill>
                <a:latin typeface="Times New Roman"/>
                <a:ea typeface="Calibri"/>
                <a:cs typeface="Times New Roman"/>
              </a:rPr>
              <a:t>(2018). </a:t>
            </a:r>
            <a:r>
              <a:rPr lang="en-US" sz="1600" dirty="0">
                <a:solidFill>
                  <a:prstClr val="black"/>
                </a:solidFill>
                <a:latin typeface="Times New Roman"/>
                <a:ea typeface="Calibri"/>
                <a:cs typeface="Times New Roman"/>
              </a:rPr>
              <a:t>Patent data, including constructed variables [data file]. Retrieved from http://www.nber.org/patents</a:t>
            </a:r>
            <a:r>
              <a:rPr lang="en-US" sz="1600" dirty="0" smtClean="0">
                <a:solidFill>
                  <a:prstClr val="black"/>
                </a:solidFill>
                <a:latin typeface="Times New Roman"/>
                <a:ea typeface="Calibri"/>
                <a:cs typeface="Times New Roman"/>
              </a:rPr>
              <a:t>/</a:t>
            </a:r>
          </a:p>
          <a:p>
            <a:pPr marL="457200" lvl="0" indent="-457200">
              <a:spcAft>
                <a:spcPts val="600"/>
              </a:spcAft>
            </a:pPr>
            <a:r>
              <a:rPr lang="en-US" sz="1600" dirty="0">
                <a:solidFill>
                  <a:prstClr val="black"/>
                </a:solidFill>
                <a:latin typeface="Times New Roman"/>
                <a:ea typeface="Calibri"/>
                <a:cs typeface="Times New Roman"/>
              </a:rPr>
              <a:t>Hall, B. H., Jaffe, A. B. and </a:t>
            </a:r>
            <a:r>
              <a:rPr lang="en-US" sz="1600" dirty="0" err="1">
                <a:solidFill>
                  <a:prstClr val="black"/>
                </a:solidFill>
                <a:latin typeface="Times New Roman"/>
                <a:ea typeface="Calibri"/>
                <a:cs typeface="Times New Roman"/>
              </a:rPr>
              <a:t>Trajtenberg</a:t>
            </a:r>
            <a:r>
              <a:rPr lang="en-US" sz="1600" dirty="0">
                <a:solidFill>
                  <a:prstClr val="black"/>
                </a:solidFill>
                <a:latin typeface="Times New Roman"/>
                <a:ea typeface="Calibri"/>
                <a:cs typeface="Times New Roman"/>
              </a:rPr>
              <a:t>, M. (2001). "The NBER Patent Citation Data File: Lessons, Insights and Methodological Tools." </a:t>
            </a:r>
            <a:r>
              <a:rPr lang="en-US" sz="1600" i="1" dirty="0">
                <a:solidFill>
                  <a:prstClr val="black"/>
                </a:solidFill>
                <a:latin typeface="Times New Roman"/>
                <a:ea typeface="Calibri"/>
                <a:cs typeface="Times New Roman"/>
              </a:rPr>
              <a:t>NBER Working Paper 8498</a:t>
            </a:r>
            <a:r>
              <a:rPr lang="en-US" sz="1600" dirty="0">
                <a:solidFill>
                  <a:prstClr val="black"/>
                </a:solidFill>
                <a:latin typeface="Times New Roman"/>
                <a:ea typeface="Calibri"/>
                <a:cs typeface="Times New Roman"/>
              </a:rPr>
              <a:t>. Retrieved from http://www.nber.org/patents</a:t>
            </a:r>
            <a:r>
              <a:rPr lang="en-US" sz="1600" dirty="0" smtClean="0">
                <a:solidFill>
                  <a:prstClr val="black"/>
                </a:solidFill>
                <a:latin typeface="Times New Roman"/>
                <a:ea typeface="Calibri"/>
                <a:cs typeface="Times New Roman"/>
              </a:rPr>
              <a:t>/</a:t>
            </a:r>
            <a:endParaRPr lang="en-US" sz="1400" dirty="0">
              <a:solidFill>
                <a:prstClr val="black"/>
              </a:solidFill>
              <a:ea typeface="Calibri"/>
              <a:cs typeface="Times New Roman"/>
            </a:endParaRPr>
          </a:p>
        </p:txBody>
      </p:sp>
      <p:grpSp>
        <p:nvGrpSpPr>
          <p:cNvPr id="8" name="Group 7"/>
          <p:cNvGrpSpPr/>
          <p:nvPr/>
        </p:nvGrpSpPr>
        <p:grpSpPr>
          <a:xfrm>
            <a:off x="111892" y="1225609"/>
            <a:ext cx="728639" cy="100494"/>
            <a:chOff x="-79180" y="1252905"/>
            <a:chExt cx="728639" cy="100494"/>
          </a:xfrm>
        </p:grpSpPr>
        <p:pic>
          <p:nvPicPr>
            <p:cNvPr id="6" name="Picture 4" descr="C:\Users\townesm\Downloads\kisspng-close-up-font-underline-5b0c091aeb9c10.6365625315275154189651.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586846">
              <a:off x="9379" y="1252905"/>
              <a:ext cx="640080" cy="9144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C:\Users\townesm\Downloads\kisspng-close-up-font-underline-5b0c091aeb9c10.6365625315275154189651.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9666543" flipH="1">
              <a:off x="-79180" y="1262818"/>
              <a:ext cx="640080" cy="905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 name="Group 8"/>
          <p:cNvGrpSpPr/>
          <p:nvPr/>
        </p:nvGrpSpPr>
        <p:grpSpPr>
          <a:xfrm>
            <a:off x="-22316" y="613721"/>
            <a:ext cx="728639" cy="100494"/>
            <a:chOff x="-79180" y="1252905"/>
            <a:chExt cx="728639" cy="100494"/>
          </a:xfrm>
        </p:grpSpPr>
        <p:pic>
          <p:nvPicPr>
            <p:cNvPr id="10" name="Picture 4" descr="C:\Users\townesm\Downloads\kisspng-close-up-font-underline-5b0c091aeb9c10.6365625315275154189651.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586846">
              <a:off x="9379" y="1252905"/>
              <a:ext cx="640080" cy="9144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descr="C:\Users\townesm\Downloads\kisspng-close-up-font-underline-5b0c091aeb9c10.6365625315275154189651.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19666543" flipH="1">
              <a:off x="-79180" y="1262818"/>
              <a:ext cx="640080" cy="9058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24601095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4118252965"/>
              </p:ext>
            </p:extLst>
          </p:nvPr>
        </p:nvGraphicFramePr>
        <p:xfrm>
          <a:off x="57150" y="457200"/>
          <a:ext cx="4389120" cy="3929940"/>
        </p:xfrm>
        <a:graphic>
          <a:graphicData uri="http://schemas.openxmlformats.org/drawingml/2006/table">
            <a:tbl>
              <a:tblPr firstRow="1" firstCol="1" bandRow="1">
                <a:tableStyleId>{5C22544A-7EE6-4342-B048-85BDC9FD1C3A}</a:tableStyleId>
              </a:tblPr>
              <a:tblGrid>
                <a:gridCol w="810299"/>
                <a:gridCol w="810299"/>
                <a:gridCol w="1350497"/>
                <a:gridCol w="1418025"/>
              </a:tblGrid>
              <a:tr h="69202">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Variable Type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700" marR="5700" marT="2850" marB="2850"/>
                </a:tc>
              </a:tr>
              <a:tr h="266095">
                <a:tc>
                  <a:txBody>
                    <a:bodyPr/>
                    <a:lstStyle/>
                    <a:p>
                      <a:pPr marL="0" marR="0">
                        <a:lnSpc>
                          <a:spcPct val="100000"/>
                        </a:lnSpc>
                        <a:spcBef>
                          <a:spcPts val="0"/>
                        </a:spcBef>
                        <a:spcAft>
                          <a:spcPts val="0"/>
                        </a:spcAft>
                      </a:pPr>
                      <a:r>
                        <a:rPr lang="en-US" sz="800" dirty="0">
                          <a:effectLst/>
                        </a:rPr>
                        <a:t>FWDAPLAG</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Mean Forward Citation Lag</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The mean time difference between the application or grant date of the patent and that of the other patents citing this patent.</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700" marR="5700" marT="2850" marB="2850"/>
                </a:tc>
              </a:tr>
              <a:tr h="233544">
                <a:tc>
                  <a:txBody>
                    <a:bodyPr/>
                    <a:lstStyle/>
                    <a:p>
                      <a:pPr marL="0" marR="0">
                        <a:lnSpc>
                          <a:spcPct val="100000"/>
                        </a:lnSpc>
                        <a:spcBef>
                          <a:spcPts val="0"/>
                        </a:spcBef>
                        <a:spcAft>
                          <a:spcPts val="0"/>
                        </a:spcAft>
                      </a:pPr>
                      <a:r>
                        <a:rPr lang="en-US" sz="800" dirty="0">
                          <a:effectLst/>
                        </a:rPr>
                        <a:t>BCKGTLAG</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Mean Backward Citation Lag</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The mean time difference between the application or grant date of the patent and that of the patents it cites.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700" marR="5700" marT="2850" marB="2850"/>
                </a:tc>
              </a:tr>
              <a:tr h="298644">
                <a:tc>
                  <a:txBody>
                    <a:bodyPr/>
                    <a:lstStyle/>
                    <a:p>
                      <a:pPr marL="0" marR="0">
                        <a:lnSpc>
                          <a:spcPct val="100000"/>
                        </a:lnSpc>
                        <a:spcBef>
                          <a:spcPts val="0"/>
                        </a:spcBef>
                        <a:spcAft>
                          <a:spcPts val="0"/>
                        </a:spcAft>
                      </a:pPr>
                      <a:r>
                        <a:rPr lang="en-US" sz="800">
                          <a:effectLst/>
                        </a:rPr>
                        <a:t>SELFCTUB</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Numeric</a:t>
                      </a:r>
                    </a:p>
                    <a:p>
                      <a:pPr marL="0" marR="0">
                        <a:lnSpc>
                          <a:spcPct val="100000"/>
                        </a:lnSpc>
                        <a:spcBef>
                          <a:spcPts val="0"/>
                        </a:spcBef>
                        <a:spcAft>
                          <a:spcPts val="0"/>
                        </a:spcAft>
                      </a:pPr>
                      <a:r>
                        <a:rPr lang="en-US" sz="800" dirty="0">
                          <a:effectLst/>
                        </a:rPr>
                        <a:t>Ratio</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Share of Self-Citations Made – Upper Bound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The number of citations made by the patent to other patents with the same assignee divided by the total number of citations made by all patents with assignee codes.</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continuous values between 0 and 1.</a:t>
                      </a:r>
                      <a:endParaRPr lang="en-US" sz="800">
                        <a:effectLst/>
                        <a:latin typeface="Calibri"/>
                        <a:ea typeface="Calibri"/>
                        <a:cs typeface="Times New Roman"/>
                      </a:endParaRPr>
                    </a:p>
                  </a:txBody>
                  <a:tcPr marL="5700" marR="5700" marT="2850" marB="2850"/>
                </a:tc>
              </a:tr>
              <a:tr h="298644">
                <a:tc>
                  <a:txBody>
                    <a:bodyPr/>
                    <a:lstStyle/>
                    <a:p>
                      <a:pPr marL="0" marR="0">
                        <a:lnSpc>
                          <a:spcPct val="100000"/>
                        </a:lnSpc>
                        <a:spcBef>
                          <a:spcPts val="0"/>
                        </a:spcBef>
                        <a:spcAft>
                          <a:spcPts val="0"/>
                        </a:spcAft>
                      </a:pPr>
                      <a:r>
                        <a:rPr lang="en-US" sz="800">
                          <a:effectLst/>
                        </a:rPr>
                        <a:t>SELFCTLB</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Share of Self-Citations Made – Lower Bound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The number of citations made by the patent to other patents with the same assignee divided by the total number of citations made by all patents.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700" marR="5700" marT="2850" marB="2850"/>
                </a:tc>
              </a:tr>
            </a:tbl>
          </a:graphicData>
        </a:graphic>
      </p:graphicFrame>
      <p:sp>
        <p:nvSpPr>
          <p:cNvPr id="3" name="TextBox 2"/>
          <p:cNvSpPr txBox="1"/>
          <p:nvPr/>
        </p:nvSpPr>
        <p:spPr>
          <a:xfrm>
            <a:off x="0" y="7136"/>
            <a:ext cx="9144000" cy="369332"/>
          </a:xfrm>
          <a:prstGeom prst="rect">
            <a:avLst/>
          </a:prstGeom>
          <a:noFill/>
        </p:spPr>
        <p:txBody>
          <a:bodyPr wrap="square" rtlCol="0">
            <a:spAutoFit/>
          </a:bodyPr>
          <a:lstStyle/>
          <a:p>
            <a:r>
              <a:rPr lang="en-US" dirty="0" smtClean="0"/>
              <a:t>Original Constructed Variables from Source Data (cont’d)</a:t>
            </a: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708239078"/>
              </p:ext>
            </p:extLst>
          </p:nvPr>
        </p:nvGraphicFramePr>
        <p:xfrm>
          <a:off x="4702969" y="457200"/>
          <a:ext cx="4389120" cy="2211660"/>
        </p:xfrm>
        <a:graphic>
          <a:graphicData uri="http://schemas.openxmlformats.org/drawingml/2006/table">
            <a:tbl>
              <a:tblPr firstRow="1" firstCol="1" bandRow="1">
                <a:tableStyleId>{5C22544A-7EE6-4342-B048-85BDC9FD1C3A}</a:tableStyleId>
              </a:tblPr>
              <a:tblGrid>
                <a:gridCol w="810299"/>
                <a:gridCol w="810299"/>
                <a:gridCol w="1350497"/>
                <a:gridCol w="1418025"/>
              </a:tblGrid>
              <a:tr h="69202">
                <a:tc>
                  <a:txBody>
                    <a:bodyPr/>
                    <a:lstStyle/>
                    <a:p>
                      <a:pPr marL="0" marR="0">
                        <a:lnSpc>
                          <a:spcPct val="100000"/>
                        </a:lnSpc>
                        <a:spcBef>
                          <a:spcPts val="0"/>
                        </a:spcBef>
                        <a:spcAft>
                          <a:spcPts val="0"/>
                        </a:spcAft>
                      </a:pPr>
                      <a:r>
                        <a:rPr lang="en-US" sz="800" dirty="0">
                          <a:effectLst/>
                        </a:rPr>
                        <a:t>Variable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Variable Type</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Extended Name</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Description</a:t>
                      </a:r>
                      <a:endParaRPr lang="en-US" sz="800">
                        <a:effectLst/>
                        <a:latin typeface="Calibri"/>
                        <a:ea typeface="Calibri"/>
                        <a:cs typeface="Times New Roman"/>
                      </a:endParaRPr>
                    </a:p>
                  </a:txBody>
                  <a:tcPr marL="5700" marR="5700" marT="2850" marB="2850"/>
                </a:tc>
              </a:tr>
              <a:tr h="331193">
                <a:tc>
                  <a:txBody>
                    <a:bodyPr/>
                    <a:lstStyle/>
                    <a:p>
                      <a:pPr marL="0" marR="0">
                        <a:lnSpc>
                          <a:spcPct val="100000"/>
                        </a:lnSpc>
                        <a:spcBef>
                          <a:spcPts val="0"/>
                        </a:spcBef>
                        <a:spcAft>
                          <a:spcPts val="0"/>
                        </a:spcAft>
                      </a:pPr>
                      <a:r>
                        <a:rPr lang="en-US" sz="800" dirty="0">
                          <a:effectLst/>
                        </a:rPr>
                        <a:t>SECUPBD</a:t>
                      </a:r>
                      <a:endParaRPr lang="en-US" sz="800" dirty="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Share of Self-Citations Received – Upper Bound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The number of citations received by the patent from other patents with the same assignee divided by the total number of citations received by all patents with assignee codes.</a:t>
                      </a:r>
                    </a:p>
                    <a:p>
                      <a:pPr marL="0" marR="0">
                        <a:lnSpc>
                          <a:spcPct val="100000"/>
                        </a:lnSpc>
                        <a:spcBef>
                          <a:spcPts val="0"/>
                        </a:spcBef>
                        <a:spcAft>
                          <a:spcPts val="0"/>
                        </a:spcAft>
                      </a:pPr>
                      <a:r>
                        <a:rPr lang="en-US" sz="800">
                          <a:effectLst/>
                        </a:rPr>
                        <a:t> </a:t>
                      </a:r>
                    </a:p>
                    <a:p>
                      <a:pPr marL="0" marR="0">
                        <a:lnSpc>
                          <a:spcPct val="100000"/>
                        </a:lnSpc>
                        <a:spcBef>
                          <a:spcPts val="0"/>
                        </a:spcBef>
                        <a:spcAft>
                          <a:spcPts val="0"/>
                        </a:spcAft>
                      </a:pPr>
                      <a:r>
                        <a:rPr lang="en-US" sz="800">
                          <a:effectLst/>
                        </a:rPr>
                        <a:t>Takes on continuous values between 0 and 1.</a:t>
                      </a:r>
                      <a:endParaRPr lang="en-US" sz="800">
                        <a:effectLst/>
                        <a:latin typeface="Calibri"/>
                        <a:ea typeface="Calibri"/>
                        <a:cs typeface="Times New Roman"/>
                      </a:endParaRPr>
                    </a:p>
                  </a:txBody>
                  <a:tcPr marL="5700" marR="5700" marT="2850" marB="2850"/>
                </a:tc>
              </a:tr>
              <a:tr h="298644">
                <a:tc>
                  <a:txBody>
                    <a:bodyPr/>
                    <a:lstStyle/>
                    <a:p>
                      <a:pPr marL="0" marR="0">
                        <a:lnSpc>
                          <a:spcPct val="100000"/>
                        </a:lnSpc>
                        <a:spcBef>
                          <a:spcPts val="0"/>
                        </a:spcBef>
                        <a:spcAft>
                          <a:spcPts val="0"/>
                        </a:spcAft>
                      </a:pPr>
                      <a:r>
                        <a:rPr lang="en-US" sz="800">
                          <a:effectLst/>
                        </a:rPr>
                        <a:t>SECDLWBD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Numeric</a:t>
                      </a:r>
                    </a:p>
                    <a:p>
                      <a:pPr marL="0" marR="0">
                        <a:lnSpc>
                          <a:spcPct val="100000"/>
                        </a:lnSpc>
                        <a:spcBef>
                          <a:spcPts val="0"/>
                        </a:spcBef>
                        <a:spcAft>
                          <a:spcPts val="0"/>
                        </a:spcAft>
                      </a:pPr>
                      <a:r>
                        <a:rPr lang="en-US" sz="800">
                          <a:effectLst/>
                        </a:rPr>
                        <a:t>Ratio</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a:effectLst/>
                        </a:rPr>
                        <a:t>Share of Self-Citations Received – Lower Bound</a:t>
                      </a:r>
                      <a:endParaRPr lang="en-US" sz="800">
                        <a:effectLst/>
                        <a:latin typeface="Calibri"/>
                        <a:ea typeface="Calibri"/>
                        <a:cs typeface="Times New Roman"/>
                      </a:endParaRPr>
                    </a:p>
                  </a:txBody>
                  <a:tcPr marL="5700" marR="5700" marT="2850" marB="2850"/>
                </a:tc>
                <a:tc>
                  <a:txBody>
                    <a:bodyPr/>
                    <a:lstStyle/>
                    <a:p>
                      <a:pPr marL="0" marR="0">
                        <a:lnSpc>
                          <a:spcPct val="100000"/>
                        </a:lnSpc>
                        <a:spcBef>
                          <a:spcPts val="0"/>
                        </a:spcBef>
                        <a:spcAft>
                          <a:spcPts val="0"/>
                        </a:spcAft>
                      </a:pPr>
                      <a:r>
                        <a:rPr lang="en-US" sz="800" dirty="0">
                          <a:effectLst/>
                        </a:rPr>
                        <a:t>The number of citations received by the patent from other patents with the same assignee divided by the total number of citations received by all patents.</a:t>
                      </a:r>
                    </a:p>
                    <a:p>
                      <a:pPr marL="0" marR="0">
                        <a:lnSpc>
                          <a:spcPct val="100000"/>
                        </a:lnSpc>
                        <a:spcBef>
                          <a:spcPts val="0"/>
                        </a:spcBef>
                        <a:spcAft>
                          <a:spcPts val="0"/>
                        </a:spcAft>
                      </a:pPr>
                      <a:r>
                        <a:rPr lang="en-US" sz="800" dirty="0">
                          <a:effectLst/>
                        </a:rPr>
                        <a:t> </a:t>
                      </a:r>
                    </a:p>
                    <a:p>
                      <a:pPr marL="0" marR="0">
                        <a:lnSpc>
                          <a:spcPct val="100000"/>
                        </a:lnSpc>
                        <a:spcBef>
                          <a:spcPts val="0"/>
                        </a:spcBef>
                        <a:spcAft>
                          <a:spcPts val="0"/>
                        </a:spcAft>
                      </a:pPr>
                      <a:r>
                        <a:rPr lang="en-US" sz="800" dirty="0">
                          <a:effectLst/>
                        </a:rPr>
                        <a:t>Takes on continuous values between 0 and 1.</a:t>
                      </a:r>
                      <a:endParaRPr lang="en-US" sz="800" dirty="0">
                        <a:effectLst/>
                        <a:latin typeface="Calibri"/>
                        <a:ea typeface="Calibri"/>
                        <a:cs typeface="Times New Roman"/>
                      </a:endParaRPr>
                    </a:p>
                  </a:txBody>
                  <a:tcPr marL="5700" marR="5700" marT="2850" marB="2850"/>
                </a:tc>
              </a:tr>
            </a:tbl>
          </a:graphicData>
        </a:graphic>
      </p:graphicFrame>
      <p:sp>
        <p:nvSpPr>
          <p:cNvPr id="5" name="Rectangle 4"/>
          <p:cNvSpPr/>
          <p:nvPr/>
        </p:nvSpPr>
        <p:spPr>
          <a:xfrm>
            <a:off x="0" y="4450277"/>
            <a:ext cx="9144000" cy="1154162"/>
          </a:xfrm>
          <a:prstGeom prst="rect">
            <a:avLst/>
          </a:prstGeom>
        </p:spPr>
        <p:txBody>
          <a:bodyPr>
            <a:spAutoFit/>
          </a:bodyPr>
          <a:lstStyle/>
          <a:p>
            <a:pPr marL="457200" lvl="0" indent="-457200">
              <a:spcAft>
                <a:spcPts val="600"/>
              </a:spcAft>
            </a:pPr>
            <a:r>
              <a:rPr lang="en-US" sz="1600" dirty="0">
                <a:solidFill>
                  <a:prstClr val="black"/>
                </a:solidFill>
                <a:latin typeface="Times New Roman"/>
                <a:ea typeface="Calibri"/>
                <a:cs typeface="Times New Roman"/>
              </a:rPr>
              <a:t>National Bureau of Economic Research. </a:t>
            </a:r>
            <a:r>
              <a:rPr lang="en-US" sz="1600" dirty="0" smtClean="0">
                <a:solidFill>
                  <a:prstClr val="black"/>
                </a:solidFill>
                <a:latin typeface="Times New Roman"/>
                <a:ea typeface="Calibri"/>
                <a:cs typeface="Times New Roman"/>
              </a:rPr>
              <a:t>(2018). </a:t>
            </a:r>
            <a:r>
              <a:rPr lang="en-US" sz="1600" dirty="0">
                <a:solidFill>
                  <a:prstClr val="black"/>
                </a:solidFill>
                <a:latin typeface="Times New Roman"/>
                <a:ea typeface="Calibri"/>
                <a:cs typeface="Times New Roman"/>
              </a:rPr>
              <a:t>Patent data, including constructed variables [data file]. Retrieved from http://www.nber.org/patents</a:t>
            </a:r>
            <a:r>
              <a:rPr lang="en-US" sz="1600" dirty="0" smtClean="0">
                <a:solidFill>
                  <a:prstClr val="black"/>
                </a:solidFill>
                <a:latin typeface="Times New Roman"/>
                <a:ea typeface="Calibri"/>
                <a:cs typeface="Times New Roman"/>
              </a:rPr>
              <a:t>/</a:t>
            </a:r>
          </a:p>
          <a:p>
            <a:pPr marL="457200" lvl="0" indent="-457200">
              <a:spcAft>
                <a:spcPts val="600"/>
              </a:spcAft>
            </a:pPr>
            <a:r>
              <a:rPr lang="en-US" sz="1600" dirty="0">
                <a:solidFill>
                  <a:prstClr val="black"/>
                </a:solidFill>
                <a:latin typeface="Times New Roman"/>
                <a:ea typeface="Calibri"/>
                <a:cs typeface="Times New Roman"/>
              </a:rPr>
              <a:t>Hall, B. H., Jaffe, A. B. and </a:t>
            </a:r>
            <a:r>
              <a:rPr lang="en-US" sz="1600" dirty="0" err="1">
                <a:solidFill>
                  <a:prstClr val="black"/>
                </a:solidFill>
                <a:latin typeface="Times New Roman"/>
                <a:ea typeface="Calibri"/>
                <a:cs typeface="Times New Roman"/>
              </a:rPr>
              <a:t>Trajtenberg</a:t>
            </a:r>
            <a:r>
              <a:rPr lang="en-US" sz="1600" dirty="0">
                <a:solidFill>
                  <a:prstClr val="black"/>
                </a:solidFill>
                <a:latin typeface="Times New Roman"/>
                <a:ea typeface="Calibri"/>
                <a:cs typeface="Times New Roman"/>
              </a:rPr>
              <a:t>, M. (2001). "The NBER Patent Citation Data File: Lessons, Insights and Methodological Tools." </a:t>
            </a:r>
            <a:r>
              <a:rPr lang="en-US" sz="1600" i="1" dirty="0">
                <a:solidFill>
                  <a:prstClr val="black"/>
                </a:solidFill>
                <a:latin typeface="Times New Roman"/>
                <a:ea typeface="Calibri"/>
                <a:cs typeface="Times New Roman"/>
              </a:rPr>
              <a:t>NBER Working Paper 8498</a:t>
            </a:r>
            <a:r>
              <a:rPr lang="en-US" sz="1600" dirty="0">
                <a:solidFill>
                  <a:prstClr val="black"/>
                </a:solidFill>
                <a:latin typeface="Times New Roman"/>
                <a:ea typeface="Calibri"/>
                <a:cs typeface="Times New Roman"/>
              </a:rPr>
              <a:t>. Retrieved from http://www.nber.org/patents</a:t>
            </a:r>
            <a:r>
              <a:rPr lang="en-US" sz="1600" dirty="0" smtClean="0">
                <a:solidFill>
                  <a:prstClr val="black"/>
                </a:solidFill>
                <a:latin typeface="Times New Roman"/>
                <a:ea typeface="Calibri"/>
                <a:cs typeface="Times New Roman"/>
              </a:rPr>
              <a:t>/</a:t>
            </a:r>
            <a:endParaRPr lang="en-US" sz="1400" dirty="0">
              <a:solidFill>
                <a:prstClr val="black"/>
              </a:solidFill>
              <a:ea typeface="Calibri"/>
              <a:cs typeface="Times New Roman"/>
            </a:endParaRPr>
          </a:p>
        </p:txBody>
      </p:sp>
    </p:spTree>
    <p:extLst>
      <p:ext uri="{BB962C8B-B14F-4D97-AF65-F5344CB8AC3E}">
        <p14:creationId xmlns:p14="http://schemas.microsoft.com/office/powerpoint/2010/main" val="34111901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Binary Logistic Regression</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134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latin typeface="Courier New"/>
                <a:ea typeface="Calibri"/>
                <a:cs typeface="Times New Roman"/>
              </a:rPr>
              <a:t>CRECEIVE</a:t>
            </a:r>
            <a:r>
              <a:rPr lang="en-US" dirty="0">
                <a:latin typeface="Times New Roman"/>
                <a:ea typeface="Calibri"/>
                <a:cs typeface="Times New Roman"/>
              </a:rPr>
              <a:t>  </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a:t>
            </a:r>
            <a:r>
              <a:rPr lang="en-US" dirty="0" smtClean="0">
                <a:latin typeface="Courier New"/>
                <a:ea typeface="Calibri"/>
                <a:cs typeface="Times New Roman"/>
              </a:rPr>
              <a:t>GYEAR</a:t>
            </a:r>
            <a:r>
              <a:rPr lang="en-US" dirty="0">
                <a:latin typeface="Courier New"/>
                <a:ea typeface="Calibri"/>
                <a:cs typeface="Times New Roman"/>
              </a:rPr>
              <a:t>)</a:t>
            </a:r>
            <a:r>
              <a:rPr lang="en-US" dirty="0">
                <a:latin typeface="Times New Roman"/>
                <a:ea typeface="Calibri"/>
                <a:cs typeface="Times New Roman"/>
              </a:rPr>
              <a:t> + β</a:t>
            </a:r>
            <a:r>
              <a:rPr lang="en-US" baseline="-25000" dirty="0">
                <a:latin typeface="Times New Roman"/>
                <a:ea typeface="Calibri"/>
                <a:cs typeface="Times New Roman"/>
              </a:rPr>
              <a:t>2</a:t>
            </a:r>
            <a:r>
              <a:rPr lang="en-US" dirty="0">
                <a:latin typeface="Courier New"/>
                <a:ea typeface="Calibri"/>
                <a:cs typeface="Times New Roman"/>
              </a:rPr>
              <a:t>(APPYEAR)</a:t>
            </a:r>
            <a:r>
              <a:rPr lang="en-US" dirty="0">
                <a:latin typeface="Times New Roman"/>
                <a:ea typeface="Calibri"/>
                <a:cs typeface="Times New Roman"/>
              </a:rPr>
              <a:t> + β</a:t>
            </a:r>
            <a:r>
              <a:rPr lang="en-US" baseline="-25000" dirty="0">
                <a:latin typeface="Times New Roman"/>
                <a:ea typeface="Calibri"/>
                <a:cs typeface="Times New Roman"/>
              </a:rPr>
              <a:t>3</a:t>
            </a:r>
            <a:r>
              <a:rPr lang="en-US" dirty="0">
                <a:latin typeface="Times New Roman"/>
                <a:ea typeface="Calibri"/>
                <a:cs typeface="Times New Roman"/>
              </a:rPr>
              <a:t>(</a:t>
            </a:r>
            <a:r>
              <a:rPr lang="en-US" dirty="0">
                <a:latin typeface="Courier New"/>
                <a:ea typeface="Calibri"/>
                <a:cs typeface="Times New Roman"/>
              </a:rPr>
              <a:t>CLAIMS)</a:t>
            </a:r>
            <a:r>
              <a:rPr lang="en-US" dirty="0">
                <a:latin typeface="Times New Roman"/>
                <a:ea typeface="Calibri"/>
                <a:cs typeface="Times New Roman"/>
              </a:rPr>
              <a:t> + β</a:t>
            </a:r>
            <a:r>
              <a:rPr lang="en-US" baseline="-25000" dirty="0">
                <a:latin typeface="Times New Roman"/>
                <a:ea typeface="Calibri"/>
                <a:cs typeface="Times New Roman"/>
              </a:rPr>
              <a:t>4</a:t>
            </a:r>
            <a:r>
              <a:rPr lang="en-US" dirty="0">
                <a:latin typeface="Times New Roman"/>
                <a:ea typeface="Calibri"/>
                <a:cs typeface="Times New Roman"/>
              </a:rPr>
              <a:t>(</a:t>
            </a:r>
            <a:r>
              <a:rPr lang="en-US" dirty="0">
                <a:latin typeface="Courier New"/>
                <a:ea typeface="Calibri"/>
                <a:cs typeface="Times New Roman"/>
              </a:rPr>
              <a:t>GENERAL)</a:t>
            </a:r>
            <a:r>
              <a:rPr lang="en-US" dirty="0">
                <a:latin typeface="Times New Roman"/>
                <a:ea typeface="Calibri"/>
                <a:cs typeface="Times New Roman"/>
              </a:rPr>
              <a:t> + </a:t>
            </a:r>
            <a:r>
              <a:rPr lang="en-US" dirty="0" smtClean="0">
                <a:latin typeface="Times New Roman"/>
                <a:ea typeface="Calibri"/>
                <a:cs typeface="Times New Roman"/>
              </a:rPr>
              <a:t>		β</a:t>
            </a:r>
            <a:r>
              <a:rPr lang="en-US" baseline="-25000" dirty="0" smtClean="0">
                <a:latin typeface="Times New Roman"/>
                <a:ea typeface="Calibri"/>
                <a:cs typeface="Times New Roman"/>
              </a:rPr>
              <a:t>5</a:t>
            </a:r>
            <a:r>
              <a:rPr lang="en-US" dirty="0" smtClean="0">
                <a:latin typeface="Times New Roman"/>
                <a:ea typeface="Calibri"/>
                <a:cs typeface="Times New Roman"/>
              </a:rPr>
              <a:t>(</a:t>
            </a:r>
            <a:r>
              <a:rPr lang="en-US" dirty="0" smtClean="0">
                <a:latin typeface="Courier New"/>
                <a:ea typeface="Calibri"/>
                <a:cs typeface="Times New Roman"/>
              </a:rPr>
              <a:t>ORIGINAL</a:t>
            </a:r>
            <a:r>
              <a:rPr lang="en-US" dirty="0">
                <a:latin typeface="Courier New"/>
                <a:ea typeface="Calibri"/>
                <a:cs typeface="Times New Roman"/>
              </a:rPr>
              <a:t>)</a:t>
            </a:r>
            <a:r>
              <a:rPr lang="en-US" dirty="0">
                <a:latin typeface="Times New Roman"/>
                <a:ea typeface="Calibri"/>
                <a:cs typeface="Times New Roman"/>
              </a:rPr>
              <a:t> + </a:t>
            </a:r>
            <a:r>
              <a:rPr lang="en-US" dirty="0" smtClean="0">
                <a:latin typeface="Times New Roman"/>
                <a:ea typeface="Calibri"/>
                <a:cs typeface="Times New Roman"/>
              </a:rPr>
              <a:t> β</a:t>
            </a:r>
            <a:r>
              <a:rPr lang="en-US" baseline="-25000" dirty="0">
                <a:latin typeface="Times New Roman"/>
                <a:ea typeface="Calibri"/>
                <a:cs typeface="Times New Roman"/>
              </a:rPr>
              <a:t>6</a:t>
            </a:r>
            <a:r>
              <a:rPr lang="en-US" dirty="0" smtClean="0">
                <a:latin typeface="Times New Roman"/>
                <a:ea typeface="Calibri"/>
                <a:cs typeface="Times New Roman"/>
              </a:rPr>
              <a:t>(</a:t>
            </a:r>
            <a:r>
              <a:rPr lang="en-US" dirty="0" smtClean="0">
                <a:latin typeface="Courier New"/>
                <a:ea typeface="Calibri"/>
                <a:cs typeface="Times New Roman"/>
              </a:rPr>
              <a:t>BCKGTLAG</a:t>
            </a:r>
            <a:r>
              <a:rPr lang="en-US" dirty="0">
                <a:latin typeface="Courier New"/>
                <a:ea typeface="Calibri"/>
                <a:cs typeface="Times New Roman"/>
              </a:rPr>
              <a:t>)</a:t>
            </a:r>
            <a:r>
              <a:rPr lang="en-US" dirty="0">
                <a:latin typeface="Times New Roman"/>
                <a:ea typeface="Calibri"/>
                <a:cs typeface="Times New Roman"/>
              </a:rPr>
              <a:t> + </a:t>
            </a:r>
            <a:r>
              <a:rPr lang="en-US" dirty="0" smtClean="0">
                <a:latin typeface="Times New Roman"/>
                <a:ea typeface="Calibri"/>
                <a:cs typeface="Times New Roman"/>
              </a:rPr>
              <a:t>	β</a:t>
            </a:r>
            <a:r>
              <a:rPr lang="en-US" baseline="-25000" dirty="0">
                <a:latin typeface="Times New Roman"/>
                <a:ea typeface="Calibri"/>
                <a:cs typeface="Times New Roman"/>
              </a:rPr>
              <a:t>7</a:t>
            </a:r>
            <a:r>
              <a:rPr lang="en-US" dirty="0" smtClean="0">
                <a:latin typeface="Times New Roman"/>
                <a:ea typeface="Calibri"/>
                <a:cs typeface="Times New Roman"/>
              </a:rPr>
              <a:t>(</a:t>
            </a:r>
            <a:r>
              <a:rPr lang="en-US" dirty="0" smtClean="0">
                <a:latin typeface="Courier New"/>
                <a:ea typeface="Calibri"/>
                <a:cs typeface="Times New Roman"/>
              </a:rPr>
              <a:t>FWDAPLAG</a:t>
            </a:r>
            <a:r>
              <a:rPr lang="en-US" dirty="0">
                <a:latin typeface="Courier New"/>
                <a:ea typeface="Calibri"/>
                <a:cs typeface="Times New Roman"/>
              </a:rPr>
              <a:t>)</a:t>
            </a:r>
            <a:r>
              <a:rPr lang="en-US" dirty="0">
                <a:latin typeface="Times New Roman"/>
                <a:ea typeface="Calibri"/>
                <a:cs typeface="Times New Roman"/>
              </a:rPr>
              <a:t> + </a:t>
            </a:r>
            <a:r>
              <a:rPr lang="en-US" dirty="0" smtClean="0">
                <a:latin typeface="Times New Roman"/>
                <a:ea typeface="Calibri"/>
                <a:cs typeface="Times New Roman"/>
              </a:rPr>
              <a:t>β</a:t>
            </a:r>
            <a:r>
              <a:rPr lang="en-US" baseline="-25000" dirty="0">
                <a:latin typeface="Times New Roman"/>
                <a:ea typeface="Calibri"/>
                <a:cs typeface="Times New Roman"/>
              </a:rPr>
              <a:t>8</a:t>
            </a:r>
            <a:r>
              <a:rPr lang="en-US" dirty="0" smtClean="0">
                <a:latin typeface="Times New Roman"/>
                <a:ea typeface="Calibri"/>
                <a:cs typeface="Times New Roman"/>
              </a:rPr>
              <a:t>(</a:t>
            </a:r>
            <a:r>
              <a:rPr lang="en-US" dirty="0" smtClean="0">
                <a:latin typeface="Courier New"/>
                <a:ea typeface="Calibri"/>
                <a:cs typeface="Times New Roman"/>
              </a:rPr>
              <a:t>SELFCTUB</a:t>
            </a:r>
            <a:r>
              <a:rPr lang="en-US" dirty="0">
                <a:latin typeface="Courier New"/>
                <a:ea typeface="Calibri"/>
                <a:cs typeface="Times New Roman"/>
              </a:rPr>
              <a:t>)</a:t>
            </a:r>
            <a:r>
              <a:rPr lang="en-US" dirty="0">
                <a:latin typeface="Times New Roman"/>
                <a:ea typeface="Calibri"/>
                <a:cs typeface="Times New Roman"/>
              </a:rPr>
              <a:t> + </a:t>
            </a:r>
            <a:r>
              <a:rPr lang="en-US" dirty="0" smtClean="0">
                <a:latin typeface="Times New Roman"/>
                <a:ea typeface="Calibri"/>
                <a:cs typeface="Times New Roman"/>
              </a:rPr>
              <a:t>		β</a:t>
            </a:r>
            <a:r>
              <a:rPr lang="en-US" baseline="-25000" dirty="0">
                <a:latin typeface="Times New Roman"/>
                <a:ea typeface="Calibri"/>
                <a:cs typeface="Times New Roman"/>
              </a:rPr>
              <a:t>9</a:t>
            </a:r>
            <a:r>
              <a:rPr lang="en-US" dirty="0" smtClean="0">
                <a:latin typeface="Times New Roman"/>
                <a:ea typeface="Calibri"/>
                <a:cs typeface="Times New Roman"/>
              </a:rPr>
              <a:t>(</a:t>
            </a:r>
            <a:r>
              <a:rPr lang="en-US" dirty="0" smtClean="0">
                <a:latin typeface="Courier New"/>
                <a:ea typeface="Calibri"/>
                <a:cs typeface="Times New Roman"/>
              </a:rPr>
              <a:t>SELFCTLB</a:t>
            </a:r>
            <a:r>
              <a:rPr lang="en-US" dirty="0">
                <a:latin typeface="Times New Roman"/>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10 </a:t>
            </a:r>
            <a:r>
              <a:rPr lang="en-US" dirty="0">
                <a:latin typeface="Times New Roman"/>
                <a:ea typeface="Calibri"/>
                <a:cs typeface="Times New Roman"/>
              </a:rPr>
              <a:t>(</a:t>
            </a:r>
            <a:r>
              <a:rPr lang="en-US" dirty="0">
                <a:latin typeface="Courier New"/>
                <a:ea typeface="Calibri"/>
                <a:cs typeface="Times New Roman"/>
              </a:rPr>
              <a:t>SECDLWBD)</a:t>
            </a:r>
            <a:r>
              <a:rPr lang="en-US" dirty="0">
                <a:latin typeface="Times New Roman"/>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11</a:t>
            </a:r>
            <a:r>
              <a:rPr lang="en-US" dirty="0" smtClean="0">
                <a:latin typeface="Courier New"/>
                <a:ea typeface="Calibri"/>
                <a:cs typeface="Times New Roman"/>
              </a:rPr>
              <a:t>(SECDUPBD</a:t>
            </a:r>
            <a:r>
              <a:rPr lang="en-US" dirty="0">
                <a:latin typeface="Courier New"/>
                <a:ea typeface="Calibri"/>
                <a:cs typeface="Times New Roman"/>
              </a:rPr>
              <a:t>)+ 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3" name="Rectangle 2"/>
          <p:cNvSpPr/>
          <p:nvPr/>
        </p:nvSpPr>
        <p:spPr>
          <a:xfrm>
            <a:off x="226286" y="1446947"/>
            <a:ext cx="2343014" cy="408125"/>
          </a:xfrm>
          <a:prstGeom prst="rect">
            <a:avLst/>
          </a:prstGeom>
        </p:spPr>
        <p:txBody>
          <a:bodyPr wrap="none">
            <a:spAutoFit/>
          </a:bodyPr>
          <a:lstStyle/>
          <a:p>
            <a:pPr>
              <a:lnSpc>
                <a:spcPct val="114000"/>
              </a:lnSpc>
            </a:pPr>
            <a:r>
              <a:rPr lang="en-US" dirty="0">
                <a:latin typeface="Times New Roman"/>
                <a:ea typeface="Calibri"/>
                <a:cs typeface="Times New Roman"/>
              </a:rPr>
              <a:t>H</a:t>
            </a:r>
            <a:r>
              <a:rPr lang="en-US" baseline="-25000" dirty="0">
                <a:latin typeface="Times New Roman"/>
                <a:ea typeface="Calibri"/>
                <a:cs typeface="Times New Roman"/>
              </a:rPr>
              <a:t>0</a:t>
            </a:r>
            <a:r>
              <a:rPr lang="en-US" dirty="0">
                <a:latin typeface="Times New Roman"/>
                <a:ea typeface="Calibri"/>
                <a:cs typeface="Times New Roman"/>
              </a:rPr>
              <a:t>: β</a:t>
            </a:r>
            <a:r>
              <a:rPr lang="en-US" baseline="-25000" dirty="0">
                <a:latin typeface="Times New Roman"/>
                <a:ea typeface="Calibri"/>
                <a:cs typeface="Times New Roman"/>
              </a:rPr>
              <a:t>1</a:t>
            </a:r>
            <a:r>
              <a:rPr lang="en-US" dirty="0">
                <a:latin typeface="Times New Roman"/>
                <a:ea typeface="Calibri"/>
                <a:cs typeface="Times New Roman"/>
              </a:rPr>
              <a:t> = β</a:t>
            </a:r>
            <a:r>
              <a:rPr lang="en-US" baseline="-25000" dirty="0">
                <a:latin typeface="Times New Roman"/>
                <a:ea typeface="Calibri"/>
                <a:cs typeface="Times New Roman"/>
              </a:rPr>
              <a:t>2</a:t>
            </a:r>
            <a:r>
              <a:rPr lang="en-US" dirty="0">
                <a:latin typeface="Times New Roman"/>
                <a:ea typeface="Calibri"/>
                <a:cs typeface="Times New Roman"/>
              </a:rPr>
              <a:t> … = </a:t>
            </a:r>
            <a:r>
              <a:rPr lang="en-US" dirty="0" smtClean="0">
                <a:latin typeface="Times New Roman"/>
                <a:ea typeface="Calibri"/>
                <a:cs typeface="Times New Roman"/>
              </a:rPr>
              <a:t>β</a:t>
            </a:r>
            <a:r>
              <a:rPr lang="en-US" baseline="-25000" dirty="0" smtClean="0">
                <a:latin typeface="Times New Roman"/>
                <a:ea typeface="Calibri"/>
                <a:cs typeface="Times New Roman"/>
              </a:rPr>
              <a:t>11</a:t>
            </a:r>
            <a:r>
              <a:rPr lang="en-US" dirty="0" smtClean="0">
                <a:latin typeface="Times New Roman"/>
                <a:ea typeface="Calibri"/>
                <a:cs typeface="Times New Roman"/>
              </a:rPr>
              <a:t> </a:t>
            </a:r>
            <a:r>
              <a:rPr lang="en-US" dirty="0">
                <a:latin typeface="Times New Roman"/>
                <a:ea typeface="Calibri"/>
                <a:cs typeface="Times New Roman"/>
              </a:rPr>
              <a:t>= 0</a:t>
            </a:r>
            <a:endParaRPr lang="en-US" sz="1600" dirty="0">
              <a:ea typeface="Calibri"/>
              <a:cs typeface="Times New Roman"/>
            </a:endParaRPr>
          </a:p>
        </p:txBody>
      </p:sp>
      <p:sp>
        <p:nvSpPr>
          <p:cNvPr id="4" name="Rectangle 3"/>
          <p:cNvSpPr/>
          <p:nvPr/>
        </p:nvSpPr>
        <p:spPr>
          <a:xfrm>
            <a:off x="3152040" y="1446946"/>
            <a:ext cx="4469493" cy="388633"/>
          </a:xfrm>
          <a:prstGeom prst="rect">
            <a:avLst/>
          </a:prstGeom>
        </p:spPr>
        <p:txBody>
          <a:bodyPr wrap="none">
            <a:spAutoFit/>
          </a:bodyPr>
          <a:lstStyle/>
          <a:p>
            <a:pPr>
              <a:lnSpc>
                <a:spcPct val="114000"/>
              </a:lnSpc>
            </a:pPr>
            <a:r>
              <a:rPr lang="en-US" dirty="0">
                <a:latin typeface="Times New Roman"/>
                <a:ea typeface="Calibri"/>
                <a:cs typeface="Times New Roman"/>
              </a:rPr>
              <a:t>H</a:t>
            </a:r>
            <a:r>
              <a:rPr lang="en-US" baseline="-25000" dirty="0">
                <a:latin typeface="Times New Roman"/>
                <a:ea typeface="Calibri"/>
                <a:cs typeface="Times New Roman"/>
              </a:rPr>
              <a:t>A</a:t>
            </a:r>
            <a:r>
              <a:rPr lang="en-US" dirty="0">
                <a:latin typeface="Times New Roman"/>
                <a:ea typeface="Calibri"/>
                <a:cs typeface="Times New Roman"/>
              </a:rPr>
              <a:t>: β ≠ 0 for at least one independent variable</a:t>
            </a:r>
            <a:endParaRPr lang="en-US" sz="1600" dirty="0">
              <a:ea typeface="Calibri"/>
              <a:cs typeface="Times New Roman"/>
            </a:endParaRPr>
          </a:p>
        </p:txBody>
      </p:sp>
      <p:pic>
        <p:nvPicPr>
          <p:cNvPr id="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 y="2163342"/>
            <a:ext cx="8961120" cy="18184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43113" y="3735705"/>
            <a:ext cx="5057775" cy="1933575"/>
          </a:xfrm>
          <a:prstGeom prst="snip2SameRect">
            <a:avLst>
              <a:gd name="adj1" fmla="val 30854"/>
              <a:gd name="adj2" fmla="val 0"/>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Rectangle 6"/>
          <p:cNvSpPr/>
          <p:nvPr/>
        </p:nvSpPr>
        <p:spPr>
          <a:xfrm>
            <a:off x="5772150" y="4417364"/>
            <a:ext cx="1280160" cy="229044"/>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311593" y="3093776"/>
            <a:ext cx="731520" cy="229044"/>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2286000" cy="5715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p:nvSpPr>
        <p:spPr>
          <a:xfrm>
            <a:off x="5669280" y="0"/>
            <a:ext cx="3474720" cy="24679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542" y="818366"/>
            <a:ext cx="2011680" cy="2517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9542" y="3502152"/>
            <a:ext cx="2011680" cy="1207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4"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53640" y="143827"/>
            <a:ext cx="2781300" cy="2324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5" name="Picture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48890" y="2604135"/>
            <a:ext cx="5372100" cy="301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6" name="Picture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842635" y="143827"/>
            <a:ext cx="3152775"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7" name="Picture 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117907" y="1478280"/>
            <a:ext cx="2600325" cy="771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p:cNvSpPr txBox="1"/>
          <p:nvPr/>
        </p:nvSpPr>
        <p:spPr>
          <a:xfrm>
            <a:off x="-40944" y="4774709"/>
            <a:ext cx="2399048" cy="600164"/>
          </a:xfrm>
          <a:prstGeom prst="rect">
            <a:avLst/>
          </a:prstGeom>
          <a:noFill/>
        </p:spPr>
        <p:txBody>
          <a:bodyPr wrap="square" rtlCol="0">
            <a:spAutoFit/>
          </a:bodyPr>
          <a:lstStyle/>
          <a:p>
            <a:r>
              <a:rPr lang="en-US" sz="1100" dirty="0" smtClean="0">
                <a:solidFill>
                  <a:schemeClr val="bg1"/>
                </a:solidFill>
                <a:latin typeface="Arial" panose="020B0604020202020204" pitchFamily="34" charset="0"/>
                <a:cs typeface="Arial" panose="020B0604020202020204" pitchFamily="34" charset="0"/>
              </a:rPr>
              <a:t>Dependent variable: CRECBINARY </a:t>
            </a:r>
          </a:p>
          <a:p>
            <a:r>
              <a:rPr lang="en-US" sz="1100" dirty="0" smtClean="0">
                <a:solidFill>
                  <a:schemeClr val="bg1"/>
                </a:solidFill>
                <a:latin typeface="Arial" panose="020B0604020202020204" pitchFamily="34" charset="0"/>
                <a:cs typeface="Arial" panose="020B0604020202020204" pitchFamily="34" charset="0"/>
              </a:rPr>
              <a:t>1 = 2 or fewer citations</a:t>
            </a:r>
            <a:endParaRPr lang="en-US" sz="1100" dirty="0">
              <a:solidFill>
                <a:schemeClr val="bg1"/>
              </a:solidFill>
              <a:latin typeface="Arial" panose="020B0604020202020204" pitchFamily="34" charset="0"/>
              <a:cs typeface="Arial" panose="020B0604020202020204" pitchFamily="34" charset="0"/>
            </a:endParaRPr>
          </a:p>
          <a:p>
            <a:r>
              <a:rPr lang="en-US" sz="1100" dirty="0" smtClean="0">
                <a:solidFill>
                  <a:schemeClr val="bg1"/>
                </a:solidFill>
                <a:latin typeface="Arial" panose="020B0604020202020204" pitchFamily="34" charset="0"/>
                <a:cs typeface="Arial" panose="020B0604020202020204" pitchFamily="34" charset="0"/>
              </a:rPr>
              <a:t>2 = 3 or more citations</a:t>
            </a:r>
          </a:p>
        </p:txBody>
      </p:sp>
    </p:spTree>
    <p:extLst>
      <p:ext uri="{BB962C8B-B14F-4D97-AF65-F5344CB8AC3E}">
        <p14:creationId xmlns:p14="http://schemas.microsoft.com/office/powerpoint/2010/main" val="17156210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685800" y="376360"/>
            <a:ext cx="7772400" cy="2612992"/>
            <a:chOff x="685800" y="376360"/>
            <a:chExt cx="7772400" cy="2612992"/>
          </a:xfrm>
        </p:grpSpPr>
        <p:pic>
          <p:nvPicPr>
            <p:cNvPr id="112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376360"/>
              <a:ext cx="7772400" cy="24019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TextBox 2"/>
            <p:cNvSpPr txBox="1"/>
            <p:nvPr/>
          </p:nvSpPr>
          <p:spPr>
            <a:xfrm>
              <a:off x="1062990" y="2727742"/>
              <a:ext cx="7315200" cy="261610"/>
            </a:xfrm>
            <a:prstGeom prst="rect">
              <a:avLst/>
            </a:prstGeom>
            <a:noFill/>
          </p:spPr>
          <p:txBody>
            <a:bodyPr wrap="square" rtlCol="0">
              <a:spAutoFit/>
            </a:bodyPr>
            <a:lstStyle/>
            <a:p>
              <a:r>
                <a:rPr lang="en-US" sz="1100" dirty="0" smtClean="0">
                  <a:latin typeface="Arial" panose="020B0604020202020204" pitchFamily="34" charset="0"/>
                  <a:cs typeface="Arial" panose="020B0604020202020204" pitchFamily="34" charset="0"/>
                </a:rPr>
                <a:t>Dependent variable: CRECBINARY (1 = 2 or fewer citations; 2 = 3 or more citations)</a:t>
              </a:r>
            </a:p>
          </p:txBody>
        </p:sp>
        <p:pic>
          <p:nvPicPr>
            <p:cNvPr id="8"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042374" y="1689422"/>
              <a:ext cx="914400" cy="365760"/>
            </a:xfrm>
            <a:prstGeom prst="rect">
              <a:avLst/>
            </a:prstGeom>
            <a:noFill/>
            <a:extLst>
              <a:ext uri="{909E8E84-426E-40DD-AFC4-6F175D3DCCD1}">
                <a14:hiddenFill xmlns:a14="http://schemas.microsoft.com/office/drawing/2010/main">
                  <a:solidFill>
                    <a:srgbClr val="FFFFFF"/>
                  </a:solidFill>
                </a14:hiddenFill>
              </a:ext>
            </a:extLst>
          </p:spPr>
        </p:pic>
      </p:grpSp>
      <mc:AlternateContent xmlns:mc="http://schemas.openxmlformats.org/markup-compatibility/2006" xmlns:a14="http://schemas.microsoft.com/office/drawing/2010/main">
        <mc:Choice Requires="a14">
          <p:sp>
            <p:nvSpPr>
              <p:cNvPr id="2" name="Rectangle 1"/>
              <p:cNvSpPr/>
              <p:nvPr/>
            </p:nvSpPr>
            <p:spPr>
              <a:xfrm>
                <a:off x="640080" y="3772819"/>
                <a:ext cx="7863840" cy="544123"/>
              </a:xfrm>
              <a:prstGeom prst="rect">
                <a:avLst/>
              </a:prstGeom>
            </p:spPr>
            <p:txBody>
              <a:bodyPr>
                <a:spAutoFit/>
              </a:bodyPr>
              <a:lstStyle/>
              <a:p>
                <a:pPr algn="ctr"/>
                <a14:m>
                  <m:oMath xmlns:m="http://schemas.openxmlformats.org/officeDocument/2006/math">
                    <m:acc>
                      <m:accPr>
                        <m:chr m:val="̂"/>
                        <m:ctrlPr>
                          <a:rPr lang="en-US" i="1">
                            <a:latin typeface="Cambria Math"/>
                            <a:cs typeface="Times New Roman"/>
                          </a:rPr>
                        </m:ctrlPr>
                      </m:accPr>
                      <m:e>
                        <m:r>
                          <a:rPr lang="en-US" i="1">
                            <a:effectLst/>
                            <a:latin typeface="Cambria Math"/>
                            <a:ea typeface="Calibri"/>
                            <a:cs typeface="Times New Roman"/>
                          </a:rPr>
                          <m:t>𝑝</m:t>
                        </m:r>
                      </m:e>
                    </m:acc>
                  </m:oMath>
                </a14:m>
                <a:r>
                  <a:rPr lang="en-US" dirty="0">
                    <a:effectLst/>
                    <a:latin typeface="Times New Roman"/>
                    <a:ea typeface="Calibri"/>
                  </a:rPr>
                  <a:t> </a:t>
                </a:r>
                <a:r>
                  <a:rPr lang="fr-FR" dirty="0">
                    <a:effectLst/>
                    <a:latin typeface="Times New Roman"/>
                    <a:ea typeface="Calibri"/>
                  </a:rPr>
                  <a:t>= Logit</a:t>
                </a:r>
                <a:r>
                  <a:rPr lang="fr-FR" baseline="30000" dirty="0">
                    <a:effectLst/>
                    <a:latin typeface="Times New Roman"/>
                    <a:ea typeface="Calibri"/>
                  </a:rPr>
                  <a:t>-1</a:t>
                </a:r>
                <a:r>
                  <a:rPr lang="fr-FR" dirty="0">
                    <a:effectLst/>
                    <a:latin typeface="Times New Roman"/>
                    <a:ea typeface="Calibri"/>
                  </a:rPr>
                  <a:t>(</a:t>
                </a:r>
                <a14:m>
                  <m:oMath xmlns:m="http://schemas.openxmlformats.org/officeDocument/2006/math">
                    <m:r>
                      <a:rPr lang="en-US" i="1">
                        <a:effectLst/>
                        <a:latin typeface="Cambria Math"/>
                        <a:ea typeface="Calibri"/>
                        <a:cs typeface="Times New Roman"/>
                      </a:rPr>
                      <m:t>𝑝</m:t>
                    </m:r>
                  </m:oMath>
                </a14:m>
                <a:r>
                  <a:rPr lang="fr-FR" dirty="0">
                    <a:effectLst/>
                    <a:latin typeface="Times New Roman"/>
                    <a:ea typeface="Calibri"/>
                  </a:rPr>
                  <a:t>) = </a:t>
                </a:r>
                <a14:m>
                  <m:oMath xmlns:m="http://schemas.openxmlformats.org/officeDocument/2006/math">
                    <m:f>
                      <m:fPr>
                        <m:ctrlPr>
                          <a:rPr lang="en-US" i="1">
                            <a:effectLst/>
                            <a:latin typeface="Cambria Math"/>
                            <a:cs typeface="Times New Roman"/>
                          </a:rPr>
                        </m:ctrlPr>
                      </m:fPr>
                      <m:num>
                        <m:sSup>
                          <m:sSupPr>
                            <m:ctrlPr>
                              <a:rPr lang="en-US" i="1">
                                <a:effectLst/>
                                <a:latin typeface="Cambria Math"/>
                                <a:cs typeface="Times New Roman"/>
                              </a:rPr>
                            </m:ctrlPr>
                          </m:sSupPr>
                          <m:e>
                            <m:r>
                              <a:rPr lang="en-US" i="1">
                                <a:effectLst/>
                                <a:latin typeface="Cambria Math"/>
                                <a:ea typeface="Calibri"/>
                                <a:cs typeface="Times New Roman"/>
                              </a:rPr>
                              <m:t>𝑒</m:t>
                            </m:r>
                          </m:e>
                          <m:sup>
                            <m:r>
                              <a:rPr lang="fr-FR">
                                <a:effectLst/>
                                <a:latin typeface="Cambria Math"/>
                                <a:ea typeface="Calibri"/>
                                <a:cs typeface="Times New Roman"/>
                              </a:rPr>
                              <m:t>1054.771 + 0.015</m:t>
                            </m:r>
                            <m:d>
                              <m:dPr>
                                <m:ctrlPr>
                                  <a:rPr lang="en-US" i="1">
                                    <a:effectLst/>
                                    <a:latin typeface="Cambria Math"/>
                                    <a:cs typeface="Times New Roman"/>
                                  </a:rPr>
                                </m:ctrlPr>
                              </m:dPr>
                              <m:e>
                                <m:r>
                                  <m:rPr>
                                    <m:sty m:val="p"/>
                                  </m:rPr>
                                  <a:rPr lang="fr-FR">
                                    <a:effectLst/>
                                    <a:latin typeface="Cambria Math"/>
                                    <a:ea typeface="Calibri"/>
                                    <a:cs typeface="Courier New"/>
                                  </a:rPr>
                                  <m:t>CLAIMS</m:t>
                                </m:r>
                              </m:e>
                            </m:d>
                            <m:r>
                              <a:rPr lang="fr-FR">
                                <a:effectLst/>
                                <a:latin typeface="Cambria Math"/>
                                <a:ea typeface="Calibri"/>
                                <a:cs typeface="Times New Roman"/>
                              </a:rPr>
                              <m:t> – 0.529</m:t>
                            </m:r>
                            <m:d>
                              <m:dPr>
                                <m:ctrlPr>
                                  <a:rPr lang="en-US" i="1">
                                    <a:effectLst/>
                                    <a:latin typeface="Cambria Math"/>
                                    <a:cs typeface="Times New Roman"/>
                                  </a:rPr>
                                </m:ctrlPr>
                              </m:dPr>
                              <m:e>
                                <m:r>
                                  <m:rPr>
                                    <m:sty m:val="p"/>
                                  </m:rPr>
                                  <a:rPr lang="fr-FR">
                                    <a:effectLst/>
                                    <a:latin typeface="Cambria Math"/>
                                    <a:ea typeface="Calibri"/>
                                    <a:cs typeface="Courier New"/>
                                  </a:rPr>
                                  <m:t>GYEAR</m:t>
                                </m:r>
                              </m:e>
                            </m:d>
                            <m:r>
                              <a:rPr lang="fr-FR">
                                <a:effectLst/>
                                <a:latin typeface="Cambria Math"/>
                                <a:ea typeface="Calibri"/>
                                <a:cs typeface="Times New Roman"/>
                              </a:rPr>
                              <m:t> + 4.733(</m:t>
                            </m:r>
                            <m:r>
                              <m:rPr>
                                <m:sty m:val="p"/>
                              </m:rPr>
                              <a:rPr lang="fr-FR">
                                <a:effectLst/>
                                <a:latin typeface="Cambria Math"/>
                                <a:ea typeface="Calibri"/>
                                <a:cs typeface="Courier New"/>
                              </a:rPr>
                              <m:t>GENERAL</m:t>
                            </m:r>
                            <m:r>
                              <a:rPr lang="fr-FR">
                                <a:effectLst/>
                                <a:latin typeface="Cambria Math"/>
                                <a:ea typeface="Calibri"/>
                                <a:cs typeface="Times New Roman"/>
                              </a:rPr>
                              <m:t>) – 0.627(</m:t>
                            </m:r>
                            <m:r>
                              <m:rPr>
                                <m:sty m:val="p"/>
                              </m:rPr>
                              <a:rPr lang="fr-FR">
                                <a:effectLst/>
                                <a:latin typeface="Cambria Math"/>
                                <a:ea typeface="Calibri"/>
                                <a:cs typeface="Courier New"/>
                              </a:rPr>
                              <m:t>ORIGINAL</m:t>
                            </m:r>
                            <m:r>
                              <a:rPr lang="fr-FR">
                                <a:effectLst/>
                                <a:latin typeface="Cambria Math"/>
                                <a:ea typeface="Calibri"/>
                                <a:cs typeface="Times New Roman"/>
                              </a:rPr>
                              <m:t>)</m:t>
                            </m:r>
                          </m:sup>
                        </m:sSup>
                      </m:num>
                      <m:den>
                        <m:sSup>
                          <m:sSupPr>
                            <m:ctrlPr>
                              <a:rPr lang="en-US" i="1">
                                <a:effectLst/>
                                <a:latin typeface="Cambria Math"/>
                                <a:cs typeface="Times New Roman"/>
                              </a:rPr>
                            </m:ctrlPr>
                          </m:sSupPr>
                          <m:e>
                            <m:r>
                              <a:rPr lang="fr-FR" i="1">
                                <a:effectLst/>
                                <a:latin typeface="Cambria Math"/>
                                <a:ea typeface="Calibri"/>
                                <a:cs typeface="Times New Roman"/>
                              </a:rPr>
                              <m:t>1+ </m:t>
                            </m:r>
                            <m:r>
                              <a:rPr lang="en-US" i="1">
                                <a:effectLst/>
                                <a:latin typeface="Cambria Math"/>
                                <a:ea typeface="Calibri"/>
                                <a:cs typeface="Times New Roman"/>
                              </a:rPr>
                              <m:t>𝑒</m:t>
                            </m:r>
                          </m:e>
                          <m:sup>
                            <m:r>
                              <a:rPr lang="fr-FR">
                                <a:effectLst/>
                                <a:latin typeface="Cambria Math"/>
                                <a:ea typeface="Calibri"/>
                                <a:cs typeface="Times New Roman"/>
                              </a:rPr>
                              <m:t>1054.771 + 0.015</m:t>
                            </m:r>
                            <m:d>
                              <m:dPr>
                                <m:ctrlPr>
                                  <a:rPr lang="en-US" i="1">
                                    <a:effectLst/>
                                    <a:latin typeface="Cambria Math"/>
                                    <a:cs typeface="Times New Roman"/>
                                  </a:rPr>
                                </m:ctrlPr>
                              </m:dPr>
                              <m:e>
                                <m:r>
                                  <m:rPr>
                                    <m:sty m:val="p"/>
                                  </m:rPr>
                                  <a:rPr lang="fr-FR">
                                    <a:effectLst/>
                                    <a:latin typeface="Cambria Math"/>
                                    <a:ea typeface="Calibri"/>
                                    <a:cs typeface="Courier New"/>
                                  </a:rPr>
                                  <m:t>CLAIMS</m:t>
                                </m:r>
                              </m:e>
                            </m:d>
                            <m:r>
                              <a:rPr lang="fr-FR">
                                <a:effectLst/>
                                <a:latin typeface="Cambria Math"/>
                                <a:ea typeface="Calibri"/>
                                <a:cs typeface="Times New Roman"/>
                              </a:rPr>
                              <m:t> – 0.529</m:t>
                            </m:r>
                            <m:d>
                              <m:dPr>
                                <m:ctrlPr>
                                  <a:rPr lang="en-US" i="1">
                                    <a:effectLst/>
                                    <a:latin typeface="Cambria Math"/>
                                    <a:cs typeface="Times New Roman"/>
                                  </a:rPr>
                                </m:ctrlPr>
                              </m:dPr>
                              <m:e>
                                <m:r>
                                  <m:rPr>
                                    <m:sty m:val="p"/>
                                  </m:rPr>
                                  <a:rPr lang="fr-FR">
                                    <a:effectLst/>
                                    <a:latin typeface="Cambria Math"/>
                                    <a:ea typeface="Calibri"/>
                                    <a:cs typeface="Courier New"/>
                                  </a:rPr>
                                  <m:t>GYEAR</m:t>
                                </m:r>
                              </m:e>
                            </m:d>
                            <m:r>
                              <a:rPr lang="fr-FR">
                                <a:effectLst/>
                                <a:latin typeface="Cambria Math"/>
                                <a:ea typeface="Calibri"/>
                                <a:cs typeface="Times New Roman"/>
                              </a:rPr>
                              <m:t> + 4.733(</m:t>
                            </m:r>
                            <m:r>
                              <m:rPr>
                                <m:sty m:val="p"/>
                              </m:rPr>
                              <a:rPr lang="fr-FR">
                                <a:effectLst/>
                                <a:latin typeface="Cambria Math"/>
                                <a:ea typeface="Calibri"/>
                                <a:cs typeface="Courier New"/>
                              </a:rPr>
                              <m:t>GENERAL</m:t>
                            </m:r>
                            <m:r>
                              <a:rPr lang="fr-FR">
                                <a:effectLst/>
                                <a:latin typeface="Cambria Math"/>
                                <a:ea typeface="Calibri"/>
                                <a:cs typeface="Times New Roman"/>
                              </a:rPr>
                              <m:t>) – 0.627(</m:t>
                            </m:r>
                            <m:r>
                              <m:rPr>
                                <m:sty m:val="p"/>
                              </m:rPr>
                              <a:rPr lang="fr-FR">
                                <a:effectLst/>
                                <a:latin typeface="Cambria Math"/>
                                <a:ea typeface="Calibri"/>
                                <a:cs typeface="Courier New"/>
                              </a:rPr>
                              <m:t>ORIGINAL</m:t>
                            </m:r>
                            <m:r>
                              <a:rPr lang="fr-FR">
                                <a:effectLst/>
                                <a:latin typeface="Cambria Math"/>
                                <a:ea typeface="Calibri"/>
                                <a:cs typeface="Times New Roman"/>
                              </a:rPr>
                              <m:t>)</m:t>
                            </m:r>
                          </m:sup>
                        </m:sSup>
                      </m:den>
                    </m:f>
                  </m:oMath>
                </a14:m>
                <a:endParaRPr lang="en-US" dirty="0"/>
              </a:p>
            </p:txBody>
          </p:sp>
        </mc:Choice>
        <mc:Fallback xmlns="">
          <p:sp>
            <p:nvSpPr>
              <p:cNvPr id="2" name="Rectangle 1"/>
              <p:cNvSpPr>
                <a:spLocks noRot="1" noChangeAspect="1" noMove="1" noResize="1" noEditPoints="1" noAdjustHandles="1" noChangeArrowheads="1" noChangeShapeType="1" noTextEdit="1"/>
              </p:cNvSpPr>
              <p:nvPr/>
            </p:nvSpPr>
            <p:spPr>
              <a:xfrm>
                <a:off x="640080" y="3772819"/>
                <a:ext cx="7863840" cy="544123"/>
              </a:xfrm>
              <a:prstGeom prst="rect">
                <a:avLst/>
              </a:prstGeom>
              <a:blipFill rotWithShape="1">
                <a:blip r:embed="rId5"/>
                <a:stretch>
                  <a:fillRect b="-5618"/>
                </a:stretch>
              </a:blipFill>
            </p:spPr>
            <p:txBody>
              <a:bodyPr/>
              <a:lstStyle/>
              <a:p>
                <a:r>
                  <a:rPr lang="en-US">
                    <a:noFill/>
                  </a:rPr>
                  <a:t> </a:t>
                </a:r>
              </a:p>
            </p:txBody>
          </p:sp>
        </mc:Fallback>
      </mc:AlternateContent>
      <p:sp>
        <p:nvSpPr>
          <p:cNvPr id="7" name="Rectangle 6"/>
          <p:cNvSpPr/>
          <p:nvPr/>
        </p:nvSpPr>
        <p:spPr>
          <a:xfrm>
            <a:off x="6137910" y="1748346"/>
            <a:ext cx="731520" cy="229044"/>
          </a:xfrm>
          <a:prstGeom prst="rect">
            <a:avLst/>
          </a:prstGeom>
          <a:solidFill>
            <a:srgbClr val="FFFF0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788670" y="3341132"/>
            <a:ext cx="7406640" cy="369332"/>
          </a:xfrm>
          <a:prstGeom prst="rect">
            <a:avLst/>
          </a:prstGeom>
          <a:noFill/>
        </p:spPr>
        <p:txBody>
          <a:bodyPr wrap="square" rtlCol="0">
            <a:spAutoFit/>
          </a:bodyPr>
          <a:lstStyle/>
          <a:p>
            <a:r>
              <a:rPr lang="en-US" dirty="0" smtClean="0"/>
              <a:t>Probability that a patent receives more than 2 citations by other patents: </a:t>
            </a:r>
          </a:p>
        </p:txBody>
      </p:sp>
    </p:spTree>
    <p:extLst>
      <p:ext uri="{BB962C8B-B14F-4D97-AF65-F5344CB8AC3E}">
        <p14:creationId xmlns:p14="http://schemas.microsoft.com/office/powerpoint/2010/main" val="39257423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375487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Obtain more current data.</a:t>
            </a:r>
          </a:p>
          <a:p>
            <a:pPr marL="285750" indent="-285750">
              <a:spcAft>
                <a:spcPts val="600"/>
              </a:spcAft>
              <a:buFont typeface="Arial" panose="020B0604020202020204" pitchFamily="34" charset="0"/>
              <a:buChar char="•"/>
            </a:pPr>
            <a:r>
              <a:rPr lang="en-US" dirty="0"/>
              <a:t>Buffer the sample data on the front and back time period to minimize truncation.</a:t>
            </a:r>
          </a:p>
          <a:p>
            <a:pPr marL="285750" indent="-285750">
              <a:spcAft>
                <a:spcPts val="600"/>
              </a:spcAft>
              <a:buFont typeface="Arial" panose="020B0604020202020204" pitchFamily="34" charset="0"/>
              <a:buChar char="•"/>
            </a:pPr>
            <a:r>
              <a:rPr lang="en-US" dirty="0" smtClean="0"/>
              <a:t>Repeat </a:t>
            </a:r>
            <a:r>
              <a:rPr lang="en-US" dirty="0"/>
              <a:t>multiple regression and hierarchical </a:t>
            </a:r>
            <a:r>
              <a:rPr lang="en-US" dirty="0" smtClean="0"/>
              <a:t>regression analyses </a:t>
            </a:r>
            <a:r>
              <a:rPr lang="en-US" dirty="0"/>
              <a:t>using </a:t>
            </a:r>
            <a:r>
              <a:rPr lang="en-US" dirty="0" smtClean="0"/>
              <a:t>the </a:t>
            </a:r>
            <a:br>
              <a:rPr lang="en-US" dirty="0" smtClean="0"/>
            </a:br>
            <a:r>
              <a:rPr lang="en-US" dirty="0" smtClean="0"/>
              <a:t>natural </a:t>
            </a:r>
            <a:r>
              <a:rPr lang="en-US" dirty="0"/>
              <a:t>logarithm of </a:t>
            </a:r>
            <a:r>
              <a:rPr lang="en-US" dirty="0" smtClean="0"/>
              <a:t>the number of citations received </a:t>
            </a:r>
            <a:r>
              <a:rPr lang="en-US" dirty="0"/>
              <a:t>as dependent variable</a:t>
            </a:r>
            <a:r>
              <a:rPr lang="en-US" dirty="0" smtClean="0"/>
              <a:t>.</a:t>
            </a:r>
          </a:p>
          <a:p>
            <a:pPr marL="285750" indent="-285750">
              <a:spcAft>
                <a:spcPts val="600"/>
              </a:spcAft>
              <a:buFont typeface="Arial" panose="020B0604020202020204" pitchFamily="34" charset="0"/>
              <a:buChar char="•"/>
            </a:pPr>
            <a:r>
              <a:rPr lang="en-US" dirty="0" smtClean="0"/>
              <a:t>Repeat binary logistic regression using a mean split instead of median split.</a:t>
            </a:r>
          </a:p>
          <a:p>
            <a:pPr marL="285750" indent="-285750">
              <a:spcAft>
                <a:spcPts val="600"/>
              </a:spcAft>
              <a:buFont typeface="Arial" panose="020B0604020202020204" pitchFamily="34" charset="0"/>
              <a:buChar char="•"/>
            </a:pPr>
            <a:r>
              <a:rPr lang="en-US" dirty="0" smtClean="0"/>
              <a:t>Modify path model using the measure of generality as the primary endogenous independent variable</a:t>
            </a:r>
            <a:r>
              <a:rPr lang="en-US" dirty="0"/>
              <a:t> </a:t>
            </a:r>
            <a:r>
              <a:rPr lang="en-US" dirty="0" smtClean="0"/>
              <a:t>instead of the number of claims.</a:t>
            </a:r>
            <a:endParaRPr lang="en-US" dirty="0"/>
          </a:p>
          <a:p>
            <a:pPr marL="285750" indent="-285750">
              <a:spcAft>
                <a:spcPts val="600"/>
              </a:spcAft>
              <a:buFont typeface="Arial" panose="020B0604020202020204" pitchFamily="34" charset="0"/>
              <a:buChar char="•"/>
            </a:pPr>
            <a:r>
              <a:rPr lang="en-US" dirty="0"/>
              <a:t>Separate independent claims </a:t>
            </a:r>
            <a:r>
              <a:rPr lang="en-US" dirty="0" smtClean="0"/>
              <a:t>and dependent </a:t>
            </a:r>
            <a:r>
              <a:rPr lang="en-US" dirty="0"/>
              <a:t>claims </a:t>
            </a:r>
            <a:r>
              <a:rPr lang="en-US" dirty="0" smtClean="0"/>
              <a:t>as distinct variables.</a:t>
            </a:r>
          </a:p>
          <a:p>
            <a:pPr marL="285750" indent="-285750">
              <a:spcAft>
                <a:spcPts val="600"/>
              </a:spcAft>
              <a:buFont typeface="Arial" panose="020B0604020202020204" pitchFamily="34" charset="0"/>
              <a:buChar char="•"/>
            </a:pPr>
            <a:r>
              <a:rPr lang="en-US" dirty="0" smtClean="0"/>
              <a:t>Include patent classifications and sub-classifications as an indicator of generality.</a:t>
            </a:r>
          </a:p>
          <a:p>
            <a:pPr marL="285750" indent="-285750">
              <a:spcAft>
                <a:spcPts val="600"/>
              </a:spcAft>
              <a:buFont typeface="Arial" panose="020B0604020202020204" pitchFamily="34" charset="0"/>
              <a:buChar char="•"/>
            </a:pPr>
            <a:r>
              <a:rPr lang="en-US" dirty="0" smtClean="0"/>
              <a:t>Control for the patent categories.</a:t>
            </a:r>
          </a:p>
          <a:p>
            <a:pPr marL="285750" indent="-285750">
              <a:spcAft>
                <a:spcPts val="600"/>
              </a:spcAft>
              <a:buFont typeface="Arial" panose="020B0604020202020204" pitchFamily="34" charset="0"/>
              <a:buChar char="•"/>
            </a:pPr>
            <a:r>
              <a:rPr lang="en-US" dirty="0" smtClean="0"/>
              <a:t>Consider the effects of technology readiness level (TRL).</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893100"/>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P</a:t>
            </a:r>
            <a:r>
              <a:rPr lang="en-US" dirty="0" smtClean="0"/>
              <a:t>rovides </a:t>
            </a:r>
            <a:r>
              <a:rPr lang="en-US" dirty="0"/>
              <a:t>information to help both </a:t>
            </a:r>
            <a:r>
              <a:rPr lang="en-US" dirty="0" smtClean="0"/>
              <a:t>industry professionals and </a:t>
            </a:r>
            <a:r>
              <a:rPr lang="en-US" dirty="0"/>
              <a:t>policymakers better understand the drivers of the technology transfer </a:t>
            </a:r>
            <a:r>
              <a:rPr lang="en-US" dirty="0" smtClean="0"/>
              <a:t>outcomes.</a:t>
            </a:r>
          </a:p>
          <a:p>
            <a:pPr marL="285750" indent="-285750">
              <a:spcAft>
                <a:spcPts val="600"/>
              </a:spcAft>
              <a:buFont typeface="Arial" panose="020B0604020202020204" pitchFamily="34" charset="0"/>
              <a:buChar char="•"/>
            </a:pPr>
            <a:r>
              <a:rPr lang="en-US" dirty="0" smtClean="0"/>
              <a:t>Identifies </a:t>
            </a:r>
            <a:r>
              <a:rPr lang="en-US" dirty="0"/>
              <a:t>possible factors that should be considered when forming public policy regarding technology transfer.  </a:t>
            </a:r>
            <a:endParaRPr lang="en-US" dirty="0" smtClean="0"/>
          </a:p>
          <a:p>
            <a:pPr marL="285750" indent="-285750">
              <a:spcAft>
                <a:spcPts val="600"/>
              </a:spcAft>
              <a:buFont typeface="Arial" panose="020B0604020202020204" pitchFamily="34" charset="0"/>
              <a:buChar char="•"/>
            </a:pPr>
            <a:r>
              <a:rPr lang="en-US" dirty="0" smtClean="0"/>
              <a:t>Suggests that considering </a:t>
            </a:r>
            <a:r>
              <a:rPr lang="en-US" dirty="0"/>
              <a:t>non-transactional measures </a:t>
            </a:r>
            <a:r>
              <a:rPr lang="en-US"/>
              <a:t>of </a:t>
            </a:r>
            <a:r>
              <a:rPr lang="en-US" smtClean="0"/>
              <a:t>technology </a:t>
            </a:r>
            <a:r>
              <a:rPr lang="en-US" dirty="0"/>
              <a:t>transfer may be feasible.  </a:t>
            </a:r>
            <a:endParaRPr lang="en-US" dirty="0" smtClean="0"/>
          </a:p>
          <a:p>
            <a:pPr marL="285750" indent="-285750">
              <a:spcAft>
                <a:spcPts val="600"/>
              </a:spcAft>
              <a:buFont typeface="Arial" panose="020B0604020202020204" pitchFamily="34" charset="0"/>
              <a:buChar char="•"/>
            </a:pPr>
            <a:r>
              <a:rPr lang="en-US" dirty="0" smtClean="0"/>
              <a:t>Affect </a:t>
            </a:r>
            <a:r>
              <a:rPr lang="en-US" dirty="0"/>
              <a:t>the objectives of policymakers with regard to technology transfer.  </a:t>
            </a:r>
          </a:p>
          <a:p>
            <a:pPr marL="285750" indent="-285750">
              <a:spcAft>
                <a:spcPts val="600"/>
              </a:spcAft>
              <a:buFont typeface="Arial" panose="020B0604020202020204" pitchFamily="34" charset="0"/>
              <a:buChar char="•"/>
            </a:pPr>
            <a:r>
              <a:rPr lang="en-US" dirty="0" smtClean="0"/>
              <a:t>Influence </a:t>
            </a:r>
            <a:r>
              <a:rPr lang="en-US" dirty="0"/>
              <a:t>how policymakers think about technology transfer and how they formulate public policy to increase the transfer of federally-funded research to the private sector.</a:t>
            </a:r>
            <a:endParaRPr lang="en-US" dirty="0" smtClean="0"/>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369332"/>
          </a:xfrm>
          <a:prstGeom prst="rect">
            <a:avLst/>
          </a:prstGeom>
          <a:noFill/>
        </p:spPr>
        <p:txBody>
          <a:bodyPr wrap="square" lIns="457200" rtlCol="0">
            <a:spAutoFit/>
          </a:bodyPr>
          <a:lstStyle/>
          <a:p>
            <a:pPr>
              <a:spcAft>
                <a:spcPts val="600"/>
              </a:spcAft>
            </a:pPr>
            <a:r>
              <a:rPr lang="en-US" dirty="0" smtClean="0"/>
              <a:t>Enter text.</a:t>
            </a:r>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endParaRPr lang="en-US" dirty="0">
              <a:solidFill>
                <a:prstClr val="black"/>
              </a:solidFill>
            </a:endParaRPr>
          </a:p>
          <a:p>
            <a:endParaRPr lang="en-US" i="1" dirty="0" smtClean="0"/>
          </a:p>
        </p:txBody>
      </p:sp>
    </p:spTree>
    <p:extLst>
      <p:ext uri="{BB962C8B-B14F-4D97-AF65-F5344CB8AC3E}">
        <p14:creationId xmlns:p14="http://schemas.microsoft.com/office/powerpoint/2010/main" val="11597410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915</TotalTime>
  <Words>2382</Words>
  <Application>Microsoft Office PowerPoint</Application>
  <PresentationFormat>On-screen Show (16:10)</PresentationFormat>
  <Paragraphs>398</Paragraphs>
  <Slides>30</Slides>
  <Notes>9</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30</vt:i4>
      </vt:variant>
    </vt:vector>
  </HeadingPairs>
  <TitlesOfParts>
    <vt:vector size="32"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174</cp:revision>
  <cp:lastPrinted>2018-11-28T15:13:03Z</cp:lastPrinted>
  <dcterms:created xsi:type="dcterms:W3CDTF">2018-11-26T20:29:52Z</dcterms:created>
  <dcterms:modified xsi:type="dcterms:W3CDTF">2019-04-11T19:18:01Z</dcterms:modified>
</cp:coreProperties>
</file>