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handoutMasterIdLst>
    <p:handoutMasterId r:id="rId53"/>
  </p:handoutMasterIdLst>
  <p:sldIdLst>
    <p:sldId id="256" r:id="rId2"/>
    <p:sldId id="294" r:id="rId3"/>
    <p:sldId id="298" r:id="rId4"/>
    <p:sldId id="274" r:id="rId5"/>
    <p:sldId id="280" r:id="rId6"/>
    <p:sldId id="260" r:id="rId7"/>
    <p:sldId id="311" r:id="rId8"/>
    <p:sldId id="290" r:id="rId9"/>
    <p:sldId id="327" r:id="rId10"/>
    <p:sldId id="299" r:id="rId11"/>
    <p:sldId id="300" r:id="rId12"/>
    <p:sldId id="285" r:id="rId13"/>
    <p:sldId id="320" r:id="rId14"/>
    <p:sldId id="301" r:id="rId15"/>
    <p:sldId id="322" r:id="rId16"/>
    <p:sldId id="273" r:id="rId17"/>
    <p:sldId id="328" r:id="rId18"/>
    <p:sldId id="293" r:id="rId19"/>
    <p:sldId id="318" r:id="rId20"/>
    <p:sldId id="326" r:id="rId21"/>
    <p:sldId id="292" r:id="rId22"/>
    <p:sldId id="302" r:id="rId23"/>
    <p:sldId id="309" r:id="rId24"/>
    <p:sldId id="310" r:id="rId25"/>
    <p:sldId id="303" r:id="rId26"/>
    <p:sldId id="304" r:id="rId27"/>
    <p:sldId id="305" r:id="rId28"/>
    <p:sldId id="297" r:id="rId29"/>
    <p:sldId id="313" r:id="rId30"/>
    <p:sldId id="319" r:id="rId31"/>
    <p:sldId id="307" r:id="rId32"/>
    <p:sldId id="315" r:id="rId33"/>
    <p:sldId id="316" r:id="rId34"/>
    <p:sldId id="314" r:id="rId35"/>
    <p:sldId id="317" r:id="rId36"/>
    <p:sldId id="272" r:id="rId37"/>
    <p:sldId id="264" r:id="rId38"/>
    <p:sldId id="275" r:id="rId39"/>
    <p:sldId id="306" r:id="rId40"/>
    <p:sldId id="325" r:id="rId41"/>
    <p:sldId id="324" r:id="rId42"/>
    <p:sldId id="308" r:id="rId43"/>
    <p:sldId id="288" r:id="rId44"/>
    <p:sldId id="281" r:id="rId45"/>
    <p:sldId id="296" r:id="rId46"/>
    <p:sldId id="282" r:id="rId47"/>
    <p:sldId id="295" r:id="rId48"/>
    <p:sldId id="312" r:id="rId49"/>
    <p:sldId id="321" r:id="rId50"/>
    <p:sldId id="323" r:id="rId51"/>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180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varScale="1">
        <p:scale>
          <a:sx n="131" d="100"/>
          <a:sy n="131" d="100"/>
        </p:scale>
        <p:origin x="-1044" y="-78"/>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a:t>Significance and Importance</a:t>
          </a:r>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Study Objectives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a:solidFill>
          <a:schemeClr val="accent3">
            <a:lumMod val="75000"/>
          </a:schemeClr>
        </a:solidFill>
      </dgm:spPr>
      <dgm:t>
        <a:bodyPr/>
        <a:lstStyle/>
        <a:p>
          <a:pPr algn="l"/>
          <a:r>
            <a:rPr lang="en-US" dirty="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a:solidFill>
          <a:schemeClr val="accent1"/>
        </a:solidFill>
      </dgm:spPr>
      <dgm:t>
        <a:bodyPr/>
        <a:lstStyle/>
        <a:p>
          <a:pPr algn="l"/>
          <a:r>
            <a:rPr lang="en-US" dirty="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a:solidFill>
          <a:schemeClr val="accent6">
            <a:lumMod val="75000"/>
          </a:schemeClr>
        </a:solidFill>
      </dgm:spPr>
      <dgm:t>
        <a:bodyPr/>
        <a:lstStyle/>
        <a:p>
          <a:pPr algn="l"/>
          <a:r>
            <a:rPr lang="en-US" dirty="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a:solidFill>
          <a:schemeClr val="accent2"/>
        </a:solidFill>
      </dgm:spPr>
      <dgm:t>
        <a:bodyPr/>
        <a:lstStyle/>
        <a:p>
          <a:pPr algn="l"/>
          <a:r>
            <a:rPr lang="en-US" dirty="0" smtClean="0"/>
            <a:t>Implications, Limitations, </a:t>
          </a:r>
          <a:r>
            <a:rPr lang="en-US" dirty="0"/>
            <a:t>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a:solidFill>
          <a:schemeClr val="accent3">
            <a:lumMod val="75000"/>
          </a:schemeClr>
        </a:solidFill>
      </dgm:spPr>
      <dgm:t>
        <a:bodyPr/>
        <a:lstStyle/>
        <a:p>
          <a:pPr algn="l"/>
          <a:r>
            <a:rPr lang="en-US" dirty="0" smtClean="0"/>
            <a:t>Questions and Suggestions</a:t>
          </a:r>
          <a:endParaRPr lang="en-US" dirty="0"/>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9EF1AF8A-F47F-45CD-AF66-B006ADA4B6C5}" type="presOf" srcId="{73451015-89A9-4506-B6A1-A52EDA752F1D}" destId="{9A83C161-7CE7-4FBE-A65B-AA864FAF26B5}" srcOrd="0" destOrd="0" presId="urn:microsoft.com/office/officeart/2005/8/layout/vList3"/>
    <dgm:cxn modelId="{B2D42D45-5E15-49C7-AE4A-85505E72454B}" srcId="{E8371B40-932D-4D58-B0FA-03B0822BBA63}" destId="{B0F4FFAA-AA80-445E-9016-4F8EF966E383}" srcOrd="0" destOrd="0" parTransId="{161FD2C6-F8FE-472D-9C6C-A8F193FE86F0}" sibTransId="{FAE80C6E-058E-4391-B0E3-CA25846C12CF}"/>
    <dgm:cxn modelId="{D718B188-BD93-4199-BC4E-FB01E2F269C8}" srcId="{E8371B40-932D-4D58-B0FA-03B0822BBA63}" destId="{75099817-D799-4D08-8D69-0234AF84D1FF}" srcOrd="1" destOrd="0" parTransId="{C02AD437-CFD9-4E1A-B813-673FA16D4FF3}" sibTransId="{170E5D74-100F-43DA-95A7-8BA8367E1240}"/>
    <dgm:cxn modelId="{62ABA70E-5B6E-4069-B47A-DC65F48F48CB}" srcId="{E8371B40-932D-4D58-B0FA-03B0822BBA63}" destId="{73451015-89A9-4506-B6A1-A52EDA752F1D}" srcOrd="2" destOrd="0" parTransId="{F1BE5A06-786B-4A3F-8FD7-B37CEC279176}" sibTransId="{5627F2F0-4B45-4A01-AE4E-B1CB295E781E}"/>
    <dgm:cxn modelId="{55505B2C-A05F-4FD6-9BD6-E6EDC81C0CC7}" type="presOf" srcId="{B0F4FFAA-AA80-445E-9016-4F8EF966E383}" destId="{90DF574F-C00C-419E-B294-5B62392995ED}"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845A299F-67BC-4E60-B130-BF1B0872FEC9}" srcId="{E8371B40-932D-4D58-B0FA-03B0822BBA63}" destId="{EC7309A0-CF9B-44BE-B725-DF03D6D7BBC7}" srcOrd="3" destOrd="0" parTransId="{EC92C729-8B65-4284-846A-6BE2199EB0BA}" sibTransId="{F6BD6611-2AFA-4626-9432-28F22D51E3A2}"/>
    <dgm:cxn modelId="{0EABE6AF-14E9-449F-BD30-1DCC078B80CF}" type="presOf" srcId="{A62087BD-95E8-425C-AA08-2E3F5CB6E8F1}" destId="{6AA00FE8-242B-4888-A53F-D09E1E67898D}" srcOrd="0" destOrd="0" presId="urn:microsoft.com/office/officeart/2005/8/layout/vList3"/>
    <dgm:cxn modelId="{25834EAF-E348-4D3A-A65E-46864A676B0E}" type="presOf" srcId="{7872EC56-464A-4AF7-A325-D8C04EC15CBC}" destId="{E74D4CFD-B51F-4EF3-BA49-144E2D33D50E}"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A9053817-889B-467E-BDFD-D479F2C8510D}" srcId="{E8371B40-932D-4D58-B0FA-03B0822BBA63}" destId="{7872EC56-464A-4AF7-A325-D8C04EC15CBC}" srcOrd="4" destOrd="0" parTransId="{5223AF15-77CC-4833-A5B1-731787DEF8BC}" sibTransId="{39CAC057-C6C0-41D1-853D-7DBCF402493A}"/>
    <dgm:cxn modelId="{BC6251F1-B4B1-4418-8CC3-1C322C59228C}" srcId="{E8371B40-932D-4D58-B0FA-03B0822BBA63}" destId="{9B4EC237-8822-4BBB-8CEA-053275063984}" srcOrd="6" destOrd="0" parTransId="{0E4DD1AD-A666-4612-8D23-B5D80390E8FE}" sibTransId="{39D612C0-AB2B-428F-B37B-99B621CBC2B2}"/>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 Policy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07C75C8E-0DEA-4DDA-B70D-DFD3E44B3AE9}">
      <dgm:prSet phldrT="[Text]" custT="1"/>
      <dgm:spPr/>
      <dgm:t>
        <a:bodyPr/>
        <a:lstStyle/>
        <a:p>
          <a:pPr>
            <a:spcBef>
              <a:spcPct val="0"/>
            </a:spcBef>
            <a:spcAft>
              <a:spcPct val="15000"/>
            </a:spcAft>
          </a:pPr>
          <a:r>
            <a:rPr lang="en-US" sz="1400" dirty="0"/>
            <a:t>Dai, Popp &amp; </a:t>
          </a:r>
          <a:r>
            <a:rPr lang="en-US" sz="1400" dirty="0" err="1"/>
            <a:t>Bretschneider</a:t>
          </a:r>
          <a:r>
            <a:rPr lang="en-US" sz="1400" dirty="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a:t>Mostly focused on the Bayh-Dole Act of 1980 and the SBIR program.</a:t>
          </a:r>
        </a:p>
        <a:p>
          <a:r>
            <a:rPr lang="en-US" sz="1800" dirty="0"/>
            <a:t>Many evaluation studies of the SBIR program.</a:t>
          </a:r>
        </a:p>
        <a:p>
          <a:r>
            <a:rPr lang="en-US" sz="1800" dirty="0"/>
            <a:t>Limited and fragment view of technology transfer policy. </a:t>
          </a:r>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a:t>Few recent studies on policy.</a:t>
          </a:r>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8991BA4A-2F3E-42D3-8B99-BCDFA0BDD3E7}">
      <dgm:prSet phldrT="[Text]" custT="1"/>
      <dgm:spPr/>
      <dgm:t>
        <a:bodyPr/>
        <a:lstStyle/>
        <a:p>
          <a:pPr>
            <a:spcBef>
              <a:spcPct val="0"/>
            </a:spcBef>
            <a:spcAft>
              <a:spcPts val="0"/>
            </a:spcAft>
          </a:pPr>
          <a:r>
            <a:rPr lang="en-US" sz="1800" dirty="0"/>
            <a:t>Studies of the SBIR program</a:t>
          </a:r>
        </a:p>
      </dgm:t>
    </dgm:pt>
    <dgm:pt modelId="{E7596637-F052-4ABF-A854-69BA244C60E4}" type="parTrans" cxnId="{70632021-CCAC-475F-847B-33412C108413}">
      <dgm:prSet/>
      <dgm:spPr/>
      <dgm:t>
        <a:bodyPr/>
        <a:lstStyle/>
        <a:p>
          <a:endParaRPr lang="en-US"/>
        </a:p>
      </dgm:t>
    </dgm:pt>
    <dgm:pt modelId="{0EE95D68-7A6E-4523-9E32-BE80241F048A}" type="sibTrans" cxnId="{70632021-CCAC-475F-847B-33412C108413}">
      <dgm:prSet/>
      <dgm:spPr/>
      <dgm:t>
        <a:bodyPr/>
        <a:lstStyle/>
        <a:p>
          <a:endParaRPr lang="en-US"/>
        </a:p>
      </dgm:t>
    </dgm:pt>
    <dgm:pt modelId="{1B658359-2C06-4959-ACFA-FE1C6F542A4C}">
      <dgm:prSet phldrT="[Text]" custT="1"/>
      <dgm:spPr/>
      <dgm:t>
        <a:bodyPr/>
        <a:lstStyle/>
        <a:p>
          <a:pPr>
            <a:spcBef>
              <a:spcPct val="0"/>
            </a:spcBef>
            <a:spcAft>
              <a:spcPct val="15000"/>
            </a:spcAft>
          </a:pPr>
          <a:r>
            <a:rPr lang="en-US" sz="1400" dirty="0"/>
            <a:t>Joshi, Inouye &amp; Robinson (</a:t>
          </a:r>
          <a:r>
            <a:rPr lang="en-US" sz="1400" dirty="0" err="1"/>
            <a:t>n.d.</a:t>
          </a:r>
          <a:r>
            <a:rPr lang="en-US" sz="1400" dirty="0"/>
            <a:t>)</a:t>
          </a:r>
        </a:p>
      </dgm:t>
    </dgm:pt>
    <dgm:pt modelId="{D7EAFD01-062B-40D6-BF73-FED35A868A23}" type="parTrans" cxnId="{6F8D0440-6659-4CA2-B950-76EC95083270}">
      <dgm:prSet/>
      <dgm:spPr/>
      <dgm:t>
        <a:bodyPr/>
        <a:lstStyle/>
        <a:p>
          <a:endParaRPr lang="en-US"/>
        </a:p>
      </dgm:t>
    </dgm:pt>
    <dgm:pt modelId="{F7FFCAFF-AD37-4B07-BA2F-44A4A887303F}" type="sibTrans" cxnId="{6F8D0440-6659-4CA2-B950-76EC95083270}">
      <dgm:prSet/>
      <dgm:spPr/>
      <dgm:t>
        <a:bodyPr/>
        <a:lstStyle/>
        <a:p>
          <a:endParaRPr lang="en-US"/>
        </a:p>
      </dgm:t>
    </dgm:pt>
    <dgm:pt modelId="{C96093A5-2007-4070-BAE2-12F6DEFE31CF}">
      <dgm:prSet phldrT="[Text]" custT="1"/>
      <dgm:spPr/>
      <dgm:t>
        <a:bodyPr/>
        <a:lstStyle/>
        <a:p>
          <a:pPr>
            <a:spcBef>
              <a:spcPct val="0"/>
            </a:spcBef>
            <a:spcAft>
              <a:spcPct val="15000"/>
            </a:spcAft>
          </a:pPr>
          <a:r>
            <a:rPr lang="en-US" sz="1400" dirty="0"/>
            <a:t>Andersen, Bray &amp; Link (2017)</a:t>
          </a:r>
        </a:p>
      </dgm:t>
    </dgm:pt>
    <dgm:pt modelId="{A93431EA-64F7-4504-89F3-B8A04B2DB964}" type="parTrans" cxnId="{46762F97-09D4-4CE7-9388-492FA092C50C}">
      <dgm:prSet/>
      <dgm:spPr/>
      <dgm:t>
        <a:bodyPr/>
        <a:lstStyle/>
        <a:p>
          <a:endParaRPr lang="en-US"/>
        </a:p>
      </dgm:t>
    </dgm:pt>
    <dgm:pt modelId="{68B913D6-51C0-4F18-92E6-C2A1E06B86DC}" type="sibTrans" cxnId="{46762F97-09D4-4CE7-9388-492FA092C50C}">
      <dgm:prSet/>
      <dgm:spPr/>
      <dgm:t>
        <a:bodyPr/>
        <a:lstStyle/>
        <a:p>
          <a:endParaRPr lang="en-US"/>
        </a:p>
      </dgm:t>
    </dgm:pt>
    <dgm:pt modelId="{E06B764D-BC71-49D2-8B67-E60CEBB218ED}">
      <dgm:prSet phldrT="[Text]" custT="1"/>
      <dgm:spPr/>
      <dgm:t>
        <a:bodyPr/>
        <a:lstStyle/>
        <a:p>
          <a:pPr>
            <a:spcBef>
              <a:spcPct val="0"/>
            </a:spcBef>
            <a:spcAft>
              <a:spcPct val="15000"/>
            </a:spcAft>
          </a:pPr>
          <a:r>
            <a:rPr lang="en-US" sz="1400" dirty="0"/>
            <a:t>Link &amp; Scott (2010)</a:t>
          </a:r>
        </a:p>
      </dgm:t>
    </dgm:pt>
    <dgm:pt modelId="{0D6ED01A-4A13-463F-B050-390626DC5395}" type="parTrans" cxnId="{F5171554-D7E4-47E7-9A00-190CFCC733B4}">
      <dgm:prSet/>
      <dgm:spPr/>
      <dgm:t>
        <a:bodyPr/>
        <a:lstStyle/>
        <a:p>
          <a:endParaRPr lang="en-US"/>
        </a:p>
      </dgm:t>
    </dgm:pt>
    <dgm:pt modelId="{60B10233-1B50-4744-8D62-F2C31CF326E1}" type="sibTrans" cxnId="{F5171554-D7E4-47E7-9A00-190CFCC733B4}">
      <dgm:prSet/>
      <dgm:spPr/>
      <dgm:t>
        <a:bodyPr/>
        <a:lstStyle/>
        <a:p>
          <a:endParaRPr lang="en-US"/>
        </a:p>
      </dgm:t>
    </dgm:pt>
    <dgm:pt modelId="{E59BA82B-BC46-46DF-A083-AD27D0585BA1}">
      <dgm:prSet phldrT="[Text]" custT="1"/>
      <dgm:spPr/>
      <dgm:t>
        <a:bodyPr/>
        <a:lstStyle/>
        <a:p>
          <a:pPr>
            <a:spcBef>
              <a:spcPts val="0"/>
            </a:spcBef>
            <a:spcAft>
              <a:spcPts val="0"/>
            </a:spcAft>
          </a:pPr>
          <a:r>
            <a:rPr lang="en-US" sz="1800" dirty="0"/>
            <a:t>Innovation Policy</a:t>
          </a:r>
        </a:p>
      </dgm:t>
    </dgm:pt>
    <dgm:pt modelId="{E99FB7DE-9E90-4675-B14E-8080F8223A2F}" type="parTrans" cxnId="{2B87EAED-1CB1-4202-9184-9079E7096ACB}">
      <dgm:prSet/>
      <dgm:spPr/>
      <dgm:t>
        <a:bodyPr/>
        <a:lstStyle/>
        <a:p>
          <a:endParaRPr lang="en-US"/>
        </a:p>
      </dgm:t>
    </dgm:pt>
    <dgm:pt modelId="{D7E93C80-6DE3-4307-B894-C189EF8936B9}" type="sibTrans" cxnId="{2B87EAED-1CB1-4202-9184-9079E7096ACB}">
      <dgm:prSet/>
      <dgm:spPr/>
      <dgm:t>
        <a:bodyPr/>
        <a:lstStyle/>
        <a:p>
          <a:endParaRPr lang="en-US"/>
        </a:p>
      </dgm:t>
    </dgm:pt>
    <dgm:pt modelId="{10E145AF-1A51-4F0F-A808-162BD579AE8B}">
      <dgm:prSet phldrT="[Text]" custT="1"/>
      <dgm:spPr/>
      <dgm:t>
        <a:bodyPr/>
        <a:lstStyle/>
        <a:p>
          <a:pPr>
            <a:spcBef>
              <a:spcPct val="0"/>
            </a:spcBef>
            <a:spcAft>
              <a:spcPct val="15000"/>
            </a:spcAft>
          </a:pPr>
          <a:r>
            <a:rPr lang="en-US" sz="1400" dirty="0" err="1"/>
            <a:t>Hemel</a:t>
          </a:r>
          <a:r>
            <a:rPr lang="en-US" sz="1400" dirty="0"/>
            <a:t>, </a:t>
          </a:r>
          <a:r>
            <a:rPr lang="en-US" sz="1400" dirty="0" err="1"/>
            <a:t>Ouellett</a:t>
          </a:r>
          <a:r>
            <a:rPr lang="en-US" sz="1400" dirty="0"/>
            <a:t> &amp; Larrimore (2019)</a:t>
          </a:r>
        </a:p>
      </dgm:t>
    </dgm:pt>
    <dgm:pt modelId="{F3E0FDD7-C2B9-44D9-9155-9B2012CF3391}" type="parTrans" cxnId="{CAB489D9-A94A-4FB7-A80F-99BD4DEDDF01}">
      <dgm:prSet/>
      <dgm:spPr/>
      <dgm:t>
        <a:bodyPr/>
        <a:lstStyle/>
        <a:p>
          <a:endParaRPr lang="en-US"/>
        </a:p>
      </dgm:t>
    </dgm:pt>
    <dgm:pt modelId="{9ED38D4F-0528-49F4-A672-CDFAC78CBDC3}" type="sibTrans" cxnId="{CAB489D9-A94A-4FB7-A80F-99BD4DEDDF01}">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46762F97-09D4-4CE7-9388-492FA092C50C}" srcId="{8991BA4A-2F3E-42D3-8B99-BCDFA0BDD3E7}" destId="{C96093A5-2007-4070-BAE2-12F6DEFE31CF}" srcOrd="0" destOrd="0" parTransId="{A93431EA-64F7-4504-89F3-B8A04B2DB964}" sibTransId="{68B913D6-51C0-4F18-92E6-C2A1E06B86DC}"/>
    <dgm:cxn modelId="{07E749A8-6878-48F2-8857-B2C2B74D4CAD}" type="presOf" srcId="{10E145AF-1A51-4F0F-A808-162BD579AE8B}" destId="{7C1FE252-E5CE-40AF-AE08-799A5F741FEE}" srcOrd="0" destOrd="7" presId="urn:microsoft.com/office/officeart/2005/8/layout/hProcess7"/>
    <dgm:cxn modelId="{E380ADD9-5041-447F-B338-95FB2FE0B128}" srcId="{E7E09A88-A855-416A-B17D-5608BAB5F968}" destId="{07C75C8E-0DEA-4DDA-B70D-DFD3E44B3AE9}" srcOrd="0" destOrd="0" parTransId="{5C19A2C8-EA94-4C28-9644-EFDC915C5F5B}" sibTransId="{C2EBB4AF-340B-42F0-812E-66D9CDC0F89F}"/>
    <dgm:cxn modelId="{C5F869C1-8FEF-4035-9EC3-FDF0092FF2C9}" srcId="{56D25664-E470-4423-B8A9-9B6E4F3E9501}" destId="{F754AD28-8B54-47D9-83F1-8D45F35B4A81}" srcOrd="0" destOrd="0" parTransId="{26AD8160-5FF5-41BE-AFAF-E29D66F0469B}" sibTransId="{BE9BECBC-F94F-4E2F-BDB2-93E8BAEBEFE7}"/>
    <dgm:cxn modelId="{76696772-2554-4E2D-8639-34A91E715C32}" type="presOf" srcId="{56D25664-E470-4423-B8A9-9B6E4F3E9501}" destId="{5EE1D2E5-E13B-4FA3-A68E-FA18C8AD1A1A}" srcOrd="0" destOrd="0" presId="urn:microsoft.com/office/officeart/2005/8/layout/hProcess7"/>
    <dgm:cxn modelId="{464D6169-0418-4699-820B-C50B038C5CB9}" type="presOf" srcId="{95A718DB-BBB4-46AA-BDBB-89DD317FC1FE}" destId="{4428B23C-049C-4D7B-92D7-DD65A1003E4E}" srcOrd="0" destOrd="0" presId="urn:microsoft.com/office/officeart/2005/8/layout/hProcess7"/>
    <dgm:cxn modelId="{0C798256-5A86-478B-A5F7-71A8BB652059}" type="presOf" srcId="{C96093A5-2007-4070-BAE2-12F6DEFE31CF}" destId="{7C1FE252-E5CE-40AF-AE08-799A5F741FEE}" srcOrd="0" destOrd="3" presId="urn:microsoft.com/office/officeart/2005/8/layout/hProcess7"/>
    <dgm:cxn modelId="{06C256A2-CBB1-4F08-88FC-2AE8711DA723}" type="presOf" srcId="{E7E09A88-A855-416A-B17D-5608BAB5F968}" destId="{7C1FE252-E5CE-40AF-AE08-799A5F741FEE}" srcOrd="0" destOrd="0" presId="urn:microsoft.com/office/officeart/2005/8/layout/hProcess7"/>
    <dgm:cxn modelId="{E050B09D-A38A-407C-818D-52C32C052BE2}" type="presOf" srcId="{F754AD28-8B54-47D9-83F1-8D45F35B4A81}" destId="{0F07502A-98A4-4880-9779-27EA2BEB6F02}" srcOrd="0" destOrd="0" presId="urn:microsoft.com/office/officeart/2005/8/layout/hProcess7"/>
    <dgm:cxn modelId="{8D2101F9-CF87-42F9-B094-55D43C34B39E}" type="presOf" srcId="{07C75C8E-0DEA-4DDA-B70D-DFD3E44B3AE9}" destId="{7C1FE252-E5CE-40AF-AE08-799A5F741FEE}" srcOrd="0" destOrd="1" presId="urn:microsoft.com/office/officeart/2005/8/layout/hProcess7"/>
    <dgm:cxn modelId="{1376C00F-D2BE-4C3D-965E-81FB671F3B53}"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487BF63E-91D9-4AD4-9115-9177A60F5A29}" type="presOf" srcId="{E59BA82B-BC46-46DF-A083-AD27D0585BA1}" destId="{7C1FE252-E5CE-40AF-AE08-799A5F741FEE}" srcOrd="0" destOrd="6"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403EF11F-788A-4983-B12C-053482AAB8FD}" type="presOf" srcId="{1B658359-2C06-4959-ACFA-FE1C6F542A4C}" destId="{7C1FE252-E5CE-40AF-AE08-799A5F741FEE}" srcOrd="0" destOrd="4"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6F8D0440-6659-4CA2-B950-76EC95083270}" srcId="{8991BA4A-2F3E-42D3-8B99-BCDFA0BDD3E7}" destId="{1B658359-2C06-4959-ACFA-FE1C6F542A4C}" srcOrd="1" destOrd="0" parTransId="{D7EAFD01-062B-40D6-BF73-FED35A868A23}" sibTransId="{F7FFCAFF-AD37-4B07-BA2F-44A4A887303F}"/>
    <dgm:cxn modelId="{0760B2AC-086D-43C3-B6DC-F21DD00EE472}" type="presOf" srcId="{8991BA4A-2F3E-42D3-8B99-BCDFA0BDD3E7}" destId="{7C1FE252-E5CE-40AF-AE08-799A5F741FEE}" srcOrd="0" destOrd="2" presId="urn:microsoft.com/office/officeart/2005/8/layout/hProcess7"/>
    <dgm:cxn modelId="{CAB489D9-A94A-4FB7-A80F-99BD4DEDDF01}" srcId="{E59BA82B-BC46-46DF-A083-AD27D0585BA1}" destId="{10E145AF-1A51-4F0F-A808-162BD579AE8B}" srcOrd="0" destOrd="0" parTransId="{F3E0FDD7-C2B9-44D9-9155-9B2012CF3391}" sibTransId="{9ED38D4F-0528-49F4-A672-CDFAC78CBDC3}"/>
    <dgm:cxn modelId="{5ED53018-804C-4B6E-8C96-35B9E163BB2B}" type="presOf" srcId="{275823A6-DA31-4015-971F-013EA967541C}" destId="{752682F3-57CE-4B43-B292-A62B3D508EDD}" srcOrd="1" destOrd="0" presId="urn:microsoft.com/office/officeart/2005/8/layout/hProcess7"/>
    <dgm:cxn modelId="{2B87EAED-1CB1-4202-9184-9079E7096ACB}" srcId="{275823A6-DA31-4015-971F-013EA967541C}" destId="{E59BA82B-BC46-46DF-A083-AD27D0585BA1}" srcOrd="2" destOrd="0" parTransId="{E99FB7DE-9E90-4675-B14E-8080F8223A2F}" sibTransId="{D7E93C80-6DE3-4307-B894-C189EF8936B9}"/>
    <dgm:cxn modelId="{874CAB56-E993-4BA7-B073-DD6F211AB452}" srcId="{E12051B9-F660-41FB-9BFB-187ECABCD821}" destId="{56D25664-E470-4423-B8A9-9B6E4F3E9501}" srcOrd="0" destOrd="0" parTransId="{AE225F17-CB4A-4698-895E-495209A24EDD}" sibTransId="{0513D618-905F-43E6-8DF3-0764A99732D8}"/>
    <dgm:cxn modelId="{1DCB0E8B-E40A-46BF-A80C-48D12181F989}" type="presOf" srcId="{E12051B9-F660-41FB-9BFB-187ECABCD821}" destId="{4413368B-ACCA-469B-9D0E-1FEFC4075FB0}" srcOrd="0" destOrd="0" presId="urn:microsoft.com/office/officeart/2005/8/layout/hProcess7"/>
    <dgm:cxn modelId="{68C078E2-2813-4DD1-8D49-00CEDEB813BD}" srcId="{2645AA64-F59A-4567-9741-8E504AE7F8ED}" destId="{95A718DB-BBB4-46AA-BDBB-89DD317FC1FE}" srcOrd="0" destOrd="0" parTransId="{559BC884-0E6B-4229-BA40-83AA0FB5E9C3}" sibTransId="{E6806443-A792-465A-A42A-65355E8F5FCD}"/>
    <dgm:cxn modelId="{70632021-CCAC-475F-847B-33412C108413}" srcId="{275823A6-DA31-4015-971F-013EA967541C}" destId="{8991BA4A-2F3E-42D3-8B99-BCDFA0BDD3E7}" srcOrd="1" destOrd="0" parTransId="{E7596637-F052-4ABF-A854-69BA244C60E4}" sibTransId="{0EE95D68-7A6E-4523-9E32-BE80241F048A}"/>
    <dgm:cxn modelId="{57824522-8F28-49A9-B1BA-92C8570C9820}" srcId="{2645AA64-F59A-4567-9741-8E504AE7F8ED}" destId="{D4C8B335-3CDB-4410-8398-ADA4B6D707D0}" srcOrd="1" destOrd="0" parTransId="{6731F8F5-E23D-44FE-B5E9-470480E8C490}" sibTransId="{8F87DA33-748F-4E07-B160-1008D5AD6E87}"/>
    <dgm:cxn modelId="{F5171554-D7E4-47E7-9A00-190CFCC733B4}" srcId="{8991BA4A-2F3E-42D3-8B99-BCDFA0BDD3E7}" destId="{E06B764D-BC71-49D2-8B67-E60CEBB218ED}" srcOrd="2" destOrd="0" parTransId="{0D6ED01A-4A13-463F-B050-390626DC5395}" sibTransId="{60B10233-1B50-4744-8D62-F2C31CF326E1}"/>
    <dgm:cxn modelId="{8BE4AC12-40F3-4F0D-917E-1DE0D831E752}" type="presOf" srcId="{56D25664-E470-4423-B8A9-9B6E4F3E9501}" destId="{1F2FC209-C6F9-4BD8-BE18-C50B50281548}" srcOrd="1" destOrd="0"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62E60EE8-063F-4C0A-8FDD-046B87B79BFA}" type="presOf" srcId="{E06B764D-BC71-49D2-8B67-E60CEBB218ED}" destId="{7C1FE252-E5CE-40AF-AE08-799A5F741FEE}" srcOrd="0" destOrd="5" presId="urn:microsoft.com/office/officeart/2005/8/layout/hProcess7"/>
    <dgm:cxn modelId="{A551A433-3F50-49D5-AAEA-152515D37B9D}" type="presOf" srcId="{D4C8B335-3CDB-4410-8398-ADA4B6D707D0}" destId="{4428B23C-049C-4D7B-92D7-DD65A1003E4E}" srcOrd="0" destOrd="1" presId="urn:microsoft.com/office/officeart/2005/8/layout/hProcess7"/>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Patent rights to an invention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defTabSz="800100">
            <a:lnSpc>
              <a:spcPct val="90000"/>
            </a:lnSpc>
            <a:spcBef>
              <a:spcPct val="0"/>
            </a:spcBef>
            <a:spcAft>
              <a:spcPts val="600"/>
            </a:spcAft>
          </a:pPr>
          <a:r>
            <a:rPr lang="en-US" sz="1800" dirty="0" smtClean="0"/>
            <a:t>No universal definition.</a:t>
          </a:r>
        </a:p>
        <a:p>
          <a:pPr defTabSz="800100">
            <a:lnSpc>
              <a:spcPct val="90000"/>
            </a:lnSpc>
            <a:spcBef>
              <a:spcPct val="0"/>
            </a:spcBef>
            <a:spcAft>
              <a:spcPts val="600"/>
            </a:spcAft>
          </a:pPr>
          <a:r>
            <a:rPr lang="en-US" sz="1800" dirty="0" smtClean="0"/>
            <a:t>Not </a:t>
          </a:r>
          <a:r>
            <a:rPr lang="en-US" sz="1800" dirty="0"/>
            <a:t>explicitly defined.</a:t>
          </a:r>
        </a:p>
        <a:p>
          <a:pPr defTabSz="800100">
            <a:lnSpc>
              <a:spcPct val="90000"/>
            </a:lnSpc>
            <a:spcBef>
              <a:spcPct val="0"/>
            </a:spcBef>
            <a:spcAft>
              <a:spcPts val="600"/>
            </a:spcAft>
          </a:pPr>
          <a:r>
            <a:rPr lang="en-US" sz="1800" dirty="0" smtClean="0"/>
            <a:t>Not </a:t>
          </a:r>
          <a:r>
            <a:rPr lang="en-US" sz="1800" dirty="0"/>
            <a:t>all technology is patentable.</a:t>
          </a:r>
        </a:p>
        <a:p>
          <a:pPr marL="0" marR="0" indent="0" defTabSz="914400" eaLnBrk="1" fontAlgn="auto" latinLnBrk="0" hangingPunct="1">
            <a:lnSpc>
              <a:spcPct val="100000"/>
            </a:lnSpc>
            <a:spcBef>
              <a:spcPts val="0"/>
            </a:spcBef>
            <a:spcAft>
              <a:spcPts val="600"/>
            </a:spcAft>
            <a:buClrTx/>
            <a:buSzTx/>
            <a:buFontTx/>
            <a:buNone/>
            <a:tabLst/>
            <a:defRPr/>
          </a:pPr>
          <a:r>
            <a:rPr lang="en-US" sz="1800" dirty="0"/>
            <a:t>Academic knowledge and technology are not synonymous</a:t>
          </a:r>
          <a:r>
            <a:rPr lang="en-US" sz="1800" dirty="0" smtClean="0"/>
            <a:t>.</a:t>
          </a:r>
        </a:p>
        <a:p>
          <a:pPr defTabSz="800100">
            <a:lnSpc>
              <a:spcPct val="90000"/>
            </a:lnSpc>
            <a:spcBef>
              <a:spcPct val="0"/>
            </a:spcBef>
            <a:spcAft>
              <a:spcPct val="35000"/>
            </a:spcAft>
          </a:pP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pPr>
            <a:spcAft>
              <a:spcPts val="0"/>
            </a:spcAft>
          </a:pPr>
          <a:r>
            <a:rPr lang="en-US" sz="1800" dirty="0"/>
            <a:t>Academic knowledge</a:t>
          </a:r>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FC158A3-0A26-443F-8850-EAF636B0FB18}" srcId="{E7E09A88-A855-416A-B17D-5608BAB5F968}" destId="{44D6C47C-2A82-400A-88DF-CE700FE5B4F6}" srcOrd="0" destOrd="0" parTransId="{1D9B40F5-809E-4085-AAB3-28E848A0A618}" sibTransId="{9B0B3DE2-7641-427F-B8AC-F1DF4D7C1DD9}"/>
    <dgm:cxn modelId="{982C3429-E99B-4B29-AA58-585E121A0F18}" type="presOf" srcId="{D264B8C8-0C74-4047-BC3D-D328ABB04B07}" destId="{4428B23C-049C-4D7B-92D7-DD65A1003E4E}" srcOrd="0" destOrd="0" presId="urn:microsoft.com/office/officeart/2005/8/layout/hProcess7"/>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3E5E0C19-FB6A-438A-B497-792AAA222AB0}" type="presOf" srcId="{2CC1F9DA-9BD5-4E70-B92A-8B0545959FAA}" destId="{7C1FE252-E5CE-40AF-AE08-799A5F741FEE}" srcOrd="0" destOrd="3" presId="urn:microsoft.com/office/officeart/2005/8/layout/hProcess7"/>
    <dgm:cxn modelId="{F7D3D781-E7A9-49B1-9EF0-BC121EE80F85}" type="presOf" srcId="{7EEB8A88-FDA5-4732-BE90-4CACB02E33E7}" destId="{7C1FE252-E5CE-40AF-AE08-799A5F741FEE}" srcOrd="0" destOrd="2"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Licensing, new venture formation, research collaborations, faculty consulting</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 universal definition.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pPr>
            <a:spcAft>
              <a:spcPct val="15000"/>
            </a:spcAft>
          </a:pPr>
          <a:r>
            <a:rPr lang="en-US" sz="1400" dirty="0"/>
            <a:t>Hallam, Wurth &amp; Mancha (2014)</a:t>
          </a:r>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E58B5A47-C138-41FD-A589-C231A97834C5}">
      <dgm:prSe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70DB7790-7630-418A-9A65-6A4FEF1A794E}" type="parTrans" cxnId="{37612963-5248-4487-8C1E-7601F02403F2}">
      <dgm:prSet/>
      <dgm:spPr/>
      <dgm:t>
        <a:bodyPr/>
        <a:lstStyle/>
        <a:p>
          <a:endParaRPr lang="en-US"/>
        </a:p>
      </dgm:t>
    </dgm:pt>
    <dgm:pt modelId="{6EA0B891-21D5-4EDF-9819-C1B330792A2D}" type="sibTrans" cxnId="{37612963-5248-4487-8C1E-7601F02403F2}">
      <dgm:prSet/>
      <dgm:spPr/>
      <dgm:t>
        <a:bodyPr/>
        <a:lstStyle/>
        <a:p>
          <a:endParaRPr lang="en-US"/>
        </a:p>
      </dgm:t>
    </dgm:pt>
    <dgm:pt modelId="{5E8ED5E5-1B4C-4016-B9D0-69E872C75C75}">
      <dgm:prSet phldrT="[Text]" custT="1"/>
      <dgm:spPr/>
      <dgm:t>
        <a:bodyPr/>
        <a:lstStyle/>
        <a:p>
          <a:pPr defTabSz="800100">
            <a:lnSpc>
              <a:spcPct val="90000"/>
            </a:lnSpc>
            <a:spcBef>
              <a:spcPct val="0"/>
            </a:spcBef>
            <a:spcAft>
              <a:spcPts val="600"/>
            </a:spcAft>
          </a:pPr>
          <a:r>
            <a:rPr lang="en-US" sz="1800" dirty="0" smtClean="0"/>
            <a:t>Conflates </a:t>
          </a:r>
          <a:r>
            <a:rPr lang="en-US" sz="1800" dirty="0"/>
            <a:t>the concept of technology transfer with the mechanisms for achieving it.</a:t>
          </a:r>
        </a:p>
      </dgm:t>
    </dgm:pt>
    <dgm:pt modelId="{351A0566-F3F9-406C-9B73-2DB580D1287C}" type="parTrans" cxnId="{7F1695E9-DBD1-4433-AC7F-DF93E2C4444C}">
      <dgm:prSet/>
      <dgm:spPr/>
      <dgm:t>
        <a:bodyPr/>
        <a:lstStyle/>
        <a:p>
          <a:endParaRPr lang="en-US"/>
        </a:p>
      </dgm:t>
    </dgm:pt>
    <dgm:pt modelId="{469DE897-4342-47F4-AB28-228D0E55F4A5}" type="sibTrans" cxnId="{7F1695E9-DBD1-4433-AC7F-DF93E2C4444C}">
      <dgm:prSet/>
      <dgm:spPr/>
      <dgm:t>
        <a:bodyPr/>
        <a:lstStyle/>
        <a:p>
          <a:endParaRPr lang="en-US"/>
        </a:p>
      </dgm:t>
    </dgm:pt>
    <dgm:pt modelId="{BCEAA19F-875D-442A-9B5A-49C5434FFCE0}">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Not explicitly defined.</a:t>
          </a:r>
        </a:p>
      </dgm:t>
    </dgm:pt>
    <dgm:pt modelId="{4F88F1EC-E1B8-4F49-90F0-4669DD734509}" type="parTrans" cxnId="{9604E665-DD5C-4EBC-92F1-EA2C5D98A755}">
      <dgm:prSet/>
      <dgm:spPr/>
      <dgm:t>
        <a:bodyPr/>
        <a:lstStyle/>
        <a:p>
          <a:endParaRPr lang="en-US"/>
        </a:p>
      </dgm:t>
    </dgm:pt>
    <dgm:pt modelId="{FFFD8E47-C420-45C7-BFFD-B495327D0916}" type="sibTrans" cxnId="{9604E665-DD5C-4EBC-92F1-EA2C5D98A75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F1695E9-DBD1-4433-AC7F-DF93E2C4444C}" srcId="{2645AA64-F59A-4567-9741-8E504AE7F8ED}" destId="{5E8ED5E5-1B4C-4016-B9D0-69E872C75C75}" srcOrd="2" destOrd="0" parTransId="{351A0566-F3F9-406C-9B73-2DB580D1287C}" sibTransId="{469DE897-4342-47F4-AB28-228D0E55F4A5}"/>
    <dgm:cxn modelId="{EE855B06-5CCC-4C53-AF4C-575A8770D0D5}" type="presOf" srcId="{2645AA64-F59A-4567-9741-8E504AE7F8ED}" destId="{BBE81636-BCDD-48A0-B978-839FA7B950F8}" srcOrd="0" destOrd="0" presId="urn:microsoft.com/office/officeart/2005/8/layout/hProcess7"/>
    <dgm:cxn modelId="{37612963-5248-4487-8C1E-7601F02403F2}" srcId="{E7E09A88-A855-416A-B17D-5608BAB5F968}" destId="{E58B5A47-C138-41FD-A589-C231A97834C5}" srcOrd="2" destOrd="0" parTransId="{70DB7790-7630-418A-9A65-6A4FEF1A794E}" sibTransId="{6EA0B891-21D5-4EDF-9819-C1B330792A2D}"/>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31724960-6B7E-46B6-9E51-4822305409CC}" type="presOf" srcId="{E58B5A47-C138-41FD-A589-C231A97834C5}" destId="{7C1FE252-E5CE-40AF-AE08-799A5F741FEE}" srcOrd="0" destOrd="3" presId="urn:microsoft.com/office/officeart/2005/8/layout/hProcess7"/>
    <dgm:cxn modelId="{9604E665-DD5C-4EBC-92F1-EA2C5D98A755}" srcId="{2645AA64-F59A-4567-9741-8E504AE7F8ED}" destId="{BCEAA19F-875D-442A-9B5A-49C5434FFCE0}" srcOrd="1" destOrd="0" parTransId="{4F88F1EC-E1B8-4F49-90F0-4669DD734509}" sibTransId="{FFFD8E47-C420-45C7-BFFD-B495327D0916}"/>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6A1E3EA1-BE98-462C-A58E-7BB7E43291AF}" type="presOf" srcId="{BCEAA19F-875D-442A-9B5A-49C5434FFCE0}" destId="{4428B23C-049C-4D7B-92D7-DD65A1003E4E}" srcOrd="0" destOrd="1"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44396268-9E9C-4E50-AEC0-2109C012557E}" type="presOf" srcId="{5E8ED5E5-1B4C-4016-B9D0-69E872C75C75}" destId="{4428B23C-049C-4D7B-92D7-DD65A1003E4E}" srcOrd="0" destOrd="2"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Defining Success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Executed patent license, established new business entity, executed sponsored research agreement</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A patent license is often a requirement for forming a university spinout company.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a:t>Sponsored research may not be related to technology previously developed at the university.</a:t>
          </a:r>
        </a:p>
        <a:p>
          <a:r>
            <a:rPr lang="en-US" sz="1800" dirty="0"/>
            <a:t>Don’t accommodate instances that are not transactional in nature.</a:t>
          </a:r>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pPr>
            <a:spcAft>
              <a:spcPct val="15000"/>
            </a:spcAft>
          </a:pPr>
          <a:r>
            <a:rPr lang="en-US" sz="1400" dirty="0"/>
            <a:t>Hallam, Wurth &amp; Mancha (2014)</a:t>
          </a:r>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9468C67F-56C6-4890-A41B-446E0BAD8B20}" type="presOf" srcId="{E12051B9-F660-41FB-9BFB-187ECABCD821}" destId="{4413368B-ACCA-469B-9D0E-1FEFC4075FB0}" srcOrd="0" destOrd="0" presId="urn:microsoft.com/office/officeart/2005/8/layout/hProcess7"/>
    <dgm:cxn modelId="{3C46EFEB-025A-4B4A-B32B-4DD9200ACF32}" type="presOf" srcId="{56D25664-E470-4423-B8A9-9B6E4F3E9501}" destId="{1F2FC209-C6F9-4BD8-BE18-C50B50281548}" srcOrd="1" destOrd="0" presId="urn:microsoft.com/office/officeart/2005/8/layout/hProcess7"/>
    <dgm:cxn modelId="{345E8502-C9FB-4C14-B93F-0E7CC17AC776}" type="presOf" srcId="{2645AA64-F59A-4567-9741-8E504AE7F8ED}" destId="{BBE81636-BCDD-48A0-B978-839FA7B950F8}" srcOrd="0" destOrd="0" presId="urn:microsoft.com/office/officeart/2005/8/layout/hProcess7"/>
    <dgm:cxn modelId="{0F565921-269C-4039-B027-DE123B2EA6D3}" type="presOf" srcId="{B66FEDCD-05F5-486C-8CAE-52A8E512E89C}" destId="{7C1FE252-E5CE-40AF-AE08-799A5F741FEE}" srcOrd="0" destOrd="2"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A26EACB-9B9A-4CC5-8B01-DAE18BDBFC90}" type="presOf" srcId="{2645AA64-F59A-4567-9741-8E504AE7F8ED}" destId="{5002EEF7-AB5F-41AC-BBA4-49DC2C142864}" srcOrd="1" destOrd="0" presId="urn:microsoft.com/office/officeart/2005/8/layout/hProcess7"/>
    <dgm:cxn modelId="{A6C9FB56-CA4C-4D3D-9DF3-0FDA5A40B058}" type="presOf" srcId="{5E26D614-F864-488A-B521-ECFB18615A67}" destId="{4428B23C-049C-4D7B-92D7-DD65A1003E4E}" srcOrd="0" destOrd="1" presId="urn:microsoft.com/office/officeart/2005/8/layout/hProcess7"/>
    <dgm:cxn modelId="{7CD9E12C-6453-4DCD-8B09-3F2C537EAB52}" type="presOf" srcId="{275823A6-DA31-4015-971F-013EA967541C}" destId="{752682F3-57CE-4B43-B292-A62B3D508EDD}" srcOrd="1" destOrd="0" presId="urn:microsoft.com/office/officeart/2005/8/layout/hProcess7"/>
    <dgm:cxn modelId="{80B9EB3B-2B60-488D-89E7-F3CADBBD236B}" type="presOf" srcId="{E7E09A88-A855-416A-B17D-5608BAB5F968}" destId="{7C1FE252-E5CE-40AF-AE08-799A5F741FEE}" srcOrd="0" destOrd="0" presId="urn:microsoft.com/office/officeart/2005/8/layout/hProcess7"/>
    <dgm:cxn modelId="{F4EA48C2-FC9A-4F54-B786-EACA5C6FA5F9}" type="presOf" srcId="{D264B8C8-0C74-4047-BC3D-D328ABB04B07}" destId="{4428B23C-049C-4D7B-92D7-DD65A1003E4E}" srcOrd="0" destOrd="0" presId="urn:microsoft.com/office/officeart/2005/8/layout/hProcess7"/>
    <dgm:cxn modelId="{B8DBEC51-D664-4B9F-A8C1-5048D857CDD2}" type="presOf" srcId="{A63F54FD-8B74-4C7D-8473-B344FD749CC5}" destId="{7C1FE252-E5CE-40AF-AE08-799A5F741FEE}" srcOrd="0" destOrd="1"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58B2BC64-5764-4AB9-A4AB-29E8748A79F4}" srcId="{E7E09A88-A855-416A-B17D-5608BAB5F968}" destId="{B66FEDCD-05F5-486C-8CAE-52A8E512E89C}" srcOrd="1" destOrd="0" parTransId="{A1A1A8E9-FC1C-440B-BEEE-514CF5E89A17}" sibTransId="{6D41E4AF-E64D-4792-8F65-5A3AAA325729}"/>
    <dgm:cxn modelId="{93B1179C-1A4F-4322-B7F5-7EDD3B10E174}" type="presOf" srcId="{F754AD28-8B54-47D9-83F1-8D45F35B4A81}" destId="{0F07502A-98A4-4880-9779-27EA2BEB6F02}"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A7F7B04-6A39-45A4-AF0B-D1A9094F072C}" type="presOf" srcId="{DEA16A63-FA9D-4192-A529-0359124F8856}" destId="{7C1FE252-E5CE-40AF-AE08-799A5F741FEE}" srcOrd="0" destOrd="3" presId="urn:microsoft.com/office/officeart/2005/8/layout/hProcess7"/>
    <dgm:cxn modelId="{06715221-C8AF-419C-820D-7BBF0648749C}" type="presOf" srcId="{275823A6-DA31-4015-971F-013EA967541C}" destId="{CB5EA34A-627A-4C1F-96E3-4088D2A98FDD}"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6D9E101D-8C9B-45AD-8944-D23E0555CF3C}"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A119129-BFC5-426B-ADBE-A12AEE62A7F2}" srcId="{E7E09A88-A855-416A-B17D-5608BAB5F968}" destId="{DEA16A63-FA9D-4192-A529-0359124F8856}" srcOrd="2" destOrd="0" parTransId="{50241EA1-ACEB-4859-BDF5-8C00490A77F8}" sibTransId="{BD6B7C49-70A8-4A58-9FF0-D04F58C7049C}"/>
    <dgm:cxn modelId="{955316F3-D59D-4E22-BAC5-4B54F7BE800A}" srcId="{275823A6-DA31-4015-971F-013EA967541C}" destId="{E7E09A88-A855-416A-B17D-5608BAB5F968}" srcOrd="0" destOrd="0" parTransId="{791A9365-62E9-4724-B5DD-36351582D82E}" sibTransId="{C2A5DE0A-7824-4E35-BB27-47DBE8541DB5}"/>
    <dgm:cxn modelId="{8D8F1005-1254-4AA3-968E-F1062D3D5539}" srcId="{2645AA64-F59A-4567-9741-8E504AE7F8ED}" destId="{5E26D614-F864-488A-B521-ECFB18615A67}" srcOrd="1" destOrd="0" parTransId="{6042B30F-04F9-491A-B025-8DAF5DAD22F4}" sibTransId="{447DC559-5F8E-4BB5-81B2-084CAF7ABD09}"/>
    <dgm:cxn modelId="{F59C226B-A15A-41DE-A46B-E19633E3B53E}" type="presParOf" srcId="{4413368B-ACCA-469B-9D0E-1FEFC4075FB0}" destId="{8E1BCC0E-B989-4435-8915-645304C71A64}" srcOrd="0" destOrd="0" presId="urn:microsoft.com/office/officeart/2005/8/layout/hProcess7"/>
    <dgm:cxn modelId="{81AA18A2-EEF4-41D9-8515-193C6D376E11}" type="presParOf" srcId="{8E1BCC0E-B989-4435-8915-645304C71A64}" destId="{5EE1D2E5-E13B-4FA3-A68E-FA18C8AD1A1A}" srcOrd="0" destOrd="0" presId="urn:microsoft.com/office/officeart/2005/8/layout/hProcess7"/>
    <dgm:cxn modelId="{67755E0C-3EB2-4F04-9926-B901F62740E7}" type="presParOf" srcId="{8E1BCC0E-B989-4435-8915-645304C71A64}" destId="{1F2FC209-C6F9-4BD8-BE18-C50B50281548}" srcOrd="1" destOrd="0" presId="urn:microsoft.com/office/officeart/2005/8/layout/hProcess7"/>
    <dgm:cxn modelId="{2DE8C1BA-2800-4A5C-9538-023957D25802}" type="presParOf" srcId="{8E1BCC0E-B989-4435-8915-645304C71A64}" destId="{0F07502A-98A4-4880-9779-27EA2BEB6F02}" srcOrd="2" destOrd="0" presId="urn:microsoft.com/office/officeart/2005/8/layout/hProcess7"/>
    <dgm:cxn modelId="{452C37CD-0E4F-49ED-82F0-7161CD27D444}" type="presParOf" srcId="{4413368B-ACCA-469B-9D0E-1FEFC4075FB0}" destId="{13ACBB4E-2F0C-4773-92A7-F091255EA962}" srcOrd="1" destOrd="0" presId="urn:microsoft.com/office/officeart/2005/8/layout/hProcess7"/>
    <dgm:cxn modelId="{3B37A81D-BD9F-454D-92C9-00202A1B0C81}" type="presParOf" srcId="{4413368B-ACCA-469B-9D0E-1FEFC4075FB0}" destId="{BAD87237-2D53-4DFC-BA2E-02EC39493885}" srcOrd="2" destOrd="0" presId="urn:microsoft.com/office/officeart/2005/8/layout/hProcess7"/>
    <dgm:cxn modelId="{62B2966E-0BDB-45BC-A343-81FAC7FC9272}" type="presParOf" srcId="{BAD87237-2D53-4DFC-BA2E-02EC39493885}" destId="{221F174E-2568-4C2B-B98A-B21C733FC119}" srcOrd="0" destOrd="0" presId="urn:microsoft.com/office/officeart/2005/8/layout/hProcess7"/>
    <dgm:cxn modelId="{00F02121-8BB1-43D7-8D75-78D8DDD1ADDC}" type="presParOf" srcId="{BAD87237-2D53-4DFC-BA2E-02EC39493885}" destId="{45668240-D897-4FC1-8421-6DD785B65040}" srcOrd="1" destOrd="0" presId="urn:microsoft.com/office/officeart/2005/8/layout/hProcess7"/>
    <dgm:cxn modelId="{14C43528-8F0F-4FDA-BD96-A2E978D685C3}" type="presParOf" srcId="{BAD87237-2D53-4DFC-BA2E-02EC39493885}" destId="{50ECFA14-9F36-4C35-911C-A780FF037D2C}" srcOrd="2" destOrd="0" presId="urn:microsoft.com/office/officeart/2005/8/layout/hProcess7"/>
    <dgm:cxn modelId="{13051E0E-AE32-467C-BF6E-7927A838178D}" type="presParOf" srcId="{4413368B-ACCA-469B-9D0E-1FEFC4075FB0}" destId="{B0CEB5DD-B27E-454F-A39C-A559A187214D}" srcOrd="3" destOrd="0" presId="urn:microsoft.com/office/officeart/2005/8/layout/hProcess7"/>
    <dgm:cxn modelId="{BC78F96B-3277-459D-9C06-9863575AD802}" type="presParOf" srcId="{4413368B-ACCA-469B-9D0E-1FEFC4075FB0}" destId="{4C92115F-DFB0-4372-AF66-CF11B70A8EFD}" srcOrd="4" destOrd="0" presId="urn:microsoft.com/office/officeart/2005/8/layout/hProcess7"/>
    <dgm:cxn modelId="{1C6BB721-6B6B-4151-BECE-A5C2C70E19D5}" type="presParOf" srcId="{4C92115F-DFB0-4372-AF66-CF11B70A8EFD}" destId="{CB5EA34A-627A-4C1F-96E3-4088D2A98FDD}" srcOrd="0" destOrd="0" presId="urn:microsoft.com/office/officeart/2005/8/layout/hProcess7"/>
    <dgm:cxn modelId="{BD9243CB-84DD-425D-9296-A9E1A32AEF7B}" type="presParOf" srcId="{4C92115F-DFB0-4372-AF66-CF11B70A8EFD}" destId="{752682F3-57CE-4B43-B292-A62B3D508EDD}" srcOrd="1" destOrd="0" presId="urn:microsoft.com/office/officeart/2005/8/layout/hProcess7"/>
    <dgm:cxn modelId="{C9A2C7A7-EAA5-45AF-9EE4-5C0875F9ED54}" type="presParOf" srcId="{4C92115F-DFB0-4372-AF66-CF11B70A8EFD}" destId="{7C1FE252-E5CE-40AF-AE08-799A5F741FEE}" srcOrd="2" destOrd="0" presId="urn:microsoft.com/office/officeart/2005/8/layout/hProcess7"/>
    <dgm:cxn modelId="{BFA08AFA-F67C-4AD8-90E7-31181FAE4024}" type="presParOf" srcId="{4413368B-ACCA-469B-9D0E-1FEFC4075FB0}" destId="{E94DD569-30C2-4DB5-BFE9-2EA1C054A099}" srcOrd="5" destOrd="0" presId="urn:microsoft.com/office/officeart/2005/8/layout/hProcess7"/>
    <dgm:cxn modelId="{27E5F088-1141-4A27-9D04-09CBCA5AC72F}" type="presParOf" srcId="{4413368B-ACCA-469B-9D0E-1FEFC4075FB0}" destId="{D0762C22-9124-4CFC-9FEF-33DB241A1B75}" srcOrd="6" destOrd="0" presId="urn:microsoft.com/office/officeart/2005/8/layout/hProcess7"/>
    <dgm:cxn modelId="{539DEB61-29D3-4DA4-9500-6BAEC737177F}" type="presParOf" srcId="{D0762C22-9124-4CFC-9FEF-33DB241A1B75}" destId="{C8DF72E1-70D1-4214-8DAD-40E18FF824F5}" srcOrd="0" destOrd="0" presId="urn:microsoft.com/office/officeart/2005/8/layout/hProcess7"/>
    <dgm:cxn modelId="{D4551D62-ED6D-4C48-AC7C-FCDB8101044F}" type="presParOf" srcId="{D0762C22-9124-4CFC-9FEF-33DB241A1B75}" destId="{BAC8B8B3-49A2-4BE7-B498-654C601FE809}" srcOrd="1" destOrd="0" presId="urn:microsoft.com/office/officeart/2005/8/layout/hProcess7"/>
    <dgm:cxn modelId="{767501BF-6768-4F1A-8563-4FF2FCCA1AC4}" type="presParOf" srcId="{D0762C22-9124-4CFC-9FEF-33DB241A1B75}" destId="{4A5065A5-7398-4E75-9460-0F7770025FB9}" srcOrd="2" destOrd="0" presId="urn:microsoft.com/office/officeart/2005/8/layout/hProcess7"/>
    <dgm:cxn modelId="{EBC81E12-9F8A-4DCA-A632-F268FFABA313}" type="presParOf" srcId="{4413368B-ACCA-469B-9D0E-1FEFC4075FB0}" destId="{2AE61FAA-6DD0-4F7B-8C42-F1DA0A887180}" srcOrd="7" destOrd="0" presId="urn:microsoft.com/office/officeart/2005/8/layout/hProcess7"/>
    <dgm:cxn modelId="{5CAA01F2-2200-4CE9-8390-FF866CDD39C5}" type="presParOf" srcId="{4413368B-ACCA-469B-9D0E-1FEFC4075FB0}" destId="{72B73D94-A19D-488F-A34B-978C721C47B4}" srcOrd="8" destOrd="0" presId="urn:microsoft.com/office/officeart/2005/8/layout/hProcess7"/>
    <dgm:cxn modelId="{7199D922-2022-422D-B8B5-ECED05CF392E}" type="presParOf" srcId="{72B73D94-A19D-488F-A34B-978C721C47B4}" destId="{BBE81636-BCDD-48A0-B978-839FA7B950F8}" srcOrd="0" destOrd="0" presId="urn:microsoft.com/office/officeart/2005/8/layout/hProcess7"/>
    <dgm:cxn modelId="{307F422D-D574-4890-AD7D-FFF46241F23F}" type="presParOf" srcId="{72B73D94-A19D-488F-A34B-978C721C47B4}" destId="{5002EEF7-AB5F-41AC-BBA4-49DC2C142864}" srcOrd="1" destOrd="0" presId="urn:microsoft.com/office/officeart/2005/8/layout/hProcess7"/>
    <dgm:cxn modelId="{E92420BD-73DE-47FB-81F8-431DB6AAE277}"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Success Factors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Studies have mostly focused on </a:t>
          </a:r>
          <a:r>
            <a:rPr lang="en-US" sz="1800" dirty="0" smtClean="0"/>
            <a:t>the relation between institutional characteristics and technology transfer outcomes.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18E1F703-50F6-4B74-8D77-B189D361DBBA}" srcId="{E7E09A88-A855-416A-B17D-5608BAB5F968}" destId="{F86BA50F-7B09-4CE2-8B83-90FEB494F38C}" srcOrd="0" destOrd="0" parTransId="{E910A421-ED4D-4BCE-832C-1481D6654CBB}" sibTransId="{FCBE2083-2E00-41C2-B89E-BD45A38C3EE2}"/>
    <dgm:cxn modelId="{3893ABA4-7B69-4D33-BC00-E43B7028591B}" type="presOf" srcId="{275823A6-DA31-4015-971F-013EA967541C}" destId="{752682F3-57CE-4B43-B292-A62B3D508EDD}" srcOrd="1" destOrd="0" presId="urn:microsoft.com/office/officeart/2005/8/layout/hProcess7"/>
    <dgm:cxn modelId="{CE72CA96-9220-4AFD-88F9-936C50BD554D}" type="presOf" srcId="{56D25664-E470-4423-B8A9-9B6E4F3E9501}" destId="{5EE1D2E5-E13B-4FA3-A68E-FA18C8AD1A1A}" srcOrd="0"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FB56A77E-384F-4C09-AC6E-469F6C9D238D}" type="presOf" srcId="{2645AA64-F59A-4567-9741-8E504AE7F8ED}" destId="{5002EEF7-AB5F-41AC-BBA4-49DC2C142864}" srcOrd="1" destOrd="0"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DB0E41DD-BBBD-4BC6-B3BC-6EE03599BEEF}" type="presOf" srcId="{2645AA64-F59A-4567-9741-8E504AE7F8ED}" destId="{BBE81636-BCDD-48A0-B978-839FA7B950F8}" srcOrd="0"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FA79C83B-0A67-4DC7-ADBE-DB83B0AF2D79}"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BFEF5BF-4C5E-4E32-9F19-BAE0077EA458}" type="presOf" srcId="{F86BA50F-7B09-4CE2-8B83-90FEB494F38C}" destId="{7C1FE252-E5CE-40AF-AE08-799A5F741FEE}" srcOrd="0" destOrd="1"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Stage &amp; Geography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Development stage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Development </a:t>
          </a:r>
          <a:r>
            <a:rPr lang="en-US" sz="1800" dirty="0"/>
            <a:t>stage </a:t>
          </a:r>
          <a:r>
            <a:rPr lang="en-US" sz="1800" dirty="0" smtClean="0"/>
            <a:t>has generally not been considered as an </a:t>
          </a:r>
          <a:r>
            <a:rPr lang="en-US" sz="1800" dirty="0"/>
            <a:t>independent variable.</a:t>
          </a:r>
        </a:p>
        <a:p>
          <a:r>
            <a:rPr lang="en-US" sz="1800" dirty="0"/>
            <a:t>Studies have investigated specific geographic factors such as venture capital</a:t>
          </a:r>
        </a:p>
        <a:p>
          <a:r>
            <a:rPr lang="en-US" sz="1800" dirty="0"/>
            <a:t>Studies have explored  the association between cities and innovation.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pPr>
            <a:spcBef>
              <a:spcPct val="0"/>
            </a:spcBef>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B1FFFC36-A8D3-451D-9C3A-93B8EDFBC6B5}">
      <dgm:prSet phldrT="[Text]" custT="1"/>
      <dgm:spPr/>
      <dgm:t>
        <a:bodyPr/>
        <a:lstStyle/>
        <a:p>
          <a:pPr>
            <a:spcBef>
              <a:spcPts val="0"/>
            </a:spcBef>
            <a:spcAft>
              <a:spcPts val="0"/>
            </a:spcAft>
          </a:pPr>
          <a:r>
            <a:rPr lang="en-US" sz="1800" dirty="0"/>
            <a:t>Association between cities and innovation</a:t>
          </a:r>
        </a:p>
      </dgm:t>
    </dgm:pt>
    <dgm:pt modelId="{A4168942-A87C-4279-8340-8FA8F4842A1C}" type="parTrans" cxnId="{3CC74B7C-BBAA-404B-B061-C3CF70BA6C52}">
      <dgm:prSet/>
      <dgm:spPr/>
      <dgm:t>
        <a:bodyPr/>
        <a:lstStyle/>
        <a:p>
          <a:endParaRPr lang="en-US"/>
        </a:p>
      </dgm:t>
    </dgm:pt>
    <dgm:pt modelId="{A4E9E1FE-B794-4427-9318-EF5C2483C10F}" type="sibTrans" cxnId="{3CC74B7C-BBAA-404B-B061-C3CF70BA6C52}">
      <dgm:prSet/>
      <dgm:spPr/>
      <dgm:t>
        <a:bodyPr/>
        <a:lstStyle/>
        <a:p>
          <a:endParaRPr lang="en-US"/>
        </a:p>
      </dgm:t>
    </dgm:pt>
    <dgm:pt modelId="{3E7C4519-64CD-4235-907C-0A2B2EBDDB2B}">
      <dgm:prSet phldrT="[Text]" custT="1"/>
      <dgm:spPr/>
      <dgm:t>
        <a:bodyPr/>
        <a:lstStyle/>
        <a:p>
          <a:pPr>
            <a:spcBef>
              <a:spcPct val="0"/>
            </a:spcBef>
            <a:spcAft>
              <a:spcPct val="15000"/>
            </a:spcAft>
          </a:pPr>
          <a:r>
            <a:rPr lang="en-US" sz="1400" dirty="0"/>
            <a:t>Florida, Alder &amp; </a:t>
          </a:r>
          <a:r>
            <a:rPr lang="en-US" sz="1400" dirty="0" err="1"/>
            <a:t>Mellander</a:t>
          </a:r>
          <a:r>
            <a:rPr lang="en-US" sz="1400" dirty="0"/>
            <a:t> (2017)</a:t>
          </a:r>
        </a:p>
      </dgm:t>
    </dgm:pt>
    <dgm:pt modelId="{049A2AB5-51A6-492C-92DA-5C229F22C240}" type="parTrans" cxnId="{8E8CA84A-5BBC-4D26-9512-14543001D4AE}">
      <dgm:prSet/>
      <dgm:spPr/>
      <dgm:t>
        <a:bodyPr/>
        <a:lstStyle/>
        <a:p>
          <a:endParaRPr lang="en-US"/>
        </a:p>
      </dgm:t>
    </dgm:pt>
    <dgm:pt modelId="{29C0C1B3-D692-4EC8-A9C8-6D22145F5DB1}" type="sibTrans" cxnId="{8E8CA84A-5BBC-4D26-9512-14543001D4AE}">
      <dgm:prSet/>
      <dgm:spPr/>
      <dgm:t>
        <a:bodyPr/>
        <a:lstStyle/>
        <a:p>
          <a:endParaRPr lang="en-US"/>
        </a:p>
      </dgm:t>
    </dgm:pt>
    <dgm:pt modelId="{B1DCE110-24AB-4236-B3C6-4FE160C4D2B8}">
      <dgm:prSet phldrT="[Text]" custT="1"/>
      <dgm:spPr/>
      <dgm:t>
        <a:bodyPr/>
        <a:lstStyle/>
        <a:p>
          <a:pPr>
            <a:spcBef>
              <a:spcPct val="0"/>
            </a:spcBef>
            <a:spcAft>
              <a:spcPct val="15000"/>
            </a:spcAft>
          </a:pPr>
          <a:r>
            <a:rPr lang="en-US" sz="1400" dirty="0"/>
            <a:t>Florida &amp; </a:t>
          </a:r>
          <a:r>
            <a:rPr lang="en-US" sz="1400" dirty="0" err="1"/>
            <a:t>Lellander</a:t>
          </a:r>
          <a:r>
            <a:rPr lang="en-US" sz="1400" dirty="0"/>
            <a:t> (2016)</a:t>
          </a:r>
        </a:p>
      </dgm:t>
    </dgm:pt>
    <dgm:pt modelId="{68D62A61-2FFC-404A-A6AB-3574AFB40C80}" type="parTrans" cxnId="{606D77F8-F89D-4D3D-A6E8-822491591595}">
      <dgm:prSet/>
      <dgm:spPr/>
      <dgm:t>
        <a:bodyPr/>
        <a:lstStyle/>
        <a:p>
          <a:endParaRPr lang="en-US"/>
        </a:p>
      </dgm:t>
    </dgm:pt>
    <dgm:pt modelId="{CB665FF9-7446-4441-B264-9E225251D9FD}" type="sibTrans" cxnId="{606D77F8-F89D-4D3D-A6E8-822491591595}">
      <dgm:prSet/>
      <dgm:spPr/>
      <dgm:t>
        <a:bodyPr/>
        <a:lstStyle/>
        <a:p>
          <a:endParaRPr lang="en-US"/>
        </a:p>
      </dgm:t>
    </dgm:pt>
    <dgm:pt modelId="{B788EC3F-15F2-4F7D-B8B7-6CD1B0127EA5}">
      <dgm:prSet phldrT="[Text]" custT="1"/>
      <dgm:spPr/>
      <dgm:t>
        <a:bodyPr/>
        <a:lstStyle/>
        <a:p>
          <a:pPr>
            <a:spcBef>
              <a:spcPct val="0"/>
            </a:spcBef>
            <a:spcAft>
              <a:spcPct val="15000"/>
            </a:spcAft>
          </a:pPr>
          <a:r>
            <a:rPr lang="en-US" sz="1400" dirty="0" err="1"/>
            <a:t>Reuer</a:t>
          </a:r>
          <a:r>
            <a:rPr lang="en-US" sz="1400" dirty="0"/>
            <a:t> &amp; </a:t>
          </a:r>
          <a:r>
            <a:rPr lang="en-US" sz="1400" dirty="0" err="1"/>
            <a:t>Lahiri</a:t>
          </a:r>
          <a:r>
            <a:rPr lang="en-US" sz="1400" dirty="0"/>
            <a:t> (2014)</a:t>
          </a:r>
        </a:p>
      </dgm:t>
    </dgm:pt>
    <dgm:pt modelId="{8E27B5BB-0CCE-4AD9-BBD9-2720B14048D1}" type="parTrans" cxnId="{3454834B-05D9-49C0-B367-ABD37A9248C4}">
      <dgm:prSet/>
      <dgm:spPr/>
      <dgm:t>
        <a:bodyPr/>
        <a:lstStyle/>
        <a:p>
          <a:endParaRPr lang="en-US"/>
        </a:p>
      </dgm:t>
    </dgm:pt>
    <dgm:pt modelId="{F3590E07-8170-4762-9ED1-243BC06CDA59}" type="sibTrans" cxnId="{3454834B-05D9-49C0-B367-ABD37A9248C4}">
      <dgm:prSet/>
      <dgm:spPr/>
      <dgm:t>
        <a:bodyPr/>
        <a:lstStyle/>
        <a:p>
          <a:endParaRPr lang="en-US"/>
        </a:p>
      </dgm:t>
    </dgm:pt>
    <dgm:pt modelId="{03FDD481-2C2D-4504-B65C-774E995BF815}">
      <dgm:prSet phldrT="[Text]" custT="1"/>
      <dgm:spPr/>
      <dgm:t>
        <a:bodyPr/>
        <a:lstStyle/>
        <a:p>
          <a:pPr>
            <a:spcBef>
              <a:spcPct val="0"/>
            </a:spcBef>
            <a:spcAft>
              <a:spcPts val="0"/>
            </a:spcAft>
          </a:pPr>
          <a:r>
            <a:rPr lang="en-US" sz="1800" dirty="0"/>
            <a:t>Geographic considerations</a:t>
          </a:r>
        </a:p>
      </dgm:t>
    </dgm:pt>
    <dgm:pt modelId="{5AB09CFD-D26F-4473-BD7C-269085681305}" type="parTrans" cxnId="{07D87A2A-9AAA-4B59-B7ED-01AF7D2660FE}">
      <dgm:prSet/>
      <dgm:spPr/>
      <dgm:t>
        <a:bodyPr/>
        <a:lstStyle/>
        <a:p>
          <a:endParaRPr lang="en-US"/>
        </a:p>
      </dgm:t>
    </dgm:pt>
    <dgm:pt modelId="{D92C8B2D-E05C-41B0-98F7-AEFB0C95D5C1}" type="sibTrans" cxnId="{07D87A2A-9AAA-4B59-B7ED-01AF7D2660FE}">
      <dgm:prSet/>
      <dgm:spPr/>
      <dgm:t>
        <a:bodyPr/>
        <a:lstStyle/>
        <a:p>
          <a:endParaRPr lang="en-US"/>
        </a:p>
      </dgm:t>
    </dgm:pt>
    <dgm:pt modelId="{78928CAB-7A7E-4B76-80D9-1D90FF416781}">
      <dgm:prSet phldrT="[Text]" custT="1"/>
      <dgm:spPr/>
      <dgm:t>
        <a:bodyPr/>
        <a:lstStyle/>
        <a:p>
          <a:pPr>
            <a:spcBef>
              <a:spcPct val="0"/>
            </a:spcBef>
            <a:spcAft>
              <a:spcPct val="15000"/>
            </a:spcAft>
          </a:pPr>
          <a:r>
            <a:rPr lang="en-US" sz="1400" dirty="0"/>
            <a:t>Wang, Mohammed, Wu &amp; Xiang (2016)</a:t>
          </a:r>
        </a:p>
      </dgm:t>
    </dgm:pt>
    <dgm:pt modelId="{473E318F-7A63-4E2F-8965-6B2DDC1BC9D0}" type="parTrans" cxnId="{BB6B251A-C418-4794-941E-2B7DA6116EE8}">
      <dgm:prSet/>
      <dgm:spPr/>
      <dgm:t>
        <a:bodyPr/>
        <a:lstStyle/>
        <a:p>
          <a:endParaRPr lang="en-US"/>
        </a:p>
      </dgm:t>
    </dgm:pt>
    <dgm:pt modelId="{A668CB96-A093-4B02-B67C-014EDA5BCAC4}" type="sibTrans" cxnId="{BB6B251A-C418-4794-941E-2B7DA6116EE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06DD160-2314-4045-A876-E6FDD8A0453F}" type="presOf" srcId="{F754AD28-8B54-47D9-83F1-8D45F35B4A81}" destId="{0F07502A-98A4-4880-9779-27EA2BEB6F02}" srcOrd="0" destOrd="0" presId="urn:microsoft.com/office/officeart/2005/8/layout/hProcess7"/>
    <dgm:cxn modelId="{7EB85659-85B5-4A58-A8B7-F9970CF28E2D}" type="presOf" srcId="{AFF6176D-85DE-40AE-90C6-893C51B32EB3}" destId="{7C1FE252-E5CE-40AF-AE08-799A5F741FEE}" srcOrd="0" destOrd="3" presId="urn:microsoft.com/office/officeart/2005/8/layout/hProcess7"/>
    <dgm:cxn modelId="{BB6B251A-C418-4794-941E-2B7DA6116EE8}" srcId="{E7E09A88-A855-416A-B17D-5608BAB5F968}" destId="{78928CAB-7A7E-4B76-80D9-1D90FF416781}" srcOrd="0" destOrd="0" parTransId="{473E318F-7A63-4E2F-8965-6B2DDC1BC9D0}" sibTransId="{A668CB96-A093-4B02-B67C-014EDA5BCAC4}"/>
    <dgm:cxn modelId="{7A13500A-B45F-405A-B00A-D6FCF1566289}" type="presOf" srcId="{56D25664-E470-4423-B8A9-9B6E4F3E9501}" destId="{5EE1D2E5-E13B-4FA3-A68E-FA18C8AD1A1A}" srcOrd="0" destOrd="0" presId="urn:microsoft.com/office/officeart/2005/8/layout/hProcess7"/>
    <dgm:cxn modelId="{E5132081-1B00-40AB-A777-3A64234F67B3}" type="presOf" srcId="{56D25664-E470-4423-B8A9-9B6E4F3E9501}" destId="{1F2FC209-C6F9-4BD8-BE18-C50B50281548}" srcOrd="1" destOrd="0" presId="urn:microsoft.com/office/officeart/2005/8/layout/hProcess7"/>
    <dgm:cxn modelId="{50819095-06B6-45C1-A479-EA0B90A43613}" type="presOf" srcId="{B1DCE110-24AB-4236-B3C6-4FE160C4D2B8}" destId="{7C1FE252-E5CE-40AF-AE08-799A5F741FEE}" srcOrd="0" destOrd="7" presId="urn:microsoft.com/office/officeart/2005/8/layout/hProcess7"/>
    <dgm:cxn modelId="{B09E5938-AD3D-4EA9-970C-82C6FFA86BE2}" srcId="{03FDD481-2C2D-4504-B65C-774E995BF815}" destId="{AFF6176D-85DE-40AE-90C6-893C51B32EB3}" srcOrd="0" destOrd="0" parTransId="{8EE3A1E5-0B44-40B7-9B59-F6DA84D9F6A6}" sibTransId="{056A0E8C-03A8-4EA7-806A-DA6A878AA1E7}"/>
    <dgm:cxn modelId="{874CAB56-E993-4BA7-B073-DD6F211AB452}" srcId="{E12051B9-F660-41FB-9BFB-187ECABCD821}" destId="{56D25664-E470-4423-B8A9-9B6E4F3E9501}" srcOrd="0" destOrd="0" parTransId="{AE225F17-CB4A-4698-895E-495209A24EDD}" sibTransId="{0513D618-905F-43E6-8DF3-0764A99732D8}"/>
    <dgm:cxn modelId="{07D87A2A-9AAA-4B59-B7ED-01AF7D2660FE}" srcId="{275823A6-DA31-4015-971F-013EA967541C}" destId="{03FDD481-2C2D-4504-B65C-774E995BF815}" srcOrd="1" destOrd="0" parTransId="{5AB09CFD-D26F-4473-BD7C-269085681305}" sibTransId="{D92C8B2D-E05C-41B0-98F7-AEFB0C95D5C1}"/>
    <dgm:cxn modelId="{FE42EE8A-FA87-4B31-AAC6-6F4CBBB89FD6}" type="presOf" srcId="{E7E09A88-A855-416A-B17D-5608BAB5F968}" destId="{7C1FE252-E5CE-40AF-AE08-799A5F741FEE}" srcOrd="0" destOrd="0" presId="urn:microsoft.com/office/officeart/2005/8/layout/hProcess7"/>
    <dgm:cxn modelId="{E5E1C217-925E-4DA4-8EC0-0257A5A45A25}" type="presOf" srcId="{275823A6-DA31-4015-971F-013EA967541C}" destId="{752682F3-57CE-4B43-B292-A62B3D508EDD}" srcOrd="1" destOrd="0" presId="urn:microsoft.com/office/officeart/2005/8/layout/hProcess7"/>
    <dgm:cxn modelId="{3454834B-05D9-49C0-B367-ABD37A9248C4}" srcId="{03FDD481-2C2D-4504-B65C-774E995BF815}" destId="{B788EC3F-15F2-4F7D-B8B7-6CD1B0127EA5}" srcOrd="1" destOrd="0" parTransId="{8E27B5BB-0CCE-4AD9-BBD9-2720B14048D1}" sibTransId="{F3590E07-8170-4762-9ED1-243BC06CDA59}"/>
    <dgm:cxn modelId="{8F0C14D9-5A3A-4887-B964-34015863AD29}" type="presOf" srcId="{03FDD481-2C2D-4504-B65C-774E995BF815}" destId="{7C1FE252-E5CE-40AF-AE08-799A5F741FEE}" srcOrd="0" destOrd="2" presId="urn:microsoft.com/office/officeart/2005/8/layout/hProcess7"/>
    <dgm:cxn modelId="{B2E83F0D-9DEC-4AE4-A36C-A30E492706DE}" type="presOf" srcId="{78928CAB-7A7E-4B76-80D9-1D90FF416781}" destId="{7C1FE252-E5CE-40AF-AE08-799A5F741FEE}" srcOrd="0" destOrd="1" presId="urn:microsoft.com/office/officeart/2005/8/layout/hProcess7"/>
    <dgm:cxn modelId="{606D77F8-F89D-4D3D-A6E8-822491591595}" srcId="{B1FFFC36-A8D3-451D-9C3A-93B8EDFBC6B5}" destId="{B1DCE110-24AB-4236-B3C6-4FE160C4D2B8}" srcOrd="1" destOrd="0" parTransId="{68D62A61-2FFC-404A-A6AB-3574AFB40C80}" sibTransId="{CB665FF9-7446-4441-B264-9E225251D9FD}"/>
    <dgm:cxn modelId="{3CC74B7C-BBAA-404B-B061-C3CF70BA6C52}" srcId="{275823A6-DA31-4015-971F-013EA967541C}" destId="{B1FFFC36-A8D3-451D-9C3A-93B8EDFBC6B5}" srcOrd="2" destOrd="0" parTransId="{A4168942-A87C-4279-8340-8FA8F4842A1C}" sibTransId="{A4E9E1FE-B794-4427-9318-EF5C2483C10F}"/>
    <dgm:cxn modelId="{00DB9597-5167-4897-A9DB-D76E30B99361}" type="presOf" srcId="{B1FFFC36-A8D3-451D-9C3A-93B8EDFBC6B5}" destId="{7C1FE252-E5CE-40AF-AE08-799A5F741FEE}" srcOrd="0" destOrd="5" presId="urn:microsoft.com/office/officeart/2005/8/layout/hProcess7"/>
    <dgm:cxn modelId="{556EF31B-1BA2-40A1-BAF1-F6AE6BEA4DC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FE42BD-3B3A-4EAB-A8EF-B79141435591}" type="presOf" srcId="{275823A6-DA31-4015-971F-013EA967541C}" destId="{CB5EA34A-627A-4C1F-96E3-4088D2A98FDD}"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7642EC-04E3-4135-9AFC-1AE6D6D8ED9D}" type="presOf" srcId="{2645AA64-F59A-4567-9741-8E504AE7F8ED}" destId="{5002EEF7-AB5F-41AC-BBA4-49DC2C142864}" srcOrd="1" destOrd="0" presId="urn:microsoft.com/office/officeart/2005/8/layout/hProcess7"/>
    <dgm:cxn modelId="{8E8CA84A-5BBC-4D26-9512-14543001D4AE}" srcId="{B1FFFC36-A8D3-451D-9C3A-93B8EDFBC6B5}" destId="{3E7C4519-64CD-4235-907C-0A2B2EBDDB2B}" srcOrd="0" destOrd="0" parTransId="{049A2AB5-51A6-492C-92DA-5C229F22C240}" sibTransId="{29C0C1B3-D692-4EC8-A9C8-6D22145F5DB1}"/>
    <dgm:cxn modelId="{C5F869C1-8FEF-4035-9EC3-FDF0092FF2C9}" srcId="{56D25664-E470-4423-B8A9-9B6E4F3E9501}" destId="{F754AD28-8B54-47D9-83F1-8D45F35B4A81}" srcOrd="0" destOrd="0" parTransId="{26AD8160-5FF5-41BE-AFAF-E29D66F0469B}" sibTransId="{BE9BECBC-F94F-4E2F-BDB2-93E8BAEBEFE7}"/>
    <dgm:cxn modelId="{7FA1F9F4-02C3-4D71-B747-BDCC5EA23190}" type="presOf" srcId="{3E7C4519-64CD-4235-907C-0A2B2EBDDB2B}" destId="{7C1FE252-E5CE-40AF-AE08-799A5F741FEE}" srcOrd="0" destOrd="6" presId="urn:microsoft.com/office/officeart/2005/8/layout/hProcess7"/>
    <dgm:cxn modelId="{0D7BCF77-58EC-4840-994D-4621B5109003}" type="presOf" srcId="{2645AA64-F59A-4567-9741-8E504AE7F8ED}" destId="{BBE81636-BCDD-48A0-B978-839FA7B950F8}" srcOrd="0" destOrd="0" presId="urn:microsoft.com/office/officeart/2005/8/layout/hProcess7"/>
    <dgm:cxn modelId="{FE4CA62F-532D-4C05-8FAB-5EE4F17A315F}" type="presOf" srcId="{B788EC3F-15F2-4F7D-B8B7-6CD1B0127EA5}" destId="{7C1FE252-E5CE-40AF-AE08-799A5F741FEE}" srcOrd="0" destOrd="4"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55316F3-D59D-4E22-BAC5-4B54F7BE800A}" srcId="{275823A6-DA31-4015-971F-013EA967541C}" destId="{E7E09A88-A855-416A-B17D-5608BAB5F968}" srcOrd="0" destOrd="0" parTransId="{791A9365-62E9-4724-B5DD-36351582D82E}" sibTransId="{C2A5DE0A-7824-4E35-BB27-47DBE8541DB5}"/>
    <dgm:cxn modelId="{B244AD41-D368-4D9D-84DD-9C821786F4F1}" type="presOf" srcId="{E12051B9-F660-41FB-9BFB-187ECABCD821}" destId="{4413368B-ACCA-469B-9D0E-1FEFC4075FB0}" srcOrd="0" destOrd="0" presId="urn:microsoft.com/office/officeart/2005/8/layout/hProcess7"/>
    <dgm:cxn modelId="{9FEDD45D-976B-47E8-98B6-DCA0D4F55630}" type="presParOf" srcId="{4413368B-ACCA-469B-9D0E-1FEFC4075FB0}" destId="{8E1BCC0E-B989-4435-8915-645304C71A64}" srcOrd="0" destOrd="0" presId="urn:microsoft.com/office/officeart/2005/8/layout/hProcess7"/>
    <dgm:cxn modelId="{EB063C6E-5CD1-46D8-A268-8ABFC9CB9D8B}" type="presParOf" srcId="{8E1BCC0E-B989-4435-8915-645304C71A64}" destId="{5EE1D2E5-E13B-4FA3-A68E-FA18C8AD1A1A}" srcOrd="0" destOrd="0" presId="urn:microsoft.com/office/officeart/2005/8/layout/hProcess7"/>
    <dgm:cxn modelId="{48B55F1B-9080-4D1B-9524-EA548E403F64}" type="presParOf" srcId="{8E1BCC0E-B989-4435-8915-645304C71A64}" destId="{1F2FC209-C6F9-4BD8-BE18-C50B50281548}" srcOrd="1" destOrd="0" presId="urn:microsoft.com/office/officeart/2005/8/layout/hProcess7"/>
    <dgm:cxn modelId="{68848A51-E014-4A0B-AAA3-BBA0E04760F3}" type="presParOf" srcId="{8E1BCC0E-B989-4435-8915-645304C71A64}" destId="{0F07502A-98A4-4880-9779-27EA2BEB6F02}" srcOrd="2" destOrd="0" presId="urn:microsoft.com/office/officeart/2005/8/layout/hProcess7"/>
    <dgm:cxn modelId="{02685089-F0DB-42D0-AF09-A91FBD3115DD}" type="presParOf" srcId="{4413368B-ACCA-469B-9D0E-1FEFC4075FB0}" destId="{13ACBB4E-2F0C-4773-92A7-F091255EA962}" srcOrd="1" destOrd="0" presId="urn:microsoft.com/office/officeart/2005/8/layout/hProcess7"/>
    <dgm:cxn modelId="{7790BDA0-BC85-4489-94F9-B3827F057819}" type="presParOf" srcId="{4413368B-ACCA-469B-9D0E-1FEFC4075FB0}" destId="{BAD87237-2D53-4DFC-BA2E-02EC39493885}" srcOrd="2" destOrd="0" presId="urn:microsoft.com/office/officeart/2005/8/layout/hProcess7"/>
    <dgm:cxn modelId="{F6143860-0F5D-4193-8E7F-C418239F116C}" type="presParOf" srcId="{BAD87237-2D53-4DFC-BA2E-02EC39493885}" destId="{221F174E-2568-4C2B-B98A-B21C733FC119}" srcOrd="0" destOrd="0" presId="urn:microsoft.com/office/officeart/2005/8/layout/hProcess7"/>
    <dgm:cxn modelId="{38C02795-6DCF-4404-99C1-9B62E818511C}" type="presParOf" srcId="{BAD87237-2D53-4DFC-BA2E-02EC39493885}" destId="{45668240-D897-4FC1-8421-6DD785B65040}" srcOrd="1" destOrd="0" presId="urn:microsoft.com/office/officeart/2005/8/layout/hProcess7"/>
    <dgm:cxn modelId="{6A9B5117-E7AD-4D25-A0F2-96D2C7C9C666}" type="presParOf" srcId="{BAD87237-2D53-4DFC-BA2E-02EC39493885}" destId="{50ECFA14-9F36-4C35-911C-A780FF037D2C}" srcOrd="2" destOrd="0" presId="urn:microsoft.com/office/officeart/2005/8/layout/hProcess7"/>
    <dgm:cxn modelId="{65D4CA32-001E-4818-87DD-77F0E68C3869}" type="presParOf" srcId="{4413368B-ACCA-469B-9D0E-1FEFC4075FB0}" destId="{B0CEB5DD-B27E-454F-A39C-A559A187214D}" srcOrd="3" destOrd="0" presId="urn:microsoft.com/office/officeart/2005/8/layout/hProcess7"/>
    <dgm:cxn modelId="{6E14A71C-D387-4B02-8A66-2EFAAF555972}" type="presParOf" srcId="{4413368B-ACCA-469B-9D0E-1FEFC4075FB0}" destId="{4C92115F-DFB0-4372-AF66-CF11B70A8EFD}" srcOrd="4" destOrd="0" presId="urn:microsoft.com/office/officeart/2005/8/layout/hProcess7"/>
    <dgm:cxn modelId="{DC9AAC00-49E1-4987-AD86-0F2D7612EE88}" type="presParOf" srcId="{4C92115F-DFB0-4372-AF66-CF11B70A8EFD}" destId="{CB5EA34A-627A-4C1F-96E3-4088D2A98FDD}" srcOrd="0" destOrd="0" presId="urn:microsoft.com/office/officeart/2005/8/layout/hProcess7"/>
    <dgm:cxn modelId="{B306D1A9-7385-4375-ACB4-F5E9905C3751}" type="presParOf" srcId="{4C92115F-DFB0-4372-AF66-CF11B70A8EFD}" destId="{752682F3-57CE-4B43-B292-A62B3D508EDD}" srcOrd="1" destOrd="0" presId="urn:microsoft.com/office/officeart/2005/8/layout/hProcess7"/>
    <dgm:cxn modelId="{E62D79E0-5406-4C40-9BC1-EE6AB76A20C6}" type="presParOf" srcId="{4C92115F-DFB0-4372-AF66-CF11B70A8EFD}" destId="{7C1FE252-E5CE-40AF-AE08-799A5F741FEE}" srcOrd="2" destOrd="0" presId="urn:microsoft.com/office/officeart/2005/8/layout/hProcess7"/>
    <dgm:cxn modelId="{C021903C-0B26-4D8C-850F-2BDA94EAA2F8}" type="presParOf" srcId="{4413368B-ACCA-469B-9D0E-1FEFC4075FB0}" destId="{E94DD569-30C2-4DB5-BFE9-2EA1C054A099}" srcOrd="5" destOrd="0" presId="urn:microsoft.com/office/officeart/2005/8/layout/hProcess7"/>
    <dgm:cxn modelId="{7B236253-6290-4366-A7F7-E81FD954296B}" type="presParOf" srcId="{4413368B-ACCA-469B-9D0E-1FEFC4075FB0}" destId="{D0762C22-9124-4CFC-9FEF-33DB241A1B75}" srcOrd="6" destOrd="0" presId="urn:microsoft.com/office/officeart/2005/8/layout/hProcess7"/>
    <dgm:cxn modelId="{39C9F88B-C59D-4297-A7AD-8CF6AA135529}" type="presParOf" srcId="{D0762C22-9124-4CFC-9FEF-33DB241A1B75}" destId="{C8DF72E1-70D1-4214-8DAD-40E18FF824F5}" srcOrd="0" destOrd="0" presId="urn:microsoft.com/office/officeart/2005/8/layout/hProcess7"/>
    <dgm:cxn modelId="{A5C542D1-B425-4763-AD6C-DC576B367751}" type="presParOf" srcId="{D0762C22-9124-4CFC-9FEF-33DB241A1B75}" destId="{BAC8B8B3-49A2-4BE7-B498-654C601FE809}" srcOrd="1" destOrd="0" presId="urn:microsoft.com/office/officeart/2005/8/layout/hProcess7"/>
    <dgm:cxn modelId="{34077FEC-A180-4E69-94FB-7875199FC14A}" type="presParOf" srcId="{D0762C22-9124-4CFC-9FEF-33DB241A1B75}" destId="{4A5065A5-7398-4E75-9460-0F7770025FB9}" srcOrd="2" destOrd="0" presId="urn:microsoft.com/office/officeart/2005/8/layout/hProcess7"/>
    <dgm:cxn modelId="{92F7E2FC-81EA-4BF4-902D-0A6848FCF001}" type="presParOf" srcId="{4413368B-ACCA-469B-9D0E-1FEFC4075FB0}" destId="{2AE61FAA-6DD0-4F7B-8C42-F1DA0A887180}" srcOrd="7" destOrd="0" presId="urn:microsoft.com/office/officeart/2005/8/layout/hProcess7"/>
    <dgm:cxn modelId="{2AEB1E2E-E46D-4EC5-B23E-6C2D2D73113B}" type="presParOf" srcId="{4413368B-ACCA-469B-9D0E-1FEFC4075FB0}" destId="{72B73D94-A19D-488F-A34B-978C721C47B4}" srcOrd="8" destOrd="0" presId="urn:microsoft.com/office/officeart/2005/8/layout/hProcess7"/>
    <dgm:cxn modelId="{BE6F47D7-336E-444E-87C6-7D6AF161A845}" type="presParOf" srcId="{72B73D94-A19D-488F-A34B-978C721C47B4}" destId="{BBE81636-BCDD-48A0-B978-839FA7B950F8}" srcOrd="0" destOrd="0" presId="urn:microsoft.com/office/officeart/2005/8/layout/hProcess7"/>
    <dgm:cxn modelId="{826533EB-D4AF-4D4E-B523-DA767F938781}" type="presParOf" srcId="{72B73D94-A19D-488F-A34B-978C721C47B4}" destId="{5002EEF7-AB5F-41AC-BBA4-49DC2C142864}" srcOrd="1" destOrd="0" presId="urn:microsoft.com/office/officeart/2005/8/layout/hProcess7"/>
    <dgm:cxn modelId="{931374DC-6542-44C0-A847-64D5A821AC0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Knowledge or methods that enable the performance of previously incapable tasks or reduce the units of input per units of output needed to  perform tasks.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a:t>Published peer-reviewed academic journal articles</a:t>
          </a:r>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a:t>Allowed U.S. patents</a:t>
          </a:r>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a:t>Disallowed U.S. patent applications</a:t>
          </a:r>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When an actor that controls a technology  enables others to use the technology.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License agreements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a:t>Published peer-reviewed journal articles not associated with an allowed U.S. patent or active patent application</a:t>
          </a:r>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a:t>Development Stage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state of progress of an R&amp;D project as described by a modified technology readiness level (TRL) scale.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abstracts</a:t>
          </a:r>
        </a:p>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City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a:t>A metropolitan statistical area (MSA) with a total absolute population of 1 million people and total normalized population of at least 110 people per square mile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2017 estimates from the U.S. Census Bureau</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a:t>OMB definitions of MSAs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Spatial Distance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distance from the institution that received the federal funding award for the R&amp;D project to the centroid of the nearest MSA that meets the study requirements.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Category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predominant context of likely intended applications for any technologies derived from the federally-funded R&amp;D project.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a:t>R&amp;D project abstracts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a:t>U.S. patents</a:t>
          </a:r>
        </a:p>
        <a:p>
          <a:r>
            <a:rPr lang="en-US" sz="1800" dirty="0"/>
            <a:t>Disallowed U.S. patent applications</a:t>
          </a:r>
        </a:p>
        <a:p>
          <a:r>
            <a:rPr lang="en-US" sz="1800" dirty="0" smtClean="0"/>
            <a:t>Peer-reviewed </a:t>
          </a:r>
          <a:r>
            <a:rPr lang="en-US" sz="1800" dirty="0"/>
            <a:t>journal articles</a:t>
          </a:r>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Embodiment</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tangible forms that document the details of the technology and enable its use.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Institution Size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total amount of R&amp;D expenditures in calendar year 2010 for the institution listed as the primary award recipient.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a:t>NSF rankings by total R&amp;D expenditures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Significance and Importance</a:t>
          </a:r>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Study Objectives and Hypotheses</a:t>
          </a:r>
          <a:endParaRPr lang="en-US" sz="23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Implications, Limitations, </a:t>
          </a:r>
          <a:r>
            <a:rPr lang="en-US" sz="2300" kern="1200" dirty="0"/>
            <a:t>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Questions and Suggestions</a:t>
          </a:r>
          <a:endParaRPr lang="en-US" sz="2300" kern="1200" dirty="0"/>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8211"/>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2259"/>
        <a:ext cx="2871793" cy="583697"/>
      </dsp:txXfrm>
    </dsp:sp>
    <dsp:sp modelId="{0F07502A-98A4-4880-9779-27EA2BEB6F02}">
      <dsp:nvSpPr>
        <dsp:cNvPr id="0" name=""/>
        <dsp:cNvSpPr/>
      </dsp:nvSpPr>
      <dsp:spPr>
        <a:xfrm>
          <a:off x="584376"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 Policy</a:t>
          </a:r>
        </a:p>
      </dsp:txBody>
      <dsp:txXfrm>
        <a:off x="584376" y="8211"/>
        <a:ext cx="2174274" cy="3502187"/>
      </dsp:txXfrm>
    </dsp:sp>
    <dsp:sp modelId="{CB5EA34A-627A-4C1F-96E3-4088D2A98FDD}">
      <dsp:nvSpPr>
        <dsp:cNvPr id="0" name=""/>
        <dsp:cNvSpPr/>
      </dsp:nvSpPr>
      <dsp:spPr>
        <a:xfrm>
          <a:off x="3021315" y="8211"/>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2259"/>
        <a:ext cx="2871793" cy="583697"/>
      </dsp:txXfrm>
    </dsp:sp>
    <dsp:sp modelId="{45668240-D897-4FC1-8421-6DD785B65040}">
      <dsp:nvSpPr>
        <dsp:cNvPr id="0" name=""/>
        <dsp:cNvSpPr/>
      </dsp:nvSpPr>
      <dsp:spPr>
        <a:xfrm rot="5400000">
          <a:off x="2778575" y="2791532"/>
          <a:ext cx="51466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The effects of the Bayh-Dole Act of 1980</a:t>
          </a:r>
        </a:p>
        <a:p>
          <a:pPr marL="114300" lvl="1" indent="-114300" algn="l" defTabSz="622300">
            <a:lnSpc>
              <a:spcPct val="90000"/>
            </a:lnSpc>
            <a:spcBef>
              <a:spcPct val="0"/>
            </a:spcBef>
            <a:spcAft>
              <a:spcPct val="15000"/>
            </a:spcAft>
            <a:buChar char="••"/>
          </a:pPr>
          <a:r>
            <a:rPr lang="en-US" sz="1400" kern="1200" dirty="0"/>
            <a:t>Dai, Popp &amp; </a:t>
          </a:r>
          <a:r>
            <a:rPr lang="en-US" sz="1400" kern="1200" dirty="0" err="1"/>
            <a:t>Bretschneider</a:t>
          </a:r>
          <a:r>
            <a:rPr lang="en-US" sz="1400" kern="1200" dirty="0"/>
            <a:t> (2005)</a:t>
          </a:r>
        </a:p>
        <a:p>
          <a:pPr lvl="0" algn="l" defTabSz="800100">
            <a:lnSpc>
              <a:spcPct val="90000"/>
            </a:lnSpc>
            <a:spcBef>
              <a:spcPct val="0"/>
            </a:spcBef>
            <a:spcAft>
              <a:spcPts val="0"/>
            </a:spcAft>
          </a:pPr>
          <a:r>
            <a:rPr lang="en-US" sz="1800" kern="1200" dirty="0"/>
            <a:t>Studies of the SBIR program</a:t>
          </a:r>
        </a:p>
        <a:p>
          <a:pPr marL="114300" lvl="1" indent="-114300" algn="l" defTabSz="622300">
            <a:lnSpc>
              <a:spcPct val="90000"/>
            </a:lnSpc>
            <a:spcBef>
              <a:spcPct val="0"/>
            </a:spcBef>
            <a:spcAft>
              <a:spcPct val="15000"/>
            </a:spcAft>
            <a:buChar char="••"/>
          </a:pPr>
          <a:r>
            <a:rPr lang="en-US" sz="1400" kern="1200" dirty="0"/>
            <a:t>Andersen, Bray &amp; Link (2017)</a:t>
          </a:r>
        </a:p>
        <a:p>
          <a:pPr marL="114300" lvl="1" indent="-114300" algn="l" defTabSz="622300">
            <a:lnSpc>
              <a:spcPct val="90000"/>
            </a:lnSpc>
            <a:spcBef>
              <a:spcPct val="0"/>
            </a:spcBef>
            <a:spcAft>
              <a:spcPct val="15000"/>
            </a:spcAft>
            <a:buChar char="••"/>
          </a:pPr>
          <a:r>
            <a:rPr lang="en-US" sz="1400" kern="1200" dirty="0"/>
            <a:t>Joshi, Inouye &amp; Robinson (</a:t>
          </a:r>
          <a:r>
            <a:rPr lang="en-US" sz="1400" kern="1200" dirty="0" err="1"/>
            <a:t>n.d.</a:t>
          </a:r>
          <a:r>
            <a:rPr lang="en-US" sz="1400" kern="1200" dirty="0"/>
            <a:t>)</a:t>
          </a:r>
        </a:p>
        <a:p>
          <a:pPr marL="114300" lvl="1" indent="-114300" algn="l" defTabSz="622300">
            <a:lnSpc>
              <a:spcPct val="90000"/>
            </a:lnSpc>
            <a:spcBef>
              <a:spcPct val="0"/>
            </a:spcBef>
            <a:spcAft>
              <a:spcPct val="15000"/>
            </a:spcAft>
            <a:buChar char="••"/>
          </a:pPr>
          <a:r>
            <a:rPr lang="en-US" sz="1400" kern="1200" dirty="0"/>
            <a:t>Link &amp; Scott (2010)</a:t>
          </a:r>
        </a:p>
        <a:p>
          <a:pPr lvl="0" algn="l" defTabSz="800100">
            <a:lnSpc>
              <a:spcPct val="90000"/>
            </a:lnSpc>
            <a:spcBef>
              <a:spcPct val="0"/>
            </a:spcBef>
            <a:spcAft>
              <a:spcPts val="0"/>
            </a:spcAft>
          </a:pPr>
          <a:r>
            <a:rPr lang="en-US" sz="1800" kern="1200" dirty="0"/>
            <a:t>Innovation Policy</a:t>
          </a:r>
        </a:p>
        <a:p>
          <a:pPr marL="114300" lvl="1" indent="-114300" algn="l" defTabSz="622300">
            <a:lnSpc>
              <a:spcPct val="90000"/>
            </a:lnSpc>
            <a:spcBef>
              <a:spcPct val="0"/>
            </a:spcBef>
            <a:spcAft>
              <a:spcPct val="15000"/>
            </a:spcAft>
            <a:buChar char="••"/>
          </a:pPr>
          <a:r>
            <a:rPr lang="en-US" sz="1400" kern="1200" dirty="0" err="1"/>
            <a:t>Hemel</a:t>
          </a:r>
          <a:r>
            <a:rPr lang="en-US" sz="1400" kern="1200" dirty="0"/>
            <a:t>, </a:t>
          </a:r>
          <a:r>
            <a:rPr lang="en-US" sz="1400" kern="1200" dirty="0" err="1"/>
            <a:t>Ouellett</a:t>
          </a:r>
          <a:r>
            <a:rPr lang="en-US" sz="1400" kern="1200" dirty="0"/>
            <a:t> &amp; Larrimore (2019)</a:t>
          </a:r>
        </a:p>
      </dsp:txBody>
      <dsp:txXfrm>
        <a:off x="3605013" y="8211"/>
        <a:ext cx="2174274" cy="3502187"/>
      </dsp:txXfrm>
    </dsp:sp>
    <dsp:sp modelId="{BBE81636-BCDD-48A0-B978-839FA7B950F8}">
      <dsp:nvSpPr>
        <dsp:cNvPr id="0" name=""/>
        <dsp:cNvSpPr/>
      </dsp:nvSpPr>
      <dsp:spPr>
        <a:xfrm>
          <a:off x="6041952" y="8211"/>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2259"/>
        <a:ext cx="2871793" cy="583697"/>
      </dsp:txXfrm>
    </dsp:sp>
    <dsp:sp modelId="{BAC8B8B3-49A2-4BE7-B498-654C601FE809}">
      <dsp:nvSpPr>
        <dsp:cNvPr id="0" name=""/>
        <dsp:cNvSpPr/>
      </dsp:nvSpPr>
      <dsp:spPr>
        <a:xfrm rot="5400000">
          <a:off x="5799212" y="2791532"/>
          <a:ext cx="51466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Few recent studies on policy.</a:t>
          </a:r>
        </a:p>
        <a:p>
          <a:pPr lvl="0" algn="l" defTabSz="800100">
            <a:lnSpc>
              <a:spcPct val="90000"/>
            </a:lnSpc>
            <a:spcBef>
              <a:spcPct val="0"/>
            </a:spcBef>
            <a:spcAft>
              <a:spcPct val="35000"/>
            </a:spcAft>
          </a:pPr>
          <a:r>
            <a:rPr lang="en-US" sz="1800" kern="1200" dirty="0"/>
            <a:t>Mostly focused on the Bayh-Dole Act of 1980 and the SBIR program.</a:t>
          </a:r>
        </a:p>
        <a:p>
          <a:pPr lvl="0" algn="l" defTabSz="800100">
            <a:lnSpc>
              <a:spcPct val="90000"/>
            </a:lnSpc>
            <a:spcBef>
              <a:spcPct val="0"/>
            </a:spcBef>
            <a:spcAft>
              <a:spcPct val="35000"/>
            </a:spcAft>
          </a:pPr>
          <a:r>
            <a:rPr lang="en-US" sz="1800" kern="1200" dirty="0"/>
            <a:t>Many evaluation studies of the SBIR program.</a:t>
          </a:r>
        </a:p>
        <a:p>
          <a:pPr lvl="0" algn="l" defTabSz="800100">
            <a:lnSpc>
              <a:spcPct val="90000"/>
            </a:lnSpc>
            <a:spcBef>
              <a:spcPct val="0"/>
            </a:spcBef>
            <a:spcAft>
              <a:spcPct val="35000"/>
            </a:spcAft>
          </a:pPr>
          <a:r>
            <a:rPr lang="en-US" sz="1800" kern="1200" dirty="0"/>
            <a:t>Limited and fragment view of technology transfer policy. </a:t>
          </a:r>
        </a:p>
      </dsp:txBody>
      <dsp:txXfrm>
        <a:off x="6625649" y="8211"/>
        <a:ext cx="2174274" cy="35021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a:t>
          </a:r>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Patent rights to an invention</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a:p>
          <a:pPr lvl="0" algn="l" defTabSz="800100">
            <a:lnSpc>
              <a:spcPct val="90000"/>
            </a:lnSpc>
            <a:spcBef>
              <a:spcPct val="0"/>
            </a:spcBef>
            <a:spcAft>
              <a:spcPts val="0"/>
            </a:spcAft>
          </a:pPr>
          <a:r>
            <a:rPr lang="en-US" sz="1800" kern="1200" dirty="0"/>
            <a:t>Academic knowledge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600"/>
            </a:spcAft>
          </a:pPr>
          <a:r>
            <a:rPr lang="en-US" sz="1800" kern="1200" dirty="0" smtClean="0"/>
            <a:t>No universal definition.</a:t>
          </a:r>
        </a:p>
        <a:p>
          <a:pPr lvl="0" algn="l" defTabSz="800100">
            <a:lnSpc>
              <a:spcPct val="90000"/>
            </a:lnSpc>
            <a:spcBef>
              <a:spcPct val="0"/>
            </a:spcBef>
            <a:spcAft>
              <a:spcPts val="600"/>
            </a:spcAft>
          </a:pPr>
          <a:r>
            <a:rPr lang="en-US" sz="1800" kern="1200" dirty="0" smtClean="0"/>
            <a:t>Not </a:t>
          </a:r>
          <a:r>
            <a:rPr lang="en-US" sz="1800" kern="1200" dirty="0"/>
            <a:t>explicitly defined.</a:t>
          </a:r>
        </a:p>
        <a:p>
          <a:pPr lvl="0" algn="l" defTabSz="800100">
            <a:lnSpc>
              <a:spcPct val="90000"/>
            </a:lnSpc>
            <a:spcBef>
              <a:spcPct val="0"/>
            </a:spcBef>
            <a:spcAft>
              <a:spcPts val="600"/>
            </a:spcAft>
          </a:pPr>
          <a:r>
            <a:rPr lang="en-US" sz="1800" kern="1200" dirty="0" smtClean="0"/>
            <a:t>Not </a:t>
          </a:r>
          <a:r>
            <a:rPr lang="en-US" sz="1800" kern="1200" dirty="0"/>
            <a:t>all technology is patentable.</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a:t>Academic knowledge and technology are not synonymous</a:t>
          </a:r>
          <a:r>
            <a:rPr lang="en-US" sz="1800" kern="1200" dirty="0" smtClean="0"/>
            <a:t>.</a:t>
          </a:r>
        </a:p>
        <a:p>
          <a:pPr lvl="0" algn="l" defTabSz="800100">
            <a:lnSpc>
              <a:spcPct val="90000"/>
            </a:lnSpc>
            <a:spcBef>
              <a:spcPct val="0"/>
            </a:spcBef>
            <a:spcAft>
              <a:spcPct val="35000"/>
            </a:spcAft>
          </a:pPr>
          <a:endParaRPr lang="en-US" sz="1800" kern="1200" dirty="0"/>
        </a:p>
      </dsp:txBody>
      <dsp:txXfrm>
        <a:off x="6625649" y="0"/>
        <a:ext cx="2174274" cy="216772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637129"/>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788695" y="789373"/>
        <a:ext cx="2162445" cy="583697"/>
      </dsp:txXfrm>
    </dsp:sp>
    <dsp:sp modelId="{0F07502A-98A4-4880-9779-27EA2BEB6F02}">
      <dsp:nvSpPr>
        <dsp:cNvPr id="0" name=""/>
        <dsp:cNvSpPr/>
      </dsp:nvSpPr>
      <dsp:spPr>
        <a:xfrm>
          <a:off x="584376"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a:t>
          </a:r>
        </a:p>
      </dsp:txBody>
      <dsp:txXfrm>
        <a:off x="584376" y="0"/>
        <a:ext cx="2174274" cy="2637129"/>
      </dsp:txXfrm>
    </dsp:sp>
    <dsp:sp modelId="{CB5EA34A-627A-4C1F-96E3-4088D2A98FDD}">
      <dsp:nvSpPr>
        <dsp:cNvPr id="0" name=""/>
        <dsp:cNvSpPr/>
      </dsp:nvSpPr>
      <dsp:spPr>
        <a:xfrm>
          <a:off x="3021315" y="0"/>
          <a:ext cx="2918489" cy="2637129"/>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231941" y="789373"/>
        <a:ext cx="2162445" cy="583697"/>
      </dsp:txXfrm>
    </dsp:sp>
    <dsp:sp modelId="{45668240-D897-4FC1-8421-6DD785B65040}">
      <dsp:nvSpPr>
        <dsp:cNvPr id="0" name=""/>
        <dsp:cNvSpPr/>
      </dsp:nvSpPr>
      <dsp:spPr>
        <a:xfrm rot="5400000">
          <a:off x="2842289" y="2039989"/>
          <a:ext cx="387235"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Licensing, new venture formation, research collaborations, faculty consulting</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a:t>Hallam, Wurth &amp; Mancha (2014)</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dsp:txBody>
      <dsp:txXfrm>
        <a:off x="3605013" y="0"/>
        <a:ext cx="2174274" cy="2637129"/>
      </dsp:txXfrm>
    </dsp:sp>
    <dsp:sp modelId="{BBE81636-BCDD-48A0-B978-839FA7B950F8}">
      <dsp:nvSpPr>
        <dsp:cNvPr id="0" name=""/>
        <dsp:cNvSpPr/>
      </dsp:nvSpPr>
      <dsp:spPr>
        <a:xfrm>
          <a:off x="6041952" y="0"/>
          <a:ext cx="2918489" cy="2637129"/>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252578" y="789373"/>
        <a:ext cx="2162445" cy="583697"/>
      </dsp:txXfrm>
    </dsp:sp>
    <dsp:sp modelId="{BAC8B8B3-49A2-4BE7-B498-654C601FE809}">
      <dsp:nvSpPr>
        <dsp:cNvPr id="0" name=""/>
        <dsp:cNvSpPr/>
      </dsp:nvSpPr>
      <dsp:spPr>
        <a:xfrm rot="5400000">
          <a:off x="5862926" y="2039989"/>
          <a:ext cx="387235"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 universal definition.</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Not explicitly defined.</a:t>
          </a:r>
        </a:p>
        <a:p>
          <a:pPr lvl="0" algn="l" defTabSz="800100">
            <a:lnSpc>
              <a:spcPct val="90000"/>
            </a:lnSpc>
            <a:spcBef>
              <a:spcPct val="0"/>
            </a:spcBef>
            <a:spcAft>
              <a:spcPts val="600"/>
            </a:spcAft>
          </a:pPr>
          <a:r>
            <a:rPr lang="en-US" sz="1800" kern="1200" dirty="0" smtClean="0"/>
            <a:t>Conflates </a:t>
          </a:r>
          <a:r>
            <a:rPr lang="en-US" sz="1800" kern="1200" dirty="0"/>
            <a:t>the concept of technology transfer with the mechanisms for achieving it.</a:t>
          </a:r>
        </a:p>
      </dsp:txBody>
      <dsp:txXfrm>
        <a:off x="6625649" y="0"/>
        <a:ext cx="2174274" cy="263712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11869"/>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5917"/>
        <a:ext cx="2871793" cy="583697"/>
      </dsp:txXfrm>
    </dsp:sp>
    <dsp:sp modelId="{0F07502A-98A4-4880-9779-27EA2BEB6F02}">
      <dsp:nvSpPr>
        <dsp:cNvPr id="0" name=""/>
        <dsp:cNvSpPr/>
      </dsp:nvSpPr>
      <dsp:spPr>
        <a:xfrm>
          <a:off x="584376"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Defining Success</a:t>
          </a:r>
        </a:p>
      </dsp:txBody>
      <dsp:txXfrm>
        <a:off x="584376" y="11869"/>
        <a:ext cx="2174274" cy="3502187"/>
      </dsp:txXfrm>
    </dsp:sp>
    <dsp:sp modelId="{CB5EA34A-627A-4C1F-96E3-4088D2A98FDD}">
      <dsp:nvSpPr>
        <dsp:cNvPr id="0" name=""/>
        <dsp:cNvSpPr/>
      </dsp:nvSpPr>
      <dsp:spPr>
        <a:xfrm>
          <a:off x="3021315" y="11869"/>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5917"/>
        <a:ext cx="2871793" cy="583697"/>
      </dsp:txXfrm>
    </dsp:sp>
    <dsp:sp modelId="{45668240-D897-4FC1-8421-6DD785B65040}">
      <dsp:nvSpPr>
        <dsp:cNvPr id="0" name=""/>
        <dsp:cNvSpPr/>
      </dsp:nvSpPr>
      <dsp:spPr>
        <a:xfrm rot="5400000">
          <a:off x="2778428" y="2796903"/>
          <a:ext cx="51495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Executed patent license, established new business entity, executed sponsored research agreement</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a:p>
          <a:pPr marL="114300" lvl="1" indent="-114300" algn="l" defTabSz="622300">
            <a:lnSpc>
              <a:spcPct val="90000"/>
            </a:lnSpc>
            <a:spcBef>
              <a:spcPct val="0"/>
            </a:spcBef>
            <a:spcAft>
              <a:spcPct val="15000"/>
            </a:spcAft>
            <a:buChar char="••"/>
          </a:pPr>
          <a:r>
            <a:rPr lang="en-US" sz="1400" kern="1200" dirty="0"/>
            <a:t>Hallam, Wurth &amp; Mancha (2014)</a:t>
          </a:r>
        </a:p>
      </dsp:txBody>
      <dsp:txXfrm>
        <a:off x="3605013" y="11869"/>
        <a:ext cx="2174274" cy="3502187"/>
      </dsp:txXfrm>
    </dsp:sp>
    <dsp:sp modelId="{BBE81636-BCDD-48A0-B978-839FA7B950F8}">
      <dsp:nvSpPr>
        <dsp:cNvPr id="0" name=""/>
        <dsp:cNvSpPr/>
      </dsp:nvSpPr>
      <dsp:spPr>
        <a:xfrm>
          <a:off x="6041952" y="11869"/>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5917"/>
        <a:ext cx="2871793" cy="583697"/>
      </dsp:txXfrm>
    </dsp:sp>
    <dsp:sp modelId="{BAC8B8B3-49A2-4BE7-B498-654C601FE809}">
      <dsp:nvSpPr>
        <dsp:cNvPr id="0" name=""/>
        <dsp:cNvSpPr/>
      </dsp:nvSpPr>
      <dsp:spPr>
        <a:xfrm rot="5400000">
          <a:off x="5799065" y="2796903"/>
          <a:ext cx="51495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patent license is often a requirement for forming a university spinout company.</a:t>
          </a:r>
        </a:p>
        <a:p>
          <a:pPr lvl="0" algn="l" defTabSz="800100">
            <a:lnSpc>
              <a:spcPct val="90000"/>
            </a:lnSpc>
            <a:spcBef>
              <a:spcPct val="0"/>
            </a:spcBef>
            <a:spcAft>
              <a:spcPct val="35000"/>
            </a:spcAft>
          </a:pPr>
          <a:r>
            <a:rPr lang="en-US" sz="1800" kern="1200" dirty="0"/>
            <a:t>Sponsored research may not be related to technology previously developed at the university.</a:t>
          </a:r>
        </a:p>
        <a:p>
          <a:pPr lvl="0" algn="l" defTabSz="800100">
            <a:lnSpc>
              <a:spcPct val="90000"/>
            </a:lnSpc>
            <a:spcBef>
              <a:spcPct val="0"/>
            </a:spcBef>
            <a:spcAft>
              <a:spcPct val="35000"/>
            </a:spcAft>
          </a:pPr>
          <a:r>
            <a:rPr lang="en-US" sz="1800" kern="1200" dirty="0"/>
            <a:t>Don’t accommodate instances that are not transactional in nature.</a:t>
          </a:r>
        </a:p>
      </dsp:txBody>
      <dsp:txXfrm>
        <a:off x="6625649" y="11869"/>
        <a:ext cx="2174274" cy="35021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Success Factors</a:t>
          </a:r>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Studies have mostly focused on </a:t>
          </a:r>
          <a:r>
            <a:rPr lang="en-US" sz="1800" kern="1200" dirty="0" smtClean="0"/>
            <a:t>the relation between institutional characteristics and technology transfer outcomes.</a:t>
          </a:r>
          <a:endParaRPr lang="en-US" sz="1800" kern="1200" dirty="0"/>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4554"/>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48602"/>
        <a:ext cx="2871793" cy="583697"/>
      </dsp:txXfrm>
    </dsp:sp>
    <dsp:sp modelId="{0F07502A-98A4-4880-9779-27EA2BEB6F02}">
      <dsp:nvSpPr>
        <dsp:cNvPr id="0" name=""/>
        <dsp:cNvSpPr/>
      </dsp:nvSpPr>
      <dsp:spPr>
        <a:xfrm>
          <a:off x="584376"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Stage &amp; Geography</a:t>
          </a:r>
        </a:p>
      </dsp:txBody>
      <dsp:txXfrm>
        <a:off x="584376" y="4554"/>
        <a:ext cx="2174274" cy="3502187"/>
      </dsp:txXfrm>
    </dsp:sp>
    <dsp:sp modelId="{CB5EA34A-627A-4C1F-96E3-4088D2A98FDD}">
      <dsp:nvSpPr>
        <dsp:cNvPr id="0" name=""/>
        <dsp:cNvSpPr/>
      </dsp:nvSpPr>
      <dsp:spPr>
        <a:xfrm>
          <a:off x="3021315" y="4554"/>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48602"/>
        <a:ext cx="2871793" cy="583697"/>
      </dsp:txXfrm>
    </dsp:sp>
    <dsp:sp modelId="{45668240-D897-4FC1-8421-6DD785B65040}">
      <dsp:nvSpPr>
        <dsp:cNvPr id="0" name=""/>
        <dsp:cNvSpPr/>
      </dsp:nvSpPr>
      <dsp:spPr>
        <a:xfrm rot="5400000">
          <a:off x="2778472" y="2789072"/>
          <a:ext cx="51486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Development stage</a:t>
          </a:r>
        </a:p>
        <a:p>
          <a:pPr marL="114300" lvl="1" indent="-114300" algn="l" defTabSz="622300">
            <a:lnSpc>
              <a:spcPct val="90000"/>
            </a:lnSpc>
            <a:spcBef>
              <a:spcPct val="0"/>
            </a:spcBef>
            <a:spcAft>
              <a:spcPct val="15000"/>
            </a:spcAft>
            <a:buChar char="••"/>
          </a:pPr>
          <a:r>
            <a:rPr lang="en-US" sz="1400" kern="1200" dirty="0"/>
            <a:t>Wang, Mohammed, Wu &amp; Xiang (2016)</a:t>
          </a:r>
        </a:p>
        <a:p>
          <a:pPr lvl="0" algn="l" defTabSz="800100">
            <a:lnSpc>
              <a:spcPct val="90000"/>
            </a:lnSpc>
            <a:spcBef>
              <a:spcPct val="0"/>
            </a:spcBef>
            <a:spcAft>
              <a:spcPts val="0"/>
            </a:spcAft>
          </a:pPr>
          <a:r>
            <a:rPr lang="en-US" sz="1800" kern="1200" dirty="0"/>
            <a:t>Geographic considerations</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Reuer</a:t>
          </a:r>
          <a:r>
            <a:rPr lang="en-US" sz="1400" kern="1200" dirty="0"/>
            <a:t> &amp; </a:t>
          </a:r>
          <a:r>
            <a:rPr lang="en-US" sz="1400" kern="1200" dirty="0" err="1"/>
            <a:t>Lahiri</a:t>
          </a:r>
          <a:r>
            <a:rPr lang="en-US" sz="1400" kern="1200" dirty="0"/>
            <a:t> (2014)</a:t>
          </a:r>
        </a:p>
        <a:p>
          <a:pPr lvl="0" algn="l" defTabSz="800100">
            <a:lnSpc>
              <a:spcPct val="90000"/>
            </a:lnSpc>
            <a:spcBef>
              <a:spcPct val="0"/>
            </a:spcBef>
            <a:spcAft>
              <a:spcPts val="0"/>
            </a:spcAft>
          </a:pPr>
          <a:r>
            <a:rPr lang="en-US" sz="1800" kern="1200" dirty="0"/>
            <a:t>Association between cities and innovation</a:t>
          </a:r>
        </a:p>
        <a:p>
          <a:pPr marL="114300" lvl="1" indent="-114300" algn="l" defTabSz="622300">
            <a:lnSpc>
              <a:spcPct val="90000"/>
            </a:lnSpc>
            <a:spcBef>
              <a:spcPct val="0"/>
            </a:spcBef>
            <a:spcAft>
              <a:spcPct val="15000"/>
            </a:spcAft>
            <a:buChar char="••"/>
          </a:pPr>
          <a:r>
            <a:rPr lang="en-US" sz="1400" kern="1200" dirty="0"/>
            <a:t>Florida, Alder &amp; </a:t>
          </a:r>
          <a:r>
            <a:rPr lang="en-US" sz="1400" kern="1200" dirty="0" err="1"/>
            <a:t>Mellander</a:t>
          </a:r>
          <a:r>
            <a:rPr lang="en-US" sz="1400" kern="1200" dirty="0"/>
            <a:t> (2017)</a:t>
          </a:r>
        </a:p>
        <a:p>
          <a:pPr marL="114300" lvl="1" indent="-114300" algn="l" defTabSz="622300">
            <a:lnSpc>
              <a:spcPct val="90000"/>
            </a:lnSpc>
            <a:spcBef>
              <a:spcPct val="0"/>
            </a:spcBef>
            <a:spcAft>
              <a:spcPct val="15000"/>
            </a:spcAft>
            <a:buChar char="••"/>
          </a:pPr>
          <a:r>
            <a:rPr lang="en-US" sz="1400" kern="1200" dirty="0"/>
            <a:t>Florida &amp; </a:t>
          </a:r>
          <a:r>
            <a:rPr lang="en-US" sz="1400" kern="1200" dirty="0" err="1"/>
            <a:t>Lellander</a:t>
          </a:r>
          <a:r>
            <a:rPr lang="en-US" sz="1400" kern="1200" dirty="0"/>
            <a:t> (2016)</a:t>
          </a:r>
        </a:p>
      </dsp:txBody>
      <dsp:txXfrm>
        <a:off x="3605013" y="4554"/>
        <a:ext cx="2174274" cy="3502187"/>
      </dsp:txXfrm>
    </dsp:sp>
    <dsp:sp modelId="{BBE81636-BCDD-48A0-B978-839FA7B950F8}">
      <dsp:nvSpPr>
        <dsp:cNvPr id="0" name=""/>
        <dsp:cNvSpPr/>
      </dsp:nvSpPr>
      <dsp:spPr>
        <a:xfrm>
          <a:off x="6041952" y="4554"/>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48602"/>
        <a:ext cx="2871793" cy="583697"/>
      </dsp:txXfrm>
    </dsp:sp>
    <dsp:sp modelId="{BAC8B8B3-49A2-4BE7-B498-654C601FE809}">
      <dsp:nvSpPr>
        <dsp:cNvPr id="0" name=""/>
        <dsp:cNvSpPr/>
      </dsp:nvSpPr>
      <dsp:spPr>
        <a:xfrm rot="5400000">
          <a:off x="5799109" y="2789072"/>
          <a:ext cx="51486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Development </a:t>
          </a:r>
          <a:r>
            <a:rPr lang="en-US" sz="1800" kern="1200" dirty="0"/>
            <a:t>stage </a:t>
          </a:r>
          <a:r>
            <a:rPr lang="en-US" sz="1800" kern="1200" dirty="0" smtClean="0"/>
            <a:t>has generally not been considered as an </a:t>
          </a:r>
          <a:r>
            <a:rPr lang="en-US" sz="1800" kern="1200" dirty="0"/>
            <a:t>independent variable.</a:t>
          </a:r>
        </a:p>
        <a:p>
          <a:pPr lvl="0" algn="l" defTabSz="800100">
            <a:lnSpc>
              <a:spcPct val="90000"/>
            </a:lnSpc>
            <a:spcBef>
              <a:spcPct val="0"/>
            </a:spcBef>
            <a:spcAft>
              <a:spcPct val="35000"/>
            </a:spcAft>
          </a:pPr>
          <a:r>
            <a:rPr lang="en-US" sz="1800" kern="1200" dirty="0"/>
            <a:t>Studies have investigated specific geographic factors such as venture capital</a:t>
          </a:r>
        </a:p>
        <a:p>
          <a:pPr lvl="0" algn="l" defTabSz="800100">
            <a:lnSpc>
              <a:spcPct val="90000"/>
            </a:lnSpc>
            <a:spcBef>
              <a:spcPct val="0"/>
            </a:spcBef>
            <a:spcAft>
              <a:spcPct val="35000"/>
            </a:spcAft>
          </a:pPr>
          <a:r>
            <a:rPr lang="en-US" sz="1800" kern="1200" dirty="0"/>
            <a:t>Studies have explored  the association between cities and innovation.</a:t>
          </a:r>
        </a:p>
      </dsp:txBody>
      <dsp:txXfrm>
        <a:off x="6625649" y="4554"/>
        <a:ext cx="2174274" cy="350218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Knowledge or methods that enable the performance of previously incapable tasks or reduce the units of input per units of output needed to  perform tasks.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academic journal articles</a:t>
          </a:r>
        </a:p>
        <a:p>
          <a:pPr lvl="0" algn="l" defTabSz="800100">
            <a:lnSpc>
              <a:spcPct val="90000"/>
            </a:lnSpc>
            <a:spcBef>
              <a:spcPct val="0"/>
            </a:spcBef>
            <a:spcAft>
              <a:spcPct val="35000"/>
            </a:spcAft>
          </a:pPr>
          <a:r>
            <a:rPr lang="en-US" sz="1800" kern="1200" dirty="0"/>
            <a:t>Allowed U.S. patents</a:t>
          </a:r>
        </a:p>
        <a:p>
          <a:pPr lvl="0" algn="l" defTabSz="800100">
            <a:lnSpc>
              <a:spcPct val="90000"/>
            </a:lnSpc>
            <a:spcBef>
              <a:spcPct val="0"/>
            </a:spcBef>
            <a:spcAft>
              <a:spcPct val="35000"/>
            </a:spcAft>
          </a:pPr>
          <a:r>
            <a:rPr lang="en-US" sz="1800" kern="1200" dirty="0"/>
            <a:t>Disallowed U.S. patent applications</a:t>
          </a:r>
        </a:p>
      </dsp:txBody>
      <dsp:txXfrm>
        <a:off x="6625649" y="0"/>
        <a:ext cx="2174274" cy="225883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Transfer</a:t>
          </a:r>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When an actor that controls a technology  enables others to use the technology.</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License agreements</a:t>
          </a:r>
        </a:p>
        <a:p>
          <a:pPr lvl="0" algn="l" defTabSz="800100">
            <a:lnSpc>
              <a:spcPct val="90000"/>
            </a:lnSpc>
            <a:spcBef>
              <a:spcPct val="0"/>
            </a:spcBef>
            <a:spcAft>
              <a:spcPct val="35000"/>
            </a:spcAft>
          </a:pPr>
          <a:r>
            <a:rPr lang="en-US" sz="1800" kern="1200" dirty="0"/>
            <a:t>Published peer-reviewed journal articles not associated with an allowed U.S. patent or active patent application</a:t>
          </a:r>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a:t>Development Stage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state of progress of an R&amp;D project as described by a modified technology readiness level (TRL) scale.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City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metropolitan statistical area (MSA) with a total absolute population of 1 million people and total normalized population of at least 110 people per square mile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OMB definitions of MSAs</a:t>
          </a:r>
        </a:p>
        <a:p>
          <a:pPr lvl="0" algn="l" defTabSz="800100">
            <a:lnSpc>
              <a:spcPct val="90000"/>
            </a:lnSpc>
            <a:spcBef>
              <a:spcPct val="0"/>
            </a:spcBef>
            <a:spcAft>
              <a:spcPct val="35000"/>
            </a:spcAft>
          </a:pPr>
          <a:r>
            <a:rPr lang="en-US" sz="1800" kern="1200" dirty="0"/>
            <a:t>2017 estimates from the U.S. Census Bureau</a:t>
          </a:r>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Spatial Distance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distance from the institution that received the federal funding award for the R&amp;D project to the centroid of the nearest MSA that meets the study requirements.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Location coordinates in longitude and latitude</a:t>
          </a:r>
        </a:p>
        <a:p>
          <a:pPr lvl="0" algn="l" defTabSz="800100">
            <a:lnSpc>
              <a:spcPct val="90000"/>
            </a:lnSpc>
            <a:spcBef>
              <a:spcPct val="0"/>
            </a:spcBef>
            <a:spcAft>
              <a:spcPct val="35000"/>
            </a:spcAft>
          </a:pPr>
          <a:r>
            <a:rPr lang="en-US" sz="1800" kern="1200" dirty="0"/>
            <a:t>Absolute distance measured in miles</a:t>
          </a:r>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Category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predominant context of likely intended applications for any technologies derived from the federally-funded R&amp;D project.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U.S. patents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smtClean="0"/>
            <a:t>Peer-reviewed </a:t>
          </a:r>
          <a:r>
            <a:rPr lang="en-US" sz="1800" kern="1200" dirty="0"/>
            <a:t>journal articles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Embodiment</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tangible forms that document the details of the technology and enable its use.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journal articles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a:t>Allowed U.S. patents</a:t>
          </a:r>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Institution Size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total amount of R&amp;D expenditures in calendar year 2010 for the institution listed as the primary award recipient.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NSF rankings by total R&amp;D expenditures</a:t>
          </a:r>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6.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04/17/2019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04/17/2019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non-content slides (i.e.,</a:t>
            </a:r>
            <a:r>
              <a:rPr lang="en-US" baseline="0" dirty="0" smtClean="0"/>
              <a:t> title slides, acknowledgements</a:t>
            </a:r>
            <a:r>
              <a:rPr lang="en-US" baseline="0" smtClean="0"/>
              <a:t>, references)</a:t>
            </a:r>
            <a:endParaRPr lang="en-US"/>
          </a:p>
        </p:txBody>
      </p:sp>
      <p:sp>
        <p:nvSpPr>
          <p:cNvPr id="4" name="Slide Number Placeholder 3"/>
          <p:cNvSpPr>
            <a:spLocks noGrp="1"/>
          </p:cNvSpPr>
          <p:nvPr>
            <p:ph type="sldNum" sz="quarter" idx="10"/>
          </p:nvPr>
        </p:nvSpPr>
        <p:spPr/>
        <p:txBody>
          <a:bodyPr/>
          <a:lstStyle/>
          <a:p>
            <a:fld id="{76C7EBE9-FBA5-4606-B4BF-D5A892555425}" type="slidenum">
              <a:rPr lang="en-US" smtClean="0"/>
              <a:t>1</a:t>
            </a:fld>
            <a:endParaRPr lang="en-US"/>
          </a:p>
        </p:txBody>
      </p:sp>
    </p:spTree>
    <p:extLst>
      <p:ext uri="{BB962C8B-B14F-4D97-AF65-F5344CB8AC3E}">
        <p14:creationId xmlns:p14="http://schemas.microsoft.com/office/powerpoint/2010/main" val="7468748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government</a:t>
            </a:r>
            <a:r>
              <a:rPr lang="en-US" baseline="0" dirty="0"/>
              <a:t> has decided that the issue is a societal problem that must </a:t>
            </a:r>
            <a:r>
              <a:rPr lang="en-US" baseline="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a:t>
            </a:r>
            <a:r>
              <a:rPr lang="en-US" baseline="0" dirty="0"/>
              <a:t> involves a significant amount of limited resources.</a:t>
            </a:r>
            <a:endParaRPr lang="en-US" dirty="0"/>
          </a:p>
          <a:p>
            <a:endParaRPr lang="en-US" dirty="0"/>
          </a:p>
          <a:p>
            <a:r>
              <a:rPr lang="en-US" dirty="0"/>
              <a:t>“CMS Medicare Budget Overview.” 2018. Centers for Medicare and Medicaid</a:t>
            </a:r>
            <a:r>
              <a:rPr lang="en-US" baseline="0" dirty="0"/>
              <a:t> Services. U.S. Department of Health &amp; Human Services. Retrieved from https://www.hhs.gov/about/budget/fy2018/budget-in-brief/cms/medicare/index.html.</a:t>
            </a:r>
          </a:p>
          <a:p>
            <a:endParaRPr lang="en-US" baseline="0" dirty="0"/>
          </a:p>
          <a:p>
            <a:r>
              <a:rPr lang="en-US" baseline="0" dirty="0"/>
              <a:t>US Spending. (</a:t>
            </a:r>
            <a:r>
              <a:rPr lang="en-US" baseline="0" dirty="0" err="1"/>
              <a:t>n.d.</a:t>
            </a:r>
            <a:r>
              <a:rPr lang="en-US" baseline="0" dirty="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12</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a:t>
            </a:r>
            <a:r>
              <a:rPr lang="en-US" baseline="0" dirty="0"/>
              <a:t> frame is NSF research funding awards by the Civil, Mechanical and Manufacturing Innovation (CMMI) division from January 1, 2010 through December 31, 2010.  Source of </a:t>
            </a:r>
            <a:r>
              <a:rPr lang="en-US" baseline="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a:t>
            </a:r>
            <a:r>
              <a:rPr lang="en-US" baseline="0" dirty="0"/>
              <a:t> p</a:t>
            </a:r>
            <a:r>
              <a:rPr lang="en-US" dirty="0"/>
              <a:t>roject</a:t>
            </a:r>
            <a:r>
              <a:rPr lang="en-US" baseline="0" dirty="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a:t>
            </a:r>
            <a:r>
              <a:rPr lang="en-US" dirty="0"/>
              <a:t>nnouncements of license agreements.</a:t>
            </a:r>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allowed patents without license agreements.</a:t>
            </a:r>
          </a:p>
          <a:p>
            <a:r>
              <a:rPr lang="en-US" baseline="0" dirty="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32</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published peer-review</a:t>
            </a:r>
            <a:r>
              <a:rPr lang="en-US" baseline="0" dirty="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a:t>
            </a:r>
            <a:r>
              <a:rPr lang="en-US" baseline="0" dirty="0"/>
              <a:t>technology transfer public policy </a:t>
            </a:r>
            <a:r>
              <a:rPr lang="en-US" dirty="0"/>
              <a:t>documentation</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technology transfer public</a:t>
            </a:r>
            <a:r>
              <a:rPr lang="en-US" baseline="0" dirty="0"/>
              <a:t> policy </a:t>
            </a:r>
            <a:r>
              <a:rPr lang="en-US" dirty="0"/>
              <a:t>documentation </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35</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37</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monotonic relationship is a relationship that does one of the following: (1) as the value of one variable increases, so does the value of the other variable; or (2) as the value of one variable increases, the other variable value decreases</a:t>
            </a:r>
            <a:r>
              <a:rPr lang="en-US" dirty="0" smtClean="0"/>
              <a:t>.</a:t>
            </a:r>
          </a:p>
          <a:p>
            <a:r>
              <a:rPr lang="en-US" dirty="0" smtClean="0"/>
              <a:t>Concordant pairs</a:t>
            </a:r>
            <a:r>
              <a:rPr lang="en-US" baseline="0" dirty="0" smtClean="0"/>
              <a:t> are ranked the same.  </a:t>
            </a:r>
            <a:r>
              <a:rPr lang="en-US" baseline="0" smtClean="0"/>
              <a:t>Discordant </a:t>
            </a:r>
            <a:r>
              <a:rPr lang="en-US" baseline="0" dirty="0" smtClean="0"/>
              <a:t>pairs are ranked opposite.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38</a:t>
            </a:fld>
            <a:endParaRPr lang="en-US"/>
          </a:p>
        </p:txBody>
      </p:sp>
    </p:spTree>
    <p:extLst>
      <p:ext uri="{BB962C8B-B14F-4D97-AF65-F5344CB8AC3E}">
        <p14:creationId xmlns:p14="http://schemas.microsoft.com/office/powerpoint/2010/main" val="10769529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a:t>
            </a:r>
            <a:r>
              <a:rPr lang="en-US" baseline="0" dirty="0"/>
              <a:t> reference points for each indicator at 20 year increments from 1900 to 2000 based on publicly available data.</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40</a:t>
            </a:fld>
            <a:endParaRPr lang="en-US"/>
          </a:p>
        </p:txBody>
      </p:sp>
    </p:spTree>
    <p:extLst>
      <p:ext uri="{BB962C8B-B14F-4D97-AF65-F5344CB8AC3E}">
        <p14:creationId xmlns:p14="http://schemas.microsoft.com/office/powerpoint/2010/main" val="19890033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of at least 30 participants.</a:t>
            </a:r>
          </a:p>
          <a:p>
            <a:r>
              <a:rPr lang="en-US" dirty="0"/>
              <a:t>Panel members drawn from among university technology transfer professionals, university research administrators, university faculty, industry research and development executives, industry product managers, experienced entrepreneurs, and venture capitalists. </a:t>
            </a:r>
          </a:p>
        </p:txBody>
      </p:sp>
      <p:sp>
        <p:nvSpPr>
          <p:cNvPr id="4" name="Slide Number Placeholder 3"/>
          <p:cNvSpPr>
            <a:spLocks noGrp="1"/>
          </p:cNvSpPr>
          <p:nvPr>
            <p:ph type="sldNum" sz="quarter" idx="10"/>
          </p:nvPr>
        </p:nvSpPr>
        <p:spPr/>
        <p:txBody>
          <a:bodyPr/>
          <a:lstStyle/>
          <a:p>
            <a:fld id="{76C7EBE9-FBA5-4606-B4BF-D5A892555425}" type="slidenum">
              <a:rPr lang="en-US" smtClean="0"/>
              <a:t>41</a:t>
            </a:fld>
            <a:endParaRPr lang="en-US"/>
          </a:p>
        </p:txBody>
      </p:sp>
    </p:spTree>
    <p:extLst>
      <p:ext uri="{BB962C8B-B14F-4D97-AF65-F5344CB8AC3E}">
        <p14:creationId xmlns:p14="http://schemas.microsoft.com/office/powerpoint/2010/main" val="17691361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a:t>Click to edit Master title style</a:t>
            </a:r>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C1FCE38-2186-4D26-B7FB-3342183A2F51}" type="datetimeFigureOut">
              <a:rPr lang="en-US" smtClean="0"/>
              <a:t>04/17/2019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C1FCE38-2186-4D26-B7FB-3342183A2F51}" type="datetimeFigureOut">
              <a:rPr lang="en-US" smtClean="0"/>
              <a:t>04/17/2019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04/17/2019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04/17/2019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10.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7.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diagramLayout" Target="../diagrams/layout9.xml"/><Relationship Id="rId3" Type="http://schemas.openxmlformats.org/officeDocument/2006/relationships/diagramLayout" Target="../diagrams/layout8.xml"/><Relationship Id="rId7" Type="http://schemas.openxmlformats.org/officeDocument/2006/relationships/diagramData" Target="../diagrams/data9.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11" Type="http://schemas.microsoft.com/office/2007/relationships/diagramDrawing" Target="../diagrams/drawing9.xml"/><Relationship Id="rId5" Type="http://schemas.openxmlformats.org/officeDocument/2006/relationships/diagramColors" Target="../diagrams/colors8.xml"/><Relationship Id="rId10" Type="http://schemas.openxmlformats.org/officeDocument/2006/relationships/diagramColors" Target="../diagrams/colors9.xml"/><Relationship Id="rId4" Type="http://schemas.openxmlformats.org/officeDocument/2006/relationships/diagramQuickStyle" Target="../diagrams/quickStyle8.xml"/><Relationship Id="rId9" Type="http://schemas.openxmlformats.org/officeDocument/2006/relationships/diagramQuickStyle" Target="../diagrams/quickStyle9.xml"/></Relationships>
</file>

<file path=ppt/slides/_rels/slide22.xml.rels><?xml version="1.0" encoding="UTF-8" standalone="yes"?>
<Relationships xmlns="http://schemas.openxmlformats.org/package/2006/relationships"><Relationship Id="rId8" Type="http://schemas.openxmlformats.org/officeDocument/2006/relationships/diagramLayout" Target="../diagrams/layout11.xml"/><Relationship Id="rId3" Type="http://schemas.openxmlformats.org/officeDocument/2006/relationships/diagramLayout" Target="../diagrams/layout10.xml"/><Relationship Id="rId7" Type="http://schemas.openxmlformats.org/officeDocument/2006/relationships/diagramData" Target="../diagrams/data11.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11" Type="http://schemas.microsoft.com/office/2007/relationships/diagramDrawing" Target="../diagrams/drawing11.xml"/><Relationship Id="rId5" Type="http://schemas.openxmlformats.org/officeDocument/2006/relationships/diagramColors" Target="../diagrams/colors10.xml"/><Relationship Id="rId10" Type="http://schemas.openxmlformats.org/officeDocument/2006/relationships/diagramColors" Target="../diagrams/colors11.xml"/><Relationship Id="rId4" Type="http://schemas.openxmlformats.org/officeDocument/2006/relationships/diagramQuickStyle" Target="../diagrams/quickStyle10.xml"/><Relationship Id="rId9" Type="http://schemas.openxmlformats.org/officeDocument/2006/relationships/diagramQuickStyle" Target="../diagrams/quickStyle11.xml"/></Relationships>
</file>

<file path=ppt/slides/_rels/slide23.xml.rels><?xml version="1.0" encoding="UTF-8" standalone="yes"?>
<Relationships xmlns="http://schemas.openxmlformats.org/package/2006/relationships"><Relationship Id="rId8" Type="http://schemas.openxmlformats.org/officeDocument/2006/relationships/diagramLayout" Target="../diagrams/layout13.xml"/><Relationship Id="rId3" Type="http://schemas.openxmlformats.org/officeDocument/2006/relationships/diagramLayout" Target="../diagrams/layout12.xml"/><Relationship Id="rId7" Type="http://schemas.openxmlformats.org/officeDocument/2006/relationships/diagramData" Target="../diagrams/data13.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11" Type="http://schemas.microsoft.com/office/2007/relationships/diagramDrawing" Target="../diagrams/drawing13.xml"/><Relationship Id="rId5" Type="http://schemas.openxmlformats.org/officeDocument/2006/relationships/diagramColors" Target="../diagrams/colors12.xml"/><Relationship Id="rId10" Type="http://schemas.openxmlformats.org/officeDocument/2006/relationships/diagramColors" Target="../diagrams/colors13.xml"/><Relationship Id="rId4" Type="http://schemas.openxmlformats.org/officeDocument/2006/relationships/diagramQuickStyle" Target="../diagrams/quickStyle12.xml"/><Relationship Id="rId9" Type="http://schemas.openxmlformats.org/officeDocument/2006/relationships/diagramQuickStyle" Target="../diagrams/quickStyle13.xml"/></Relationships>
</file>

<file path=ppt/slides/_rels/slide24.xml.rels><?xml version="1.0" encoding="UTF-8" standalone="yes"?>
<Relationships xmlns="http://schemas.openxmlformats.org/package/2006/relationships"><Relationship Id="rId8" Type="http://schemas.openxmlformats.org/officeDocument/2006/relationships/diagramLayout" Target="../diagrams/layout15.xml"/><Relationship Id="rId3" Type="http://schemas.openxmlformats.org/officeDocument/2006/relationships/diagramLayout" Target="../diagrams/layout14.xml"/><Relationship Id="rId7" Type="http://schemas.openxmlformats.org/officeDocument/2006/relationships/diagramData" Target="../diagrams/data15.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11" Type="http://schemas.microsoft.com/office/2007/relationships/diagramDrawing" Target="../diagrams/drawing15.xml"/><Relationship Id="rId5" Type="http://schemas.openxmlformats.org/officeDocument/2006/relationships/diagramColors" Target="../diagrams/colors14.xml"/><Relationship Id="rId10" Type="http://schemas.openxmlformats.org/officeDocument/2006/relationships/diagramColors" Target="../diagrams/colors15.xml"/><Relationship Id="rId4" Type="http://schemas.openxmlformats.org/officeDocument/2006/relationships/diagramQuickStyle" Target="../diagrams/quickStyle14.xml"/><Relationship Id="rId9" Type="http://schemas.openxmlformats.org/officeDocument/2006/relationships/diagramQuickStyle" Target="../diagrams/quickStyl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3.png"/><Relationship Id="rId7"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7.xml"/><Relationship Id="rId1" Type="http://schemas.openxmlformats.org/officeDocument/2006/relationships/vmlDrawing" Target="../drawings/vmlDrawing2.vml"/><Relationship Id="rId5" Type="http://schemas.openxmlformats.org/officeDocument/2006/relationships/image" Target="../media/image26.emf"/><Relationship Id="rId4" Type="http://schemas.openxmlformats.org/officeDocument/2006/relationships/package" Target="../embeddings/Microsoft_Excel_Worksheet1.xlsx"/></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a:t>Considering Development Stage and Geography in Technology Transfer Public Policy</a:t>
            </a:r>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a:t>Malcolm S. Townes</a:t>
            </a:r>
          </a:p>
          <a:p>
            <a:pPr algn="ctr"/>
            <a:endParaRPr lang="en-US" dirty="0"/>
          </a:p>
          <a:p>
            <a:pPr algn="ctr"/>
            <a:r>
              <a:rPr lang="en-US" dirty="0"/>
              <a:t>Saint Louis University</a:t>
            </a:r>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Agenda</a:t>
            </a:r>
          </a:p>
        </p:txBody>
      </p:sp>
      <p:graphicFrame>
        <p:nvGraphicFramePr>
          <p:cNvPr id="2" name="Diagram 1"/>
          <p:cNvGraphicFramePr/>
          <p:nvPr>
            <p:extLst>
              <p:ext uri="{D42A27DB-BD31-4B8C-83A1-F6EECF244321}">
                <p14:modId xmlns:p14="http://schemas.microsoft.com/office/powerpoint/2010/main" val="2617809908"/>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Defining Public Policy</a:t>
            </a:r>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a:p>
          <a:p>
            <a:r>
              <a:rPr lang="en-US" dirty="0"/>
              <a:t>“the sum total of government action, from signals of intent to the final outcomes” </a:t>
            </a:r>
            <a:br>
              <a:rPr lang="en-US" dirty="0"/>
            </a:br>
            <a:r>
              <a:rPr lang="en-US" dirty="0"/>
              <a:t>(</a:t>
            </a:r>
            <a:r>
              <a:rPr lang="en-US" dirty="0" err="1"/>
              <a:t>Cairney</a:t>
            </a:r>
            <a:r>
              <a:rPr lang="en-US" dirty="0"/>
              <a:t>, 2016).</a:t>
            </a:r>
          </a:p>
          <a:p>
            <a:endParaRPr lang="en-US" dirty="0"/>
          </a:p>
          <a:p>
            <a:pPr lvl="0"/>
            <a:r>
              <a:rPr lang="en-US" dirty="0">
                <a:solidFill>
                  <a:prstClr val="black"/>
                </a:solidFill>
              </a:rPr>
              <a:t>“the actions, objectives, and pronouncements of governments on particular matters, the steps they take (or fail to take) to implement them, and the explanations they give for what happens (or does not happen)” (Wilson, 2006).</a:t>
            </a: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Significance and Importance</a:t>
            </a:r>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a:t>…prior to 1980, only 5 percent of government-owned patents had ever been used by industry.</a:t>
              </a:r>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a:t>Schact  (2012) as cited in Tseng &amp; </a:t>
              </a:r>
              <a:r>
                <a:rPr lang="en-US" sz="1400" dirty="0" err="1"/>
                <a:t>Raudensky</a:t>
              </a:r>
              <a:r>
                <a:rPr lang="en-US" sz="1400" dirty="0"/>
                <a:t>, 2014</a:t>
              </a:r>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leader in global innovation, bring products to market more quickly, grow the economy, and maintain a strong national security innovation base, it is essential to optimize technology transfer and support programs to increase the return on investment (ROI)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…more effective partnering models and technology transfer mechanisms…</a:t>
            </a:r>
          </a:p>
        </p:txBody>
      </p:sp>
      <p:sp>
        <p:nvSpPr>
          <p:cNvPr id="22" name="Rectangular Callout 21"/>
          <p:cNvSpPr/>
          <p:nvPr/>
        </p:nvSpPr>
        <p:spPr>
          <a:xfrm>
            <a:off x="4688958" y="4289154"/>
            <a:ext cx="4389120" cy="822960"/>
          </a:xfrm>
          <a:prstGeom prst="wedgeRectCallout">
            <a:avLst>
              <a:gd name="adj1" fmla="val -108006"/>
              <a:gd name="adj2" fmla="val -76514"/>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a:t>Source: OMB, 2018.</a:t>
            </a:r>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a:solidFill>
                  <a:prstClr val="black"/>
                </a:solidFill>
              </a:rPr>
              <a:t>Source: “CMS Medicare Budget Overview,” 2018. ; “US Spending”, </a:t>
            </a:r>
            <a:r>
              <a:rPr lang="en-US" sz="1600" dirty="0" err="1" smtClean="0">
                <a:solidFill>
                  <a:prstClr val="black"/>
                </a:solidFill>
              </a:rPr>
              <a:t>n.d</a:t>
            </a:r>
            <a:r>
              <a:rPr lang="en-US" sz="1600" dirty="0" err="1">
                <a:solidFill>
                  <a:prstClr val="black"/>
                </a:solidFill>
              </a:rPr>
              <a:t>.</a:t>
            </a:r>
            <a:r>
              <a:rPr lang="en-US" sz="1600" dirty="0">
                <a:solidFill>
                  <a:prstClr val="black"/>
                </a:solidFill>
              </a:rPr>
              <a:t> </a:t>
            </a: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500"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79462"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4542755" y="724991"/>
            <a:ext cx="4381804" cy="1935081"/>
          </a:xfrm>
          <a:prstGeom prst="wedgeRoundRectCallout">
            <a:avLst>
              <a:gd name="adj1" fmla="val -57071"/>
              <a:gd name="adj2" fmla="val 748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1909 to 1949, increased productivity driven by technological change accounted for roughly 80 percent of the increase in U.S. </a:t>
            </a:r>
            <a:r>
              <a:rPr lang="en-US" i="1" dirty="0"/>
              <a:t>per capita </a:t>
            </a:r>
            <a:r>
              <a:rPr lang="en-US" dirty="0"/>
              <a:t>Gross National Product.</a:t>
            </a:r>
          </a:p>
          <a:p>
            <a:endParaRPr lang="en-US" dirty="0"/>
          </a:p>
          <a:p>
            <a:pPr algn="r"/>
            <a:r>
              <a:rPr lang="en-US" sz="1600" dirty="0"/>
              <a:t>Source: Solow, 1957</a:t>
            </a:r>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043275558"/>
              </p:ext>
            </p:extLst>
          </p:nvPr>
        </p:nvGraphicFramePr>
        <p:xfrm>
          <a:off x="228600" y="914400"/>
          <a:ext cx="7359732" cy="2023745"/>
        </p:xfrm>
        <a:graphic>
          <a:graphicData uri="http://schemas.openxmlformats.org/drawingml/2006/table">
            <a:tbl>
              <a:tblPr firstRow="1" firstCol="1" bandRow="1"/>
              <a:tblGrid>
                <a:gridCol w="507670">
                  <a:extLst>
                    <a:ext uri="{9D8B030D-6E8A-4147-A177-3AD203B41FA5}">
                      <a16:colId xmlns:a16="http://schemas.microsoft.com/office/drawing/2014/main" xmlns="" val="20000"/>
                    </a:ext>
                  </a:extLst>
                </a:gridCol>
                <a:gridCol w="6852062">
                  <a:extLst>
                    <a:ext uri="{9D8B030D-6E8A-4147-A177-3AD203B41FA5}">
                      <a16:colId xmlns:a16="http://schemas.microsoft.com/office/drawing/2014/main" xmlns="" val="20001"/>
                    </a:ext>
                  </a:extLst>
                </a:gridCol>
              </a:tblGrid>
              <a:tr h="914401">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and 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xmlns="" val="10000"/>
                  </a:ext>
                </a:extLst>
              </a:tr>
              <a:tr h="676328">
                <a:tc>
                  <a:txBody>
                    <a:bodyPr/>
                    <a:lstStyle/>
                    <a:p>
                      <a:pPr marL="0" marR="0">
                        <a:lnSpc>
                          <a:spcPct val="114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What is current federal public policy regarding the transfer of technologies derived from federally-funded R&amp;D to the private sector?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rgbClr val="C0C0C0"/>
                    </a:solidFill>
                  </a:tcPr>
                </a:tc>
                <a:extLst>
                  <a:ext uri="{0D108BD9-81ED-4DB2-BD59-A6C34878D82A}">
                    <a16:rowId xmlns:a16="http://schemas.microsoft.com/office/drawing/2014/main" xmlns="" val="10001"/>
                  </a:ext>
                </a:extLst>
              </a:tr>
            </a:tbl>
          </a:graphicData>
        </a:graphic>
      </p:graphicFrame>
      <p:sp>
        <p:nvSpPr>
          <p:cNvPr id="2" name="TextBox 1"/>
          <p:cNvSpPr txBox="1"/>
          <p:nvPr/>
        </p:nvSpPr>
        <p:spPr>
          <a:xfrm>
            <a:off x="7683335" y="1222610"/>
            <a:ext cx="1371600" cy="646331"/>
          </a:xfrm>
          <a:prstGeom prst="rect">
            <a:avLst/>
          </a:prstGeom>
          <a:noFill/>
        </p:spPr>
        <p:txBody>
          <a:bodyPr wrap="square" lIns="0" rIns="0" rtlCol="0">
            <a:spAutoFit/>
          </a:bodyPr>
          <a:lstStyle/>
          <a:p>
            <a:r>
              <a:rPr lang="en-US" dirty="0"/>
              <a:t>Policy Alternatives</a:t>
            </a:r>
          </a:p>
        </p:txBody>
      </p:sp>
      <p:sp>
        <p:nvSpPr>
          <p:cNvPr id="6" name="TextBox 5"/>
          <p:cNvSpPr txBox="1"/>
          <p:nvPr/>
        </p:nvSpPr>
        <p:spPr>
          <a:xfrm>
            <a:off x="7683335" y="2329504"/>
            <a:ext cx="1371600" cy="369332"/>
          </a:xfrm>
          <a:prstGeom prst="rect">
            <a:avLst/>
          </a:prstGeom>
          <a:noFill/>
        </p:spPr>
        <p:txBody>
          <a:bodyPr wrap="square" lIns="0" rIns="0" rtlCol="0">
            <a:spAutoFit/>
          </a:bodyPr>
          <a:lstStyle/>
          <a:p>
            <a:r>
              <a:rPr lang="en-US" dirty="0" smtClean="0"/>
              <a:t>Policy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462721660"/>
              </p:ext>
            </p:extLst>
          </p:nvPr>
        </p:nvGraphicFramePr>
        <p:xfrm>
          <a:off x="228600" y="914400"/>
          <a:ext cx="7359732" cy="3661093"/>
        </p:xfrm>
        <a:graphic>
          <a:graphicData uri="http://schemas.openxmlformats.org/drawingml/2006/table">
            <a:tbl>
              <a:tblPr firstRow="1" firstCol="1" bandRow="1"/>
              <a:tblGrid>
                <a:gridCol w="507670">
                  <a:extLst>
                    <a:ext uri="{9D8B030D-6E8A-4147-A177-3AD203B41FA5}">
                      <a16:colId xmlns:a16="http://schemas.microsoft.com/office/drawing/2014/main" xmlns="" val="20000"/>
                    </a:ext>
                  </a:extLst>
                </a:gridCol>
                <a:gridCol w="6852062">
                  <a:extLst>
                    <a:ext uri="{9D8B030D-6E8A-4147-A177-3AD203B41FA5}">
                      <a16:colId xmlns:a16="http://schemas.microsoft.com/office/drawing/2014/main" xmlns="" val="20001"/>
                    </a:ext>
                  </a:extLst>
                </a:gridCol>
              </a:tblGrid>
              <a:tr h="676328">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Q3</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a:t>
                      </a:r>
                      <a:r>
                        <a:rPr lang="en-US" sz="1800" dirty="0" smtClean="0">
                          <a:solidFill>
                            <a:srgbClr val="000000"/>
                          </a:solidFill>
                          <a:effectLst/>
                          <a:latin typeface="+mn-lt"/>
                          <a:ea typeface="Calibri"/>
                          <a:cs typeface="Times New Roman"/>
                        </a:rPr>
                        <a:t>from </a:t>
                      </a:r>
                      <a:r>
                        <a:rPr lang="en-US" sz="1800" dirty="0">
                          <a:solidFill>
                            <a:srgbClr val="000000"/>
                          </a:solidFill>
                          <a:effectLst/>
                          <a:latin typeface="+mn-lt"/>
                          <a:ea typeface="Calibri"/>
                          <a:cs typeface="Times New Roman"/>
                        </a:rPr>
                        <a:t>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development stage attained</a:t>
                      </a:r>
                      <a:r>
                        <a:rPr lang="en-US" sz="1800" baseline="0" dirty="0">
                          <a:solidFill>
                            <a:srgbClr val="000000"/>
                          </a:solidFill>
                          <a:effectLst/>
                          <a:latin typeface="+mn-lt"/>
                          <a:ea typeface="Calibri"/>
                          <a:cs typeface="Times New Roman"/>
                        </a:rPr>
                        <a:t> by</a:t>
                      </a:r>
                      <a:r>
                        <a:rPr lang="en-US" sz="1800" dirty="0">
                          <a:solidFill>
                            <a:srgbClr val="000000"/>
                          </a:solidFill>
                          <a:effectLst/>
                          <a:latin typeface="+mn-lt"/>
                          <a:ea typeface="Calibri"/>
                          <a:cs typeface="Times New Roman"/>
                        </a:rPr>
                        <a:t> the R&amp;D projects?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rgbClr val="C0C0C0"/>
                    </a:solidFill>
                  </a:tcPr>
                </a:tc>
                <a:extLst>
                  <a:ext uri="{0D108BD9-81ED-4DB2-BD59-A6C34878D82A}">
                    <a16:rowId xmlns:a16="http://schemas.microsoft.com/office/drawing/2014/main" xmlns="" val="10001"/>
                  </a:ext>
                </a:extLst>
              </a:tr>
              <a:tr h="898452">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Q4</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development</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stage </a:t>
                      </a:r>
                      <a:r>
                        <a:rPr lang="en-US" sz="1800" dirty="0">
                          <a:solidFill>
                            <a:srgbClr val="000000"/>
                          </a:solidFill>
                          <a:effectLst/>
                          <a:latin typeface="+mn-lt"/>
                          <a:ea typeface="Calibri"/>
                          <a:cs typeface="Times New Roman"/>
                        </a:rPr>
                        <a:t>attained</a:t>
                      </a:r>
                      <a:r>
                        <a:rPr lang="en-US" sz="1800" baseline="0" dirty="0">
                          <a:solidFill>
                            <a:srgbClr val="000000"/>
                          </a:solidFill>
                          <a:effectLst/>
                          <a:latin typeface="+mn-lt"/>
                          <a:ea typeface="Calibri"/>
                          <a:cs typeface="Times New Roman"/>
                        </a:rPr>
                        <a:t> by </a:t>
                      </a:r>
                      <a:r>
                        <a:rPr lang="en-US" sz="1800" dirty="0">
                          <a:solidFill>
                            <a:srgbClr val="000000"/>
                          </a:solidFill>
                          <a:effectLst/>
                          <a:latin typeface="+mn-lt"/>
                          <a:ea typeface="Calibri"/>
                          <a:cs typeface="Times New Roman"/>
                        </a:rPr>
                        <a:t>federally-funded R&amp;D projects and 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xmlns="" val="10002"/>
                  </a:ext>
                </a:extLst>
              </a:tr>
              <a:tr h="989987">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Q5</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from 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extLst>
                  <a:ext uri="{0D108BD9-81ED-4DB2-BD59-A6C34878D82A}">
                    <a16:rowId xmlns:a16="http://schemas.microsoft.com/office/drawing/2014/main" xmlns="" val="10003"/>
                  </a:ext>
                </a:extLst>
              </a:tr>
            </a:tbl>
          </a:graphicData>
        </a:graphic>
      </p:graphicFrame>
      <p:sp>
        <p:nvSpPr>
          <p:cNvPr id="6" name="TextBox 5"/>
          <p:cNvSpPr txBox="1"/>
          <p:nvPr/>
        </p:nvSpPr>
        <p:spPr>
          <a:xfrm>
            <a:off x="7683335" y="1138404"/>
            <a:ext cx="1371600" cy="646331"/>
          </a:xfrm>
          <a:prstGeom prst="rect">
            <a:avLst/>
          </a:prstGeom>
          <a:noFill/>
        </p:spPr>
        <p:txBody>
          <a:bodyPr wrap="square" lIns="0" rIns="0" rtlCol="0">
            <a:spAutoFit/>
          </a:bodyPr>
          <a:lstStyle/>
          <a:p>
            <a:r>
              <a:rPr lang="en-US" dirty="0"/>
              <a:t>Development Stage</a:t>
            </a:r>
          </a:p>
        </p:txBody>
      </p:sp>
      <p:sp>
        <p:nvSpPr>
          <p:cNvPr id="7" name="TextBox 6"/>
          <p:cNvSpPr txBox="1"/>
          <p:nvPr/>
        </p:nvSpPr>
        <p:spPr>
          <a:xfrm>
            <a:off x="7683335" y="2082330"/>
            <a:ext cx="1371600" cy="923330"/>
          </a:xfrm>
          <a:prstGeom prst="rect">
            <a:avLst/>
          </a:prstGeom>
          <a:noFill/>
        </p:spPr>
        <p:txBody>
          <a:bodyPr wrap="square" lIns="0" rIns="0" rtlCol="0">
            <a:spAutoFit/>
          </a:bodyPr>
          <a:lstStyle/>
          <a:p>
            <a:r>
              <a:rPr lang="en-US" dirty="0"/>
              <a:t>Development Stage &amp; Geography</a:t>
            </a:r>
          </a:p>
        </p:txBody>
      </p:sp>
      <p:sp>
        <p:nvSpPr>
          <p:cNvPr id="8" name="TextBox 7"/>
          <p:cNvSpPr txBox="1"/>
          <p:nvPr/>
        </p:nvSpPr>
        <p:spPr>
          <a:xfrm>
            <a:off x="7683335" y="3674705"/>
            <a:ext cx="1371600" cy="369332"/>
          </a:xfrm>
          <a:prstGeom prst="rect">
            <a:avLst/>
          </a:prstGeom>
          <a:noFill/>
        </p:spPr>
        <p:txBody>
          <a:bodyPr wrap="square" lIns="0" rIns="0" rtlCol="0">
            <a:spAutoFit/>
          </a:bodyPr>
          <a:lstStyle/>
          <a:p>
            <a:r>
              <a:rPr lang="en-US" dirty="0"/>
              <a:t>Geography</a:t>
            </a:r>
          </a:p>
        </p:txBody>
      </p:sp>
    </p:spTree>
    <p:extLst>
      <p:ext uri="{BB962C8B-B14F-4D97-AF65-F5344CB8AC3E}">
        <p14:creationId xmlns:p14="http://schemas.microsoft.com/office/powerpoint/2010/main" val="323037405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Literature Review</a:t>
            </a:r>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1950471915"/>
              </p:ext>
            </p:extLst>
          </p:nvPr>
        </p:nvGraphicFramePr>
        <p:xfrm>
          <a:off x="91440" y="731521"/>
          <a:ext cx="8961120" cy="35186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4" name="Diagram 3"/>
          <p:cNvGraphicFramePr>
            <a:graphicFrameLocks/>
          </p:cNvGraphicFramePr>
          <p:nvPr>
            <p:extLst>
              <p:ext uri="{D42A27DB-BD31-4B8C-83A1-F6EECF244321}">
                <p14:modId xmlns:p14="http://schemas.microsoft.com/office/powerpoint/2010/main" val="2476302868"/>
              </p:ext>
            </p:extLst>
          </p:nvPr>
        </p:nvGraphicFramePr>
        <p:xfrm>
          <a:off x="92014" y="731520"/>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3420173521"/>
              </p:ext>
            </p:extLst>
          </p:nvPr>
        </p:nvGraphicFramePr>
        <p:xfrm>
          <a:off x="91440" y="2944369"/>
          <a:ext cx="8961120" cy="2637129"/>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364858466"/>
              </p:ext>
            </p:extLst>
          </p:nvPr>
        </p:nvGraphicFramePr>
        <p:xfrm>
          <a:off x="91440" y="731521"/>
          <a:ext cx="8961120" cy="35259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01277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7837909"/>
              </p:ext>
            </p:extLst>
          </p:nvPr>
        </p:nvGraphicFramePr>
        <p:xfrm>
          <a:off x="91440" y="731520"/>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9121537"/>
              </p:ext>
            </p:extLst>
          </p:nvPr>
        </p:nvGraphicFramePr>
        <p:xfrm>
          <a:off x="91440" y="731520"/>
          <a:ext cx="8961120" cy="35112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169648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Study Objectives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a:t>
            </a:r>
            <a:r>
              <a:rPr lang="en-US" sz="2800" b="1" dirty="0" smtClean="0"/>
              <a:t>Objectives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2750811373"/>
              </p:ext>
            </p:extLst>
          </p:nvPr>
        </p:nvGraphicFramePr>
        <p:xfrm>
          <a:off x="228600" y="914400"/>
          <a:ext cx="8686800" cy="4521200"/>
        </p:xfrm>
        <a:graphic>
          <a:graphicData uri="http://schemas.openxmlformats.org/drawingml/2006/table">
            <a:tbl>
              <a:tblPr firstRow="1" firstCol="1" bandRow="1"/>
              <a:tblGrid>
                <a:gridCol w="1469571">
                  <a:extLst>
                    <a:ext uri="{9D8B030D-6E8A-4147-A177-3AD203B41FA5}">
                      <a16:colId xmlns:a16="http://schemas.microsoft.com/office/drawing/2014/main" xmlns="" val="20000"/>
                    </a:ext>
                  </a:extLst>
                </a:gridCol>
                <a:gridCol w="7217229">
                  <a:extLst>
                    <a:ext uri="{9D8B030D-6E8A-4147-A177-3AD203B41FA5}">
                      <a16:colId xmlns:a16="http://schemas.microsoft.com/office/drawing/2014/main" xmlns="" val="20001"/>
                    </a:ext>
                  </a:extLst>
                </a:gridCol>
              </a:tblGrid>
              <a:tr h="1422400">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 public </a:t>
                      </a:r>
                      <a:r>
                        <a:rPr lang="en-US" sz="1800" dirty="0">
                          <a:solidFill>
                            <a:srgbClr val="000000"/>
                          </a:solidFill>
                          <a:effectLst/>
                          <a:latin typeface="+mn-lt"/>
                          <a:ea typeface="Calibri"/>
                          <a:cs typeface="Times New Roman"/>
                        </a:rPr>
                        <a:t>policy alternatives </a:t>
                      </a:r>
                      <a:r>
                        <a:rPr lang="en-US" sz="1800" dirty="0" smtClean="0">
                          <a:solidFill>
                            <a:srgbClr val="000000"/>
                          </a:solidFill>
                          <a:effectLst/>
                          <a:latin typeface="+mn-lt"/>
                          <a:ea typeface="Calibri"/>
                          <a:cs typeface="Times New Roman"/>
                        </a:rPr>
                        <a:t>for </a:t>
                      </a:r>
                      <a:r>
                        <a:rPr lang="en-US" sz="1800" dirty="0">
                          <a:solidFill>
                            <a:srgbClr val="000000"/>
                          </a:solidFill>
                          <a:effectLst/>
                          <a:latin typeface="+mn-lt"/>
                          <a:ea typeface="Calibri"/>
                          <a:cs typeface="Times New Roman"/>
                        </a:rPr>
                        <a:t>increasing the transfer of technologies derived from federally-funded research and development (R&amp;D) to the private sector taking into consideration the potential role of development stage and </a:t>
                      </a:r>
                      <a:r>
                        <a:rPr lang="en-US" sz="1800" dirty="0" smtClean="0">
                          <a:solidFill>
                            <a:srgbClr val="000000"/>
                          </a:solidFill>
                          <a:effectLst/>
                          <a:latin typeface="+mn-lt"/>
                          <a:ea typeface="Calibri"/>
                          <a:cs typeface="Times New Roman"/>
                        </a:rPr>
                        <a:t>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xmlns="" val="10000"/>
                  </a:ext>
                </a:extLst>
              </a:tr>
              <a:tr h="812800">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2</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Describe current federal public policy regarding the transfer of technologies derived from federally-funded R&amp;D to the private sector.</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solidFill>
                      <a:srgbClr val="C0C0C0"/>
                    </a:solidFill>
                  </a:tcPr>
                </a:tc>
                <a:extLst>
                  <a:ext uri="{0D108BD9-81ED-4DB2-BD59-A6C34878D82A}">
                    <a16:rowId xmlns:a16="http://schemas.microsoft.com/office/drawing/2014/main" xmlns="" val="10001"/>
                  </a:ext>
                </a:extLst>
              </a:tr>
              <a:tr h="747486">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3</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no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 insight about the role of development</a:t>
                      </a:r>
                      <a:r>
                        <a:rPr lang="en-US" sz="1800" baseline="0" dirty="0" smtClean="0">
                          <a:solidFill>
                            <a:srgbClr val="000000"/>
                          </a:solidFill>
                          <a:effectLst/>
                          <a:latin typeface="+mn-lt"/>
                          <a:ea typeface="Calibri"/>
                          <a:cs typeface="Times New Roman"/>
                        </a:rPr>
                        <a:t> stage in the transfer of technologies derived from federally-funded R&amp;D to the private sector.</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noFill/>
                  </a:tcPr>
                </a:tc>
              </a:tr>
              <a:tr h="740229">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4</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a:t>
                      </a:r>
                      <a:r>
                        <a:rPr lang="en-US" sz="1800" baseline="0" dirty="0" smtClean="0">
                          <a:solidFill>
                            <a:srgbClr val="000000"/>
                          </a:solidFill>
                          <a:effectLst/>
                          <a:latin typeface="+mn-lt"/>
                          <a:ea typeface="Calibri"/>
                          <a:cs typeface="Times New Roman"/>
                        </a:rPr>
                        <a:t> insight about the role of geography in the transfer of technologies derived from federally-funded R&amp;D to the private sector.</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solidFill>
                      <a:srgbClr val="C0C0C0"/>
                    </a:solidFill>
                  </a:tcPr>
                </a:tc>
              </a:tr>
              <a:tr h="798285">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5</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no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a:t>
                      </a:r>
                      <a:r>
                        <a:rPr lang="en-US" sz="1800" baseline="0" dirty="0" smtClean="0">
                          <a:solidFill>
                            <a:srgbClr val="000000"/>
                          </a:solidFill>
                          <a:effectLst/>
                          <a:latin typeface="+mn-lt"/>
                          <a:ea typeface="Calibri"/>
                          <a:cs typeface="Times New Roman"/>
                        </a:rPr>
                        <a:t> insight about the relationship between development stage and geography.</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0913983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Hypotheses</a:t>
            </a:r>
          </a:p>
        </p:txBody>
      </p:sp>
      <p:graphicFrame>
        <p:nvGraphicFramePr>
          <p:cNvPr id="2" name="Table 1"/>
          <p:cNvGraphicFramePr>
            <a:graphicFrameLocks noGrp="1"/>
          </p:cNvGraphicFramePr>
          <p:nvPr>
            <p:extLst>
              <p:ext uri="{D42A27DB-BD31-4B8C-83A1-F6EECF244321}">
                <p14:modId xmlns:p14="http://schemas.microsoft.com/office/powerpoint/2010/main" val="3501075095"/>
              </p:ext>
            </p:extLst>
          </p:nvPr>
        </p:nvGraphicFramePr>
        <p:xfrm>
          <a:off x="228600" y="914400"/>
          <a:ext cx="8686800" cy="3753962"/>
        </p:xfrm>
        <a:graphic>
          <a:graphicData uri="http://schemas.openxmlformats.org/drawingml/2006/table">
            <a:tbl>
              <a:tblPr firstRow="1" firstCol="1" bandRow="1"/>
              <a:tblGrid>
                <a:gridCol w="502869">
                  <a:extLst>
                    <a:ext uri="{9D8B030D-6E8A-4147-A177-3AD203B41FA5}">
                      <a16:colId xmlns:a16="http://schemas.microsoft.com/office/drawing/2014/main" xmlns="" val="20000"/>
                    </a:ext>
                  </a:extLst>
                </a:gridCol>
                <a:gridCol w="8183931">
                  <a:extLst>
                    <a:ext uri="{9D8B030D-6E8A-4147-A177-3AD203B41FA5}">
                      <a16:colId xmlns:a16="http://schemas.microsoft.com/office/drawing/2014/main" xmlns="" val="20001"/>
                    </a:ext>
                  </a:extLst>
                </a:gridCol>
              </a:tblGrid>
              <a:tr h="118889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a:t>
                      </a:r>
                      <a:r>
                        <a:rPr lang="en-US" sz="1800" baseline="0" dirty="0">
                          <a:solidFill>
                            <a:srgbClr val="000000"/>
                          </a:solidFill>
                          <a:effectLst/>
                          <a:latin typeface="+mn-lt"/>
                          <a:ea typeface="Calibri"/>
                          <a:cs typeface="Times New Roman"/>
                        </a:rPr>
                        <a:t> that a technology </a:t>
                      </a:r>
                      <a:r>
                        <a:rPr lang="en-US" sz="1800" dirty="0">
                          <a:solidFill>
                            <a:srgbClr val="000000"/>
                          </a:solidFill>
                          <a:effectLst/>
                          <a:latin typeface="+mn-lt"/>
                          <a:ea typeface="Calibri"/>
                          <a:cs typeface="Times New Roman"/>
                        </a:rPr>
                        <a:t>derived from a federally-funded R&amp;D project is transferred to the private sector is associated with the final development stage attained by the R&amp;D project</a:t>
                      </a:r>
                      <a:r>
                        <a:rPr lang="en-US" sz="1800" baseline="0" dirty="0">
                          <a:solidFill>
                            <a:srgbClr val="000000"/>
                          </a:solidFill>
                          <a:effectLst/>
                          <a:latin typeface="+mn-lt"/>
                          <a:ea typeface="Calibri"/>
                          <a:cs typeface="Times New Roman"/>
                        </a:rPr>
                        <a:t>. </a:t>
                      </a:r>
                      <a:endParaRPr lang="en-US" sz="18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extLst>
                  <a:ext uri="{0D108BD9-81ED-4DB2-BD59-A6C34878D82A}">
                    <a16:rowId xmlns:a16="http://schemas.microsoft.com/office/drawing/2014/main" xmlns="" val="10000"/>
                  </a:ext>
                </a:extLst>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final development stage attained by a federally-funded R&amp;D project is associated with the spatial distance between where the R&amp;D project is conducted</a:t>
                      </a:r>
                      <a:r>
                        <a:rPr lang="en-US" sz="1800" baseline="0" dirty="0">
                          <a:solidFill>
                            <a:srgbClr val="000000"/>
                          </a:solidFill>
                          <a:effectLst/>
                          <a:latin typeface="+mn-lt"/>
                          <a:ea typeface="Calibri"/>
                          <a:cs typeface="Times New Roman"/>
                        </a:rPr>
                        <a:t> </a:t>
                      </a:r>
                      <a:r>
                        <a:rPr lang="en-US" sz="1800" dirty="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extLst>
                  <a:ext uri="{0D108BD9-81ED-4DB2-BD59-A6C34878D82A}">
                    <a16:rowId xmlns:a16="http://schemas.microsoft.com/office/drawing/2014/main" xmlns="" val="10001"/>
                  </a:ext>
                </a:extLst>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 that a technology derived</a:t>
                      </a:r>
                      <a:r>
                        <a:rPr lang="en-US" sz="1800" baseline="0" dirty="0">
                          <a:solidFill>
                            <a:srgbClr val="000000"/>
                          </a:solidFill>
                          <a:effectLst/>
                          <a:latin typeface="+mn-lt"/>
                          <a:ea typeface="Calibri"/>
                          <a:cs typeface="Times New Roman"/>
                        </a:rPr>
                        <a:t> from a federally-funded R&amp;D project is transferred to the private sector is associated with the spatial distance between where the R&amp;D project is conducted and the nearest city. </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Methodology</a:t>
            </a:r>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ight Arrow 14"/>
          <p:cNvSpPr/>
          <p:nvPr/>
        </p:nvSpPr>
        <p:spPr>
          <a:xfrm>
            <a:off x="6241462" y="1856700"/>
            <a:ext cx="2743200" cy="1828800"/>
          </a:xfrm>
          <a:prstGeom prst="rightArrow">
            <a:avLst/>
          </a:prstGeom>
          <a:solidFill>
            <a:schemeClr val="accent3">
              <a:alpha val="70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85750" indent="-285750">
              <a:buFont typeface="Arial" panose="020B0604020202020204" pitchFamily="34" charset="0"/>
              <a:buChar char="•"/>
            </a:pPr>
            <a:r>
              <a:rPr lang="en-US" dirty="0" smtClean="0"/>
              <a:t>PPA</a:t>
            </a:r>
          </a:p>
          <a:p>
            <a:pPr marL="285750" indent="-285750">
              <a:buFont typeface="Arial" panose="020B0604020202020204" pitchFamily="34" charset="0"/>
              <a:buChar char="•"/>
            </a:pPr>
            <a:r>
              <a:rPr lang="en-US" dirty="0" smtClean="0"/>
              <a:t>Delphi method</a:t>
            </a:r>
            <a:endParaRPr lang="en-US" dirty="0"/>
          </a:p>
        </p:txBody>
      </p:sp>
      <p:sp>
        <p:nvSpPr>
          <p:cNvPr id="13" name="Right Arrow 12"/>
          <p:cNvSpPr/>
          <p:nvPr/>
        </p:nvSpPr>
        <p:spPr>
          <a:xfrm>
            <a:off x="1842328" y="2907813"/>
            <a:ext cx="2743200" cy="1828800"/>
          </a:xfrm>
          <a:prstGeom prst="rightArrow">
            <a:avLst/>
          </a:prstGeom>
          <a:solidFill>
            <a:schemeClr val="accent1">
              <a:alpha val="7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dirty="0" smtClean="0"/>
              <a:t>Regression analysis</a:t>
            </a:r>
          </a:p>
          <a:p>
            <a:pPr marL="285750" indent="-285750">
              <a:buFont typeface="Arial" panose="020B0604020202020204" pitchFamily="34" charset="0"/>
              <a:buChar char="•"/>
            </a:pPr>
            <a:r>
              <a:rPr lang="en-US" dirty="0" smtClean="0"/>
              <a:t>Kendall’s tau</a:t>
            </a:r>
            <a:endParaRPr lang="en-US" dirty="0"/>
          </a:p>
        </p:txBody>
      </p:sp>
      <p:sp>
        <p:nvSpPr>
          <p:cNvPr id="12" name="Right Arrow 11"/>
          <p:cNvSpPr/>
          <p:nvPr/>
        </p:nvSpPr>
        <p:spPr>
          <a:xfrm>
            <a:off x="1842328" y="626983"/>
            <a:ext cx="2743200" cy="1828800"/>
          </a:xfrm>
          <a:prstGeom prst="rightArrow">
            <a:avLst/>
          </a:prstGeom>
          <a:solidFill>
            <a:schemeClr val="accent6">
              <a:alpha val="7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285750" indent="-285750">
              <a:buFont typeface="Arial" panose="020B0604020202020204" pitchFamily="34" charset="0"/>
              <a:buChar char="•"/>
            </a:pPr>
            <a:r>
              <a:rPr lang="en-US" dirty="0" smtClean="0"/>
              <a:t>Content analysis</a:t>
            </a:r>
          </a:p>
          <a:p>
            <a:pPr marL="285750" indent="-285750">
              <a:buFont typeface="Arial" panose="020B0604020202020204" pitchFamily="34" charset="0"/>
              <a:buChar char="•"/>
            </a:pPr>
            <a:r>
              <a:rPr lang="en-US" dirty="0" smtClean="0"/>
              <a:t>Logic model</a:t>
            </a:r>
            <a:endParaRPr lang="en-US" dirty="0"/>
          </a:p>
        </p:txBody>
      </p:sp>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Methodology</a:t>
            </a:r>
          </a:p>
        </p:txBody>
      </p:sp>
      <p:sp>
        <p:nvSpPr>
          <p:cNvPr id="3" name="TextBox 2"/>
          <p:cNvSpPr txBox="1"/>
          <p:nvPr/>
        </p:nvSpPr>
        <p:spPr>
          <a:xfrm>
            <a:off x="1619634" y="2212708"/>
            <a:ext cx="2103120" cy="369332"/>
          </a:xfrm>
          <a:prstGeom prst="rect">
            <a:avLst/>
          </a:prstGeom>
          <a:noFill/>
        </p:spPr>
        <p:txBody>
          <a:bodyPr wrap="square" rtlCol="0">
            <a:spAutoFit/>
          </a:bodyPr>
          <a:lstStyle/>
          <a:p>
            <a:r>
              <a:rPr lang="en-US" dirty="0"/>
              <a:t>Research Question </a:t>
            </a:r>
            <a:r>
              <a:rPr lang="en-US" dirty="0" smtClean="0"/>
              <a:t>2</a:t>
            </a:r>
            <a:endParaRPr lang="en-US" dirty="0"/>
          </a:p>
        </p:txBody>
      </p:sp>
      <p:sp>
        <p:nvSpPr>
          <p:cNvPr id="5" name="TextBox 4"/>
          <p:cNvSpPr txBox="1"/>
          <p:nvPr/>
        </p:nvSpPr>
        <p:spPr>
          <a:xfrm>
            <a:off x="1619634" y="4505113"/>
            <a:ext cx="2103120" cy="369332"/>
          </a:xfrm>
          <a:prstGeom prst="rect">
            <a:avLst/>
          </a:prstGeom>
          <a:noFill/>
        </p:spPr>
        <p:txBody>
          <a:bodyPr wrap="square" rtlCol="0">
            <a:spAutoFit/>
          </a:bodyPr>
          <a:lstStyle/>
          <a:p>
            <a:r>
              <a:rPr lang="en-US" dirty="0"/>
              <a:t>Research Question </a:t>
            </a:r>
            <a:r>
              <a:rPr lang="en-US" dirty="0" smtClean="0"/>
              <a:t>3</a:t>
            </a:r>
            <a:endParaRPr lang="en-US" dirty="0"/>
          </a:p>
        </p:txBody>
      </p:sp>
      <p:sp>
        <p:nvSpPr>
          <p:cNvPr id="6" name="TextBox 5"/>
          <p:cNvSpPr txBox="1"/>
          <p:nvPr/>
        </p:nvSpPr>
        <p:spPr>
          <a:xfrm>
            <a:off x="1619634" y="4774464"/>
            <a:ext cx="2103120" cy="369332"/>
          </a:xfrm>
          <a:prstGeom prst="rect">
            <a:avLst/>
          </a:prstGeom>
          <a:noFill/>
        </p:spPr>
        <p:txBody>
          <a:bodyPr wrap="square" rtlCol="0">
            <a:spAutoFit/>
          </a:bodyPr>
          <a:lstStyle/>
          <a:p>
            <a:r>
              <a:rPr lang="en-US" dirty="0"/>
              <a:t>Research Question </a:t>
            </a:r>
            <a:r>
              <a:rPr lang="en-US" dirty="0" smtClean="0"/>
              <a:t>4</a:t>
            </a:r>
            <a:endParaRPr lang="en-US" dirty="0"/>
          </a:p>
        </p:txBody>
      </p:sp>
      <p:sp>
        <p:nvSpPr>
          <p:cNvPr id="7" name="TextBox 6"/>
          <p:cNvSpPr txBox="1"/>
          <p:nvPr/>
        </p:nvSpPr>
        <p:spPr>
          <a:xfrm>
            <a:off x="6023295" y="3423681"/>
            <a:ext cx="2103120" cy="369332"/>
          </a:xfrm>
          <a:prstGeom prst="rect">
            <a:avLst/>
          </a:prstGeom>
          <a:noFill/>
        </p:spPr>
        <p:txBody>
          <a:bodyPr wrap="square" rtlCol="0">
            <a:spAutoFit/>
          </a:bodyPr>
          <a:lstStyle/>
          <a:p>
            <a:r>
              <a:rPr lang="en-US" dirty="0"/>
              <a:t>Research Question 1</a:t>
            </a:r>
          </a:p>
        </p:txBody>
      </p:sp>
      <p:sp>
        <p:nvSpPr>
          <p:cNvPr id="8" name="TextBox 7"/>
          <p:cNvSpPr txBox="1"/>
          <p:nvPr/>
        </p:nvSpPr>
        <p:spPr>
          <a:xfrm>
            <a:off x="1619634" y="5045022"/>
            <a:ext cx="2103120" cy="369332"/>
          </a:xfrm>
          <a:prstGeom prst="rect">
            <a:avLst/>
          </a:prstGeom>
          <a:noFill/>
        </p:spPr>
        <p:txBody>
          <a:bodyPr wrap="square" rtlCol="0">
            <a:spAutoFit/>
          </a:bodyPr>
          <a:lstStyle/>
          <a:p>
            <a:r>
              <a:rPr lang="en-US" dirty="0"/>
              <a:t>Research Question </a:t>
            </a:r>
            <a:r>
              <a:rPr lang="en-US" dirty="0" smtClean="0"/>
              <a:t>5</a:t>
            </a:r>
            <a:endParaRPr lang="en-US" dirty="0"/>
          </a:p>
        </p:txBody>
      </p:sp>
      <p:sp>
        <p:nvSpPr>
          <p:cNvPr id="9" name="Oval 8"/>
          <p:cNvSpPr/>
          <p:nvPr/>
        </p:nvSpPr>
        <p:spPr>
          <a:xfrm>
            <a:off x="286769" y="2907813"/>
            <a:ext cx="1828800" cy="1828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smtClean="0"/>
              <a:t>Quantitative</a:t>
            </a:r>
            <a:endParaRPr lang="en-US" dirty="0"/>
          </a:p>
        </p:txBody>
      </p:sp>
      <p:sp>
        <p:nvSpPr>
          <p:cNvPr id="10" name="Oval 9"/>
          <p:cNvSpPr/>
          <p:nvPr/>
        </p:nvSpPr>
        <p:spPr>
          <a:xfrm>
            <a:off x="286769" y="626983"/>
            <a:ext cx="1828800" cy="18288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lIns="0" rIns="0" rtlCol="0" anchor="ctr"/>
          <a:lstStyle/>
          <a:p>
            <a:pPr algn="ctr"/>
            <a:r>
              <a:rPr lang="en-US" dirty="0" smtClean="0"/>
              <a:t>Qualitative</a:t>
            </a:r>
            <a:endParaRPr lang="en-US" dirty="0"/>
          </a:p>
        </p:txBody>
      </p:sp>
      <p:sp>
        <p:nvSpPr>
          <p:cNvPr id="11" name="Oval 10"/>
          <p:cNvSpPr/>
          <p:nvPr/>
        </p:nvSpPr>
        <p:spPr>
          <a:xfrm>
            <a:off x="4667280" y="1856700"/>
            <a:ext cx="1828800" cy="182880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lIns="0" rIns="0" rtlCol="0" anchor="ctr"/>
          <a:lstStyle/>
          <a:p>
            <a:pPr algn="ctr"/>
            <a:r>
              <a:rPr lang="en-US" dirty="0" smtClean="0"/>
              <a:t>Qualitative</a:t>
            </a:r>
            <a:endParaRPr lang="en-US" dirty="0"/>
          </a:p>
        </p:txBody>
      </p:sp>
    </p:spTree>
    <p:extLst>
      <p:ext uri="{BB962C8B-B14F-4D97-AF65-F5344CB8AC3E}">
        <p14:creationId xmlns:p14="http://schemas.microsoft.com/office/powerpoint/2010/main" val="348214807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190038490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4890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64234599"/>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65110680"/>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4140785331"/>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354500268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4280123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075579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56356225"/>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a:t>
                      </a:r>
                      <a:r>
                        <a:rPr lang="en-US" sz="1800" b="1" baseline="0" dirty="0">
                          <a:solidFill>
                            <a:srgbClr val="FFFFFF"/>
                          </a:solidFill>
                          <a:effectLst/>
                          <a:latin typeface="Times New Roman"/>
                          <a:ea typeface="Calibri"/>
                          <a:cs typeface="Times New Roman"/>
                        </a:rPr>
                        <a:t> of Measurement</a:t>
                      </a:r>
                      <a:endParaRPr lang="en-US" sz="1800" b="1" dirty="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Character 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1"/>
                  </a:ext>
                </a:extLst>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2"/>
                  </a:ext>
                </a:extLst>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3"/>
                  </a:ext>
                </a:extLst>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Ordinal</a:t>
                      </a:r>
                    </a:p>
                    <a:p>
                      <a:pPr marL="0" marR="0">
                        <a:lnSpc>
                          <a:spcPct val="115000"/>
                        </a:lnSpc>
                        <a:spcBef>
                          <a:spcPts val="0"/>
                        </a:spcBef>
                        <a:spcAft>
                          <a:spcPts val="0"/>
                        </a:spcAft>
                      </a:pPr>
                      <a:r>
                        <a:rPr lang="en-US" sz="1800" dirty="0">
                          <a:effectLst/>
                          <a:latin typeface="Times New Roman"/>
                          <a:ea typeface="Calibri"/>
                          <a:cs typeface="Times New Roman"/>
                        </a:rPr>
                        <a:t>Integer values from 1 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4"/>
                  </a:ext>
                </a:extLst>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5"/>
                  </a:ext>
                </a:extLst>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1 =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1"/>
                  </a:ext>
                </a:extLst>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2"/>
                  </a:ext>
                </a:extLst>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3"/>
                  </a:ext>
                </a:extLst>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4"/>
                  </a:ext>
                </a:extLst>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extLst>
                    <a:ext uri="{9D8B030D-6E8A-4147-A177-3AD203B41FA5}">
                      <a16:colId xmlns:a16="http://schemas.microsoft.com/office/drawing/2014/main" xmlns="" val="20000"/>
                    </a:ext>
                  </a:extLst>
                </a:gridCol>
                <a:gridCol w="4046516">
                  <a:extLst>
                    <a:ext uri="{9D8B030D-6E8A-4147-A177-3AD203B41FA5}">
                      <a16:colId xmlns:a16="http://schemas.microsoft.com/office/drawing/2014/main" xmlns="" val="20001"/>
                    </a:ext>
                  </a:extLst>
                </a:gridCol>
                <a:gridCol w="3108366">
                  <a:extLst>
                    <a:ext uri="{9D8B030D-6E8A-4147-A177-3AD203B41FA5}">
                      <a16:colId xmlns:a16="http://schemas.microsoft.com/office/drawing/2014/main" xmlns=""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a16="http://schemas.microsoft.com/office/drawing/2014/main" xmlns="" val="10000"/>
                  </a:ext>
                </a:extLst>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xmlns="" val="10001"/>
                  </a:ext>
                </a:extLst>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Collection</a:t>
            </a:r>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4220" y="4330598"/>
            <a:ext cx="1690771" cy="585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879567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7356" y="2078710"/>
            <a:ext cx="1097280" cy="12077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2476" y="1755622"/>
            <a:ext cx="1097280" cy="120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Analysis</a:t>
            </a:r>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a:latin typeface="Courier New"/>
                    <a:ea typeface="Calibri"/>
                    <a:cs typeface="Times New Roman"/>
                  </a:rPr>
                  <a:t>(</a:t>
                </a:r>
                <a:r>
                  <a:rPr lang="en-US" dirty="0" err="1">
                    <a:latin typeface="Courier New"/>
                    <a:ea typeface="Calibri"/>
                    <a:cs typeface="Times New Roman"/>
                  </a:rPr>
                  <a:t>TechTran</a:t>
                </a:r>
                <a:r>
                  <a:rPr lang="en-US" dirty="0">
                    <a:latin typeface="Courier New"/>
                    <a:ea typeface="Calibri"/>
                    <a:cs typeface="Times New Roman"/>
                  </a:rPr>
                  <a:t>=1)</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0</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ea typeface="Calibri"/>
                    <a:cs typeface="Times New Roman"/>
                  </a:rPr>
                  <a:t>(Variable) + </a:t>
                </a:r>
                <a:r>
                  <a:rPr lang="en-US" dirty="0">
                    <a:latin typeface="Times New Roman"/>
                    <a:ea typeface="Calibri"/>
                    <a:cs typeface="Times New Roman"/>
                  </a:rPr>
                  <a:t>β</a:t>
                </a:r>
                <a:r>
                  <a:rPr lang="en-US" baseline="-25000" dirty="0">
                    <a:latin typeface="Times New Roman"/>
                    <a:ea typeface="Calibri"/>
                    <a:cs typeface="Times New Roman"/>
                  </a:rPr>
                  <a:t>2</a:t>
                </a:r>
                <a:r>
                  <a:rPr lang="en-US" dirty="0">
                    <a:ea typeface="Calibri"/>
                    <a:cs typeface="Times New Roman"/>
                  </a:rPr>
                  <a:t>(</a:t>
                </a:r>
                <a:r>
                  <a:rPr lang="en-US" dirty="0" err="1">
                    <a:latin typeface="Courier New"/>
                    <a:ea typeface="Calibri"/>
                    <a:cs typeface="Times New Roman"/>
                  </a:rPr>
                  <a:t>TechCat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3</a:t>
                </a:r>
                <a:r>
                  <a:rPr lang="en-US" dirty="0">
                    <a:ea typeface="Calibri"/>
                    <a:cs typeface="Times New Roman"/>
                  </a:rPr>
                  <a:t>(</a:t>
                </a:r>
                <a:r>
                  <a:rPr lang="en-US" dirty="0" err="1">
                    <a:latin typeface="Courier New"/>
                    <a:ea typeface="Calibri"/>
                    <a:cs typeface="Times New Roman"/>
                  </a:rPr>
                  <a:t>InstitutionSize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4</a:t>
                </a:r>
                <a:r>
                  <a:rPr lang="en-US" dirty="0">
                    <a:ea typeface="Calibri"/>
                    <a:cs typeface="Times New Roman"/>
                  </a:rPr>
                  <a:t>(</a:t>
                </a:r>
                <a:r>
                  <a:rPr lang="en-US" dirty="0" err="1">
                    <a:latin typeface="Courier New"/>
                    <a:ea typeface="Calibri"/>
                    <a:cs typeface="Times New Roman"/>
                  </a:rPr>
                  <a:t>AllowedPatent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5</a:t>
                </a:r>
                <a:r>
                  <a:rPr lang="en-US" dirty="0">
                    <a:ea typeface="Calibri"/>
                    <a:cs typeface="Times New Roman"/>
                  </a:rPr>
                  <a:t>(</a:t>
                </a:r>
                <a:r>
                  <a:rPr lang="en-US" dirty="0" err="1">
                    <a:latin typeface="Courier New"/>
                    <a:ea typeface="Calibri"/>
                    <a:cs typeface="Times New Roman"/>
                  </a:rPr>
                  <a:t>PatentApp</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6</a:t>
                </a:r>
                <a:r>
                  <a:rPr lang="en-US" dirty="0">
                    <a:ea typeface="Calibri"/>
                    <a:cs typeface="Times New Roman"/>
                  </a:rPr>
                  <a:t>(</a:t>
                </a:r>
                <a:r>
                  <a:rPr lang="en-US" dirty="0">
                    <a:latin typeface="Courier New"/>
                    <a:ea typeface="Calibri"/>
                    <a:cs typeface="Times New Roman"/>
                  </a:rPr>
                  <a:t>Article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7</a:t>
                </a:r>
                <a:r>
                  <a:rPr lang="en-US" dirty="0">
                    <a:ea typeface="Calibri"/>
                    <a:cs typeface="Times New Roman"/>
                  </a:rPr>
                  <a:t>(</a:t>
                </a:r>
                <a:r>
                  <a:rPr lang="en-US" dirty="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a:ea typeface="Calibri"/>
                    <a:cs typeface="Times New Roman"/>
                  </a:rPr>
                  <a:t> </a:t>
                </a:r>
                <a:r>
                  <a:rPr lang="en-US" dirty="0">
                    <a:ea typeface="Calibri"/>
                    <a:cs typeface="Times New Roman" panose="02020603050405020304" pitchFamily="18" charset="0"/>
                  </a:rPr>
                  <a:t>0</a:t>
                </a: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a:t>Coding for </a:t>
            </a:r>
            <a:r>
              <a:rPr lang="en-US" dirty="0" err="1">
                <a:latin typeface="Courier New" panose="02070309020205020404" pitchFamily="49" charset="0"/>
                <a:cs typeface="Courier New" panose="02070309020205020404" pitchFamily="49" charset="0"/>
              </a:rPr>
              <a:t>TechTran</a:t>
            </a:r>
            <a:r>
              <a:rPr lang="en-US" dirty="0">
                <a:cs typeface="Courier New" panose="02070309020205020404" pitchFamily="49" charset="0"/>
              </a:rPr>
              <a:t>:</a:t>
            </a:r>
            <a:endParaRPr lang="en-US" dirty="0">
              <a:latin typeface="Courier New" panose="02070309020205020404" pitchFamily="49" charset="0"/>
              <a:cs typeface="Courier New" panose="02070309020205020404" pitchFamily="49" charset="0"/>
            </a:endParaRPr>
          </a:p>
          <a:p>
            <a:r>
              <a:rPr lang="en-US" dirty="0"/>
              <a:t>0 = Technology was NOT transferred</a:t>
            </a:r>
          </a:p>
          <a:p>
            <a:r>
              <a:rPr lang="en-US" dirty="0" smtClean="0"/>
              <a:t>1 </a:t>
            </a:r>
            <a:r>
              <a:rPr lang="en-US" dirty="0"/>
              <a:t>= Technology was </a:t>
            </a:r>
            <a:r>
              <a:rPr lang="en-US" dirty="0" smtClean="0"/>
              <a:t>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a:t>Regression Analyses</a:t>
            </a:r>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a:ea typeface="Calibri"/>
                    <a:cs typeface="Times New Roman"/>
                  </a:rPr>
                  <a:t> 0</a:t>
                </a: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Ln[</a:t>
                </a:r>
                <a:r>
                  <a:rPr lang="en-US" dirty="0" smtClean="0">
                    <a:latin typeface="Courier New"/>
                    <a:ea typeface="Calibri"/>
                    <a:cs typeface="Times New Roman"/>
                  </a:rPr>
                  <a:t>TRL</a:t>
                </a:r>
                <a14:m>
                  <m:oMath xmlns:m="http://schemas.openxmlformats.org/officeDocument/2006/math">
                    <m:r>
                      <a:rPr lang="en-US" i="1" dirty="0" smtClean="0">
                        <a:latin typeface="Cambria Math"/>
                        <a:ea typeface="Calibri"/>
                        <a:cs typeface="Times New Roman"/>
                      </a:rPr>
                      <m:t>&gt;</m:t>
                    </m:r>
                    <m:r>
                      <a:rPr lang="en-US" i="1" dirty="0" smtClean="0">
                        <a:latin typeface="Cambria Math"/>
                        <a:ea typeface="Calibri"/>
                        <a:cs typeface="Times New Roman"/>
                      </a:rPr>
                      <m:t>𝑖</m:t>
                    </m:r>
                  </m:oMath>
                </a14:m>
                <a:r>
                  <a:rPr lang="en-US" dirty="0" smtClean="0">
                    <a:ea typeface="Calibri"/>
                    <a:cs typeface="Times New Roman"/>
                  </a:rPr>
                  <a:t>/</a:t>
                </a:r>
                <a:r>
                  <a:rPr lang="en-US" dirty="0">
                    <a:solidFill>
                      <a:prstClr val="black"/>
                    </a:solidFill>
                    <a:latin typeface="Courier New"/>
                    <a:ea typeface="Calibri"/>
                    <a:cs typeface="Times New Roman"/>
                  </a:rPr>
                  <a:t>TRL</a:t>
                </a:r>
                <a14:m>
                  <m:oMath xmlns:m="http://schemas.openxmlformats.org/officeDocument/2006/math">
                    <m:r>
                      <a:rPr lang="en-US" i="1" dirty="0" smtClean="0">
                        <a:solidFill>
                          <a:prstClr val="black"/>
                        </a:solidFill>
                        <a:latin typeface="Cambria Math"/>
                        <a:ea typeface="Cambria Math"/>
                        <a:cs typeface="Times New Roman"/>
                      </a:rPr>
                      <m:t>≤</m:t>
                    </m:r>
                    <m:r>
                      <a:rPr lang="en-US" i="1" dirty="0" smtClean="0">
                        <a:solidFill>
                          <a:prstClr val="black"/>
                        </a:solidFill>
                        <a:latin typeface="Cambria Math"/>
                        <a:ea typeface="Calibri"/>
                        <a:cs typeface="Times New Roman"/>
                      </a:rPr>
                      <m:t>𝑖</m:t>
                    </m:r>
                  </m:oMath>
                </a14:m>
                <a:r>
                  <a:rPr lang="en-US" dirty="0" smtClean="0">
                    <a:ea typeface="Calibri"/>
                    <a:cs typeface="Times New Roman"/>
                  </a:rPr>
                  <a:t>] =  </a:t>
                </a:r>
                <a:r>
                  <a:rPr lang="el-GR" dirty="0" smtClean="0">
                    <a:latin typeface="Times New Roman"/>
                    <a:ea typeface="Calibri"/>
                    <a:cs typeface="Times New Roman"/>
                  </a:rPr>
                  <a:t>α</a:t>
                </a:r>
                <a:r>
                  <a:rPr lang="en-US" baseline="-25000" dirty="0" err="1" smtClean="0">
                    <a:latin typeface="Times New Roman"/>
                    <a:ea typeface="Calibri"/>
                    <a:cs typeface="Times New Roman"/>
                  </a:rPr>
                  <a:t>i</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i1</a:t>
                </a:r>
                <a:r>
                  <a:rPr lang="en-US" dirty="0" smtClean="0">
                    <a:ea typeface="Calibri"/>
                    <a:cs typeface="Times New Roman"/>
                  </a:rPr>
                  <a:t>(</a:t>
                </a:r>
                <a:r>
                  <a:rPr lang="en-US" dirty="0" smtClean="0">
                    <a:latin typeface="Courier New"/>
                    <a:ea typeface="Calibri"/>
                    <a:cs typeface="Times New Roman"/>
                  </a:rPr>
                  <a:t>Distance</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i2</a:t>
                </a:r>
                <a:r>
                  <a:rPr lang="en-US" dirty="0" smtClean="0">
                    <a:ea typeface="Calibri"/>
                    <a:cs typeface="Times New Roman"/>
                  </a:rPr>
                  <a:t>(</a:t>
                </a:r>
                <a:r>
                  <a:rPr lang="en-US" dirty="0" err="1" smtClean="0">
                    <a:latin typeface="Courier New"/>
                    <a:ea typeface="Calibri"/>
                    <a:cs typeface="Times New Roman"/>
                  </a:rPr>
                  <a:t>TechCat</a:t>
                </a:r>
                <a:r>
                  <a:rPr lang="en-US" dirty="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i3</a:t>
                </a:r>
                <a:r>
                  <a:rPr lang="en-US" dirty="0" smtClean="0">
                    <a:ea typeface="Calibri"/>
                    <a:cs typeface="Times New Roman"/>
                  </a:rPr>
                  <a:t>(</a:t>
                </a:r>
                <a:r>
                  <a:rPr lang="en-US" dirty="0" err="1" smtClean="0">
                    <a:latin typeface="Courier New"/>
                    <a:ea typeface="Calibri"/>
                    <a:cs typeface="Times New Roman"/>
                  </a:rPr>
                  <a:t>InstitutionSize</a:t>
                </a:r>
                <a:r>
                  <a:rPr lang="en-US" dirty="0">
                    <a:ea typeface="Calibri"/>
                    <a:cs typeface="Times New Roman"/>
                  </a:rPr>
                  <a:t>) +</a:t>
                </a:r>
                <a:br>
                  <a:rPr lang="en-US" dirty="0">
                    <a:ea typeface="Calibri"/>
                    <a:cs typeface="Times New Roman"/>
                  </a:rPr>
                </a:b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i4</a:t>
                </a:r>
                <a:r>
                  <a:rPr lang="en-US" dirty="0" smtClean="0">
                    <a:ea typeface="Calibri"/>
                    <a:cs typeface="Times New Roman"/>
                  </a:rPr>
                  <a:t>(</a:t>
                </a:r>
                <a:r>
                  <a:rPr lang="en-US" dirty="0" err="1" smtClean="0">
                    <a:latin typeface="Courier New"/>
                    <a:ea typeface="Calibri"/>
                    <a:cs typeface="Times New Roman"/>
                  </a:rPr>
                  <a:t>AllowedPatent</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i5</a:t>
                </a:r>
                <a:r>
                  <a:rPr lang="en-US" dirty="0" smtClean="0">
                    <a:ea typeface="Calibri"/>
                    <a:cs typeface="Times New Roman"/>
                  </a:rPr>
                  <a:t>(</a:t>
                </a:r>
                <a:r>
                  <a:rPr lang="en-US" dirty="0" err="1" smtClean="0">
                    <a:latin typeface="Courier New"/>
                    <a:ea typeface="Calibri"/>
                    <a:cs typeface="Times New Roman"/>
                  </a:rPr>
                  <a:t>PatentApp</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i6</a:t>
                </a:r>
                <a:r>
                  <a:rPr lang="en-US" dirty="0" smtClean="0">
                    <a:ea typeface="Calibri"/>
                    <a:cs typeface="Times New Roman"/>
                  </a:rPr>
                  <a:t>(</a:t>
                </a:r>
                <a:r>
                  <a:rPr lang="en-US" dirty="0" smtClean="0">
                    <a:latin typeface="Courier New"/>
                    <a:ea typeface="Calibri"/>
                    <a:cs typeface="Times New Roman"/>
                  </a:rPr>
                  <a:t>Article</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i7</a:t>
                </a:r>
                <a:r>
                  <a:rPr lang="en-US" dirty="0" smtClean="0">
                    <a:ea typeface="Calibri"/>
                    <a:cs typeface="Times New Roman"/>
                  </a:rPr>
                  <a:t>(</a:t>
                </a:r>
                <a:r>
                  <a:rPr lang="en-US" dirty="0" smtClean="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xmlns="">
          <p:sp>
            <p:nvSpPr>
              <p:cNvPr id="13" name="Rectangle 12"/>
              <p:cNvSpPr>
                <a:spLocks noRot="1" noChangeAspect="1" noMove="1" noResize="1" noEditPoints="1" noAdjustHandles="1" noChangeArrowheads="1" noChangeShapeType="1" noTextEdit="1"/>
              </p:cNvSpPr>
              <p:nvPr/>
            </p:nvSpPr>
            <p:spPr>
              <a:xfrm>
                <a:off x="0" y="3409466"/>
                <a:ext cx="9144000" cy="723916"/>
              </a:xfrm>
              <a:prstGeom prst="rect">
                <a:avLst/>
              </a:prstGeom>
              <a:blipFill rotWithShape="1">
                <a:blip r:embed="rId8"/>
                <a:stretch>
                  <a:fillRect t="-2521" b="-11765"/>
                </a:stretch>
              </a:blipFill>
            </p:spPr>
            <p:txBody>
              <a:bodyPr/>
              <a:lstStyle/>
              <a:p>
                <a:r>
                  <a:rPr lang="en-US">
                    <a:noFill/>
                  </a:rPr>
                  <a:t> </a:t>
                </a:r>
              </a:p>
            </p:txBody>
          </p:sp>
        </mc:Fallback>
      </mc:AlternateContent>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a:ea typeface="Calibri"/>
                <a:cs typeface="Times New Roman"/>
              </a:rPr>
              <a:t>H1: Variable = </a:t>
            </a:r>
            <a:r>
              <a:rPr lang="en-US" dirty="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a:ea typeface="Calibri"/>
                <a:cs typeface="Times New Roman"/>
              </a:rPr>
              <a:t>H3: Variable = </a:t>
            </a:r>
            <a:r>
              <a:rPr lang="en-US" dirty="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Kendall’s Tau</a:t>
            </a:r>
          </a:p>
        </p:txBody>
      </p:sp>
      <p:graphicFrame>
        <p:nvGraphicFramePr>
          <p:cNvPr id="4" name="Table 3"/>
          <p:cNvGraphicFramePr>
            <a:graphicFrameLocks noGrp="1"/>
          </p:cNvGraphicFramePr>
          <p:nvPr>
            <p:extLst>
              <p:ext uri="{D42A27DB-BD31-4B8C-83A1-F6EECF244321}">
                <p14:modId xmlns:p14="http://schemas.microsoft.com/office/powerpoint/2010/main" val="61076017"/>
              </p:ext>
            </p:extLst>
          </p:nvPr>
        </p:nvGraphicFramePr>
        <p:xfrm>
          <a:off x="82068" y="570018"/>
          <a:ext cx="4321682" cy="2506600"/>
        </p:xfrm>
        <a:graphic>
          <a:graphicData uri="http://schemas.openxmlformats.org/drawingml/2006/table">
            <a:tbl>
              <a:tblPr firstRow="1" bandRow="1">
                <a:tableStyleId>{5C22544A-7EE6-4342-B048-85BDC9FD1C3A}</a:tableStyleId>
              </a:tblPr>
              <a:tblGrid>
                <a:gridCol w="1176146">
                  <a:extLst>
                    <a:ext uri="{9D8B030D-6E8A-4147-A177-3AD203B41FA5}">
                      <a16:colId xmlns:a16="http://schemas.microsoft.com/office/drawing/2014/main" xmlns="" val="20000"/>
                    </a:ext>
                  </a:extLst>
                </a:gridCol>
                <a:gridCol w="1148487">
                  <a:extLst>
                    <a:ext uri="{9D8B030D-6E8A-4147-A177-3AD203B41FA5}">
                      <a16:colId xmlns:a16="http://schemas.microsoft.com/office/drawing/2014/main" xmlns="" val="20001"/>
                    </a:ext>
                  </a:extLst>
                </a:gridCol>
                <a:gridCol w="716889">
                  <a:extLst>
                    <a:ext uri="{9D8B030D-6E8A-4147-A177-3AD203B41FA5}">
                      <a16:colId xmlns:a16="http://schemas.microsoft.com/office/drawing/2014/main" xmlns="" val="20002"/>
                    </a:ext>
                  </a:extLst>
                </a:gridCol>
                <a:gridCol w="651458">
                  <a:extLst>
                    <a:ext uri="{9D8B030D-6E8A-4147-A177-3AD203B41FA5}">
                      <a16:colId xmlns:a16="http://schemas.microsoft.com/office/drawing/2014/main" xmlns="" val="20003"/>
                    </a:ext>
                  </a:extLst>
                </a:gridCol>
                <a:gridCol w="628702">
                  <a:extLst>
                    <a:ext uri="{9D8B030D-6E8A-4147-A177-3AD203B41FA5}">
                      <a16:colId xmlns:a16="http://schemas.microsoft.com/office/drawing/2014/main" xmlns="" val="20004"/>
                    </a:ext>
                  </a:extLst>
                </a:gridCol>
              </a:tblGrid>
              <a:tr h="1080660">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r>
                        <a:rPr lang="en-US" sz="1600" dirty="0"/>
                        <a:t>TRL</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11" name="Table 10"/>
          <p:cNvGraphicFramePr>
            <a:graphicFrameLocks noGrp="1"/>
          </p:cNvGraphicFramePr>
          <p:nvPr>
            <p:extLst>
              <p:ext uri="{D42A27DB-BD31-4B8C-83A1-F6EECF244321}">
                <p14:modId xmlns:p14="http://schemas.microsoft.com/office/powerpoint/2010/main" val="224813904"/>
              </p:ext>
            </p:extLst>
          </p:nvPr>
        </p:nvGraphicFramePr>
        <p:xfrm>
          <a:off x="4670205" y="570019"/>
          <a:ext cx="4276285" cy="2506597"/>
        </p:xfrm>
        <a:graphic>
          <a:graphicData uri="http://schemas.openxmlformats.org/drawingml/2006/table">
            <a:tbl>
              <a:tblPr firstRow="1" bandRow="1">
                <a:tableStyleId>{5C22544A-7EE6-4342-B048-85BDC9FD1C3A}</a:tableStyleId>
              </a:tblPr>
              <a:tblGrid>
                <a:gridCol w="1160009">
                  <a:extLst>
                    <a:ext uri="{9D8B030D-6E8A-4147-A177-3AD203B41FA5}">
                      <a16:colId xmlns:a16="http://schemas.microsoft.com/office/drawing/2014/main" xmlns="" val="20000"/>
                    </a:ext>
                  </a:extLst>
                </a:gridCol>
                <a:gridCol w="1133856">
                  <a:extLst>
                    <a:ext uri="{9D8B030D-6E8A-4147-A177-3AD203B41FA5}">
                      <a16:colId xmlns:a16="http://schemas.microsoft.com/office/drawing/2014/main" xmlns="" val="20001"/>
                    </a:ext>
                  </a:extLst>
                </a:gridCol>
                <a:gridCol w="724205">
                  <a:extLst>
                    <a:ext uri="{9D8B030D-6E8A-4147-A177-3AD203B41FA5}">
                      <a16:colId xmlns:a16="http://schemas.microsoft.com/office/drawing/2014/main" xmlns="" val="20002"/>
                    </a:ext>
                  </a:extLst>
                </a:gridCol>
                <a:gridCol w="547104">
                  <a:extLst>
                    <a:ext uri="{9D8B030D-6E8A-4147-A177-3AD203B41FA5}">
                      <a16:colId xmlns:a16="http://schemas.microsoft.com/office/drawing/2014/main" xmlns="" val="20003"/>
                    </a:ext>
                  </a:extLst>
                </a:gridCol>
                <a:gridCol w="711111">
                  <a:extLst>
                    <a:ext uri="{9D8B030D-6E8A-4147-A177-3AD203B41FA5}">
                      <a16:colId xmlns:a16="http://schemas.microsoft.com/office/drawing/2014/main" xmlns="" val="20004"/>
                    </a:ext>
                  </a:extLst>
                </a:gridCol>
              </a:tblGrid>
              <a:tr h="1080657">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pPr algn="l"/>
                      <a:r>
                        <a:rPr lang="en-US" sz="1600" dirty="0"/>
                        <a:t>Distance</a:t>
                      </a:r>
                    </a:p>
                  </a:txBody>
                  <a:tcPr vert="vert270" anchor="ctr"/>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baseline="0" dirty="0"/>
                        <a:t>Dist</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extLst>
                    <a:ext uri="{9D8B030D-6E8A-4147-A177-3AD203B41FA5}">
                      <a16:colId xmlns:a16="http://schemas.microsoft.com/office/drawing/2014/main" xmlns="" val="20000"/>
                    </a:ext>
                  </a:extLst>
                </a:gridCol>
                <a:gridCol w="786422">
                  <a:extLst>
                    <a:ext uri="{9D8B030D-6E8A-4147-A177-3AD203B41FA5}">
                      <a16:colId xmlns:a16="http://schemas.microsoft.com/office/drawing/2014/main" xmlns="" val="20001"/>
                    </a:ext>
                  </a:extLst>
                </a:gridCol>
                <a:gridCol w="1169121">
                  <a:extLst>
                    <a:ext uri="{9D8B030D-6E8A-4147-A177-3AD203B41FA5}">
                      <a16:colId xmlns:a16="http://schemas.microsoft.com/office/drawing/2014/main" xmlns="" val="20002"/>
                    </a:ext>
                  </a:extLst>
                </a:gridCol>
                <a:gridCol w="583121">
                  <a:extLst>
                    <a:ext uri="{9D8B030D-6E8A-4147-A177-3AD203B41FA5}">
                      <a16:colId xmlns:a16="http://schemas.microsoft.com/office/drawing/2014/main" xmlns="" val="20003"/>
                    </a:ext>
                  </a:extLst>
                </a:gridCol>
                <a:gridCol w="568136">
                  <a:extLst>
                    <a:ext uri="{9D8B030D-6E8A-4147-A177-3AD203B41FA5}">
                      <a16:colId xmlns:a16="http://schemas.microsoft.com/office/drawing/2014/main" xmlns="" val="20004"/>
                    </a:ext>
                  </a:extLst>
                </a:gridCol>
              </a:tblGrid>
              <a:tr h="1080660">
                <a:tc>
                  <a:txBody>
                    <a:bodyPr/>
                    <a:lstStyle/>
                    <a:p>
                      <a:r>
                        <a:rPr lang="en-US" sz="1600" dirty="0"/>
                        <a:t>R&amp;D Project</a:t>
                      </a:r>
                    </a:p>
                  </a:txBody>
                  <a:tcPr anchor="b"/>
                </a:tc>
                <a:tc>
                  <a:txBody>
                    <a:bodyPr/>
                    <a:lstStyle/>
                    <a:p>
                      <a:r>
                        <a:rPr lang="en-US" sz="1600" dirty="0"/>
                        <a:t>TRL</a:t>
                      </a:r>
                    </a:p>
                    <a:p>
                      <a:r>
                        <a:rPr lang="en-US" sz="1600" dirty="0"/>
                        <a:t>ranked</a:t>
                      </a:r>
                    </a:p>
                  </a:txBody>
                  <a:tcPr anchor="b"/>
                </a:tc>
                <a:tc>
                  <a:txBody>
                    <a:bodyPr/>
                    <a:lstStyle/>
                    <a:p>
                      <a:r>
                        <a:rPr lang="en-US" sz="1600" dirty="0"/>
                        <a:t>Distance</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a16="http://schemas.microsoft.com/office/drawing/2014/main" xmlns="" val="10000"/>
                  </a:ext>
                </a:extLst>
              </a:tr>
              <a:tr h="356485">
                <a:tc>
                  <a:txBody>
                    <a:bodyPr/>
                    <a:lstStyle/>
                    <a:p>
                      <a:r>
                        <a:rPr lang="en-US" sz="1600" dirty="0"/>
                        <a:t>Project 1</a:t>
                      </a:r>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Distance</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a16="http://schemas.microsoft.com/office/drawing/2014/main" xmlns=""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xmlns=""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a16="http://schemas.microsoft.com/office/drawing/2014/main" xmlns="" val="10004"/>
                  </a:ext>
                </a:extLst>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a:t>Ordinal or continuous level or measurement</a:t>
            </a:r>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a:t>Monotonic relationship between variables</a:t>
            </a:r>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Expected Results</a:t>
            </a:r>
          </a:p>
        </p:txBody>
      </p:sp>
      <p:graphicFrame>
        <p:nvGraphicFramePr>
          <p:cNvPr id="3" name="Table 2"/>
          <p:cNvGraphicFramePr>
            <a:graphicFrameLocks noGrp="1"/>
          </p:cNvGraphicFramePr>
          <p:nvPr>
            <p:extLst>
              <p:ext uri="{D42A27DB-BD31-4B8C-83A1-F6EECF244321}">
                <p14:modId xmlns:p14="http://schemas.microsoft.com/office/powerpoint/2010/main" val="4001059632"/>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extLst>
                    <a:ext uri="{9D8B030D-6E8A-4147-A177-3AD203B41FA5}">
                      <a16:colId xmlns:a16="http://schemas.microsoft.com/office/drawing/2014/main" xmlns="" val="20000"/>
                    </a:ext>
                  </a:extLst>
                </a:gridCol>
                <a:gridCol w="8097784">
                  <a:extLst>
                    <a:ext uri="{9D8B030D-6E8A-4147-A177-3AD203B41FA5}">
                      <a16:colId xmlns:a16="http://schemas.microsoft.com/office/drawing/2014/main" xmlns="" val="20001"/>
                    </a:ext>
                  </a:extLst>
                </a:gridCol>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a:effectLst/>
                        </a:rPr>
                        <a:t>The </a:t>
                      </a:r>
                      <a:r>
                        <a:rPr lang="en-US" sz="1800" b="0" baseline="0" dirty="0" smtClean="0">
                          <a:effectLst/>
                        </a:rPr>
                        <a:t>probability </a:t>
                      </a:r>
                      <a:r>
                        <a:rPr lang="en-US" sz="1800" b="0" baseline="0" dirty="0">
                          <a:effectLst/>
                        </a:rPr>
                        <a:t>that </a:t>
                      </a:r>
                      <a:r>
                        <a:rPr lang="en-US" sz="1800" b="0" baseline="0" dirty="0" smtClean="0">
                          <a:effectLst/>
                        </a:rPr>
                        <a:t>technology </a:t>
                      </a:r>
                      <a:r>
                        <a:rPr lang="en-US" sz="1800" b="0" baseline="0" dirty="0">
                          <a:effectLst/>
                        </a:rPr>
                        <a:t>derived from federally-funded R&amp;D projects will be transferred to the private sector will increase with each unit increase in the final development stage attained by the federally-funded R&amp;D projects.</a:t>
                      </a:r>
                      <a:endParaRPr lang="en-US" sz="1600" b="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0"/>
                  </a:ext>
                </a:extLst>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a:effectLst/>
                        </a:rPr>
                        <a:t>The final development stage</a:t>
                      </a:r>
                      <a:r>
                        <a:rPr lang="en-US" sz="1800" baseline="0" dirty="0">
                          <a:effectLst/>
                        </a:rPr>
                        <a:t> attained by federally-funded R&amp;D projects will be negatively associated with t</a:t>
                      </a:r>
                      <a:r>
                        <a:rPr lang="en-US" sz="1800" dirty="0">
                          <a:effectLst/>
                        </a:rPr>
                        <a:t>he spatial distance between where R&amp;D </a:t>
                      </a:r>
                      <a:r>
                        <a:rPr lang="en-US" sz="1800" dirty="0" smtClean="0">
                          <a:effectLst/>
                        </a:rPr>
                        <a:t>projects </a:t>
                      </a:r>
                      <a:r>
                        <a:rPr lang="en-US" sz="1800" dirty="0">
                          <a:effectLst/>
                        </a:rPr>
                        <a:t>are conducted and the nearest city.</a:t>
                      </a:r>
                      <a:endParaRPr lang="en-US" sz="160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1"/>
                  </a:ext>
                </a:extLst>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a:ln>
                            <a:noFill/>
                          </a:ln>
                          <a:solidFill>
                            <a:prstClr val="black"/>
                          </a:solidFill>
                          <a:effectLst/>
                          <a:uLnTx/>
                          <a:uFillTx/>
                          <a:latin typeface="+mn-lt"/>
                          <a:ea typeface="+mn-ea"/>
                          <a:cs typeface="+mn-cs"/>
                        </a:rPr>
                        <a:t>The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probability </a:t>
                      </a:r>
                      <a:r>
                        <a:rPr kumimoji="0" lang="en-US" sz="1800" b="0" i="0" u="none" strike="noStrike" kern="1200" cap="none" spc="0" normalizeH="0" baseline="0" noProof="0" dirty="0">
                          <a:ln>
                            <a:noFill/>
                          </a:ln>
                          <a:solidFill>
                            <a:prstClr val="black"/>
                          </a:solidFill>
                          <a:effectLst/>
                          <a:uLnTx/>
                          <a:uFillTx/>
                          <a:latin typeface="+mn-lt"/>
                          <a:ea typeface="+mn-ea"/>
                          <a:cs typeface="+mn-cs"/>
                        </a:rPr>
                        <a:t>that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technology </a:t>
                      </a:r>
                      <a:r>
                        <a:rPr kumimoji="0" lang="en-US" sz="1800" b="0" i="0" u="none" strike="noStrike" kern="1200" cap="none" spc="0" normalizeH="0" baseline="0" noProof="0" dirty="0">
                          <a:ln>
                            <a:noFill/>
                          </a:ln>
                          <a:solidFill>
                            <a:prstClr val="black"/>
                          </a:solidFill>
                          <a:effectLst/>
                          <a:uLnTx/>
                          <a:uFillTx/>
                          <a:latin typeface="+mn-lt"/>
                          <a:ea typeface="+mn-ea"/>
                          <a:cs typeface="+mn-cs"/>
                        </a:rPr>
                        <a:t>derived from federally-funded R&amp;D projects will be transferred to the private sector will increase with each unit decrease in t</a:t>
                      </a:r>
                      <a:r>
                        <a:rPr lang="en-US" sz="1800" dirty="0">
                          <a:effectLst/>
                        </a:rPr>
                        <a:t>he spatial distance</a:t>
                      </a:r>
                      <a:r>
                        <a:rPr lang="en-US" sz="1800" baseline="0" dirty="0">
                          <a:effectLst/>
                        </a:rPr>
                        <a:t> between where R&amp;D projects are conducted and the nearest city.</a:t>
                      </a:r>
                      <a:endParaRPr lang="en-US" sz="1800" dirty="0">
                        <a:solidFill>
                          <a:srgbClr val="000000"/>
                        </a:solidFill>
                        <a:effectLst/>
                        <a:latin typeface="+mn-lt"/>
                        <a:ea typeface="Calibri"/>
                        <a:cs typeface="Times New Roman"/>
                      </a:endParaRPr>
                    </a:p>
                  </a:txBody>
                  <a:tcPr marL="59258" marR="59258" marT="29887" marB="29887"/>
                </a:tc>
                <a:extLst>
                  <a:ext uri="{0D108BD9-81ED-4DB2-BD59-A6C34878D82A}">
                    <a16:rowId xmlns:a16="http://schemas.microsoft.com/office/drawing/2014/main" xmlns="" val="10002"/>
                  </a:ext>
                </a:extLst>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File:Logic Model OER.pd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14287"/>
            <a:ext cx="7620000" cy="470535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0662" y="5018233"/>
            <a:ext cx="8873338" cy="523220"/>
          </a:xfrm>
          <a:prstGeom prst="rect">
            <a:avLst/>
          </a:prstGeom>
          <a:noFill/>
        </p:spPr>
        <p:txBody>
          <a:bodyPr wrap="square" rtlCol="0">
            <a:spAutoFit/>
          </a:bodyPr>
          <a:lstStyle/>
          <a:p>
            <a:pPr indent="-457200"/>
            <a:r>
              <a:rPr lang="en-US" sz="1400" dirty="0"/>
              <a:t>Source: </a:t>
            </a:r>
            <a:r>
              <a:rPr lang="en-US" sz="1400" dirty="0" err="1"/>
              <a:t>Ainali</a:t>
            </a:r>
            <a:r>
              <a:rPr lang="en-US" sz="1400" dirty="0"/>
              <a:t>, J. (2014). Wikimedia Commons. CC-BY-SA-3.0 [http://creativecommons.org/licenses/by-sa/3.0/]. No changes made. Retrieved from https://commons.wikimedia.org/wiki/File:Logic_Model_OER.pdf</a:t>
            </a:r>
          </a:p>
        </p:txBody>
      </p:sp>
      <p:sp>
        <p:nvSpPr>
          <p:cNvPr id="2" name="TextBox 1"/>
          <p:cNvSpPr txBox="1"/>
          <p:nvPr/>
        </p:nvSpPr>
        <p:spPr>
          <a:xfrm rot="20241623">
            <a:off x="449887" y="2238883"/>
            <a:ext cx="8002828" cy="1015663"/>
          </a:xfrm>
          <a:prstGeom prst="rect">
            <a:avLst/>
          </a:prstGeom>
          <a:noFill/>
          <a:ln>
            <a:noFill/>
          </a:ln>
        </p:spPr>
        <p:txBody>
          <a:bodyPr wrap="square" rtlCol="0">
            <a:spAutoFit/>
          </a:bodyPr>
          <a:lstStyle/>
          <a:p>
            <a:pPr algn="ctr"/>
            <a:r>
              <a:rPr lang="en-US" sz="6000" b="1" dirty="0">
                <a:solidFill>
                  <a:schemeClr val="accent2">
                    <a:lumMod val="60000"/>
                    <a:lumOff val="40000"/>
                  </a:schemeClr>
                </a:solidFill>
              </a:rPr>
              <a:t>Sample Logic Model</a:t>
            </a:r>
          </a:p>
        </p:txBody>
      </p:sp>
    </p:spTree>
    <p:extLst>
      <p:ext uri="{BB962C8B-B14F-4D97-AF65-F5344CB8AC3E}">
        <p14:creationId xmlns:p14="http://schemas.microsoft.com/office/powerpoint/2010/main" val="379369381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townesm\AppData\Local\Temp\DELPHIS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012471"/>
            <a:ext cx="5486400" cy="42181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0" y="91440"/>
            <a:ext cx="9144000" cy="954107"/>
          </a:xfrm>
          <a:prstGeom prst="rect">
            <a:avLst/>
          </a:prstGeom>
          <a:noFill/>
        </p:spPr>
        <p:txBody>
          <a:bodyPr wrap="square" lIns="182880" rIns="182880" rtlCol="0">
            <a:spAutoFit/>
          </a:bodyPr>
          <a:lstStyle/>
          <a:p>
            <a:r>
              <a:rPr lang="en-US" sz="2800" b="1" dirty="0"/>
              <a:t>Generate policy alternatives by conducting a participatory policy analysis (PPA) using the Delphi method.</a:t>
            </a:r>
          </a:p>
        </p:txBody>
      </p:sp>
      <p:sp>
        <p:nvSpPr>
          <p:cNvPr id="2" name="TextBox 1"/>
          <p:cNvSpPr txBox="1"/>
          <p:nvPr/>
        </p:nvSpPr>
        <p:spPr>
          <a:xfrm>
            <a:off x="270662" y="5018233"/>
            <a:ext cx="8873338" cy="523220"/>
          </a:xfrm>
          <a:prstGeom prst="rect">
            <a:avLst/>
          </a:prstGeom>
          <a:noFill/>
        </p:spPr>
        <p:txBody>
          <a:bodyPr wrap="square" rtlCol="0">
            <a:spAutoFit/>
          </a:bodyPr>
          <a:lstStyle/>
          <a:p>
            <a:pPr indent="-457200"/>
            <a:r>
              <a:rPr lang="en-US" sz="1400" dirty="0"/>
              <a:t>Source: User: </a:t>
            </a:r>
            <a:r>
              <a:rPr lang="en-US" sz="1400" dirty="0" err="1"/>
              <a:t>Czkssa</a:t>
            </a:r>
            <a:r>
              <a:rPr lang="en-US" sz="1400" dirty="0"/>
              <a:t>. (2001). Wikimedia Commons. CC-BY-SA-3.0 [http://creativecommons.org/licenses/by-sa/3.0/]. No changes made. Retrieved from https://commons.wikimedia.org/wiki/File:DELPHIST.png</a:t>
            </a:r>
          </a:p>
        </p:txBody>
      </p:sp>
    </p:spTree>
    <p:extLst>
      <p:ext uri="{BB962C8B-B14F-4D97-AF65-F5344CB8AC3E}">
        <p14:creationId xmlns:p14="http://schemas.microsoft.com/office/powerpoint/2010/main" val="3727888374"/>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1598657302"/>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292" name="Worksheet" r:id="rId4" imgW="8886833" imgH="4295700" progId="Excel.Sheet.12">
                  <p:embed/>
                </p:oleObj>
              </mc:Choice>
              <mc:Fallback>
                <p:oleObj name="Worksheet" r:id="rId4" imgW="8886833" imgH="4295700" progId="Excel.Sheet.12">
                  <p:embed/>
                  <p:pic>
                    <p:nvPicPr>
                      <p:cNvPr id="0" name=""/>
                      <p:cNvPicPr/>
                      <p:nvPr/>
                    </p:nvPicPr>
                    <p:blipFill>
                      <a:blip r:embed="rId5"/>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Implications</a:t>
            </a:r>
            <a:endParaRPr lang="en-US" sz="2800" b="1" dirty="0"/>
          </a:p>
        </p:txBody>
      </p:sp>
      <p:sp>
        <p:nvSpPr>
          <p:cNvPr id="3" name="TextBox 2"/>
          <p:cNvSpPr txBox="1"/>
          <p:nvPr/>
        </p:nvSpPr>
        <p:spPr>
          <a:xfrm>
            <a:off x="0" y="1097280"/>
            <a:ext cx="9144000" cy="3600986"/>
          </a:xfrm>
          <a:prstGeom prst="rect">
            <a:avLst/>
          </a:prstGeom>
          <a:noFill/>
        </p:spPr>
        <p:txBody>
          <a:bodyPr wrap="square" lIns="457200" rIns="457200" rtlCol="0">
            <a:spAutoFit/>
          </a:bodyPr>
          <a:lstStyle/>
          <a:p>
            <a:pPr marL="285750" indent="-285750">
              <a:spcAft>
                <a:spcPts val="600"/>
              </a:spcAft>
              <a:buFont typeface="Arial" panose="020B0604020202020204" pitchFamily="34" charset="0"/>
              <a:buChar char="•"/>
            </a:pPr>
            <a:r>
              <a:rPr lang="en-US" dirty="0"/>
              <a:t>Provides a more holistic understanding of federal technology transfer </a:t>
            </a:r>
            <a:r>
              <a:rPr lang="en-US" dirty="0" smtClean="0"/>
              <a:t>policy</a:t>
            </a:r>
            <a:r>
              <a:rPr lang="en-US" dirty="0"/>
              <a:t>.</a:t>
            </a:r>
          </a:p>
          <a:p>
            <a:pPr marL="285750" indent="-285750">
              <a:spcAft>
                <a:spcPts val="600"/>
              </a:spcAft>
              <a:buFont typeface="Arial" panose="020B0604020202020204" pitchFamily="34" charset="0"/>
              <a:buChar char="•"/>
            </a:pPr>
            <a:r>
              <a:rPr lang="en-US" dirty="0"/>
              <a:t>Provides insight into whether development stage and geography are factors that policymakers should consider when formulating technology transfer </a:t>
            </a:r>
            <a:r>
              <a:rPr lang="en-US" dirty="0" smtClean="0"/>
              <a:t>policy</a:t>
            </a:r>
            <a:r>
              <a:rPr lang="en-US" dirty="0"/>
              <a:t>.  </a:t>
            </a:r>
          </a:p>
          <a:p>
            <a:pPr marL="285750" indent="-285750">
              <a:spcAft>
                <a:spcPts val="600"/>
              </a:spcAft>
              <a:buFont typeface="Arial" panose="020B0604020202020204" pitchFamily="34" charset="0"/>
              <a:buChar char="•"/>
            </a:pPr>
            <a:r>
              <a:rPr lang="en-US" dirty="0"/>
              <a:t>Provides policy alternatives for policymakers to consider. </a:t>
            </a:r>
          </a:p>
          <a:p>
            <a:pPr marL="285750" indent="-285750">
              <a:spcAft>
                <a:spcPts val="600"/>
              </a:spcAft>
              <a:buFont typeface="Arial" panose="020B0604020202020204" pitchFamily="34" charset="0"/>
              <a:buChar char="•"/>
            </a:pPr>
            <a:r>
              <a:rPr lang="en-US" dirty="0"/>
              <a:t>Demonstrates alternative methods for measuring technology transfer outcomes and </a:t>
            </a:r>
            <a:r>
              <a:rPr lang="en-US" dirty="0" smtClean="0"/>
              <a:t>possible covariates</a:t>
            </a:r>
            <a:r>
              <a:rPr lang="en-US" dirty="0"/>
              <a:t>.</a:t>
            </a:r>
          </a:p>
          <a:p>
            <a:pPr marL="285750" indent="-285750">
              <a:spcAft>
                <a:spcPts val="600"/>
              </a:spcAft>
              <a:buFont typeface="Arial" panose="020B0604020202020204" pitchFamily="34" charset="0"/>
              <a:buChar char="•"/>
            </a:pPr>
            <a:r>
              <a:rPr lang="en-US" dirty="0" smtClean="0"/>
              <a:t>Provides </a:t>
            </a:r>
            <a:r>
              <a:rPr lang="en-US" dirty="0"/>
              <a:t>data that other researchers can use for studies not yet envisioned.</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a:t>
            </a:r>
            <a:r>
              <a:rPr lang="en-US" dirty="0"/>
              <a:t>technology transfer.</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technology</a:t>
            </a:r>
            <a:r>
              <a:rPr lang="en-US" dirty="0"/>
              <a:t>.</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Limitations and Future Study</a:t>
            </a:r>
          </a:p>
        </p:txBody>
      </p:sp>
      <p:sp>
        <p:nvSpPr>
          <p:cNvPr id="3" name="TextBox 2"/>
          <p:cNvSpPr txBox="1"/>
          <p:nvPr/>
        </p:nvSpPr>
        <p:spPr>
          <a:xfrm>
            <a:off x="0" y="1097280"/>
            <a:ext cx="9144000" cy="3524042"/>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Does not establish generalizability to other various types of research and development (R&amp;D) projects.</a:t>
            </a:r>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the transfer of technology to the private sector.</a:t>
            </a:r>
            <a:endParaRPr lang="en-US" dirty="0"/>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spatial </a:t>
            </a:r>
            <a:r>
              <a:rPr lang="en-US" dirty="0"/>
              <a:t>distance between </a:t>
            </a:r>
            <a:r>
              <a:rPr lang="en-US" dirty="0" smtClean="0"/>
              <a:t>the location </a:t>
            </a:r>
            <a:r>
              <a:rPr lang="en-US" dirty="0"/>
              <a:t>of R&amp;D performance and cities.</a:t>
            </a:r>
          </a:p>
          <a:p>
            <a:pPr marL="285750" indent="-285750">
              <a:spcAft>
                <a:spcPts val="600"/>
              </a:spcAft>
              <a:buFont typeface="Arial" panose="020B0604020202020204" pitchFamily="34" charset="0"/>
              <a:buChar char="•"/>
            </a:pPr>
            <a:r>
              <a:rPr lang="en-US" dirty="0"/>
              <a:t>Does not establish causality of spatial between </a:t>
            </a:r>
            <a:r>
              <a:rPr lang="en-US" dirty="0" smtClean="0"/>
              <a:t>the location of </a:t>
            </a:r>
            <a:r>
              <a:rPr lang="en-US" dirty="0"/>
              <a:t>R&amp;D performance and cities </a:t>
            </a:r>
            <a:r>
              <a:rPr lang="en-US" dirty="0" smtClean="0"/>
              <a:t>and </a:t>
            </a:r>
            <a:r>
              <a:rPr lang="en-US" dirty="0"/>
              <a:t>the final development stage attained by R&amp;D projects</a:t>
            </a:r>
            <a:r>
              <a:rPr lang="en-US" dirty="0" smtClean="0"/>
              <a:t>.</a:t>
            </a:r>
          </a:p>
          <a:p>
            <a:pPr marL="285750" lvl="0" indent="-285750">
              <a:spcAft>
                <a:spcPts val="600"/>
              </a:spcAft>
              <a:buFont typeface="Arial" panose="020B0604020202020204" pitchFamily="34" charset="0"/>
              <a:buChar char="•"/>
            </a:pPr>
            <a:r>
              <a:rPr lang="en-US" dirty="0" smtClean="0">
                <a:solidFill>
                  <a:prstClr val="black"/>
                </a:solidFill>
              </a:rPr>
              <a:t>Does not provide </a:t>
            </a:r>
            <a:r>
              <a:rPr lang="en-US" dirty="0">
                <a:solidFill>
                  <a:prstClr val="black"/>
                </a:solidFill>
              </a:rPr>
              <a:t>baseline data to facilitate future formative and summative evaluations of federal technology transfer policy as a whole.</a:t>
            </a:r>
          </a:p>
          <a:p>
            <a:pPr marL="285750" indent="-285750">
              <a:spcAft>
                <a:spcPts val="600"/>
              </a:spcAft>
              <a:buFont typeface="Arial" panose="020B0604020202020204" pitchFamily="34" charset="0"/>
              <a:buChar char="•"/>
            </a:pPr>
            <a:endParaRPr lang="en-US" dirty="0" smtClean="0"/>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Acknowledgements</a:t>
            </a:r>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a:t>I would like to thank Dr. Terry </a:t>
            </a:r>
            <a:r>
              <a:rPr lang="en-US" dirty="0" err="1"/>
              <a:t>Tomazic</a:t>
            </a:r>
            <a:r>
              <a:rPr lang="en-US" dirty="0"/>
              <a:t> of Saint Louis University who provided extremely helpful insights and recommendations for structuring this proposed research study as well as comments on early versions of the research proposal.</a:t>
            </a:r>
          </a:p>
          <a:p>
            <a:pPr>
              <a:spcAft>
                <a:spcPts val="600"/>
              </a:spcAft>
            </a:pPr>
            <a:r>
              <a:rPr lang="en-US" dirty="0"/>
              <a:t>I’m also very appreciative of my classmates in SOC 5600 Research Methodology who offered  questions, comments, and suggestions that helped improve the design of this proposed research study.</a:t>
            </a:r>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Questions and Suggestions</a:t>
            </a:r>
          </a:p>
        </p:txBody>
      </p:sp>
      <p:sp>
        <p:nvSpPr>
          <p:cNvPr id="3" name="Text Placeholder 2"/>
          <p:cNvSpPr>
            <a:spLocks noGrp="1"/>
          </p:cNvSpPr>
          <p:nvPr>
            <p:ph type="body" idx="1"/>
          </p:nvPr>
        </p:nvSpPr>
        <p:spPr/>
        <p:txBody>
          <a:bodyPr/>
          <a:lstStyle/>
          <a:p>
            <a:r>
              <a:rPr lang="en-US" dirty="0"/>
              <a:t>Open Discussion</a:t>
            </a:r>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a:t>Andersen, M. S., Bray, J. W., &amp; Link, A. N. (</a:t>
            </a:r>
            <a:r>
              <a:rPr lang="en-US" dirty="0" err="1"/>
              <a:t>n.d.</a:t>
            </a:r>
            <a:r>
              <a:rPr lang="en-US" dirty="0"/>
              <a:t>). On the failure of scientific research: an analysis of SBIR projects funded by the US National Institutes of Health. </a:t>
            </a:r>
            <a:r>
              <a:rPr lang="en-US" i="1" dirty="0"/>
              <a:t>SCIENTOMETRICS</a:t>
            </a:r>
            <a:r>
              <a:rPr lang="en-US" dirty="0"/>
              <a:t>, 112(1), 431–442. https://doi.org/10.1007/s11192-017-2353-7</a:t>
            </a:r>
          </a:p>
          <a:p>
            <a:endParaRPr lang="en-US" dirty="0"/>
          </a:p>
          <a:p>
            <a:r>
              <a:rPr lang="en-US" dirty="0" err="1"/>
              <a:t>Cairney</a:t>
            </a:r>
            <a:r>
              <a:rPr lang="en-US" dirty="0"/>
              <a:t>, P. (2016).  </a:t>
            </a:r>
            <a:r>
              <a:rPr lang="en-US" i="1" dirty="0"/>
              <a:t>What is Policy? </a:t>
            </a:r>
            <a:r>
              <a:rPr lang="en-US" dirty="0"/>
              <a:t>Retrieved April 11, 2019, from https://paulcairney.wordpress.com/2016/03/04/what-is-policy-3/</a:t>
            </a:r>
          </a:p>
          <a:p>
            <a:pPr lvl="0"/>
            <a:endParaRPr lang="en-US" dirty="0">
              <a:solidFill>
                <a:prstClr val="black"/>
              </a:solidFill>
            </a:endParaRPr>
          </a:p>
          <a:p>
            <a:pPr lvl="0"/>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a:solidFill>
                  <a:prstClr val="black"/>
                </a:solidFill>
              </a:rPr>
              <a:t>Dai, Y., Popp, D. and </a:t>
            </a:r>
            <a:r>
              <a:rPr lang="en-US" dirty="0" err="1">
                <a:solidFill>
                  <a:prstClr val="black"/>
                </a:solidFill>
              </a:rPr>
              <a:t>Bretschneider</a:t>
            </a:r>
            <a:r>
              <a:rPr lang="en-US" dirty="0">
                <a:solidFill>
                  <a:prstClr val="black"/>
                </a:solidFill>
              </a:rPr>
              <a:t>, S. (2005). Institutions and intellectual property: The influence of institutional forces on university patenting. Journal of Policy Analysis and Management 24(3).  Available from https://onlinelibrary.wiley.com</a:t>
            </a:r>
          </a:p>
          <a:p>
            <a:pPr lvl="0"/>
            <a:endParaRPr lang="en-US" dirty="0">
              <a:solidFill>
                <a:prstClr val="black"/>
              </a:solidFill>
            </a:endParaRPr>
          </a:p>
          <a:p>
            <a:pPr lvl="0"/>
            <a:r>
              <a:rPr lang="en-US" dirty="0">
                <a:solidFill>
                  <a:prstClr val="black"/>
                </a:solidFill>
              </a:rPr>
              <a:t>Dye, T. R. (1976). </a:t>
            </a:r>
            <a:r>
              <a:rPr lang="en-US" i="1" dirty="0">
                <a:solidFill>
                  <a:prstClr val="black"/>
                </a:solidFill>
              </a:rPr>
              <a:t>Understanding Public Policy. </a:t>
            </a:r>
            <a:r>
              <a:rPr lang="en-US" dirty="0">
                <a:solidFill>
                  <a:prstClr val="black"/>
                </a:solidFill>
              </a:rPr>
              <a:t>Upper Saddle River, NJ: Prentice-Hall.</a:t>
            </a:r>
          </a:p>
          <a:p>
            <a:pPr lvl="0"/>
            <a:endParaRPr lang="en-US" dirty="0">
              <a:solidFill>
                <a:prstClr val="black"/>
              </a:solidFill>
            </a:endParaRPr>
          </a:p>
        </p:txBody>
      </p:sp>
    </p:spTree>
    <p:extLst>
      <p:ext uri="{BB962C8B-B14F-4D97-AF65-F5344CB8AC3E}">
        <p14:creationId xmlns:p14="http://schemas.microsoft.com/office/powerpoint/2010/main" val="11597410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solidFill>
                  <a:prstClr val="black"/>
                </a:solidFill>
              </a:rPr>
              <a:t>“Economic growth.” (2019). Wikipedia. Retrieved April 12, 2019, from https://en.wikipedia.org/wiki/Economic_growth</a:t>
            </a:r>
          </a:p>
          <a:p>
            <a:pPr lvl="0"/>
            <a:endParaRPr lang="en-US" dirty="0"/>
          </a:p>
          <a:p>
            <a:r>
              <a:rPr lang="en-US" dirty="0"/>
              <a:t>Florida, R., Adler, P., &amp; </a:t>
            </a:r>
            <a:r>
              <a:rPr lang="en-US" dirty="0" err="1"/>
              <a:t>Mellander</a:t>
            </a:r>
            <a:r>
              <a:rPr lang="en-US" dirty="0"/>
              <a:t>, C. (2017). The city as innovation machine. </a:t>
            </a:r>
            <a:r>
              <a:rPr lang="en-US" i="1" dirty="0"/>
              <a:t>Regional Studies, 51</a:t>
            </a:r>
            <a:r>
              <a:rPr lang="en-US" dirty="0"/>
              <a:t>(1), 86-96. </a:t>
            </a:r>
            <a:r>
              <a:rPr lang="en-US" dirty="0" err="1"/>
              <a:t>doi</a:t>
            </a:r>
            <a:r>
              <a:rPr lang="en-US" dirty="0"/>
              <a:t>: http://dx.doi.org/10.1080/00343404.2016.1255324</a:t>
            </a:r>
          </a:p>
          <a:p>
            <a:pPr lvl="0"/>
            <a:endParaRPr lang="en-US" dirty="0"/>
          </a:p>
          <a:p>
            <a:pPr lvl="0"/>
            <a:r>
              <a:rPr lang="en-US" dirty="0"/>
              <a:t>Florida, R., &amp; </a:t>
            </a:r>
            <a:r>
              <a:rPr lang="en-US" dirty="0" err="1"/>
              <a:t>Mellander</a:t>
            </a:r>
            <a:r>
              <a:rPr lang="en-US" dirty="0"/>
              <a:t>, C. (2016). Rise of the startup city: the changing geography of the venture capital financed innovation. </a:t>
            </a:r>
            <a:r>
              <a:rPr lang="en-US" i="1" dirty="0"/>
              <a:t>California Management Review</a:t>
            </a:r>
            <a:r>
              <a:rPr lang="en-US" dirty="0"/>
              <a:t>, (1). Retrieved from http://search.ebscohost.com/login.aspx?direct=true&amp;db=edsbig&amp;AN=edsbig.A482290258&amp;site=eds-live</a:t>
            </a:r>
          </a:p>
          <a:p>
            <a:pPr lvl="0"/>
            <a:endParaRPr lang="en-US" dirty="0"/>
          </a:p>
          <a:p>
            <a:pPr lvl="0"/>
            <a:r>
              <a:rPr lang="en-US" dirty="0" err="1"/>
              <a:t>Hemel</a:t>
            </a:r>
            <a:r>
              <a:rPr lang="en-US" dirty="0"/>
              <a:t>, D. J., &amp; Ouellette, L. L. (2019). Innovation Policy Pluralism. </a:t>
            </a:r>
            <a:r>
              <a:rPr lang="en-US" i="1" dirty="0"/>
              <a:t>Yale Law Journal</a:t>
            </a:r>
            <a:r>
              <a:rPr lang="en-US" dirty="0"/>
              <a:t>, (3). Retrieved from http://search.ebscohost.com/login.aspx?direct=true&amp;db=edsbig&amp;AN=edsbig.A576378943&amp;site=eds-live</a:t>
            </a:r>
          </a:p>
          <a:p>
            <a:pPr lvl="0"/>
            <a:endParaRPr lang="en-US" dirty="0"/>
          </a:p>
        </p:txBody>
      </p:sp>
    </p:spTree>
    <p:extLst>
      <p:ext uri="{BB962C8B-B14F-4D97-AF65-F5344CB8AC3E}">
        <p14:creationId xmlns:p14="http://schemas.microsoft.com/office/powerpoint/2010/main" val="7575280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t>Joshi, A. M., Inouye, T. M., &amp; Robinson, J. A. (</a:t>
            </a:r>
            <a:r>
              <a:rPr lang="en-US" dirty="0" err="1"/>
              <a:t>n.d.</a:t>
            </a:r>
            <a:r>
              <a:rPr lang="en-US" dirty="0"/>
              <a:t>). How does agency workforce diversity influence Federal R&amp;D funding of minority and women technology entrepreneurs? An analysis of the SBIR and STTR programs, 2001-2011. </a:t>
            </a:r>
            <a:r>
              <a:rPr lang="en-US" i="1" dirty="0"/>
              <a:t>SMALL BUSINESS ECONOMICS</a:t>
            </a:r>
            <a:r>
              <a:rPr lang="en-US" dirty="0"/>
              <a:t>, </a:t>
            </a:r>
            <a:r>
              <a:rPr lang="en-US" i="1" dirty="0"/>
              <a:t>50</a:t>
            </a:r>
            <a:r>
              <a:rPr lang="en-US" dirty="0"/>
              <a:t>(3), 499–519. https://doi.org/10.1007/s11187-017-9882-6</a:t>
            </a:r>
            <a:endParaRPr lang="en-US" dirty="0">
              <a:solidFill>
                <a:prstClr val="black"/>
              </a:solidFill>
            </a:endParaRPr>
          </a:p>
          <a:p>
            <a:pPr lvl="0"/>
            <a:endParaRPr lang="en-US" dirty="0">
              <a:solidFill>
                <a:prstClr val="black"/>
              </a:solidFill>
            </a:endParaRPr>
          </a:p>
          <a:p>
            <a:pPr lvl="0"/>
            <a:r>
              <a:rPr lang="en-US" dirty="0">
                <a:solidFill>
                  <a:prstClr val="black"/>
                </a:solidFill>
              </a:rPr>
              <a:t>Office of Management and Budget [OMB]. (2018). </a:t>
            </a:r>
            <a:r>
              <a:rPr lang="en-US" i="1" dirty="0">
                <a:solidFill>
                  <a:prstClr val="black"/>
                </a:solidFill>
              </a:rPr>
              <a:t>The President's Management Agenda. </a:t>
            </a:r>
            <a:r>
              <a:rPr lang="en-US" dirty="0">
                <a:solidFill>
                  <a:prstClr val="black"/>
                </a:solidFill>
              </a:rPr>
              <a:t>Retrieved from https://www.whitehouse.gov/wp-content/uploads/2018/03/Presidents-Management-Agenda.pdf</a:t>
            </a:r>
            <a:endParaRPr lang="en-US" dirty="0"/>
          </a:p>
          <a:p>
            <a:pPr lvl="0"/>
            <a:endParaRPr lang="en-US" dirty="0"/>
          </a:p>
          <a:p>
            <a:pPr lvl="0"/>
            <a:r>
              <a:rPr lang="en-US" dirty="0" err="1"/>
              <a:t>Reuer</a:t>
            </a:r>
            <a:r>
              <a:rPr lang="en-US" dirty="0"/>
              <a:t>, J. J., &amp; </a:t>
            </a:r>
            <a:r>
              <a:rPr lang="en-US" dirty="0" err="1"/>
              <a:t>Lahiri</a:t>
            </a:r>
            <a:r>
              <a:rPr lang="en-US" dirty="0"/>
              <a:t>, N. (2014). Searching for alliance partners: effects of geographic distance on the formation of </a:t>
            </a:r>
            <a:r>
              <a:rPr lang="en-US" dirty="0" err="1"/>
              <a:t>r&amp;d</a:t>
            </a:r>
            <a:r>
              <a:rPr lang="en-US" dirty="0"/>
              <a:t> collaborations. </a:t>
            </a:r>
            <a:r>
              <a:rPr lang="en-US" i="1" dirty="0"/>
              <a:t>Organization Science</a:t>
            </a:r>
            <a:r>
              <a:rPr lang="en-US" dirty="0"/>
              <a:t>, (1). Retrieved from http://search.ebscohost.com/login.aspx?direct=true&amp;db=edsbig&amp;AN=edsbig.A365471788&amp;site=eds-live</a:t>
            </a:r>
          </a:p>
          <a:p>
            <a:pPr lvl="0"/>
            <a:endParaRPr lang="en-US" dirty="0"/>
          </a:p>
          <a:p>
            <a:pPr lvl="0"/>
            <a:r>
              <a:rPr lang="en-US" dirty="0"/>
              <a:t>Solow, R. M. (1957). Technical change and the aggregate production function. </a:t>
            </a:r>
            <a:r>
              <a:rPr lang="en-US" i="1" dirty="0"/>
              <a:t>The review of Economics and Statistics, 39</a:t>
            </a:r>
            <a:r>
              <a:rPr lang="en-US" dirty="0"/>
              <a:t>(3), 312-320. </a:t>
            </a:r>
            <a:endParaRPr lang="en-US" dirty="0">
              <a:solidFill>
                <a:prstClr val="black"/>
              </a:solidFill>
            </a:endParaRPr>
          </a:p>
        </p:txBody>
      </p:sp>
    </p:spTree>
    <p:extLst>
      <p:ext uri="{BB962C8B-B14F-4D97-AF65-F5344CB8AC3E}">
        <p14:creationId xmlns:p14="http://schemas.microsoft.com/office/powerpoint/2010/main" val="41318681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2585323"/>
          </a:xfrm>
          <a:prstGeom prst="rect">
            <a:avLst/>
          </a:prstGeom>
          <a:noFill/>
        </p:spPr>
        <p:txBody>
          <a:bodyPr wrap="square" rtlCol="0">
            <a:spAutoFit/>
          </a:bodyPr>
          <a:lstStyle/>
          <a:p>
            <a:pPr lvl="0"/>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https://www.usgovernmentspending.com/year_spending_2018USbn_20bs2n_4041_605#usgs302</a:t>
            </a:r>
          </a:p>
          <a:p>
            <a:pPr lvl="0"/>
            <a:endParaRPr lang="en-US" dirty="0">
              <a:solidFill>
                <a:prstClr val="black"/>
              </a:solidFill>
            </a:endParaRPr>
          </a:p>
          <a:p>
            <a:pPr lvl="0"/>
            <a:r>
              <a:rPr lang="en-US" dirty="0" err="1"/>
              <a:t>Jianling</a:t>
            </a:r>
            <a:r>
              <a:rPr lang="en-US" dirty="0"/>
              <a:t> Wang, </a:t>
            </a:r>
            <a:r>
              <a:rPr lang="en-US" dirty="0" err="1"/>
              <a:t>Eltayyar</a:t>
            </a:r>
            <a:r>
              <a:rPr lang="en-US" dirty="0"/>
              <a:t>, M. E. S. S., </a:t>
            </a:r>
            <a:r>
              <a:rPr lang="en-US" dirty="0" err="1"/>
              <a:t>Junyan</a:t>
            </a:r>
            <a:r>
              <a:rPr lang="en-US" dirty="0"/>
              <a:t> Wu, &amp; Lei Xiang. (2016). The Grey Correlation Analysis between Technology Readiness Level and Performance in Civil Aircraft. </a:t>
            </a:r>
            <a:r>
              <a:rPr lang="en-US" i="1" dirty="0"/>
              <a:t>Journal of Grey System</a:t>
            </a:r>
            <a:r>
              <a:rPr lang="en-US" dirty="0"/>
              <a:t>, </a:t>
            </a:r>
            <a:r>
              <a:rPr lang="en-US" i="1" dirty="0"/>
              <a:t>28</a:t>
            </a:r>
            <a:r>
              <a:rPr lang="en-US" dirty="0"/>
              <a:t>(1), 109–117. Retrieved from http://search.ebscohost.com/login.aspx?direct=true&amp;db=a9h&amp;AN=112989107&amp;site=eds-live</a:t>
            </a:r>
            <a:endParaRPr lang="en-US" dirty="0">
              <a:solidFill>
                <a:prstClr val="black"/>
              </a:solidFill>
            </a:endParaRPr>
          </a:p>
        </p:txBody>
      </p:sp>
    </p:spTree>
    <p:extLst>
      <p:ext uri="{BB962C8B-B14F-4D97-AF65-F5344CB8AC3E}">
        <p14:creationId xmlns:p14="http://schemas.microsoft.com/office/powerpoint/2010/main" val="941616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1832</TotalTime>
  <Words>3284</Words>
  <Application>Microsoft Office PowerPoint</Application>
  <PresentationFormat>On-screen Show (16:10)</PresentationFormat>
  <Paragraphs>508</Paragraphs>
  <Slides>50</Slides>
  <Notes>18</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50</vt:i4>
      </vt:variant>
    </vt:vector>
  </HeadingPairs>
  <TitlesOfParts>
    <vt:vector size="52"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353</cp:revision>
  <cp:lastPrinted>2018-11-28T15:13:03Z</cp:lastPrinted>
  <dcterms:created xsi:type="dcterms:W3CDTF">2018-11-26T20:29:52Z</dcterms:created>
  <dcterms:modified xsi:type="dcterms:W3CDTF">2019-04-17T19:29:33Z</dcterms:modified>
</cp:coreProperties>
</file>