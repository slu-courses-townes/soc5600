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294" r:id="rId3"/>
    <p:sldId id="298" r:id="rId4"/>
    <p:sldId id="274" r:id="rId5"/>
    <p:sldId id="280" r:id="rId6"/>
    <p:sldId id="260" r:id="rId7"/>
    <p:sldId id="311" r:id="rId8"/>
    <p:sldId id="299" r:id="rId9"/>
    <p:sldId id="285" r:id="rId10"/>
    <p:sldId id="300" r:id="rId11"/>
    <p:sldId id="301" r:id="rId12"/>
    <p:sldId id="273" r:id="rId13"/>
    <p:sldId id="290" r:id="rId14"/>
    <p:sldId id="293" r:id="rId15"/>
    <p:sldId id="318" r:id="rId16"/>
    <p:sldId id="291" r:id="rId17"/>
    <p:sldId id="292" r:id="rId18"/>
    <p:sldId id="302" r:id="rId19"/>
    <p:sldId id="309" r:id="rId20"/>
    <p:sldId id="310" r:id="rId21"/>
    <p:sldId id="303" r:id="rId22"/>
    <p:sldId id="304" r:id="rId23"/>
    <p:sldId id="305" r:id="rId24"/>
    <p:sldId id="297" r:id="rId25"/>
    <p:sldId id="313" r:id="rId26"/>
    <p:sldId id="319" r:id="rId27"/>
    <p:sldId id="307" r:id="rId28"/>
    <p:sldId id="315" r:id="rId29"/>
    <p:sldId id="316" r:id="rId30"/>
    <p:sldId id="314" r:id="rId31"/>
    <p:sldId id="317" r:id="rId32"/>
    <p:sldId id="272" r:id="rId33"/>
    <p:sldId id="264" r:id="rId34"/>
    <p:sldId id="275" r:id="rId35"/>
    <p:sldId id="306" r:id="rId36"/>
    <p:sldId id="308" r:id="rId37"/>
    <p:sldId id="281" r:id="rId38"/>
    <p:sldId id="288" r:id="rId39"/>
    <p:sldId id="296" r:id="rId40"/>
    <p:sldId id="282" r:id="rId41"/>
    <p:sldId id="295" r:id="rId42"/>
    <p:sldId id="312" r:id="rId43"/>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62" autoAdjust="0"/>
    <p:restoredTop sz="93073" autoAdjust="0"/>
  </p:normalViewPr>
  <p:slideViewPr>
    <p:cSldViewPr snapToGrid="0">
      <p:cViewPr>
        <p:scale>
          <a:sx n="130" d="100"/>
          <a:sy n="130" d="100"/>
        </p:scale>
        <p:origin x="-1074" y="-102"/>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25834EAF-E348-4D3A-A65E-46864A676B0E}" type="presOf" srcId="{7872EC56-464A-4AF7-A325-D8C04EC15CBC}" destId="{E74D4CFD-B51F-4EF3-BA49-144E2D33D50E}" srcOrd="0" destOrd="0" presId="urn:microsoft.com/office/officeart/2005/8/layout/vList3"/>
    <dgm:cxn modelId="{BC6251F1-B4B1-4418-8CC3-1C322C59228C}" srcId="{E8371B40-932D-4D58-B0FA-03B0822BBA63}" destId="{9B4EC237-8822-4BBB-8CEA-053275063984}" srcOrd="6" destOrd="0" parTransId="{0E4DD1AD-A666-4612-8D23-B5D80390E8FE}" sibTransId="{39D612C0-AB2B-428F-B37B-99B621CBC2B2}"/>
    <dgm:cxn modelId="{9EF1AF8A-F47F-45CD-AF66-B006ADA4B6C5}" type="presOf" srcId="{73451015-89A9-4506-B6A1-A52EDA752F1D}" destId="{9A83C161-7CE7-4FBE-A65B-AA864FAF26B5}"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62ABA70E-5B6E-4069-B47A-DC65F48F48CB}" srcId="{E8371B40-932D-4D58-B0FA-03B0822BBA63}" destId="{73451015-89A9-4506-B6A1-A52EDA752F1D}" srcOrd="2" destOrd="0" parTransId="{F1BE5A06-786B-4A3F-8FD7-B37CEC279176}" sibTransId="{5627F2F0-4B45-4A01-AE4E-B1CB295E781E}"/>
    <dgm:cxn modelId="{0EABE6AF-14E9-449F-BD30-1DCC078B80CF}" type="presOf" srcId="{A62087BD-95E8-425C-AA08-2E3F5CB6E8F1}" destId="{6AA00FE8-242B-4888-A53F-D09E1E67898D}"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A9053817-889B-467E-BDFD-D479F2C8510D}" srcId="{E8371B40-932D-4D58-B0FA-03B0822BBA63}" destId="{7872EC56-464A-4AF7-A325-D8C04EC15CBC}" srcOrd="4" destOrd="0" parTransId="{5223AF15-77CC-4833-A5B1-731787DEF8BC}" sibTransId="{39CAC057-C6C0-41D1-853D-7DBCF402493A}"/>
    <dgm:cxn modelId="{845A299F-67BC-4E60-B130-BF1B0872FEC9}" srcId="{E8371B40-932D-4D58-B0FA-03B0822BBA63}" destId="{EC7309A0-CF9B-44BE-B725-DF03D6D7BBC7}" srcOrd="3" destOrd="0" parTransId="{EC92C729-8B65-4284-846A-6BE2199EB0BA}" sibTransId="{F6BD6611-2AFA-4626-9432-28F22D51E3A2}"/>
    <dgm:cxn modelId="{D718B188-BD93-4199-BC4E-FB01E2F269C8}" srcId="{E8371B40-932D-4D58-B0FA-03B0822BBA63}" destId="{75099817-D799-4D08-8D69-0234AF84D1FF}" srcOrd="1" destOrd="0" parTransId="{C02AD437-CFD9-4E1A-B813-673FA16D4FF3}" sibTransId="{170E5D74-100F-43DA-95A7-8BA8367E1240}"/>
    <dgm:cxn modelId="{B2D42D45-5E15-49C7-AE4A-85505E72454B}" srcId="{E8371B40-932D-4D58-B0FA-03B0822BBA63}" destId="{B0F4FFAA-AA80-445E-9016-4F8EF966E383}" srcOrd="0" destOrd="0" parTransId="{161FD2C6-F8FE-472D-9C6C-A8F193FE86F0}" sibTransId="{FAE80C6E-058E-4391-B0E3-CA25846C12CF}"/>
    <dgm:cxn modelId="{55505B2C-A05F-4FD6-9BD6-E6EDC81C0CC7}" type="presOf" srcId="{B0F4FFAA-AA80-445E-9016-4F8EF966E383}" destId="{90DF574F-C00C-419E-B294-5B62392995ED}"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Patent rights to an invention</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Not all technology is patentable.</a:t>
          </a:r>
        </a:p>
        <a:p>
          <a:r>
            <a:rPr lang="en-US" sz="1800" dirty="0" smtClean="0"/>
            <a:t>Not all technology is produced by academia.</a:t>
          </a:r>
        </a:p>
        <a:p>
          <a:r>
            <a:rPr lang="en-US" sz="1800" dirty="0" smtClean="0"/>
            <a:t>Academic knowledge and technology are not synonymous.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r>
            <a:rPr lang="en-US" sz="1400" dirty="0" err="1" smtClean="0"/>
            <a:t>Markman</a:t>
          </a:r>
          <a:r>
            <a:rPr lang="en-US" sz="1400" dirty="0" smtClean="0"/>
            <a:t>, </a:t>
          </a:r>
          <a:r>
            <a:rPr lang="en-US" sz="1400" dirty="0" err="1" smtClean="0"/>
            <a:t>Gianiodis</a:t>
          </a:r>
          <a:r>
            <a:rPr lang="en-US" sz="1400" dirty="0" smtClean="0"/>
            <a:t> &amp; Phan (2019)</a:t>
          </a:r>
          <a:endParaRPr lang="en-US" sz="1400" dirty="0"/>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r>
            <a:rPr lang="en-US" sz="1800" dirty="0" smtClean="0"/>
            <a:t>Academic knowledge</a:t>
          </a:r>
          <a:endParaRPr lang="en-US" sz="1800" dirty="0"/>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82C3429-E99B-4B29-AA58-585E121A0F18}" type="presOf" srcId="{D264B8C8-0C74-4047-BC3D-D328ABB04B07}" destId="{4428B23C-049C-4D7B-92D7-DD65A1003E4E}" srcOrd="0" destOrd="0" presId="urn:microsoft.com/office/officeart/2005/8/layout/hProcess7"/>
    <dgm:cxn modelId="{AFC158A3-0A26-443F-8850-EAF636B0FB18}" srcId="{E7E09A88-A855-416A-B17D-5608BAB5F968}" destId="{44D6C47C-2A82-400A-88DF-CE700FE5B4F6}" srcOrd="0" destOrd="0" parTransId="{1D9B40F5-809E-4085-AAB3-28E848A0A618}" sibTransId="{9B0B3DE2-7641-427F-B8AC-F1DF4D7C1DD9}"/>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F7D3D781-E7A9-49B1-9EF0-BC121EE80F85}" type="presOf" srcId="{7EEB8A88-FDA5-4732-BE90-4CACB02E33E7}" destId="{7C1FE252-E5CE-40AF-AE08-799A5F741FEE}" srcOrd="0" destOrd="2" presId="urn:microsoft.com/office/officeart/2005/8/layout/hProcess7"/>
    <dgm:cxn modelId="{3E5E0C19-FB6A-438A-B497-792AAA222AB0}" type="presOf" srcId="{2CC1F9DA-9BD5-4E70-B92A-8B0545959FAA}" destId="{7C1FE252-E5CE-40AF-AE08-799A5F741FEE}" srcOrd="0" destOrd="3"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Licensing, new venture formation, research collaborations, faculty consulting</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Conflates the concept of technology transfer with the mechanisms for achieving it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r>
            <a:rPr lang="en-US" sz="1400" dirty="0" smtClean="0"/>
            <a:t>Hallam, Wurth &amp; Mancha (2014)</a:t>
          </a:r>
          <a:endParaRPr lang="en-US" sz="1400" dirty="0"/>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EE855B06-5CCC-4C53-AF4C-575A8770D0D5}" type="presOf" srcId="{2645AA64-F59A-4567-9741-8E504AE7F8ED}" destId="{BBE81636-BCDD-48A0-B978-839FA7B950F8}"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Few studies on policy.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07C75C8E-0DEA-4DDA-B70D-DFD3E44B3AE9}">
      <dgm:prSet phldrT="[Text]" custT="1"/>
      <dgm:spPr/>
      <dgm:t>
        <a:bodyPr/>
        <a:lstStyle/>
        <a:p>
          <a:r>
            <a:rPr lang="en-US" sz="1400" dirty="0" smtClean="0"/>
            <a:t>Dai, Popp &amp; </a:t>
          </a:r>
          <a:r>
            <a:rPr lang="en-US" sz="1400" dirty="0" err="1" smtClean="0"/>
            <a:t>Bretschneider</a:t>
          </a:r>
          <a:r>
            <a:rPr lang="en-US" sz="1400" dirty="0" smtClean="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smtClean="0"/>
            <a:t>Many limited to the Bayh-Dole Act of 1980.</a:t>
          </a:r>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smtClean="0"/>
            <a:t>Most studies focus on technology transfer process.</a:t>
          </a:r>
          <a:endParaRPr lang="en-US" sz="1800" dirty="0"/>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1376C00F-D2BE-4C3D-965E-81FB671F3B53}" type="presOf" srcId="{2645AA64-F59A-4567-9741-8E504AE7F8ED}" destId="{BBE81636-BCDD-48A0-B978-839FA7B950F8}" srcOrd="0"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5ED53018-804C-4B6E-8C96-35B9E163BB2B}" type="presOf" srcId="{275823A6-DA31-4015-971F-013EA967541C}" destId="{752682F3-57CE-4B43-B292-A62B3D508EDD}" srcOrd="1" destOrd="0" presId="urn:microsoft.com/office/officeart/2005/8/layout/hProcess7"/>
    <dgm:cxn modelId="{A551A433-3F50-49D5-AAEA-152515D37B9D}" type="presOf" srcId="{D4C8B335-3CDB-4410-8398-ADA4B6D707D0}" destId="{4428B23C-049C-4D7B-92D7-DD65A1003E4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06C256A2-CBB1-4F08-88FC-2AE8711DA723}" type="presOf" srcId="{E7E09A88-A855-416A-B17D-5608BAB5F968}" destId="{7C1FE252-E5CE-40AF-AE08-799A5F741FEE}" srcOrd="0" destOrd="0" presId="urn:microsoft.com/office/officeart/2005/8/layout/hProcess7"/>
    <dgm:cxn modelId="{8BE4AC12-40F3-4F0D-917E-1DE0D831E752}" type="presOf" srcId="{56D25664-E470-4423-B8A9-9B6E4F3E9501}" destId="{1F2FC209-C6F9-4BD8-BE18-C50B50281548}" srcOrd="1" destOrd="0" presId="urn:microsoft.com/office/officeart/2005/8/layout/hProcess7"/>
    <dgm:cxn modelId="{DB884937-1E09-49E0-BABE-97AC4679294D}" srcId="{2645AA64-F59A-4567-9741-8E504AE7F8ED}" destId="{D264B8C8-0C74-4047-BC3D-D328ABB04B07}" srcOrd="1"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464D6169-0418-4699-820B-C50B038C5CB9}" type="presOf" srcId="{95A718DB-BBB4-46AA-BDBB-89DD317FC1FE}" destId="{4428B23C-049C-4D7B-92D7-DD65A1003E4E}" srcOrd="0" destOrd="0"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8D2101F9-CF87-42F9-B094-55D43C34B39E}" type="presOf" srcId="{07C75C8E-0DEA-4DDA-B70D-DFD3E44B3AE9}" destId="{7C1FE252-E5CE-40AF-AE08-799A5F741FEE}" srcOrd="0" destOrd="1" presId="urn:microsoft.com/office/officeart/2005/8/layout/hProcess7"/>
    <dgm:cxn modelId="{1DCB0E8B-E40A-46BF-A80C-48D12181F989}"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1036BF1-230E-451A-A7E6-B21FE68474BD}" type="presOf" srcId="{D264B8C8-0C74-4047-BC3D-D328ABB04B07}" destId="{4428B23C-049C-4D7B-92D7-DD65A1003E4E}" srcOrd="0" destOrd="1"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6696772-2554-4E2D-8639-34A91E715C32}" type="presOf" srcId="{56D25664-E470-4423-B8A9-9B6E4F3E9501}" destId="{5EE1D2E5-E13B-4FA3-A68E-FA18C8AD1A1A}" srcOrd="0" destOrd="0" presId="urn:microsoft.com/office/officeart/2005/8/layout/hProcess7"/>
    <dgm:cxn modelId="{57824522-8F28-49A9-B1BA-92C8570C9820}" srcId="{2645AA64-F59A-4567-9741-8E504AE7F8ED}" destId="{D4C8B335-3CDB-4410-8398-ADA4B6D707D0}" srcOrd="2" destOrd="0" parTransId="{6731F8F5-E23D-44FE-B5E9-470480E8C490}" sibTransId="{8F87DA33-748F-4E07-B160-1008D5AD6E87}"/>
    <dgm:cxn modelId="{7437843E-C873-4F0A-B5EA-DE17D4B19CEC}" srcId="{E12051B9-F660-41FB-9BFB-187ECABCD821}" destId="{275823A6-DA31-4015-971F-013EA967541C}" srcOrd="1" destOrd="0" parTransId="{875E5474-64E5-4108-955A-9C4C5981F19E}" sibTransId="{51902D99-3A7E-49E6-ACF4-64573B002DF3}"/>
    <dgm:cxn modelId="{68C078E2-2813-4DD1-8D49-00CEDEB813BD}" srcId="{2645AA64-F59A-4567-9741-8E504AE7F8ED}" destId="{95A718DB-BBB4-46AA-BDBB-89DD317FC1FE}" srcOrd="0" destOrd="0" parTransId="{559BC884-0E6B-4229-BA40-83AA0FB5E9C3}" sibTransId="{E6806443-A792-465A-A42A-65355E8F5FCD}"/>
    <dgm:cxn modelId="{955316F3-D59D-4E22-BAC5-4B54F7BE800A}" srcId="{275823A6-DA31-4015-971F-013EA967541C}" destId="{E7E09A88-A855-416A-B17D-5608BAB5F968}" srcOrd="0" destOrd="0" parTransId="{791A9365-62E9-4724-B5DD-36351582D82E}" sibTransId="{C2A5DE0A-7824-4E35-BB27-47DBE8541DB5}"/>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Executed patent license, established new business entity, executed sponsored research agreement</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A patent license is often a requirement for forming a university spinout company.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smtClean="0"/>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smtClean="0"/>
            <a:t>Sponsored research may not be related to technology previously developed at the university.</a:t>
          </a:r>
          <a:endParaRPr lang="en-US" sz="1800" dirty="0"/>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r>
            <a:rPr lang="en-US" sz="1400" dirty="0" err="1" smtClean="0"/>
            <a:t>Markman</a:t>
          </a:r>
          <a:r>
            <a:rPr lang="en-US" sz="1400" dirty="0" smtClean="0"/>
            <a:t>, </a:t>
          </a:r>
          <a:r>
            <a:rPr lang="en-US" sz="1400" dirty="0" err="1" smtClean="0"/>
            <a:t>Gioniodis</a:t>
          </a:r>
          <a:r>
            <a:rPr lang="en-US" sz="1400" dirty="0" smtClean="0"/>
            <a:t> &amp; Phan (2009)</a:t>
          </a:r>
          <a:endParaRPr lang="en-US" sz="1400" dirty="0" smtClean="0"/>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r>
            <a:rPr lang="en-US" sz="1400" dirty="0" smtClean="0"/>
            <a:t>Hallam, Wurth &amp; Mancha (2014)</a:t>
          </a:r>
          <a:endParaRPr lang="en-US" sz="1400" dirty="0" smtClean="0"/>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A86AA22-E0A6-4B2D-8870-B6EE9B7D21A2}" type="presOf" srcId="{56D25664-E470-4423-B8A9-9B6E4F3E9501}" destId="{1F2FC209-C6F9-4BD8-BE18-C50B50281548}" srcOrd="1" destOrd="0" presId="urn:microsoft.com/office/officeart/2005/8/layout/hProcess7"/>
    <dgm:cxn modelId="{710BE388-CFBB-4A7A-9599-236CF64672D5}" type="presOf" srcId="{A63F54FD-8B74-4C7D-8473-B344FD749CC5}" destId="{7C1FE252-E5CE-40AF-AE08-799A5F741FEE}" srcOrd="0" destOrd="1" presId="urn:microsoft.com/office/officeart/2005/8/layout/hProcess7"/>
    <dgm:cxn modelId="{F7153C57-A186-40D1-881C-A7EE007B6A84}" type="presOf" srcId="{275823A6-DA31-4015-971F-013EA967541C}" destId="{CB5EA34A-627A-4C1F-96E3-4088D2A98FDD}" srcOrd="0" destOrd="0" presId="urn:microsoft.com/office/officeart/2005/8/layout/hProcess7"/>
    <dgm:cxn modelId="{F1659B10-4FBE-4A63-A462-5D6031D737B1}" type="presOf" srcId="{56D25664-E470-4423-B8A9-9B6E4F3E9501}" destId="{5EE1D2E5-E13B-4FA3-A68E-FA18C8AD1A1A}"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637551F-0D3F-4D2D-9008-B218D2EB9464}" type="presOf" srcId="{275823A6-DA31-4015-971F-013EA967541C}" destId="{752682F3-57CE-4B43-B292-A62B3D508EDD}" srcOrd="1" destOrd="0" presId="urn:microsoft.com/office/officeart/2005/8/layout/hProcess7"/>
    <dgm:cxn modelId="{DAC436A8-1D5B-4BEC-AA41-17ADCA49BB92}" type="presOf" srcId="{5E26D614-F864-488A-B521-ECFB18615A67}" destId="{4428B23C-049C-4D7B-92D7-DD65A1003E4E}" srcOrd="0" destOrd="1" presId="urn:microsoft.com/office/officeart/2005/8/layout/hProcess7"/>
    <dgm:cxn modelId="{4277D3C4-3EBC-4B13-9391-E571FAB7D778}" type="presOf" srcId="{E12051B9-F660-41FB-9BFB-187ECABCD821}" destId="{4413368B-ACCA-469B-9D0E-1FEFC4075FB0}" srcOrd="0" destOrd="0" presId="urn:microsoft.com/office/officeart/2005/8/layout/hProcess7"/>
    <dgm:cxn modelId="{176ECC73-7749-411E-AD9E-349F9755A3E8}" type="presOf" srcId="{B66FEDCD-05F5-486C-8CAE-52A8E512E89C}" destId="{7C1FE252-E5CE-40AF-AE08-799A5F741FEE}" srcOrd="0" destOrd="2" presId="urn:microsoft.com/office/officeart/2005/8/layout/hProcess7"/>
    <dgm:cxn modelId="{49CCEE11-6AF8-4C15-BADA-7AF7396A7B39}" type="presOf" srcId="{2645AA64-F59A-4567-9741-8E504AE7F8ED}" destId="{5002EEF7-AB5F-41AC-BBA4-49DC2C142864}" srcOrd="1"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AC461C10-B64E-47D2-876A-1F8E2E4FB198}" type="presOf" srcId="{F754AD28-8B54-47D9-83F1-8D45F35B4A81}" destId="{0F07502A-98A4-4880-9779-27EA2BEB6F02}"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C5F869C1-8FEF-4035-9EC3-FDF0092FF2C9}" srcId="{56D25664-E470-4423-B8A9-9B6E4F3E9501}" destId="{F754AD28-8B54-47D9-83F1-8D45F35B4A81}" srcOrd="0" destOrd="0" parTransId="{26AD8160-5FF5-41BE-AFAF-E29D66F0469B}" sibTransId="{BE9BECBC-F94F-4E2F-BDB2-93E8BAEBEFE7}"/>
    <dgm:cxn modelId="{21301622-77BE-4754-8338-241574961FCF}" type="presOf" srcId="{2645AA64-F59A-4567-9741-8E504AE7F8ED}" destId="{BBE81636-BCDD-48A0-B978-839FA7B950F8}"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7437843E-C873-4F0A-B5EA-DE17D4B19CEC}" srcId="{E12051B9-F660-41FB-9BFB-187ECABCD821}" destId="{275823A6-DA31-4015-971F-013EA967541C}" srcOrd="1" destOrd="0" parTransId="{875E5474-64E5-4108-955A-9C4C5981F19E}" sibTransId="{51902D99-3A7E-49E6-ACF4-64573B002DF3}"/>
    <dgm:cxn modelId="{4E3401AA-1E24-4535-A79F-BA5D946C0D40}" type="presOf" srcId="{E7E09A88-A855-416A-B17D-5608BAB5F968}" destId="{7C1FE252-E5CE-40AF-AE08-799A5F741FEE}" srcOrd="0" destOrd="0" presId="urn:microsoft.com/office/officeart/2005/8/layout/hProcess7"/>
    <dgm:cxn modelId="{A492A72D-7C2F-451D-B249-95531553CE6A}" type="presOf" srcId="{DEA16A63-FA9D-4192-A529-0359124F8856}" destId="{7C1FE252-E5CE-40AF-AE08-799A5F741FEE}" srcOrd="0" destOrd="3" presId="urn:microsoft.com/office/officeart/2005/8/layout/hProcess7"/>
    <dgm:cxn modelId="{9A119129-BFC5-426B-ADBE-A12AEE62A7F2}" srcId="{E7E09A88-A855-416A-B17D-5608BAB5F968}" destId="{DEA16A63-FA9D-4192-A529-0359124F8856}" srcOrd="2" destOrd="0" parTransId="{50241EA1-ACEB-4859-BDF5-8C00490A77F8}" sibTransId="{BD6B7C49-70A8-4A58-9FF0-D04F58C7049C}"/>
    <dgm:cxn modelId="{0E53BA19-074F-4E8A-B108-53D222C78913}" type="presOf" srcId="{D264B8C8-0C74-4047-BC3D-D328ABB04B07}" destId="{4428B23C-049C-4D7B-92D7-DD65A1003E4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ED0FCE77-ABAE-4D1A-80EE-BCCCD99F91A7}" type="presParOf" srcId="{4413368B-ACCA-469B-9D0E-1FEFC4075FB0}" destId="{8E1BCC0E-B989-4435-8915-645304C71A64}" srcOrd="0" destOrd="0" presId="urn:microsoft.com/office/officeart/2005/8/layout/hProcess7"/>
    <dgm:cxn modelId="{D5AF29E7-8E8F-4939-8D6D-C5A2821320CB}" type="presParOf" srcId="{8E1BCC0E-B989-4435-8915-645304C71A64}" destId="{5EE1D2E5-E13B-4FA3-A68E-FA18C8AD1A1A}" srcOrd="0" destOrd="0" presId="urn:microsoft.com/office/officeart/2005/8/layout/hProcess7"/>
    <dgm:cxn modelId="{F03B6F27-A835-4B36-8A31-89F6753287D7}" type="presParOf" srcId="{8E1BCC0E-B989-4435-8915-645304C71A64}" destId="{1F2FC209-C6F9-4BD8-BE18-C50B50281548}" srcOrd="1" destOrd="0" presId="urn:microsoft.com/office/officeart/2005/8/layout/hProcess7"/>
    <dgm:cxn modelId="{4505C8A7-00BA-4143-99D6-B0D6B90286B0}" type="presParOf" srcId="{8E1BCC0E-B989-4435-8915-645304C71A64}" destId="{0F07502A-98A4-4880-9779-27EA2BEB6F02}" srcOrd="2" destOrd="0" presId="urn:microsoft.com/office/officeart/2005/8/layout/hProcess7"/>
    <dgm:cxn modelId="{DE663B2F-B468-4F3C-BAA4-ED38FD1C6847}" type="presParOf" srcId="{4413368B-ACCA-469B-9D0E-1FEFC4075FB0}" destId="{13ACBB4E-2F0C-4773-92A7-F091255EA962}" srcOrd="1" destOrd="0" presId="urn:microsoft.com/office/officeart/2005/8/layout/hProcess7"/>
    <dgm:cxn modelId="{936BFF5B-79D3-49F3-A388-7F558BB247D0}" type="presParOf" srcId="{4413368B-ACCA-469B-9D0E-1FEFC4075FB0}" destId="{BAD87237-2D53-4DFC-BA2E-02EC39493885}" srcOrd="2" destOrd="0" presId="urn:microsoft.com/office/officeart/2005/8/layout/hProcess7"/>
    <dgm:cxn modelId="{17BF98EE-623A-4ACD-ACDB-9CCCE0D529AF}" type="presParOf" srcId="{BAD87237-2D53-4DFC-BA2E-02EC39493885}" destId="{221F174E-2568-4C2B-B98A-B21C733FC119}" srcOrd="0" destOrd="0" presId="urn:microsoft.com/office/officeart/2005/8/layout/hProcess7"/>
    <dgm:cxn modelId="{2C564617-E0C1-48B6-A163-FC513938BD7B}" type="presParOf" srcId="{BAD87237-2D53-4DFC-BA2E-02EC39493885}" destId="{45668240-D897-4FC1-8421-6DD785B65040}" srcOrd="1" destOrd="0" presId="urn:microsoft.com/office/officeart/2005/8/layout/hProcess7"/>
    <dgm:cxn modelId="{FBDEF7DC-74C2-432A-BEA2-DB15F3D1D29E}" type="presParOf" srcId="{BAD87237-2D53-4DFC-BA2E-02EC39493885}" destId="{50ECFA14-9F36-4C35-911C-A780FF037D2C}" srcOrd="2" destOrd="0" presId="urn:microsoft.com/office/officeart/2005/8/layout/hProcess7"/>
    <dgm:cxn modelId="{C5B6FC92-873E-4908-9ECA-F2052C2C4619}" type="presParOf" srcId="{4413368B-ACCA-469B-9D0E-1FEFC4075FB0}" destId="{B0CEB5DD-B27E-454F-A39C-A559A187214D}" srcOrd="3" destOrd="0" presId="urn:microsoft.com/office/officeart/2005/8/layout/hProcess7"/>
    <dgm:cxn modelId="{8CFCC076-510E-4A76-86BE-602944CCF2C5}" type="presParOf" srcId="{4413368B-ACCA-469B-9D0E-1FEFC4075FB0}" destId="{4C92115F-DFB0-4372-AF66-CF11B70A8EFD}" srcOrd="4" destOrd="0" presId="urn:microsoft.com/office/officeart/2005/8/layout/hProcess7"/>
    <dgm:cxn modelId="{EDB546E8-1AD6-44CF-96A1-789300DF32D5}" type="presParOf" srcId="{4C92115F-DFB0-4372-AF66-CF11B70A8EFD}" destId="{CB5EA34A-627A-4C1F-96E3-4088D2A98FDD}" srcOrd="0" destOrd="0" presId="urn:microsoft.com/office/officeart/2005/8/layout/hProcess7"/>
    <dgm:cxn modelId="{A5D5B52B-5CEE-4F76-9B4B-7B518585AE23}" type="presParOf" srcId="{4C92115F-DFB0-4372-AF66-CF11B70A8EFD}" destId="{752682F3-57CE-4B43-B292-A62B3D508EDD}" srcOrd="1" destOrd="0" presId="urn:microsoft.com/office/officeart/2005/8/layout/hProcess7"/>
    <dgm:cxn modelId="{22FF6FFF-44D5-476F-94D3-AFF36518D3F8}" type="presParOf" srcId="{4C92115F-DFB0-4372-AF66-CF11B70A8EFD}" destId="{7C1FE252-E5CE-40AF-AE08-799A5F741FEE}" srcOrd="2" destOrd="0" presId="urn:microsoft.com/office/officeart/2005/8/layout/hProcess7"/>
    <dgm:cxn modelId="{AB44BC40-EFF3-4ADC-B544-FBD6056954BF}" type="presParOf" srcId="{4413368B-ACCA-469B-9D0E-1FEFC4075FB0}" destId="{E94DD569-30C2-4DB5-BFE9-2EA1C054A099}" srcOrd="5" destOrd="0" presId="urn:microsoft.com/office/officeart/2005/8/layout/hProcess7"/>
    <dgm:cxn modelId="{B6E044D5-4C9F-4D43-A4F0-D2FA34095432}" type="presParOf" srcId="{4413368B-ACCA-469B-9D0E-1FEFC4075FB0}" destId="{D0762C22-9124-4CFC-9FEF-33DB241A1B75}" srcOrd="6" destOrd="0" presId="urn:microsoft.com/office/officeart/2005/8/layout/hProcess7"/>
    <dgm:cxn modelId="{7D7687EC-03F6-4F0E-8B26-49DCB7262C35}" type="presParOf" srcId="{D0762C22-9124-4CFC-9FEF-33DB241A1B75}" destId="{C8DF72E1-70D1-4214-8DAD-40E18FF824F5}" srcOrd="0" destOrd="0" presId="urn:microsoft.com/office/officeart/2005/8/layout/hProcess7"/>
    <dgm:cxn modelId="{B26188FF-9EB5-4334-81D7-BC2DCC8596BB}" type="presParOf" srcId="{D0762C22-9124-4CFC-9FEF-33DB241A1B75}" destId="{BAC8B8B3-49A2-4BE7-B498-654C601FE809}" srcOrd="1" destOrd="0" presId="urn:microsoft.com/office/officeart/2005/8/layout/hProcess7"/>
    <dgm:cxn modelId="{36FD1241-07B6-4F19-946A-50B4055C1520}" type="presParOf" srcId="{D0762C22-9124-4CFC-9FEF-33DB241A1B75}" destId="{4A5065A5-7398-4E75-9460-0F7770025FB9}" srcOrd="2" destOrd="0" presId="urn:microsoft.com/office/officeart/2005/8/layout/hProcess7"/>
    <dgm:cxn modelId="{E6226117-86A9-493A-8230-0AFF487BAAFC}" type="presParOf" srcId="{4413368B-ACCA-469B-9D0E-1FEFC4075FB0}" destId="{2AE61FAA-6DD0-4F7B-8C42-F1DA0A887180}" srcOrd="7" destOrd="0" presId="urn:microsoft.com/office/officeart/2005/8/layout/hProcess7"/>
    <dgm:cxn modelId="{F1B229B9-DFFC-414A-959F-9B635E03B2DB}" type="presParOf" srcId="{4413368B-ACCA-469B-9D0E-1FEFC4075FB0}" destId="{72B73D94-A19D-488F-A34B-978C721C47B4}" srcOrd="8" destOrd="0" presId="urn:microsoft.com/office/officeart/2005/8/layout/hProcess7"/>
    <dgm:cxn modelId="{39C2AEF7-47D8-4AE9-B014-B030C8974581}" type="presParOf" srcId="{72B73D94-A19D-488F-A34B-978C721C47B4}" destId="{BBE81636-BCDD-48A0-B978-839FA7B950F8}" srcOrd="0" destOrd="0" presId="urn:microsoft.com/office/officeart/2005/8/layout/hProcess7"/>
    <dgm:cxn modelId="{CF131535-66CF-45DB-B3F6-E1DBACF5A7D7}" type="presParOf" srcId="{72B73D94-A19D-488F-A34B-978C721C47B4}" destId="{5002EEF7-AB5F-41AC-BBA4-49DC2C142864}" srcOrd="1" destOrd="0" presId="urn:microsoft.com/office/officeart/2005/8/layout/hProcess7"/>
    <dgm:cxn modelId="{775BDBC1-32C9-4472-86D3-17BD3731545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Studies have mostly focused on factors exogenous to the research and development process.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r>
            <a:rPr lang="en-US" sz="1400" dirty="0" err="1" smtClean="0"/>
            <a:t>Markman</a:t>
          </a:r>
          <a:r>
            <a:rPr lang="en-US" sz="1400" dirty="0" smtClean="0"/>
            <a:t>, </a:t>
          </a:r>
          <a:r>
            <a:rPr lang="en-US" sz="1400" dirty="0" err="1" smtClean="0"/>
            <a:t>Gioniodis</a:t>
          </a:r>
          <a:r>
            <a:rPr lang="en-US" sz="1400" dirty="0" smtClean="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3893ABA4-7B69-4D33-BC00-E43B7028591B}" type="presOf" srcId="{275823A6-DA31-4015-971F-013EA967541C}" destId="{752682F3-57CE-4B43-B292-A62B3D508EDD}" srcOrd="1"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CBFEF5BF-4C5E-4E32-9F19-BAE0077EA458}" type="presOf" srcId="{F86BA50F-7B09-4CE2-8B83-90FEB494F38C}" destId="{7C1FE252-E5CE-40AF-AE08-799A5F741FEE}" srcOrd="0" destOrd="1"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56A77E-384F-4C09-AC6E-469F6C9D238D}"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18E1F703-50F6-4B74-8D77-B189D361DBBA}" srcId="{E7E09A88-A855-416A-B17D-5608BAB5F968}" destId="{F86BA50F-7B09-4CE2-8B83-90FEB494F38C}" srcOrd="0" destOrd="0" parTransId="{E910A421-ED4D-4BCE-832C-1481D6654CBB}" sibTransId="{FCBE2083-2E00-41C2-B89E-BD45A38C3EE2}"/>
    <dgm:cxn modelId="{9CD48B93-ABB8-433A-A639-193F0A28CBE5}" srcId="{E12051B9-F660-41FB-9BFB-187ECABCD821}" destId="{2645AA64-F59A-4567-9741-8E504AE7F8ED}" srcOrd="2" destOrd="0" parTransId="{AC7E47B7-C191-494F-A858-138D80EBAA8B}" sibTransId="{8534D89E-94B4-4294-B728-B7172A8E774D}"/>
    <dgm:cxn modelId="{FA79C83B-0A67-4DC7-ADBE-DB83B0AF2D79}" type="presOf" srcId="{F754AD28-8B54-47D9-83F1-8D45F35B4A81}" destId="{0F07502A-98A4-4880-9779-27EA2BEB6F02}"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D91D06ED-B068-4561-9615-B576EF3C2935}" type="presOf" srcId="{275823A6-DA31-4015-971F-013EA967541C}" destId="{CB5EA34A-627A-4C1F-96E3-4088D2A98FDD}"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B0E41DD-BBBD-4BC6-B3BC-6EE03599BEEF}" type="presOf" srcId="{2645AA64-F59A-4567-9741-8E504AE7F8ED}" destId="{BBE81636-BCDD-48A0-B978-839FA7B950F8}" srcOrd="0" destOrd="0"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72CA96-9220-4AFD-88F9-936C50BD554D}" type="presOf" srcId="{56D25664-E470-4423-B8A9-9B6E4F3E9501}" destId="{5EE1D2E5-E13B-4FA3-A68E-FA18C8AD1A1A}" srcOrd="0" destOrd="0"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Level of regional venture capital, level of regional R&amp;D expenditures</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Few studies that consider development stage.</a:t>
          </a:r>
        </a:p>
        <a:p>
          <a:r>
            <a:rPr lang="en-US" sz="1800" dirty="0" smtClean="0"/>
            <a:t>Studies have focused on the association between cities and innovation.</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C7262B7-24DB-4213-B4DB-EFC966CC1B57}" type="presOf" srcId="{275823A6-DA31-4015-971F-013EA967541C}" destId="{CB5EA34A-627A-4C1F-96E3-4088D2A98FDD}" srcOrd="0" destOrd="0" presId="urn:microsoft.com/office/officeart/2005/8/layout/hProcess7"/>
    <dgm:cxn modelId="{B09E5938-AD3D-4EA9-970C-82C6FFA86BE2}" srcId="{E7E09A88-A855-416A-B17D-5608BAB5F968}" destId="{AFF6176D-85DE-40AE-90C6-893C51B32EB3}" srcOrd="0" destOrd="0" parTransId="{8EE3A1E5-0B44-40B7-9B59-F6DA84D9F6A6}" sibTransId="{056A0E8C-03A8-4EA7-806A-DA6A878AA1E7}"/>
    <dgm:cxn modelId="{7D4AA11D-AECE-4F13-83A5-2F30DAC3FCE9}" type="presOf" srcId="{E12051B9-F660-41FB-9BFB-187ECABCD821}" destId="{4413368B-ACCA-469B-9D0E-1FEFC4075FB0}" srcOrd="0" destOrd="0" presId="urn:microsoft.com/office/officeart/2005/8/layout/hProcess7"/>
    <dgm:cxn modelId="{0BE03BD5-FE23-46AA-ADDD-3EB80CE083C8}" type="presOf" srcId="{56D25664-E470-4423-B8A9-9B6E4F3E9501}" destId="{5EE1D2E5-E13B-4FA3-A68E-FA18C8AD1A1A}" srcOrd="0" destOrd="0" presId="urn:microsoft.com/office/officeart/2005/8/layout/hProcess7"/>
    <dgm:cxn modelId="{DB943544-1434-41F2-A05C-EC12D8EBAA82}" type="presOf" srcId="{2645AA64-F59A-4567-9741-8E504AE7F8ED}" destId="{BBE81636-BCDD-48A0-B978-839FA7B950F8}"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61BFFC1-AE7C-498C-83A0-CA1826D78F8F}" type="presOf" srcId="{F754AD28-8B54-47D9-83F1-8D45F35B4A81}" destId="{0F07502A-98A4-4880-9779-27EA2BEB6F02}" srcOrd="0" destOrd="0" presId="urn:microsoft.com/office/officeart/2005/8/layout/hProcess7"/>
    <dgm:cxn modelId="{910979F0-7634-4B80-B15B-DE718853D504}" type="presOf" srcId="{E7E09A88-A855-416A-B17D-5608BAB5F968}" destId="{7C1FE252-E5CE-40AF-AE08-799A5F741FE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8711CA19-EAD8-4409-B0C5-6BE45B888BBE}" type="presOf" srcId="{56D25664-E470-4423-B8A9-9B6E4F3E9501}" destId="{1F2FC209-C6F9-4BD8-BE18-C50B50281548}" srcOrd="1" destOrd="0" presId="urn:microsoft.com/office/officeart/2005/8/layout/hProcess7"/>
    <dgm:cxn modelId="{DC36F442-0994-4ECD-9BE7-92AA75A7CEB8}" type="presOf" srcId="{2645AA64-F59A-4567-9741-8E504AE7F8ED}" destId="{5002EEF7-AB5F-41AC-BBA4-49DC2C142864}"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71495D02-A03D-428D-8DF2-B60DC303D478}" type="presOf" srcId="{275823A6-DA31-4015-971F-013EA967541C}" destId="{752682F3-57CE-4B43-B292-A62B3D508EDD}"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6D0D9BF7-0949-4C08-A1FC-5DD298CE023D}" type="presOf" srcId="{AFF6176D-85DE-40AE-90C6-893C51B32EB3}" destId="{7C1FE252-E5CE-40AF-AE08-799A5F741FEE}" srcOrd="0" destOrd="1"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0031A1-CB53-450E-9938-8DE34F88DDF6}" type="presOf" srcId="{D264B8C8-0C74-4047-BC3D-D328ABB04B07}" destId="{4428B23C-049C-4D7B-92D7-DD65A1003E4E}" srcOrd="0" destOrd="0" presId="urn:microsoft.com/office/officeart/2005/8/layout/hProcess7"/>
    <dgm:cxn modelId="{D0A4F6C3-5C44-4114-A3C7-758CF71C75DE}" type="presParOf" srcId="{4413368B-ACCA-469B-9D0E-1FEFC4075FB0}" destId="{8E1BCC0E-B989-4435-8915-645304C71A64}" srcOrd="0" destOrd="0" presId="urn:microsoft.com/office/officeart/2005/8/layout/hProcess7"/>
    <dgm:cxn modelId="{66B0F826-067B-4F58-B222-3CA5D6197741}" type="presParOf" srcId="{8E1BCC0E-B989-4435-8915-645304C71A64}" destId="{5EE1D2E5-E13B-4FA3-A68E-FA18C8AD1A1A}" srcOrd="0" destOrd="0" presId="urn:microsoft.com/office/officeart/2005/8/layout/hProcess7"/>
    <dgm:cxn modelId="{CFF8C590-B1C2-4D92-AAEA-C19E986EA80C}" type="presParOf" srcId="{8E1BCC0E-B989-4435-8915-645304C71A64}" destId="{1F2FC209-C6F9-4BD8-BE18-C50B50281548}" srcOrd="1" destOrd="0" presId="urn:microsoft.com/office/officeart/2005/8/layout/hProcess7"/>
    <dgm:cxn modelId="{4D96E215-F9EF-47A4-A75A-3CFE3C4B2F43}" type="presParOf" srcId="{8E1BCC0E-B989-4435-8915-645304C71A64}" destId="{0F07502A-98A4-4880-9779-27EA2BEB6F02}" srcOrd="2" destOrd="0" presId="urn:microsoft.com/office/officeart/2005/8/layout/hProcess7"/>
    <dgm:cxn modelId="{49A46686-4E07-4F72-AE7D-437958C5A890}" type="presParOf" srcId="{4413368B-ACCA-469B-9D0E-1FEFC4075FB0}" destId="{13ACBB4E-2F0C-4773-92A7-F091255EA962}" srcOrd="1" destOrd="0" presId="urn:microsoft.com/office/officeart/2005/8/layout/hProcess7"/>
    <dgm:cxn modelId="{A6BBA330-42FA-45D3-AC1E-A599E3E5DD17}" type="presParOf" srcId="{4413368B-ACCA-469B-9D0E-1FEFC4075FB0}" destId="{BAD87237-2D53-4DFC-BA2E-02EC39493885}" srcOrd="2" destOrd="0" presId="urn:microsoft.com/office/officeart/2005/8/layout/hProcess7"/>
    <dgm:cxn modelId="{63635CF1-16B3-49D4-B51E-E9AC2EF23896}" type="presParOf" srcId="{BAD87237-2D53-4DFC-BA2E-02EC39493885}" destId="{221F174E-2568-4C2B-B98A-B21C733FC119}" srcOrd="0" destOrd="0" presId="urn:microsoft.com/office/officeart/2005/8/layout/hProcess7"/>
    <dgm:cxn modelId="{410374FA-B359-41D1-A3C1-0F3FE9264673}" type="presParOf" srcId="{BAD87237-2D53-4DFC-BA2E-02EC39493885}" destId="{45668240-D897-4FC1-8421-6DD785B65040}" srcOrd="1" destOrd="0" presId="urn:microsoft.com/office/officeart/2005/8/layout/hProcess7"/>
    <dgm:cxn modelId="{1048D24C-5A46-4903-A8A0-1FAF4185504E}" type="presParOf" srcId="{BAD87237-2D53-4DFC-BA2E-02EC39493885}" destId="{50ECFA14-9F36-4C35-911C-A780FF037D2C}" srcOrd="2" destOrd="0" presId="urn:microsoft.com/office/officeart/2005/8/layout/hProcess7"/>
    <dgm:cxn modelId="{D5BBF8DB-02C7-4F92-88FF-D21319242409}" type="presParOf" srcId="{4413368B-ACCA-469B-9D0E-1FEFC4075FB0}" destId="{B0CEB5DD-B27E-454F-A39C-A559A187214D}" srcOrd="3" destOrd="0" presId="urn:microsoft.com/office/officeart/2005/8/layout/hProcess7"/>
    <dgm:cxn modelId="{87055DF1-3AA8-4457-AD75-55CFD79AEF25}" type="presParOf" srcId="{4413368B-ACCA-469B-9D0E-1FEFC4075FB0}" destId="{4C92115F-DFB0-4372-AF66-CF11B70A8EFD}" srcOrd="4" destOrd="0" presId="urn:microsoft.com/office/officeart/2005/8/layout/hProcess7"/>
    <dgm:cxn modelId="{176AD792-7FFC-4B35-AC77-36FE0EAA4460}" type="presParOf" srcId="{4C92115F-DFB0-4372-AF66-CF11B70A8EFD}" destId="{CB5EA34A-627A-4C1F-96E3-4088D2A98FDD}" srcOrd="0" destOrd="0" presId="urn:microsoft.com/office/officeart/2005/8/layout/hProcess7"/>
    <dgm:cxn modelId="{B5B5C7AE-0391-49B4-9DF3-BC3DD9C66302}" type="presParOf" srcId="{4C92115F-DFB0-4372-AF66-CF11B70A8EFD}" destId="{752682F3-57CE-4B43-B292-A62B3D508EDD}" srcOrd="1" destOrd="0" presId="urn:microsoft.com/office/officeart/2005/8/layout/hProcess7"/>
    <dgm:cxn modelId="{6305654E-88C0-4A01-9AB4-F25240D76877}" type="presParOf" srcId="{4C92115F-DFB0-4372-AF66-CF11B70A8EFD}" destId="{7C1FE252-E5CE-40AF-AE08-799A5F741FEE}" srcOrd="2" destOrd="0" presId="urn:microsoft.com/office/officeart/2005/8/layout/hProcess7"/>
    <dgm:cxn modelId="{DC609AC2-84E5-4A00-9CCF-40ED49E24FE3}" type="presParOf" srcId="{4413368B-ACCA-469B-9D0E-1FEFC4075FB0}" destId="{E94DD569-30C2-4DB5-BFE9-2EA1C054A099}" srcOrd="5" destOrd="0" presId="urn:microsoft.com/office/officeart/2005/8/layout/hProcess7"/>
    <dgm:cxn modelId="{34A027B1-0710-4AC9-B21C-22ED684D5BA7}" type="presParOf" srcId="{4413368B-ACCA-469B-9D0E-1FEFC4075FB0}" destId="{D0762C22-9124-4CFC-9FEF-33DB241A1B75}" srcOrd="6" destOrd="0" presId="urn:microsoft.com/office/officeart/2005/8/layout/hProcess7"/>
    <dgm:cxn modelId="{67DDEDD3-E465-4B9F-AB92-F64767CF9766}" type="presParOf" srcId="{D0762C22-9124-4CFC-9FEF-33DB241A1B75}" destId="{C8DF72E1-70D1-4214-8DAD-40E18FF824F5}" srcOrd="0" destOrd="0" presId="urn:microsoft.com/office/officeart/2005/8/layout/hProcess7"/>
    <dgm:cxn modelId="{FE1088AD-9C5D-4664-9B28-17829BA7298E}" type="presParOf" srcId="{D0762C22-9124-4CFC-9FEF-33DB241A1B75}" destId="{BAC8B8B3-49A2-4BE7-B498-654C601FE809}" srcOrd="1" destOrd="0" presId="urn:microsoft.com/office/officeart/2005/8/layout/hProcess7"/>
    <dgm:cxn modelId="{A21675BC-8379-4CEE-9961-1C7BFD224F64}" type="presParOf" srcId="{D0762C22-9124-4CFC-9FEF-33DB241A1B75}" destId="{4A5065A5-7398-4E75-9460-0F7770025FB9}" srcOrd="2" destOrd="0" presId="urn:microsoft.com/office/officeart/2005/8/layout/hProcess7"/>
    <dgm:cxn modelId="{80CD6D17-5DB5-4D78-BD44-18FE6372800C}" type="presParOf" srcId="{4413368B-ACCA-469B-9D0E-1FEFC4075FB0}" destId="{2AE61FAA-6DD0-4F7B-8C42-F1DA0A887180}" srcOrd="7" destOrd="0" presId="urn:microsoft.com/office/officeart/2005/8/layout/hProcess7"/>
    <dgm:cxn modelId="{55032731-36AE-43F0-9C0F-D61393DA9CF5}" type="presParOf" srcId="{4413368B-ACCA-469B-9D0E-1FEFC4075FB0}" destId="{72B73D94-A19D-488F-A34B-978C721C47B4}" srcOrd="8" destOrd="0" presId="urn:microsoft.com/office/officeart/2005/8/layout/hProcess7"/>
    <dgm:cxn modelId="{11FF02A6-40B2-4A2C-876A-558C3FCD8856}" type="presParOf" srcId="{72B73D94-A19D-488F-A34B-978C721C47B4}" destId="{BBE81636-BCDD-48A0-B978-839FA7B950F8}" srcOrd="0" destOrd="0" presId="urn:microsoft.com/office/officeart/2005/8/layout/hProcess7"/>
    <dgm:cxn modelId="{54F38E11-7181-4791-B8D2-B707F6C8901D}" type="presParOf" srcId="{72B73D94-A19D-488F-A34B-978C721C47B4}" destId="{5002EEF7-AB5F-41AC-BBA4-49DC2C142864}" srcOrd="1" destOrd="0" presId="urn:microsoft.com/office/officeart/2005/8/layout/hProcess7"/>
    <dgm:cxn modelId="{8C16CA54-C26D-4042-835F-F4DD9AA213BB}"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3d1" qsCatId="3D" csTypeId="urn:microsoft.com/office/officeart/2005/8/colors/colorful1"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Logistic Regression</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pt>
    <dgm:pt modelId="{943BE74F-1EDA-4FD9-9D78-4015F7B7F494}" type="pres">
      <dgm:prSet presAssocID="{000E87EB-6BC1-4467-8911-3A6D4307DC52}" presName="noGeometry" presStyleCnt="0"/>
      <dgm:spPr/>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pt>
    <dgm:pt modelId="{80B7E9A7-6843-447F-8AA5-519F4C5B44D1}" type="pres">
      <dgm:prSet presAssocID="{D299AA71-1BEF-44A0-AF96-5BEF7421E37A}" presName="compNode" presStyleCnt="0"/>
      <dgm:spPr/>
    </dgm:pt>
    <dgm:pt modelId="{1DCB60A7-274A-480C-A23B-AC5D76C24606}" type="pres">
      <dgm:prSet presAssocID="{D299AA71-1BEF-44A0-AF96-5BEF7421E37A}" presName="noGeometry" presStyleCnt="0"/>
      <dgm:spPr/>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pt>
    <dgm:pt modelId="{3CFA8F38-D795-4145-8454-76B04FF505EF}" type="pres">
      <dgm:prSet presAssocID="{DAD13305-C33C-4D5D-8E70-FA8D16F7D6E7}" presName="compNode" presStyleCnt="0"/>
      <dgm:spPr/>
    </dgm:pt>
    <dgm:pt modelId="{7ED1D09B-3D6E-429F-B238-55746FCC46D5}" type="pres">
      <dgm:prSet presAssocID="{DAD13305-C33C-4D5D-8E70-FA8D16F7D6E7}" presName="noGeometry" presStyleCnt="0"/>
      <dgm:spPr/>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362BDEBC-B5FE-4F3A-993A-4856B29172C3}" srcId="{DAD13305-C33C-4D5D-8E70-FA8D16F7D6E7}" destId="{27E0F1EB-E191-4957-A96C-74E644B233D2}" srcOrd="0" destOrd="0" parTransId="{060AD8E2-FB38-4136-87CF-9997C41B9785}" sibTransId="{E9D2AB2E-23B4-4871-B87D-9DAF9AC1EBCD}"/>
    <dgm:cxn modelId="{6197A7CE-367B-4E60-AE38-2C1A0C287CAE}" type="presOf" srcId="{F6C3F25A-41C4-4A47-9E66-774E1516154B}" destId="{C7B07B6A-2913-4481-A94E-4F0876271F1C}" srcOrd="0" destOrd="1"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B7AF42C-D02F-468C-8259-9CAC7295960F}" type="presOf" srcId="{1D821791-7814-455A-9399-EDDBA6237C3A}" destId="{712DED06-2F47-4A50-B22C-7F91F1296605}" srcOrd="0"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F620DB35-B0F2-47D2-B395-7F1AB80C23E3}" type="presOf" srcId="{EECED6DC-7595-4B84-BF9E-4F3A80443BF1}" destId="{762703CE-4815-4B8A-B298-2820EF25E80C}" srcOrd="0" destOrd="1"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732D3501-A355-4810-88FA-925004F762BE}" srcId="{1D821791-7814-455A-9399-EDDBA6237C3A}" destId="{000E87EB-6BC1-4467-8911-3A6D4307DC52}" srcOrd="0" destOrd="0" parTransId="{3D21AF0B-E8B7-4657-B29B-FBDA3FC0E89D}" sibTransId="{B2C799AB-29BE-4ECA-B81A-3E5512C86A1C}"/>
    <dgm:cxn modelId="{EB0538B6-3D10-43C6-906C-83914CFD5BD0}" srcId="{D299AA71-1BEF-44A0-AF96-5BEF7421E37A}" destId="{5755E862-5F30-47F4-BE53-0D0D635BC754}" srcOrd="0" destOrd="0" parTransId="{87CB2BA6-54FD-4F34-89FD-1AD541CFAFC8}" sibTransId="{08E4A303-1A13-4BC8-9CEB-5DC28C3306FC}"/>
    <dgm:cxn modelId="{FA71FCB1-B573-4FB5-B3B6-57D3F32E4D1F}" srcId="{D299AA71-1BEF-44A0-AF96-5BEF7421E37A}" destId="{F6C3F25A-41C4-4A47-9E66-774E1516154B}" srcOrd="1" destOrd="0" parTransId="{43B2CA58-0A31-4CC4-A311-9DEE4460CA23}" sibTransId="{A1974F1B-6B2B-4DA2-A7C4-A54C625FE935}"/>
    <dgm:cxn modelId="{635620E7-9896-499B-901B-79342BB036E6}" srcId="{1D821791-7814-455A-9399-EDDBA6237C3A}" destId="{D299AA71-1BEF-44A0-AF96-5BEF7421E37A}" srcOrd="1" destOrd="0" parTransId="{7473B43F-9657-45AB-95F6-883C898FD0BD}" sibTransId="{34CE16CB-D278-4EDD-9B9E-8516387F3D42}"/>
    <dgm:cxn modelId="{C3D4BBCC-8D08-4B5F-84C2-4CE7664D711F}" srcId="{DAD13305-C33C-4D5D-8E70-FA8D16F7D6E7}" destId="{EECED6DC-7595-4B84-BF9E-4F3A80443BF1}" srcOrd="1" destOrd="0" parTransId="{D9A4142C-920B-4638-BD88-2B5B989E713A}" sibTransId="{B5DB54B2-2209-4C5C-8EC9-188180D016F7}"/>
    <dgm:cxn modelId="{CA3902FC-7CC5-4AEE-B3C3-AA06AC8EBD00}" type="presOf" srcId="{5755E862-5F30-47F4-BE53-0D0D635BC754}" destId="{661E9B89-062D-4CF5-BDE6-95F3A25DA3F7}" srcOrd="1" destOrd="0"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FB2F7463-3294-4EE1-9311-73BCBB21ED0A}" type="presOf" srcId="{5755E862-5F30-47F4-BE53-0D0D635BC754}" destId="{C7B07B6A-2913-4481-A94E-4F0876271F1C}" srcOrd="0" destOrd="0" presId="urn:microsoft.com/office/officeart/2005/8/layout/hProcess6"/>
    <dgm:cxn modelId="{FA0CA7A2-FAB4-4C7D-A76B-1C39674AAF9A}" type="presOf" srcId="{4D8913DF-90C6-421D-BEAA-AE7CC581B4C5}" destId="{49908BEB-6F47-45A2-8B4B-490BBC29E29A}" srcOrd="1"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EB4FC363-D95D-4D05-BF9A-8EDD91F98E01}" type="presOf" srcId="{52206868-3460-4CAE-B5C9-26C67358723C}" destId="{CF065CDD-DFD7-4D33-9DBE-0AD4241E5EB9}" srcOrd="0" destOrd="0"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CA049A63-684E-4D92-BF5C-DFDDC4D5F6CA}" type="presOf" srcId="{4D8913DF-90C6-421D-BEAA-AE7CC581B4C5}" destId="{CF065CDD-DFD7-4D33-9DBE-0AD4241E5EB9}" srcOrd="0" destOrd="1" presId="urn:microsoft.com/office/officeart/2005/8/layout/hProcess6"/>
    <dgm:cxn modelId="{ED1AFEC0-0858-44B2-91D2-88C6166BA726}" type="presOf" srcId="{52206868-3460-4CAE-B5C9-26C67358723C}" destId="{49908BEB-6F47-45A2-8B4B-490BBC29E29A}" srcOrd="1" destOrd="0"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Knowledge or methods that enable the performance of previously undoable tasks or reduces the units of input per output need to  perform tasks.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smtClean="0"/>
            <a:t>Published peer-reviewed academic journal articles</a:t>
          </a:r>
          <a:endParaRPr lang="en-US" sz="1800" dirty="0"/>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smtClean="0"/>
            <a:t>Allowed U.S. patents</a:t>
          </a:r>
          <a:endParaRPr lang="en-US" sz="1800" dirty="0"/>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smtClean="0"/>
            <a:t>Disallowed U.S. patent applications</a:t>
          </a:r>
          <a:endParaRPr lang="en-US" sz="1800" dirty="0"/>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When a non-private sector actor that controls a technology  makes it available for private sector actors to use the technology.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License agreements</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smtClean="0"/>
            <a:t>Published peer-reviewed journal articles not associated with an allowed U.S. patent or active patent application</a:t>
          </a:r>
          <a:endParaRPr lang="en-US" dirty="0"/>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state of progress of an R&amp;D project as described by a modified technology readiness level (TRL) scale.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abstracts</a:t>
          </a:r>
        </a:p>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smtClean="0"/>
            <a:t>A metropolitan statistical area with an total absolute population of 1 million people and total normalized population of at least 110 people per square mile</a:t>
          </a:r>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2017 estimates from the U.S. Census Bureau</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smtClean="0"/>
            <a:t>OMB definitions</a:t>
          </a:r>
          <a:endParaRPr lang="en-US"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Spatial Distance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distance from the institution that received the federal funding award for the R&amp;D project to the centroid of the nearest metropolitan statistical area.</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Category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predominant context of likely intended applications for any technologies derived from the federally-funded R&amp;D project.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smtClean="0"/>
            <a:t>R&amp;D project abstracts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smtClean="0"/>
            <a:t>U.S. patents</a:t>
          </a:r>
        </a:p>
        <a:p>
          <a:r>
            <a:rPr lang="en-US" sz="1800" dirty="0" smtClean="0"/>
            <a:t>Disallowed U.S. patent applications</a:t>
          </a:r>
        </a:p>
        <a:p>
          <a:r>
            <a:rPr lang="en-US" sz="1800" dirty="0" smtClean="0"/>
            <a:t>Published peer-reviewed journal articles</a:t>
          </a:r>
          <a:endParaRPr lang="en-US" sz="1800" dirty="0"/>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Embodiment</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tangible forms that capture the details of the technology and enable its use.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smtClean="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smtClean="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Institution Size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total amount of R&amp;D expenditures in calendar year 2010 for the institution listed as the primary award recipient.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smtClean="0"/>
            <a:t>NSF rankings by total R&amp;D expenditures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a:t>
          </a:r>
          <a:endParaRPr lang="en-US" sz="3600" kern="1200" dirty="0"/>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Patent rights to an invention</a:t>
          </a:r>
          <a:endParaRPr lang="en-US" sz="1800" kern="1200" dirty="0"/>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Gianiodis</a:t>
          </a:r>
          <a:r>
            <a:rPr lang="en-US" sz="1400" kern="1200" dirty="0" smtClean="0"/>
            <a:t> &amp; Phan (2019)</a:t>
          </a:r>
          <a:endParaRPr lang="en-US" sz="1400" kern="1200" dirty="0"/>
        </a:p>
        <a:p>
          <a:pPr lvl="0" algn="l" defTabSz="800100">
            <a:lnSpc>
              <a:spcPct val="90000"/>
            </a:lnSpc>
            <a:spcBef>
              <a:spcPct val="0"/>
            </a:spcBef>
            <a:spcAft>
              <a:spcPct val="35000"/>
            </a:spcAft>
          </a:pPr>
          <a:r>
            <a:rPr lang="en-US" sz="1800" kern="1200" dirty="0" smtClean="0"/>
            <a:t>Academic knowledge</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Not all technology is patentable.</a:t>
          </a:r>
        </a:p>
        <a:p>
          <a:pPr lvl="0" algn="l" defTabSz="800100">
            <a:lnSpc>
              <a:spcPct val="90000"/>
            </a:lnSpc>
            <a:spcBef>
              <a:spcPct val="0"/>
            </a:spcBef>
            <a:spcAft>
              <a:spcPct val="35000"/>
            </a:spcAft>
          </a:pPr>
          <a:r>
            <a:rPr lang="en-US" sz="1800" kern="1200" dirty="0" smtClean="0"/>
            <a:t>Not all technology is produced by academia.</a:t>
          </a:r>
        </a:p>
        <a:p>
          <a:pPr lvl="0" algn="l" defTabSz="800100">
            <a:lnSpc>
              <a:spcPct val="90000"/>
            </a:lnSpc>
            <a:spcBef>
              <a:spcPct val="0"/>
            </a:spcBef>
            <a:spcAft>
              <a:spcPct val="35000"/>
            </a:spcAft>
          </a:pPr>
          <a:r>
            <a:rPr lang="en-US" sz="1800" kern="1200" dirty="0" smtClean="0"/>
            <a:t>Academic knowledge and technology are not synonymous.</a:t>
          </a:r>
          <a:endParaRPr lang="en-US" sz="1800" kern="1200" dirty="0"/>
        </a:p>
      </dsp:txBody>
      <dsp:txXfrm>
        <a:off x="6625649" y="0"/>
        <a:ext cx="2174274" cy="216772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0958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566752" y="567431"/>
        <a:ext cx="1718560" cy="583697"/>
      </dsp:txXfrm>
    </dsp:sp>
    <dsp:sp modelId="{0F07502A-98A4-4880-9779-27EA2BEB6F02}">
      <dsp:nvSpPr>
        <dsp:cNvPr id="0" name=""/>
        <dsp:cNvSpPr/>
      </dsp:nvSpPr>
      <dsp:spPr>
        <a:xfrm>
          <a:off x="584376" y="0"/>
          <a:ext cx="2174274" cy="20958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2095805"/>
      </dsp:txXfrm>
    </dsp:sp>
    <dsp:sp modelId="{CB5EA34A-627A-4C1F-96E3-4088D2A98FDD}">
      <dsp:nvSpPr>
        <dsp:cNvPr id="0" name=""/>
        <dsp:cNvSpPr/>
      </dsp:nvSpPr>
      <dsp:spPr>
        <a:xfrm>
          <a:off x="3021315" y="0"/>
          <a:ext cx="2918489" cy="20958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453884" y="567431"/>
        <a:ext cx="1718560" cy="583697"/>
      </dsp:txXfrm>
    </dsp:sp>
    <dsp:sp modelId="{45668240-D897-4FC1-8421-6DD785B65040}">
      <dsp:nvSpPr>
        <dsp:cNvPr id="0" name=""/>
        <dsp:cNvSpPr/>
      </dsp:nvSpPr>
      <dsp:spPr>
        <a:xfrm rot="5400000">
          <a:off x="2881833" y="1578642"/>
          <a:ext cx="30814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0958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Licensing, new venture formation, research collaborations, faculty consulting</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a:p>
          <a:pPr marL="114300" lvl="1" indent="-114300" algn="l" defTabSz="622300">
            <a:lnSpc>
              <a:spcPct val="90000"/>
            </a:lnSpc>
            <a:spcBef>
              <a:spcPct val="0"/>
            </a:spcBef>
            <a:spcAft>
              <a:spcPct val="15000"/>
            </a:spcAft>
            <a:buChar char="••"/>
          </a:pPr>
          <a:r>
            <a:rPr lang="en-US" sz="1400" kern="1200" dirty="0" smtClean="0"/>
            <a:t>Hallam, Wurth &amp; Mancha (2014)</a:t>
          </a:r>
          <a:endParaRPr lang="en-US" sz="1400" kern="1200" dirty="0"/>
        </a:p>
      </dsp:txBody>
      <dsp:txXfrm>
        <a:off x="3605013" y="0"/>
        <a:ext cx="2174274" cy="2095805"/>
      </dsp:txXfrm>
    </dsp:sp>
    <dsp:sp modelId="{BBE81636-BCDD-48A0-B978-839FA7B950F8}">
      <dsp:nvSpPr>
        <dsp:cNvPr id="0" name=""/>
        <dsp:cNvSpPr/>
      </dsp:nvSpPr>
      <dsp:spPr>
        <a:xfrm>
          <a:off x="6041952" y="0"/>
          <a:ext cx="2918489" cy="20958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474520" y="567431"/>
        <a:ext cx="1718560" cy="583697"/>
      </dsp:txXfrm>
    </dsp:sp>
    <dsp:sp modelId="{BAC8B8B3-49A2-4BE7-B498-654C601FE809}">
      <dsp:nvSpPr>
        <dsp:cNvPr id="0" name=""/>
        <dsp:cNvSpPr/>
      </dsp:nvSpPr>
      <dsp:spPr>
        <a:xfrm rot="5400000">
          <a:off x="5902470" y="1578642"/>
          <a:ext cx="30814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0958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Conflates the concept of technology transfer with the mechanisms for achieving it</a:t>
          </a:r>
          <a:endParaRPr lang="en-US" sz="1800" kern="1200" dirty="0"/>
        </a:p>
      </dsp:txBody>
      <dsp:txXfrm>
        <a:off x="6625649" y="0"/>
        <a:ext cx="2174274" cy="209580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effects of the Bayh-Dole Act of 1980</a:t>
          </a:r>
        </a:p>
        <a:p>
          <a:pPr marL="114300" lvl="1" indent="-114300" algn="l" defTabSz="622300">
            <a:lnSpc>
              <a:spcPct val="90000"/>
            </a:lnSpc>
            <a:spcBef>
              <a:spcPct val="0"/>
            </a:spcBef>
            <a:spcAft>
              <a:spcPct val="15000"/>
            </a:spcAft>
            <a:buChar char="••"/>
          </a:pPr>
          <a:r>
            <a:rPr lang="en-US" sz="1400" kern="1200" dirty="0" smtClean="0"/>
            <a:t>Dai, Popp &amp; </a:t>
          </a:r>
          <a:r>
            <a:rPr lang="en-US" sz="1400" kern="1200" dirty="0" err="1" smtClean="0"/>
            <a:t>Bretschneider</a:t>
          </a:r>
          <a:r>
            <a:rPr lang="en-US" sz="1400" kern="1200" dirty="0" smtClean="0"/>
            <a:t> (2005)</a:t>
          </a:r>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Most studies focus on technology transfer process.</a:t>
          </a:r>
          <a:endParaRPr lang="en-US" sz="1800" kern="1200" dirty="0"/>
        </a:p>
        <a:p>
          <a:pPr lvl="0" algn="l" defTabSz="800100">
            <a:lnSpc>
              <a:spcPct val="90000"/>
            </a:lnSpc>
            <a:spcBef>
              <a:spcPct val="0"/>
            </a:spcBef>
            <a:spcAft>
              <a:spcPct val="35000"/>
            </a:spcAft>
          </a:pPr>
          <a:r>
            <a:rPr lang="en-US" sz="1800" kern="1200" dirty="0" smtClean="0"/>
            <a:t>Few studies on policy.</a:t>
          </a:r>
        </a:p>
        <a:p>
          <a:pPr lvl="0" algn="l" defTabSz="800100">
            <a:lnSpc>
              <a:spcPct val="90000"/>
            </a:lnSpc>
            <a:spcBef>
              <a:spcPct val="0"/>
            </a:spcBef>
            <a:spcAft>
              <a:spcPct val="35000"/>
            </a:spcAft>
          </a:pPr>
          <a:r>
            <a:rPr lang="en-US" sz="1800" kern="1200" dirty="0" smtClean="0"/>
            <a:t>Many limited to the Bayh-Dole Act of 1980.</a:t>
          </a:r>
        </a:p>
      </dsp:txBody>
      <dsp:txXfrm>
        <a:off x="6625649" y="0"/>
        <a:ext cx="2174274" cy="19177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7432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832184" y="832863"/>
        <a:ext cx="2249424" cy="583697"/>
      </dsp:txXfrm>
    </dsp:sp>
    <dsp:sp modelId="{0F07502A-98A4-4880-9779-27EA2BEB6F02}">
      <dsp:nvSpPr>
        <dsp:cNvPr id="0" name=""/>
        <dsp:cNvSpPr/>
      </dsp:nvSpPr>
      <dsp:spPr>
        <a:xfrm>
          <a:off x="584376" y="0"/>
          <a:ext cx="2174274" cy="27432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0"/>
        <a:ext cx="2174274" cy="2743200"/>
      </dsp:txXfrm>
    </dsp:sp>
    <dsp:sp modelId="{CB5EA34A-627A-4C1F-96E3-4088D2A98FDD}">
      <dsp:nvSpPr>
        <dsp:cNvPr id="0" name=""/>
        <dsp:cNvSpPr/>
      </dsp:nvSpPr>
      <dsp:spPr>
        <a:xfrm>
          <a:off x="3021315" y="0"/>
          <a:ext cx="2918489" cy="27432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188452" y="832863"/>
        <a:ext cx="2249424" cy="583697"/>
      </dsp:txXfrm>
    </dsp:sp>
    <dsp:sp modelId="{45668240-D897-4FC1-8421-6DD785B65040}">
      <dsp:nvSpPr>
        <dsp:cNvPr id="0" name=""/>
        <dsp:cNvSpPr/>
      </dsp:nvSpPr>
      <dsp:spPr>
        <a:xfrm rot="5400000">
          <a:off x="2834413" y="2131875"/>
          <a:ext cx="40298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7432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Executed patent license, established new business entity, executed sponsored research agreement</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smtClean="0"/>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Gioniodis</a:t>
          </a:r>
          <a:r>
            <a:rPr lang="en-US" sz="1400" kern="1200" dirty="0" smtClean="0"/>
            <a:t> &amp; Phan (2009)</a:t>
          </a:r>
          <a:endParaRPr lang="en-US" sz="1400" kern="1200" dirty="0" smtClean="0"/>
        </a:p>
        <a:p>
          <a:pPr marL="114300" lvl="1" indent="-114300" algn="l" defTabSz="622300">
            <a:lnSpc>
              <a:spcPct val="90000"/>
            </a:lnSpc>
            <a:spcBef>
              <a:spcPct val="0"/>
            </a:spcBef>
            <a:spcAft>
              <a:spcPct val="15000"/>
            </a:spcAft>
            <a:buChar char="••"/>
          </a:pPr>
          <a:r>
            <a:rPr lang="en-US" sz="1400" kern="1200" dirty="0" smtClean="0"/>
            <a:t>Hallam, Wurth &amp; Mancha (2014)</a:t>
          </a:r>
          <a:endParaRPr lang="en-US" sz="1400" kern="1200" dirty="0" smtClean="0"/>
        </a:p>
      </dsp:txBody>
      <dsp:txXfrm>
        <a:off x="3605013" y="0"/>
        <a:ext cx="2174274" cy="2743200"/>
      </dsp:txXfrm>
    </dsp:sp>
    <dsp:sp modelId="{BBE81636-BCDD-48A0-B978-839FA7B950F8}">
      <dsp:nvSpPr>
        <dsp:cNvPr id="0" name=""/>
        <dsp:cNvSpPr/>
      </dsp:nvSpPr>
      <dsp:spPr>
        <a:xfrm>
          <a:off x="6041952" y="0"/>
          <a:ext cx="2918489" cy="27432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209089" y="832863"/>
        <a:ext cx="2249424" cy="583697"/>
      </dsp:txXfrm>
    </dsp:sp>
    <dsp:sp modelId="{BAC8B8B3-49A2-4BE7-B498-654C601FE809}">
      <dsp:nvSpPr>
        <dsp:cNvPr id="0" name=""/>
        <dsp:cNvSpPr/>
      </dsp:nvSpPr>
      <dsp:spPr>
        <a:xfrm rot="5400000">
          <a:off x="5855050" y="2131875"/>
          <a:ext cx="40298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7432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patent license is often a requirement for forming a university spinout company.</a:t>
          </a:r>
          <a:endParaRPr lang="en-US" sz="1800" kern="1200" dirty="0"/>
        </a:p>
        <a:p>
          <a:pPr lvl="0" algn="l" defTabSz="800100">
            <a:lnSpc>
              <a:spcPct val="90000"/>
            </a:lnSpc>
            <a:spcBef>
              <a:spcPct val="0"/>
            </a:spcBef>
            <a:spcAft>
              <a:spcPct val="35000"/>
            </a:spcAft>
          </a:pPr>
          <a:r>
            <a:rPr lang="en-US" sz="1800" kern="1200" dirty="0" smtClean="0"/>
            <a:t>Sponsored research may not be related to technology previously developed at the university.</a:t>
          </a:r>
          <a:endParaRPr lang="en-US" sz="1800" kern="1200" dirty="0"/>
        </a:p>
      </dsp:txBody>
      <dsp:txXfrm>
        <a:off x="6625649" y="0"/>
        <a:ext cx="2174274" cy="27432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Gioniodis</a:t>
          </a:r>
          <a:r>
            <a:rPr lang="en-US" sz="1400" kern="1200" dirty="0" smtClean="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Studies have mostly focused on factors exogenous to the research and development process.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Level of regional venture capital, level of regional R&amp;D expenditures</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Few studies that consider development stage.</a:t>
          </a:r>
        </a:p>
        <a:p>
          <a:pPr lvl="0" algn="l" defTabSz="800100">
            <a:lnSpc>
              <a:spcPct val="90000"/>
            </a:lnSpc>
            <a:spcBef>
              <a:spcPct val="0"/>
            </a:spcBef>
            <a:spcAft>
              <a:spcPct val="35000"/>
            </a:spcAft>
          </a:pPr>
          <a:r>
            <a:rPr lang="en-US" sz="1800" kern="1200" dirty="0" smtClean="0"/>
            <a:t>Studies have focused on the association between cities and innovation.</a:t>
          </a:r>
          <a:endParaRPr lang="en-US" sz="1800" kern="1200" dirty="0"/>
        </a:p>
      </dsp:txBody>
      <dsp:txXfrm>
        <a:off x="6625649" y="0"/>
        <a:ext cx="2174274" cy="19177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Logistic Regression</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Knowledge or methods that enable the performance of previously undoable tasks or reduces the units of input per output need to  perform tasks.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Published peer-reviewed academic journal articles</a:t>
          </a:r>
          <a:endParaRPr lang="en-US" sz="1800" kern="1200" dirty="0"/>
        </a:p>
        <a:p>
          <a:pPr lvl="0" algn="l" defTabSz="800100">
            <a:lnSpc>
              <a:spcPct val="90000"/>
            </a:lnSpc>
            <a:spcBef>
              <a:spcPct val="0"/>
            </a:spcBef>
            <a:spcAft>
              <a:spcPct val="35000"/>
            </a:spcAft>
          </a:pPr>
          <a:r>
            <a:rPr lang="en-US" sz="1800" kern="1200" dirty="0" smtClean="0"/>
            <a:t>Allowed U.S. patents</a:t>
          </a:r>
          <a:endParaRPr lang="en-US" sz="1800" kern="1200" dirty="0"/>
        </a:p>
        <a:p>
          <a:pPr lvl="0" algn="l" defTabSz="800100">
            <a:lnSpc>
              <a:spcPct val="90000"/>
            </a:lnSpc>
            <a:spcBef>
              <a:spcPct val="0"/>
            </a:spcBef>
            <a:spcAft>
              <a:spcPct val="35000"/>
            </a:spcAft>
          </a:pPr>
          <a:r>
            <a:rPr lang="en-US" sz="1800" kern="1200" dirty="0" smtClean="0"/>
            <a:t>Disallowed U.S. patent applications</a:t>
          </a:r>
          <a:endParaRPr lang="en-US" sz="18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When a non-private sector actor that controls a technology  makes it available for private sector actors to use the technology.</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License agreements</a:t>
          </a:r>
          <a:endParaRPr lang="en-US" sz="1800" kern="1200" dirty="0"/>
        </a:p>
        <a:p>
          <a:pPr lvl="0" algn="l" defTabSz="800100">
            <a:lnSpc>
              <a:spcPct val="90000"/>
            </a:lnSpc>
            <a:spcBef>
              <a:spcPct val="0"/>
            </a:spcBef>
            <a:spcAft>
              <a:spcPct val="35000"/>
            </a:spcAft>
          </a:pPr>
          <a:r>
            <a:rPr lang="en-US" sz="1800" kern="1200" dirty="0" smtClean="0"/>
            <a:t>Published peer-reviewed journal articles not associated with an allowed U.S. patent or active patent application</a:t>
          </a:r>
          <a:endParaRPr lang="en-US" sz="18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state of progress of an R&amp;D project as described by a modified technology readiness level (TRL) scale.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p>
        <a:p>
          <a:pPr lvl="0" algn="l" defTabSz="800100">
            <a:lnSpc>
              <a:spcPct val="90000"/>
            </a:lnSpc>
            <a:spcBef>
              <a:spcPct val="0"/>
            </a:spcBef>
            <a:spcAft>
              <a:spcPct val="35000"/>
            </a:spcAft>
          </a:pPr>
          <a:r>
            <a:rPr lang="en-US" sz="1800" kern="1200" dirty="0" smtClean="0"/>
            <a:t>R&amp;D project reports</a:t>
          </a:r>
          <a:endParaRPr lang="en-US" sz="18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metropolitan statistical area with an total absolute population of 1 million people and total normalized population of at least 110 people per square mile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OMB definitions</a:t>
          </a:r>
          <a:endParaRPr lang="en-US" sz="1800" kern="1200" dirty="0"/>
        </a:p>
        <a:p>
          <a:pPr lvl="0" algn="l" defTabSz="800100">
            <a:lnSpc>
              <a:spcPct val="90000"/>
            </a:lnSpc>
            <a:spcBef>
              <a:spcPct val="0"/>
            </a:spcBef>
            <a:spcAft>
              <a:spcPct val="35000"/>
            </a:spcAft>
          </a:pPr>
          <a:r>
            <a:rPr lang="en-US" sz="1800" kern="1200" dirty="0" smtClean="0"/>
            <a:t>2017 estimates from the U.S. Census Bureau</a:t>
          </a:r>
          <a:endParaRPr lang="en-US" sz="1800" kern="1200" dirty="0"/>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Spatial Distance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distance from the institution that received the federal funding award for the R&amp;D project to the centroid of the nearest metropolitan statistical area.</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Location coordinates in longitude and latitude</a:t>
          </a:r>
        </a:p>
        <a:p>
          <a:pPr lvl="0" algn="l" defTabSz="800100">
            <a:lnSpc>
              <a:spcPct val="90000"/>
            </a:lnSpc>
            <a:spcBef>
              <a:spcPct val="0"/>
            </a:spcBef>
            <a:spcAft>
              <a:spcPct val="35000"/>
            </a:spcAft>
          </a:pPr>
          <a:r>
            <a:rPr lang="en-US" sz="1800" kern="1200" dirty="0" smtClean="0"/>
            <a:t>Absolute distance measured in miles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Category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predominant context of likely intended applications for any technologies derived from the federally-funded R&amp;D project.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endParaRPr lang="en-US" sz="1800" kern="1200" dirty="0"/>
        </a:p>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U.S. patents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Published peer-reviewed journal articles</a:t>
          </a:r>
          <a:endParaRPr lang="en-US" sz="1800" kern="1200" dirty="0"/>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Embodiment</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tangible forms that capture the details of the technology and enable its use.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p>
        <a:p>
          <a:pPr lvl="0" algn="l" defTabSz="800100">
            <a:lnSpc>
              <a:spcPct val="90000"/>
            </a:lnSpc>
            <a:spcBef>
              <a:spcPct val="0"/>
            </a:spcBef>
            <a:spcAft>
              <a:spcPct val="35000"/>
            </a:spcAft>
          </a:pPr>
          <a:r>
            <a:rPr lang="en-US" sz="1800" kern="1200" dirty="0" smtClean="0"/>
            <a:t>Published peer-reviewed journal articles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Allowed U.S. patents</a:t>
          </a:r>
        </a:p>
      </dsp:txBody>
      <dsp:txXfrm>
        <a:off x="6625649" y="0"/>
        <a:ext cx="2174274" cy="22588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Institution Size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total amount of R&amp;D expenditures in calendar year 2010 for the institution listed as the primary award recipient.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NSF rankings by total R&amp;D expenditures</a:t>
          </a:r>
          <a:endParaRPr lang="en-US" sz="18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4.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04/15/2019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04/15/2019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9</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Sample</a:t>
            </a:r>
            <a:r>
              <a:rPr lang="en-US" baseline="0" dirty="0" smtClean="0"/>
              <a:t> frame is NSF research funding awards by the Civil, Mechanical and Manufacturing Innovation (CMMI) division from January 1, 2010 through December 31, 2010.  Source of </a:t>
            </a:r>
            <a:r>
              <a:rPr lang="en-US" baseline="0" smtClean="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25</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a:t>
            </a:r>
            <a:r>
              <a:rPr lang="en-US" baseline="0" dirty="0" smtClean="0"/>
              <a:t> p</a:t>
            </a:r>
            <a:r>
              <a:rPr lang="en-US" dirty="0" smtClean="0"/>
              <a:t>roject</a:t>
            </a:r>
            <a:r>
              <a:rPr lang="en-US" baseline="0" dirty="0" smtClean="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26</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a:t>
            </a:r>
            <a:r>
              <a:rPr lang="en-US" dirty="0" smtClean="0"/>
              <a:t>nnouncements of license agreements.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allowed patents without license agreements.</a:t>
            </a:r>
          </a:p>
          <a:p>
            <a:r>
              <a:rPr lang="en-US" baseline="0" dirty="0" smtClean="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published peer-review</a:t>
            </a:r>
            <a:r>
              <a:rPr lang="en-US" baseline="0" dirty="0" smtClean="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a:t>
            </a:r>
            <a:r>
              <a:rPr lang="en-US" baseline="0" dirty="0" smtClean="0"/>
              <a:t>technology transfer public policy </a:t>
            </a:r>
            <a:r>
              <a:rPr lang="en-US" dirty="0" smtClean="0"/>
              <a:t>documentation</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technology transfer public</a:t>
            </a:r>
            <a:r>
              <a:rPr lang="en-US" baseline="0" dirty="0" smtClean="0"/>
              <a:t> policy </a:t>
            </a:r>
            <a:r>
              <a:rPr lang="en-US" dirty="0" smtClean="0"/>
              <a:t>documentation </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0769529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04/15/2019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04/15/2019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04/15/2019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04/15/2019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16.xml"/><Relationship Id="rId3" Type="http://schemas.openxmlformats.org/officeDocument/2006/relationships/diagramLayout" Target="../diagrams/layout15.xml"/><Relationship Id="rId7" Type="http://schemas.openxmlformats.org/officeDocument/2006/relationships/diagramData" Target="../diagrams/data16.xml"/><Relationship Id="rId2" Type="http://schemas.openxmlformats.org/officeDocument/2006/relationships/diagramData" Target="../diagrams/data15.xml"/><Relationship Id="rId1" Type="http://schemas.openxmlformats.org/officeDocument/2006/relationships/slideLayout" Target="../slideLayouts/slideLayout7.xml"/><Relationship Id="rId6" Type="http://schemas.microsoft.com/office/2007/relationships/diagramDrawing" Target="../diagrams/drawing15.xml"/><Relationship Id="rId11" Type="http://schemas.microsoft.com/office/2007/relationships/diagramDrawing" Target="../diagrams/drawing16.xml"/><Relationship Id="rId5" Type="http://schemas.openxmlformats.org/officeDocument/2006/relationships/diagramColors" Target="../diagrams/colors15.xml"/><Relationship Id="rId10" Type="http://schemas.openxmlformats.org/officeDocument/2006/relationships/diagramColors" Target="../diagrams/colors16.xml"/><Relationship Id="rId4" Type="http://schemas.openxmlformats.org/officeDocument/2006/relationships/diagramQuickStyle" Target="../diagrams/quickStyle15.xml"/><Relationship Id="rId9" Type="http://schemas.openxmlformats.org/officeDocument/2006/relationships/diagramQuickStyle" Target="../diagrams/quickStyl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14.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383"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845127"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5759531" y="724991"/>
            <a:ext cx="2926080" cy="1935081"/>
          </a:xfrm>
          <a:prstGeom prst="wedgeRoundRectCallout">
            <a:avLst>
              <a:gd name="adj1" fmla="val -79776"/>
              <a:gd name="adj2" fmla="val 827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Technological progress has accounted for 80 percent of the long-term rise in U.S. </a:t>
            </a:r>
            <a:r>
              <a:rPr lang="en-US" i="1" dirty="0" smtClean="0"/>
              <a:t>per capita </a:t>
            </a:r>
            <a:r>
              <a:rPr lang="en-US" dirty="0" smtClean="0"/>
              <a:t>incomes.</a:t>
            </a:r>
            <a:endParaRPr lang="en-US" dirty="0"/>
          </a:p>
        </p:txBody>
      </p:sp>
      <p:sp>
        <p:nvSpPr>
          <p:cNvPr id="16" name="TextBox 15"/>
          <p:cNvSpPr txBox="1"/>
          <p:nvPr/>
        </p:nvSpPr>
        <p:spPr>
          <a:xfrm>
            <a:off x="5759531" y="5219099"/>
            <a:ext cx="3230088" cy="338554"/>
          </a:xfrm>
          <a:prstGeom prst="rect">
            <a:avLst/>
          </a:prstGeom>
          <a:noFill/>
        </p:spPr>
        <p:txBody>
          <a:bodyPr wrap="square" rtlCol="0">
            <a:spAutoFit/>
          </a:bodyPr>
          <a:lstStyle/>
          <a:p>
            <a:r>
              <a:rPr lang="en-US" sz="1600" dirty="0" smtClean="0"/>
              <a:t>Source: “Economic growth”, 2019</a:t>
            </a:r>
            <a:endParaRPr lang="en-US" sz="1600" dirty="0"/>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675062526"/>
              </p:ext>
            </p:extLst>
          </p:nvPr>
        </p:nvGraphicFramePr>
        <p:xfrm>
          <a:off x="92014" y="816874"/>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2259969423"/>
              </p:ext>
            </p:extLst>
          </p:nvPr>
        </p:nvGraphicFramePr>
        <p:xfrm>
          <a:off x="91440" y="3295489"/>
          <a:ext cx="8961120" cy="209580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350558598"/>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39413741"/>
              </p:ext>
            </p:extLst>
          </p:nvPr>
        </p:nvGraphicFramePr>
        <p:xfrm>
          <a:off x="91440" y="2845613"/>
          <a:ext cx="8961120" cy="27432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62863805"/>
              </p:ext>
            </p:extLst>
          </p:nvPr>
        </p:nvGraphicFramePr>
        <p:xfrm>
          <a:off x="91440" y="791204"/>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868493118"/>
              </p:ext>
            </p:extLst>
          </p:nvPr>
        </p:nvGraphicFramePr>
        <p:xfrm>
          <a:off x="91440" y="3661240"/>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849447105"/>
              </p:ext>
            </p:extLst>
          </p:nvPr>
        </p:nvGraphicFramePr>
        <p:xfrm>
          <a:off x="228600" y="569880"/>
          <a:ext cx="7359732" cy="50266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in technology transfer outcomes?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2843133582"/>
              </p:ext>
            </p:extLst>
          </p:nvPr>
        </p:nvGraphicFramePr>
        <p:xfrm>
          <a:off x="274320" y="691114"/>
          <a:ext cx="8595360" cy="4165894"/>
        </p:xfrm>
        <a:graphic>
          <a:graphicData uri="http://schemas.openxmlformats.org/drawingml/2006/table">
            <a:tbl>
              <a:tblPr firstRow="1" firstCol="1" bandRow="1"/>
              <a:tblGrid>
                <a:gridCol w="497576"/>
                <a:gridCol w="8097784"/>
              </a:tblGrid>
              <a:tr h="1600824">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Technologies derived from federally-funded R&amp;D projects that progress further along the development process </a:t>
                      </a:r>
                      <a:r>
                        <a:rPr lang="en-US" sz="1800" dirty="0" smtClean="0">
                          <a:solidFill>
                            <a:srgbClr val="000000"/>
                          </a:solidFill>
                          <a:effectLst/>
                          <a:latin typeface="+mn-lt"/>
                          <a:ea typeface="Calibri"/>
                          <a:cs typeface="Times New Roman"/>
                        </a:rPr>
                        <a:t>have a higher probability of</a:t>
                      </a:r>
                      <a:r>
                        <a:rPr lang="en-US" sz="1800" baseline="0" dirty="0" smtClean="0">
                          <a:solidFill>
                            <a:srgbClr val="000000"/>
                          </a:solidFill>
                          <a:effectLst/>
                          <a:latin typeface="+mn-lt"/>
                          <a:ea typeface="Calibri"/>
                          <a:cs typeface="Times New Roman"/>
                        </a:rPr>
                        <a:t> being </a:t>
                      </a:r>
                      <a:r>
                        <a:rPr lang="en-US" sz="1800" dirty="0" smtClean="0">
                          <a:solidFill>
                            <a:srgbClr val="000000"/>
                          </a:solidFill>
                          <a:effectLst/>
                          <a:latin typeface="+mn-lt"/>
                          <a:ea typeface="Calibri"/>
                          <a:cs typeface="Times New Roman"/>
                        </a:rPr>
                        <a:t>transferred </a:t>
                      </a:r>
                      <a:r>
                        <a:rPr lang="en-US" sz="1800" dirty="0">
                          <a:solidFill>
                            <a:srgbClr val="000000"/>
                          </a:solidFill>
                          <a:effectLst/>
                          <a:latin typeface="+mn-lt"/>
                          <a:ea typeface="Calibri"/>
                          <a:cs typeface="Times New Roman"/>
                        </a:rPr>
                        <a:t>to the private sector </a:t>
                      </a:r>
                      <a:r>
                        <a:rPr lang="en-US" sz="1800" dirty="0" smtClean="0">
                          <a:solidFill>
                            <a:srgbClr val="000000"/>
                          </a:solidFill>
                          <a:effectLst/>
                          <a:latin typeface="+mn-lt"/>
                          <a:ea typeface="Calibri"/>
                          <a:cs typeface="Times New Roman"/>
                        </a:rPr>
                        <a:t>than </a:t>
                      </a:r>
                      <a:r>
                        <a:rPr lang="en-US" sz="1800" dirty="0">
                          <a:solidFill>
                            <a:srgbClr val="000000"/>
                          </a:solidFill>
                          <a:effectLst/>
                          <a:latin typeface="+mn-lt"/>
                          <a:ea typeface="Calibri"/>
                          <a:cs typeface="Times New Roman"/>
                        </a:rPr>
                        <a:t>technologies derived from federally-funded R&amp;D projects that don’t progress very far in the development process</a:t>
                      </a:r>
                      <a:r>
                        <a:rPr lang="en-US" sz="1800" dirty="0" smtClean="0">
                          <a:solidFill>
                            <a:srgbClr val="000000"/>
                          </a:solidFill>
                          <a:effectLst/>
                          <a:latin typeface="+mn-lt"/>
                          <a:ea typeface="Calibri"/>
                          <a:cs typeface="Times New Roman"/>
                        </a:rPr>
                        <a:t>.</a:t>
                      </a: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There is an association</a:t>
                      </a:r>
                      <a:r>
                        <a:rPr lang="en-US" sz="1800" baseline="0" dirty="0" smtClean="0">
                          <a:solidFill>
                            <a:srgbClr val="000000"/>
                          </a:solidFill>
                          <a:effectLst/>
                          <a:latin typeface="+mn-lt"/>
                          <a:ea typeface="Calibri"/>
                          <a:cs typeface="Times New Roman"/>
                        </a:rPr>
                        <a:t> between the</a:t>
                      </a:r>
                      <a:r>
                        <a:rPr lang="en-US" sz="1800" dirty="0" smtClean="0">
                          <a:solidFill>
                            <a:srgbClr val="000000"/>
                          </a:solidFill>
                          <a:effectLst/>
                          <a:latin typeface="+mn-lt"/>
                          <a:ea typeface="Calibri"/>
                          <a:cs typeface="Times New Roman"/>
                        </a:rPr>
                        <a:t> final development stage attained by an R&amp;D project and</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the spatial distance between where the R&amp;D project is conducted</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Technologies</a:t>
                      </a:r>
                      <a:r>
                        <a:rPr lang="en-US" sz="1800" baseline="0" dirty="0" smtClean="0">
                          <a:solidFill>
                            <a:srgbClr val="000000"/>
                          </a:solidFill>
                          <a:effectLst/>
                          <a:latin typeface="+mn-lt"/>
                          <a:ea typeface="Calibri"/>
                          <a:cs typeface="Times New Roman"/>
                        </a:rPr>
                        <a:t> derived from federally-funded R&amp;D projects that are conducted at locations closer to cities have a higher probability of being transferred to the private sector.</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382057225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1529441813"/>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11062716"/>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69775273"/>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832029849"/>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806376708"/>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3817411705"/>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2110917189"/>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773686964"/>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Collection</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587956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a:t>
                </a:r>
                <a:r>
                  <a:rPr lang="en-US" dirty="0" smtClean="0">
                    <a:ea typeface="Calibri"/>
                    <a:cs typeface="Times New Roman" panose="02020603050405020304" pitchFamily="18" charset="0"/>
                  </a:rPr>
                  <a:t>0</a:t>
                </a:r>
                <a:endParaRPr lang="en-US" dirty="0">
                  <a:ea typeface="Calibri"/>
                  <a:cs typeface="Times New Roman" panose="02020603050405020304" pitchFamily="18" charset="0"/>
                </a:endParaRP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Regression Analyses</a:t>
            </a:r>
            <a:endParaRPr lang="en-US" sz="2800" b="1" dirty="0"/>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smtClean="0">
                    <a:ea typeface="Calibri"/>
                    <a:cs typeface="Times New Roman"/>
                  </a:rPr>
                  <a:t> 0</a:t>
                </a:r>
                <a:endParaRPr lang="en-US" dirty="0">
                  <a:ea typeface="Calibri"/>
                  <a:cs typeface="Times New Roman"/>
                </a:endParaRP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InsistutionSize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3524162582"/>
              </p:ext>
            </p:extLst>
          </p:nvPr>
        </p:nvGraphicFramePr>
        <p:xfrm>
          <a:off x="82068" y="570018"/>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616479846"/>
              </p:ext>
            </p:extLst>
          </p:nvPr>
        </p:nvGraphicFramePr>
        <p:xfrm>
          <a:off x="4670205" y="570019"/>
          <a:ext cx="4295665" cy="2506597"/>
        </p:xfrm>
        <a:graphic>
          <a:graphicData uri="http://schemas.openxmlformats.org/drawingml/2006/table">
            <a:tbl>
              <a:tblPr firstRow="1" bandRow="1">
                <a:tableStyleId>{5C22544A-7EE6-4342-B048-85BDC9FD1C3A}</a:tableStyleId>
              </a:tblPr>
              <a:tblGrid>
                <a:gridCol w="1136829"/>
                <a:gridCol w="712519"/>
                <a:gridCol w="1151907"/>
                <a:gridCol w="653143"/>
                <a:gridCol w="641267"/>
              </a:tblGrid>
              <a:tr h="1080657">
                <a:tc>
                  <a:txBody>
                    <a:bodyPr/>
                    <a:lstStyle/>
                    <a:p>
                      <a:r>
                        <a:rPr lang="en-US" sz="1600" dirty="0" smtClean="0"/>
                        <a:t>R&amp;D Project</a:t>
                      </a:r>
                      <a:endParaRPr lang="en-US" sz="1600" dirty="0"/>
                    </a:p>
                  </a:txBody>
                  <a:tcPr anchor="b"/>
                </a:tc>
                <a:tc>
                  <a:txBody>
                    <a:bodyPr/>
                    <a:lstStyle/>
                    <a:p>
                      <a:r>
                        <a:rPr lang="en-US" sz="1600" dirty="0" smtClean="0"/>
                        <a:t>Distance</a:t>
                      </a:r>
                    </a:p>
                    <a:p>
                      <a:r>
                        <a:rPr lang="en-US" sz="1600" dirty="0" smtClean="0"/>
                        <a:t>ranked</a:t>
                      </a:r>
                      <a:endParaRPr lang="en-US" sz="1600" dirty="0"/>
                    </a:p>
                  </a:txBody>
                  <a:tcPr vert="vert270"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graphicFrame>
        <p:nvGraphicFramePr>
          <p:cNvPr id="3" name="Table 2"/>
          <p:cNvGraphicFramePr>
            <a:graphicFrameLocks noGrp="1"/>
          </p:cNvGraphicFramePr>
          <p:nvPr>
            <p:extLst>
              <p:ext uri="{D42A27DB-BD31-4B8C-83A1-F6EECF244321}">
                <p14:modId xmlns:p14="http://schemas.microsoft.com/office/powerpoint/2010/main" val="2054110194"/>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gridCol w="8097784"/>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smtClean="0">
                          <a:effectLst/>
                        </a:rPr>
                        <a:t>The probably that a technology derived from the projects will be transferred to the private sector will increase with each unit increase in the development stage of the federally-funded R&amp;D projects.</a:t>
                      </a:r>
                      <a:endParaRPr lang="en-US" sz="1600" b="0" dirty="0">
                        <a:solidFill>
                          <a:srgbClr val="000000"/>
                        </a:solidFill>
                        <a:effectLst/>
                        <a:latin typeface="+mn-lt"/>
                        <a:ea typeface="Calibri"/>
                        <a:cs typeface="Times New Roman"/>
                      </a:endParaRPr>
                    </a:p>
                  </a:txBody>
                  <a:tcPr marL="59258" marR="59258" marT="29887" marB="29887"/>
                </a:tc>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final development stage</a:t>
                      </a:r>
                      <a:r>
                        <a:rPr lang="en-US" sz="1800" baseline="0" dirty="0" smtClean="0">
                          <a:effectLst/>
                        </a:rPr>
                        <a:t> attained by federally-funded R&amp;D projects will be negatively associated with t</a:t>
                      </a:r>
                      <a:r>
                        <a:rPr lang="en-US" sz="1800" dirty="0" smtClean="0">
                          <a:effectLst/>
                        </a:rPr>
                        <a:t>he </a:t>
                      </a:r>
                      <a:r>
                        <a:rPr lang="en-US" sz="1800" dirty="0">
                          <a:effectLst/>
                        </a:rPr>
                        <a:t>spatial distance between </a:t>
                      </a:r>
                      <a:r>
                        <a:rPr lang="en-US" sz="1800" dirty="0" smtClean="0">
                          <a:effectLst/>
                        </a:rPr>
                        <a:t>where </a:t>
                      </a:r>
                      <a:r>
                        <a:rPr lang="en-US" sz="1800" dirty="0">
                          <a:effectLst/>
                        </a:rPr>
                        <a:t>R&amp;D project </a:t>
                      </a:r>
                      <a:r>
                        <a:rPr lang="en-US" sz="1800" dirty="0" smtClean="0">
                          <a:effectLst/>
                        </a:rPr>
                        <a:t>are </a:t>
                      </a:r>
                      <a:r>
                        <a:rPr lang="en-US" sz="1800" dirty="0">
                          <a:effectLst/>
                        </a:rPr>
                        <a:t>conducted and the nearest </a:t>
                      </a:r>
                      <a:r>
                        <a:rPr lang="en-US" sz="1800" dirty="0" smtClean="0">
                          <a:effectLst/>
                        </a:rPr>
                        <a:t>city.</a:t>
                      </a:r>
                      <a:endParaRPr lang="en-US" sz="1600" dirty="0">
                        <a:solidFill>
                          <a:srgbClr val="000000"/>
                        </a:solidFill>
                        <a:effectLst/>
                        <a:latin typeface="+mn-lt"/>
                        <a:ea typeface="Calibri"/>
                        <a:cs typeface="Times New Roman"/>
                      </a:endParaRPr>
                    </a:p>
                  </a:txBody>
                  <a:tcPr marL="59258" marR="59258" marT="29887" marB="29887"/>
                </a:tc>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smtClean="0">
                          <a:ln>
                            <a:noFill/>
                          </a:ln>
                          <a:solidFill>
                            <a:prstClr val="black"/>
                          </a:solidFill>
                          <a:effectLst/>
                          <a:uLnTx/>
                          <a:uFillTx/>
                          <a:latin typeface="+mn-lt"/>
                          <a:ea typeface="+mn-ea"/>
                          <a:cs typeface="+mn-cs"/>
                        </a:rPr>
                        <a:t>The probably that a technology derived from the projects will be transferred to the private sector will increase with each unit decrease in t</a:t>
                      </a:r>
                      <a:r>
                        <a:rPr lang="en-US" sz="1800" dirty="0" smtClean="0">
                          <a:effectLst/>
                        </a:rPr>
                        <a:t>he spatial distance</a:t>
                      </a:r>
                      <a:r>
                        <a:rPr lang="en-US" sz="1800" baseline="0" dirty="0" smtClean="0">
                          <a:effectLst/>
                        </a:rPr>
                        <a:t> between where R&amp;D projects are conducted and the nearest city decreases.</a:t>
                      </a:r>
                      <a:endParaRPr lang="en-US" sz="1800" dirty="0" smtClean="0">
                        <a:solidFill>
                          <a:srgbClr val="000000"/>
                        </a:solidFill>
                        <a:effectLst/>
                        <a:latin typeface="+mn-lt"/>
                        <a:ea typeface="Calibri"/>
                        <a:cs typeface="Times New Roman"/>
                      </a:endParaRPr>
                    </a:p>
                  </a:txBody>
                  <a:tcPr marL="59258" marR="59258" marT="29887" marB="29887"/>
                </a:tc>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2898612144"/>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175"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97004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Provides a more holistic understanding of 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technology transfer public policy.  </a:t>
            </a:r>
          </a:p>
          <a:p>
            <a:pPr marL="285750" indent="-285750">
              <a:spcAft>
                <a:spcPts val="600"/>
              </a:spcAft>
              <a:buFont typeface="Arial" panose="020B0604020202020204" pitchFamily="34" charset="0"/>
              <a:buChar char="•"/>
            </a:pPr>
            <a:r>
              <a:rPr lang="en-US" dirty="0" smtClean="0"/>
              <a:t>Provides policy alternatives for policymakers to consider. </a:t>
            </a:r>
          </a:p>
          <a:p>
            <a:pPr marL="285750" indent="-285750">
              <a:spcAft>
                <a:spcPts val="600"/>
              </a:spcAft>
              <a:buFont typeface="Arial" panose="020B0604020202020204" pitchFamily="34" charset="0"/>
              <a:buChar char="•"/>
            </a:pPr>
            <a:r>
              <a:rPr lang="en-US" dirty="0" smtClean="0"/>
              <a:t>Demonstrates alternative methods for measuring technology transfer outcomes.  </a:t>
            </a:r>
            <a:endParaRPr lang="en-US" dirty="0"/>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 transfer.</a:t>
            </a:r>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247317"/>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smtClean="0">
              <a:solidFill>
                <a:prstClr val="black"/>
              </a:solidFill>
            </a:endParaRPr>
          </a:p>
          <a:p>
            <a:pPr lvl="0"/>
            <a:r>
              <a:rPr lang="en-US" dirty="0" smtClean="0">
                <a:solidFill>
                  <a:prstClr val="black"/>
                </a:solidFill>
              </a:rPr>
              <a:t>“Economic growth.” </a:t>
            </a:r>
            <a:r>
              <a:rPr lang="en-US" dirty="0" smtClean="0">
                <a:solidFill>
                  <a:prstClr val="black"/>
                </a:solidFill>
              </a:rPr>
              <a:t>(2019). </a:t>
            </a:r>
            <a:r>
              <a:rPr lang="en-US" dirty="0" smtClean="0">
                <a:solidFill>
                  <a:prstClr val="black"/>
                </a:solidFill>
              </a:rPr>
              <a:t>Wikipedia. </a:t>
            </a:r>
            <a:r>
              <a:rPr lang="en-US" dirty="0">
                <a:solidFill>
                  <a:prstClr val="black"/>
                </a:solidFill>
              </a:rPr>
              <a:t>Retrieved April 12, 2019, from https://en.wikipedia.org/wiki/Economic_growth</a:t>
            </a:r>
          </a:p>
          <a:p>
            <a:pPr lvl="0"/>
            <a:endParaRPr lang="en-US" dirty="0" smtClean="0">
              <a:solidFill>
                <a:prstClr val="black"/>
              </a:solidFill>
            </a:endParaRPr>
          </a:p>
          <a:p>
            <a:pPr lvl="0"/>
            <a:r>
              <a:rPr lang="en-US" dirty="0" smtClean="0">
                <a:solidFill>
                  <a:prstClr val="black"/>
                </a:solidFill>
              </a:rPr>
              <a:t>Office </a:t>
            </a:r>
            <a:r>
              <a:rPr lang="en-US" dirty="0">
                <a:solidFill>
                  <a:prstClr val="black"/>
                </a:solidFill>
              </a:rPr>
              <a:t>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p>
        </p:txBody>
      </p:sp>
    </p:spTree>
    <p:extLst>
      <p:ext uri="{BB962C8B-B14F-4D97-AF65-F5344CB8AC3E}">
        <p14:creationId xmlns:p14="http://schemas.microsoft.com/office/powerpoint/2010/main" val="115974105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p>
          <a:p>
            <a:pPr lvl="0"/>
            <a:endParaRPr lang="en-US" dirty="0">
              <a:solidFill>
                <a:prstClr val="black"/>
              </a:solidFill>
            </a:endParaRPr>
          </a:p>
          <a:p>
            <a:pPr lvl="0"/>
            <a:r>
              <a:rPr lang="en-US" dirty="0" smtClean="0">
                <a:solidFill>
                  <a:prstClr val="black"/>
                </a:solidFill>
              </a:rPr>
              <a:t>Dai, Y., Popp, D. and </a:t>
            </a:r>
            <a:r>
              <a:rPr lang="en-US" dirty="0" err="1" smtClean="0">
                <a:solidFill>
                  <a:prstClr val="black"/>
                </a:solidFill>
              </a:rPr>
              <a:t>Bretschneider</a:t>
            </a:r>
            <a:r>
              <a:rPr lang="en-US" dirty="0" smtClean="0">
                <a:solidFill>
                  <a:prstClr val="black"/>
                </a:solidFill>
              </a:rPr>
              <a:t>, S. (2005</a:t>
            </a:r>
            <a:r>
              <a:rPr lang="en-US" dirty="0">
                <a:solidFill>
                  <a:prstClr val="black"/>
                </a:solidFill>
              </a:rPr>
              <a:t>). </a:t>
            </a:r>
            <a:r>
              <a:rPr lang="en-US" i="1" dirty="0" smtClean="0">
                <a:solidFill>
                  <a:prstClr val="black"/>
                </a:solidFill>
              </a:rPr>
              <a:t>Institutions </a:t>
            </a:r>
            <a:r>
              <a:rPr lang="en-US" i="1" dirty="0">
                <a:solidFill>
                  <a:prstClr val="black"/>
                </a:solidFill>
              </a:rPr>
              <a:t>and intellectual property: The influence of institutional forces on university </a:t>
            </a:r>
            <a:r>
              <a:rPr lang="en-US" i="1" dirty="0" smtClean="0">
                <a:solidFill>
                  <a:prstClr val="black"/>
                </a:solidFill>
              </a:rPr>
              <a:t>patenting</a:t>
            </a:r>
            <a:r>
              <a:rPr lang="en-US" dirty="0" smtClean="0">
                <a:solidFill>
                  <a:prstClr val="black"/>
                </a:solidFill>
              </a:rPr>
              <a:t>. Journal of Policy Analysis and Management 24(3).  </a:t>
            </a:r>
            <a:r>
              <a:rPr lang="en-US" dirty="0">
                <a:solidFill>
                  <a:prstClr val="black"/>
                </a:solidFill>
              </a:rPr>
              <a:t>Available from https://onlinelibrary.wiley.com</a:t>
            </a:r>
            <a:endParaRPr lang="en-US" i="1" dirty="0">
              <a:solidFill>
                <a:prstClr val="black"/>
              </a:solidFill>
            </a:endParaRPr>
          </a:p>
          <a:p>
            <a:endParaRPr lang="en-US" i="1" dirty="0" smtClean="0"/>
          </a:p>
          <a:p>
            <a:endParaRPr lang="en-US" i="1" dirty="0" smtClean="0"/>
          </a:p>
        </p:txBody>
      </p:sp>
    </p:spTree>
    <p:extLst>
      <p:ext uri="{BB962C8B-B14F-4D97-AF65-F5344CB8AC3E}">
        <p14:creationId xmlns:p14="http://schemas.microsoft.com/office/powerpoint/2010/main" val="75752809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1451</TotalTime>
  <Words>2463</Words>
  <Application>Microsoft Office PowerPoint</Application>
  <PresentationFormat>On-screen Show (16:10)</PresentationFormat>
  <Paragraphs>441</Paragraphs>
  <Slides>42</Slides>
  <Notes>15</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42</vt:i4>
      </vt:variant>
    </vt:vector>
  </HeadingPairs>
  <TitlesOfParts>
    <vt:vector size="44"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261</cp:revision>
  <cp:lastPrinted>2018-11-28T15:13:03Z</cp:lastPrinted>
  <dcterms:created xsi:type="dcterms:W3CDTF">2018-11-26T20:29:52Z</dcterms:created>
  <dcterms:modified xsi:type="dcterms:W3CDTF">2019-04-15T18:51:52Z</dcterms:modified>
</cp:coreProperties>
</file>