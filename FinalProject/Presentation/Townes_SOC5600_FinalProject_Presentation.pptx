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handoutMasterIdLst>
    <p:handoutMasterId r:id="rId36"/>
  </p:handoutMasterIdLst>
  <p:sldIdLst>
    <p:sldId id="256" r:id="rId2"/>
    <p:sldId id="294" r:id="rId3"/>
    <p:sldId id="280" r:id="rId4"/>
    <p:sldId id="260" r:id="rId5"/>
    <p:sldId id="289" r:id="rId6"/>
    <p:sldId id="290" r:id="rId7"/>
    <p:sldId id="293" r:id="rId8"/>
    <p:sldId id="285" r:id="rId9"/>
    <p:sldId id="286" r:id="rId10"/>
    <p:sldId id="257" r:id="rId11"/>
    <p:sldId id="258" r:id="rId12"/>
    <p:sldId id="259" r:id="rId13"/>
    <p:sldId id="291" r:id="rId14"/>
    <p:sldId id="292" r:id="rId15"/>
    <p:sldId id="263" r:id="rId16"/>
    <p:sldId id="275" r:id="rId17"/>
    <p:sldId id="264" r:id="rId18"/>
    <p:sldId id="265" r:id="rId19"/>
    <p:sldId id="274" r:id="rId20"/>
    <p:sldId id="266" r:id="rId21"/>
    <p:sldId id="273" r:id="rId22"/>
    <p:sldId id="269" r:id="rId23"/>
    <p:sldId id="283" r:id="rId24"/>
    <p:sldId id="267" r:id="rId25"/>
    <p:sldId id="268" r:id="rId26"/>
    <p:sldId id="272" r:id="rId27"/>
    <p:sldId id="270" r:id="rId28"/>
    <p:sldId id="271" r:id="rId29"/>
    <p:sldId id="281" r:id="rId30"/>
    <p:sldId id="288" r:id="rId31"/>
    <p:sldId id="296" r:id="rId32"/>
    <p:sldId id="282" r:id="rId33"/>
    <p:sldId id="295" r:id="rId34"/>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8" autoAdjust="0"/>
    <p:restoredTop sz="88632" autoAdjust="0"/>
  </p:normalViewPr>
  <p:slideViewPr>
    <p:cSldViewPr snapToGrid="0">
      <p:cViewPr>
        <p:scale>
          <a:sx n="80" d="100"/>
          <a:sy n="80" d="100"/>
        </p:scale>
        <p:origin x="-1080" y="-162"/>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US" dirty="0"/>
              <a:t>Percent </a:t>
            </a:r>
            <a:r>
              <a:rPr lang="en-US" dirty="0" smtClean="0"/>
              <a:t>Contribution to Gross Domestic</a:t>
            </a:r>
            <a:r>
              <a:rPr lang="en-US" baseline="0" dirty="0" smtClean="0"/>
              <a:t> Product</a:t>
            </a:r>
            <a:endParaRPr lang="en-US" dirty="0"/>
          </a:p>
        </c:rich>
      </c:tx>
      <c:layout/>
      <c:overlay val="0"/>
    </c:title>
    <c:autoTitleDeleted val="0"/>
    <c:plotArea>
      <c:layout/>
      <c:pieChart>
        <c:varyColors val="1"/>
        <c:ser>
          <c:idx val="0"/>
          <c:order val="0"/>
          <c:tx>
            <c:strRef>
              <c:f>Sheet1!$B$1</c:f>
              <c:strCache>
                <c:ptCount val="1"/>
                <c:pt idx="0">
                  <c:v>Percent Contribution</c:v>
                </c:pt>
              </c:strCache>
            </c:strRef>
          </c:tx>
          <c:explosion val="25"/>
          <c:dLbls>
            <c:dLblPos val="outEnd"/>
            <c:showLegendKey val="0"/>
            <c:showVal val="0"/>
            <c:showCatName val="1"/>
            <c:showSerName val="0"/>
            <c:showPercent val="1"/>
            <c:showBubbleSize val="0"/>
            <c:separator>, </c:separator>
            <c:showLeaderLines val="1"/>
          </c:dLbls>
          <c:cat>
            <c:strRef>
              <c:f>Sheet1!$A$2:$A$3</c:f>
              <c:strCache>
                <c:ptCount val="2"/>
                <c:pt idx="0">
                  <c:v>Technology</c:v>
                </c:pt>
                <c:pt idx="1">
                  <c:v>All other factors</c:v>
                </c:pt>
              </c:strCache>
            </c:strRef>
          </c:cat>
          <c:val>
            <c:numRef>
              <c:f>Sheet1!$B$2:$B$3</c:f>
              <c:numCache>
                <c:formatCode>General</c:formatCode>
                <c:ptCount val="2"/>
                <c:pt idx="0">
                  <c:v>80</c:v>
                </c:pt>
                <c:pt idx="1">
                  <c:v>20</c:v>
                </c:pt>
              </c:numCache>
            </c:numRef>
          </c:val>
        </c:ser>
        <c:dLbls>
          <c:showLegendKey val="0"/>
          <c:showVal val="1"/>
          <c:showCatName val="0"/>
          <c:showSerName val="0"/>
          <c:showPercent val="0"/>
          <c:showBubbleSize val="0"/>
          <c:showLeaderLines val="1"/>
        </c:dLbls>
        <c:firstSliceAng val="0"/>
      </c:pieChart>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71A7DB6-BBF5-404F-84D0-D7E3BFEF012C}" type="presOf" srcId="{D264B8C8-0C74-4047-BC3D-D328ABB04B07}" destId="{4428B23C-049C-4D7B-92D7-DD65A1003E4E}"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City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AD49E547-20AE-442B-BC09-26558BCFA371}"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6FB2E2FC-7125-44B7-A912-79805D34D870}" type="presOf" srcId="{56D25664-E470-4423-B8A9-9B6E4F3E9501}" destId="{1F2FC209-C6F9-4BD8-BE18-C50B50281548}" srcOrd="1" destOrd="0" presId="urn:microsoft.com/office/officeart/2005/8/layout/hProcess7"/>
    <dgm:cxn modelId="{EDF2FFEF-B962-4412-92E8-69C09FFB5093}" type="presOf" srcId="{275823A6-DA31-4015-971F-013EA967541C}" destId="{752682F3-57CE-4B43-B292-A62B3D508EDD}"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73B9C955-03F3-408A-BD26-00373952A464}" type="presOf" srcId="{56D25664-E470-4423-B8A9-9B6E4F3E9501}" destId="{5EE1D2E5-E13B-4FA3-A68E-FA18C8AD1A1A}"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FAB6C3C0-17F0-46A1-A665-24A14C583F5F}" type="presOf" srcId="{E12051B9-F660-41FB-9BFB-187ECABCD821}" destId="{4413368B-ACCA-469B-9D0E-1FEFC4075FB0}" srcOrd="0" destOrd="0" presId="urn:microsoft.com/office/officeart/2005/8/layout/hProcess7"/>
    <dgm:cxn modelId="{4734E610-5168-4063-85CF-D7E43A5C3EE7}" type="presOf" srcId="{2645AA64-F59A-4567-9741-8E504AE7F8ED}" destId="{BBE81636-BCDD-48A0-B978-839FA7B950F8}" srcOrd="0" destOrd="0" presId="urn:microsoft.com/office/officeart/2005/8/layout/hProcess7"/>
    <dgm:cxn modelId="{C80591EF-6C69-4C81-8E07-227738C33789}" type="presOf" srcId="{275823A6-DA31-4015-971F-013EA967541C}" destId="{CB5EA34A-627A-4C1F-96E3-4088D2A98FDD}" srcOrd="0" destOrd="0" presId="urn:microsoft.com/office/officeart/2005/8/layout/hProcess7"/>
    <dgm:cxn modelId="{3877E4CF-A252-44AA-B62B-5776AC477B4C}" type="presOf" srcId="{F754AD28-8B54-47D9-83F1-8D45F35B4A81}" destId="{0F07502A-98A4-4880-9779-27EA2BEB6F02}" srcOrd="0" destOrd="0" presId="urn:microsoft.com/office/officeart/2005/8/layout/hProcess7"/>
    <dgm:cxn modelId="{497867C0-3AEB-40C1-B3EC-B76087F9072E}" type="presOf" srcId="{D264B8C8-0C74-4047-BC3D-D328ABB04B07}" destId="{4428B23C-049C-4D7B-92D7-DD65A1003E4E}"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293E527-D737-4758-999C-33579676FA5B}"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8A882595-DD27-4EF9-B6F7-026F096A9B2B}" type="presParOf" srcId="{4413368B-ACCA-469B-9D0E-1FEFC4075FB0}" destId="{8E1BCC0E-B989-4435-8915-645304C71A64}" srcOrd="0" destOrd="0" presId="urn:microsoft.com/office/officeart/2005/8/layout/hProcess7"/>
    <dgm:cxn modelId="{CDAC037B-520D-4453-9E9C-B3B3A0C6BF3E}" type="presParOf" srcId="{8E1BCC0E-B989-4435-8915-645304C71A64}" destId="{5EE1D2E5-E13B-4FA3-A68E-FA18C8AD1A1A}" srcOrd="0" destOrd="0" presId="urn:microsoft.com/office/officeart/2005/8/layout/hProcess7"/>
    <dgm:cxn modelId="{BD8C42E8-99C5-422C-93C4-EF387C9273FC}" type="presParOf" srcId="{8E1BCC0E-B989-4435-8915-645304C71A64}" destId="{1F2FC209-C6F9-4BD8-BE18-C50B50281548}" srcOrd="1" destOrd="0" presId="urn:microsoft.com/office/officeart/2005/8/layout/hProcess7"/>
    <dgm:cxn modelId="{191552FF-7361-458F-BC4D-D5E7E7A4D98B}" type="presParOf" srcId="{8E1BCC0E-B989-4435-8915-645304C71A64}" destId="{0F07502A-98A4-4880-9779-27EA2BEB6F02}" srcOrd="2" destOrd="0" presId="urn:microsoft.com/office/officeart/2005/8/layout/hProcess7"/>
    <dgm:cxn modelId="{8B2EE934-D5E6-4821-A23C-A3408FA05AF5}" type="presParOf" srcId="{4413368B-ACCA-469B-9D0E-1FEFC4075FB0}" destId="{13ACBB4E-2F0C-4773-92A7-F091255EA962}" srcOrd="1" destOrd="0" presId="urn:microsoft.com/office/officeart/2005/8/layout/hProcess7"/>
    <dgm:cxn modelId="{F9383EDD-E184-461D-9466-12C39605FB48}" type="presParOf" srcId="{4413368B-ACCA-469B-9D0E-1FEFC4075FB0}" destId="{BAD87237-2D53-4DFC-BA2E-02EC39493885}" srcOrd="2" destOrd="0" presId="urn:microsoft.com/office/officeart/2005/8/layout/hProcess7"/>
    <dgm:cxn modelId="{C817701D-7FB4-467F-9B5E-B08345F14CB3}" type="presParOf" srcId="{BAD87237-2D53-4DFC-BA2E-02EC39493885}" destId="{221F174E-2568-4C2B-B98A-B21C733FC119}" srcOrd="0" destOrd="0" presId="urn:microsoft.com/office/officeart/2005/8/layout/hProcess7"/>
    <dgm:cxn modelId="{0181EA0E-734B-447D-9B72-A2FA7877F838}" type="presParOf" srcId="{BAD87237-2D53-4DFC-BA2E-02EC39493885}" destId="{45668240-D897-4FC1-8421-6DD785B65040}" srcOrd="1" destOrd="0" presId="urn:microsoft.com/office/officeart/2005/8/layout/hProcess7"/>
    <dgm:cxn modelId="{88B1DC5C-932C-4C40-811B-B646FBBAD603}" type="presParOf" srcId="{BAD87237-2D53-4DFC-BA2E-02EC39493885}" destId="{50ECFA14-9F36-4C35-911C-A780FF037D2C}" srcOrd="2" destOrd="0" presId="urn:microsoft.com/office/officeart/2005/8/layout/hProcess7"/>
    <dgm:cxn modelId="{E45FC411-59BD-445D-B3E5-5F913D2BCBD4}" type="presParOf" srcId="{4413368B-ACCA-469B-9D0E-1FEFC4075FB0}" destId="{B0CEB5DD-B27E-454F-A39C-A559A187214D}" srcOrd="3" destOrd="0" presId="urn:microsoft.com/office/officeart/2005/8/layout/hProcess7"/>
    <dgm:cxn modelId="{122D7F83-E5C9-4FCD-B182-4DA778B9D145}" type="presParOf" srcId="{4413368B-ACCA-469B-9D0E-1FEFC4075FB0}" destId="{4C92115F-DFB0-4372-AF66-CF11B70A8EFD}" srcOrd="4" destOrd="0" presId="urn:microsoft.com/office/officeart/2005/8/layout/hProcess7"/>
    <dgm:cxn modelId="{7C2B9DB9-4371-4004-847B-19AE45253AE9}" type="presParOf" srcId="{4C92115F-DFB0-4372-AF66-CF11B70A8EFD}" destId="{CB5EA34A-627A-4C1F-96E3-4088D2A98FDD}" srcOrd="0" destOrd="0" presId="urn:microsoft.com/office/officeart/2005/8/layout/hProcess7"/>
    <dgm:cxn modelId="{9280096C-55EA-4853-B1B1-68F41E27958C}" type="presParOf" srcId="{4C92115F-DFB0-4372-AF66-CF11B70A8EFD}" destId="{752682F3-57CE-4B43-B292-A62B3D508EDD}" srcOrd="1" destOrd="0" presId="urn:microsoft.com/office/officeart/2005/8/layout/hProcess7"/>
    <dgm:cxn modelId="{4857A601-A77E-4859-8D9C-1000D78CFD1C}" type="presParOf" srcId="{4C92115F-DFB0-4372-AF66-CF11B70A8EFD}" destId="{7C1FE252-E5CE-40AF-AE08-799A5F741FEE}" srcOrd="2" destOrd="0" presId="urn:microsoft.com/office/officeart/2005/8/layout/hProcess7"/>
    <dgm:cxn modelId="{16C1A89E-6D2F-455B-BB28-B096BDEB5D3C}" type="presParOf" srcId="{4413368B-ACCA-469B-9D0E-1FEFC4075FB0}" destId="{E94DD569-30C2-4DB5-BFE9-2EA1C054A099}" srcOrd="5" destOrd="0" presId="urn:microsoft.com/office/officeart/2005/8/layout/hProcess7"/>
    <dgm:cxn modelId="{4DAA5715-D48E-47D7-8378-74BAD45C1EA8}" type="presParOf" srcId="{4413368B-ACCA-469B-9D0E-1FEFC4075FB0}" destId="{D0762C22-9124-4CFC-9FEF-33DB241A1B75}" srcOrd="6" destOrd="0" presId="urn:microsoft.com/office/officeart/2005/8/layout/hProcess7"/>
    <dgm:cxn modelId="{A5461624-0E3F-4F33-BE48-0A4691450CE3}" type="presParOf" srcId="{D0762C22-9124-4CFC-9FEF-33DB241A1B75}" destId="{C8DF72E1-70D1-4214-8DAD-40E18FF824F5}" srcOrd="0" destOrd="0" presId="urn:microsoft.com/office/officeart/2005/8/layout/hProcess7"/>
    <dgm:cxn modelId="{150FD88B-B4B5-4274-8050-89D476CF8A8C}" type="presParOf" srcId="{D0762C22-9124-4CFC-9FEF-33DB241A1B75}" destId="{BAC8B8B3-49A2-4BE7-B498-654C601FE809}" srcOrd="1" destOrd="0" presId="urn:microsoft.com/office/officeart/2005/8/layout/hProcess7"/>
    <dgm:cxn modelId="{E5E3AE84-E6FE-4433-A1AB-BC7252349526}" type="presParOf" srcId="{D0762C22-9124-4CFC-9FEF-33DB241A1B75}" destId="{4A5065A5-7398-4E75-9460-0F7770025FB9}" srcOrd="2" destOrd="0" presId="urn:microsoft.com/office/officeart/2005/8/layout/hProcess7"/>
    <dgm:cxn modelId="{9A98D053-F37A-4FC5-887D-09FB354D62A8}" type="presParOf" srcId="{4413368B-ACCA-469B-9D0E-1FEFC4075FB0}" destId="{2AE61FAA-6DD0-4F7B-8C42-F1DA0A887180}" srcOrd="7" destOrd="0" presId="urn:microsoft.com/office/officeart/2005/8/layout/hProcess7"/>
    <dgm:cxn modelId="{3E9A8B11-43E8-4754-A6BF-F6B31E4695FB}" type="presParOf" srcId="{4413368B-ACCA-469B-9D0E-1FEFC4075FB0}" destId="{72B73D94-A19D-488F-A34B-978C721C47B4}" srcOrd="8" destOrd="0" presId="urn:microsoft.com/office/officeart/2005/8/layout/hProcess7"/>
    <dgm:cxn modelId="{79E51C53-5383-429E-8345-72CEC442B59B}" type="presParOf" srcId="{72B73D94-A19D-488F-A34B-978C721C47B4}" destId="{BBE81636-BCDD-48A0-B978-839FA7B950F8}" srcOrd="0" destOrd="0" presId="urn:microsoft.com/office/officeart/2005/8/layout/hProcess7"/>
    <dgm:cxn modelId="{F1E64FE1-81C8-4694-8FA7-CCE7630E9D32}" type="presParOf" srcId="{72B73D94-A19D-488F-A34B-978C721C47B4}" destId="{5002EEF7-AB5F-41AC-BBA4-49DC2C142864}" srcOrd="1" destOrd="0" presId="urn:microsoft.com/office/officeart/2005/8/layout/hProcess7"/>
    <dgm:cxn modelId="{41758E64-D567-4C5E-B52F-259D44C57A2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phldr="1"/>
      <dgm:spPr/>
      <dgm:t>
        <a:bodyPr/>
        <a:lstStyle/>
        <a:p>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dgm:spPr/>
      <dgm:t>
        <a:bodyPr/>
        <a:lstStyle/>
        <a:p>
          <a:r>
            <a:rPr lang="en-US" dirty="0" smtClean="0"/>
            <a:t>Operationalization</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phldr="1"/>
      <dgm:spPr/>
      <dgm:t>
        <a:bodyPr/>
        <a:lstStyle/>
        <a:p>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dgm:spPr/>
      <dgm:t>
        <a:bodyPr/>
        <a:lstStyle/>
        <a:p>
          <a:r>
            <a:rPr lang="en-US" dirty="0" smtClean="0"/>
            <a:t>Variables and Data</a:t>
          </a:r>
          <a:endParaRPr lang="en-US"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Lst>
  <dgm:cxnLst>
    <dgm:cxn modelId="{9B12C2B8-7A5B-4F6D-8FAC-6951263DFFE6}" type="presOf" srcId="{E12051B9-F660-41FB-9BFB-187ECABCD821}" destId="{4413368B-ACCA-469B-9D0E-1FEFC4075FB0}" srcOrd="0" destOrd="0"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2BE3415A-4C64-4D29-B5AB-F2DF894FF9D7}" type="presOf" srcId="{F754AD28-8B54-47D9-83F1-8D45F35B4A81}" destId="{0F07502A-98A4-4880-9779-27EA2BEB6F02}"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DB884937-1E09-49E0-BABE-97AC4679294D}" srcId="{E7E09A88-A855-416A-B17D-5608BAB5F968}" destId="{D264B8C8-0C74-4047-BC3D-D328ABB04B07}" srcOrd="0" destOrd="0" parTransId="{EFE8DCE1-CB9B-44C0-BE30-595BF1898A8E}" sibTransId="{E5F6790C-BCA3-4DEC-A52E-7D738F9F57BD}"/>
    <dgm:cxn modelId="{955316F3-D59D-4E22-BAC5-4B54F7BE800A}" srcId="{E12051B9-F660-41FB-9BFB-187ECABCD821}" destId="{E7E09A88-A855-416A-B17D-5608BAB5F968}" srcOrd="1" destOrd="0" parTransId="{791A9365-62E9-4724-B5DD-36351582D82E}" sibTransId="{C2A5DE0A-7824-4E35-BB27-47DBE8541DB5}"/>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703CB32B-A1E8-4113-A3E5-62F002D74F02}" type="presOf" srcId="{56D25664-E470-4423-B8A9-9B6E4F3E9501}" destId="{5EE1D2E5-E13B-4FA3-A68E-FA18C8AD1A1A}" srcOrd="0" destOrd="0"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2AF991F4-295B-47A4-96C4-FF1BFB05195E}" type="presOf" srcId="{56D25664-E470-4423-B8A9-9B6E4F3E9501}" destId="{1F2FC209-C6F9-4BD8-BE18-C50B50281548}"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City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1435" rIns="66675" bIns="0" numCol="1" spcCol="1270" anchor="t" anchorCtr="0">
          <a:noAutofit/>
        </a:bodyPr>
        <a:lstStyle/>
        <a:p>
          <a:pPr lvl="0" algn="r" defTabSz="666750">
            <a:lnSpc>
              <a:spcPct val="90000"/>
            </a:lnSpc>
            <a:spcBef>
              <a:spcPct val="0"/>
            </a:spcBef>
            <a:spcAft>
              <a:spcPct val="35000"/>
            </a:spcAft>
          </a:pPr>
          <a:r>
            <a:rPr lang="en-US" sz="1500" kern="1200" dirty="0" smtClean="0"/>
            <a:t>Construct</a:t>
          </a:r>
          <a:endParaRPr lang="en-US" sz="1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584376" y="0"/>
        <a:ext cx="2174274" cy="1917700"/>
      </dsp:txXfrm>
    </dsp:sp>
    <dsp:sp modelId="{63E694CA-EB8A-49E7-8F7E-40E9648E8D50}">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1435" rIns="66675" bIns="0" numCol="1" spcCol="1270" anchor="t" anchorCtr="0">
          <a:noAutofit/>
        </a:bodyPr>
        <a:lstStyle/>
        <a:p>
          <a:pPr lvl="0" algn="r" defTabSz="666750">
            <a:lnSpc>
              <a:spcPct val="90000"/>
            </a:lnSpc>
            <a:spcBef>
              <a:spcPct val="0"/>
            </a:spcBef>
            <a:spcAft>
              <a:spcPct val="35000"/>
            </a:spcAft>
          </a:pPr>
          <a:r>
            <a:rPr lang="en-US" sz="1500" kern="1200" dirty="0" smtClean="0"/>
            <a:t>Operationalization</a:t>
          </a:r>
          <a:endParaRPr lang="en-US" sz="1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3605013" y="0"/>
        <a:ext cx="2174274" cy="1917700"/>
      </dsp:txXfrm>
    </dsp:sp>
    <dsp:sp modelId="{89F889ED-FCCD-445E-BB3B-3F65B70521C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1435" rIns="66675" bIns="0" numCol="1" spcCol="1270" anchor="t" anchorCtr="0">
          <a:noAutofit/>
        </a:bodyPr>
        <a:lstStyle/>
        <a:p>
          <a:pPr lvl="0" algn="r" defTabSz="666750">
            <a:lnSpc>
              <a:spcPct val="90000"/>
            </a:lnSpc>
            <a:spcBef>
              <a:spcPct val="0"/>
            </a:spcBef>
            <a:spcAft>
              <a:spcPct val="35000"/>
            </a:spcAft>
          </a:pPr>
          <a:r>
            <a:rPr lang="en-US" sz="1500" kern="1200" dirty="0" smtClean="0"/>
            <a:t>Variables and Data</a:t>
          </a:r>
          <a:endParaRPr lang="en-US" sz="1500" kern="1200" dirty="0"/>
        </a:p>
      </dsp:txBody>
      <dsp:txXfrm rot="16200000">
        <a:off x="5547544" y="494408"/>
        <a:ext cx="1572514" cy="583697"/>
      </dsp:txXfrm>
    </dsp:sp>
    <dsp:sp modelId="{0B1D8E78-2B68-4C5D-9329-AB01D008FC04}">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04/11/2019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04/11/2019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4</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a:t>
            </a:r>
            <a:r>
              <a:rPr lang="en-US" baseline="0" dirty="0" smtClean="0"/>
              <a:t> impact </a:t>
            </a:r>
            <a:r>
              <a:rPr lang="en-US" dirty="0" smtClean="0"/>
              <a:t>on general</a:t>
            </a:r>
            <a:r>
              <a:rPr lang="en-US" baseline="0" dirty="0" smtClean="0"/>
              <a:t> societal welfare.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0003300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10</a:t>
            </a:fld>
            <a:endParaRPr lang="en-US"/>
          </a:p>
        </p:txBody>
      </p:sp>
    </p:spTree>
    <p:extLst>
      <p:ext uri="{BB962C8B-B14F-4D97-AF65-F5344CB8AC3E}">
        <p14:creationId xmlns:p14="http://schemas.microsoft.com/office/powerpoint/2010/main" val="8102330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All utility patents granted in the U.S. from January 1, 1963 to December 30, 1999.</a:t>
            </a:r>
          </a:p>
          <a:p>
            <a:r>
              <a:rPr lang="en-US" dirty="0" smtClean="0"/>
              <a:t>Listed in the Technology Assessment and Forecast (TAF) database of the United States Patent and Trademark Office (USPTO).  </a:t>
            </a:r>
          </a:p>
          <a:p>
            <a:r>
              <a:rPr lang="en-US" dirty="0" smtClean="0"/>
              <a:t>The file contained data on 2,923,922 patents across 23 variables. </a:t>
            </a:r>
          </a:p>
          <a:p>
            <a:r>
              <a:rPr lang="en-US" dirty="0" smtClean="0"/>
              <a:t>Random sample of 2,000</a:t>
            </a:r>
            <a:r>
              <a:rPr lang="en-US" baseline="0" dirty="0" smtClean="0"/>
              <a:t> patents from a subset of 253,328 patents for the period January 1, 1995 to December 31, 1999.</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15</a:t>
            </a:fld>
            <a:endParaRPr lang="en-US"/>
          </a:p>
        </p:txBody>
      </p:sp>
    </p:spTree>
    <p:extLst>
      <p:ext uri="{BB962C8B-B14F-4D97-AF65-F5344CB8AC3E}">
        <p14:creationId xmlns:p14="http://schemas.microsoft.com/office/powerpoint/2010/main" val="37884701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Excluded</a:t>
            </a:r>
            <a:r>
              <a:rPr lang="en-US" baseline="0" dirty="0" smtClean="0"/>
              <a:t> CMADE and RATIOCIT because of logical reasoning.</a:t>
            </a:r>
          </a:p>
          <a:p>
            <a:r>
              <a:rPr lang="en-US" baseline="0" dirty="0" smtClean="0"/>
              <a:t>Excluded other predictor variables that were not continuous interval. </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17</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GENERAL variable had the greatest influence.</a:t>
            </a:r>
          </a:p>
          <a:p>
            <a:r>
              <a:rPr lang="en-US" dirty="0" smtClean="0"/>
              <a:t>GYEAR and</a:t>
            </a:r>
            <a:r>
              <a:rPr lang="en-US" baseline="0" dirty="0" smtClean="0"/>
              <a:t> ORIGINAL were negatively associated with the number of citations received.</a:t>
            </a:r>
            <a:endParaRPr lang="en-US" dirty="0" smtClean="0"/>
          </a:p>
          <a:p>
            <a:r>
              <a:rPr lang="en-US" dirty="0" smtClean="0"/>
              <a:t>Most constructed variables were not significant with the exception of BCKGTLAG.</a:t>
            </a:r>
          </a:p>
          <a:p>
            <a:r>
              <a:rPr lang="en-US" dirty="0" smtClean="0"/>
              <a:t>APPYEAR was not significant but GYEAR was significant.</a:t>
            </a:r>
          </a:p>
          <a:p>
            <a:r>
              <a:rPr lang="en-US" dirty="0" smtClean="0"/>
              <a:t>Constructed</a:t>
            </a:r>
            <a:r>
              <a:rPr lang="en-US" baseline="0" dirty="0" smtClean="0"/>
              <a:t> variables had high degrees of multicollinearity.</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18</a:t>
            </a:fld>
            <a:endParaRPr lang="en-US"/>
          </a:p>
        </p:txBody>
      </p:sp>
    </p:spTree>
    <p:extLst>
      <p:ext uri="{BB962C8B-B14F-4D97-AF65-F5344CB8AC3E}">
        <p14:creationId xmlns:p14="http://schemas.microsoft.com/office/powerpoint/2010/main" val="4209112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 used </a:t>
            </a:r>
            <a:r>
              <a:rPr lang="en-US" dirty="0" err="1" smtClean="0"/>
              <a:t>logCRECEIVE</a:t>
            </a:r>
            <a:r>
              <a:rPr lang="en-US" dirty="0" smtClean="0"/>
              <a:t> as the dependent variable.</a:t>
            </a:r>
          </a:p>
          <a:p>
            <a:r>
              <a:rPr lang="en-US" dirty="0" smtClean="0"/>
              <a:t>I created a product term called CLAIMSORIGINAL using the CLAIMS variable and ORIGINAL variable to test for possible interaction. </a:t>
            </a:r>
          </a:p>
          <a:p>
            <a:r>
              <a:rPr lang="en-US" dirty="0" smtClean="0"/>
              <a:t>I suspected that the relationship between the DV and the CLAIMS variable varies as a function of the ORIGINAL variable.  </a:t>
            </a:r>
          </a:p>
          <a:p>
            <a:r>
              <a:rPr lang="en-US" dirty="0" smtClean="0"/>
              <a:t>I surmised that the higher the originality of a technology as represented by a patent, the more interest that it may receive from other innovators and thus the more likely that the patent will be cited in the patents of other innovators.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20</a:t>
            </a:fld>
            <a:endParaRPr lang="en-US"/>
          </a:p>
        </p:txBody>
      </p:sp>
    </p:spTree>
    <p:extLst>
      <p:ext uri="{BB962C8B-B14F-4D97-AF65-F5344CB8AC3E}">
        <p14:creationId xmlns:p14="http://schemas.microsoft.com/office/powerpoint/2010/main" val="34866313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4708" indent="-174708" defTabSz="931774">
              <a:buFont typeface="Arial" panose="020B0604020202020204" pitchFamily="34" charset="0"/>
              <a:buChar char="•"/>
              <a:defRPr/>
            </a:pPr>
            <a:r>
              <a:rPr lang="en-US" dirty="0">
                <a:solidFill>
                  <a:prstClr val="black"/>
                </a:solidFill>
              </a:rPr>
              <a:t>Based on a scatter plot of the CRECEIVE variable against the CLAIMS variable, I removed observations with CLAIMS greater than 90 claims and CRECEIVE greater than 40 citations received as outliers. </a:t>
            </a:r>
          </a:p>
          <a:p>
            <a:pPr marL="174708" indent="-174708" defTabSz="931774">
              <a:buFont typeface="Arial" panose="020B0604020202020204" pitchFamily="34" charset="0"/>
              <a:buChar char="•"/>
              <a:defRPr/>
            </a:pPr>
            <a:r>
              <a:rPr lang="en-US" dirty="0">
                <a:solidFill>
                  <a:prstClr val="black"/>
                </a:solidFill>
              </a:rPr>
              <a:t>Constructed the </a:t>
            </a:r>
            <a:r>
              <a:rPr lang="en-US" dirty="0" err="1">
                <a:solidFill>
                  <a:prstClr val="black"/>
                </a:solidFill>
              </a:rPr>
              <a:t>CRECEIVEln</a:t>
            </a:r>
            <a:r>
              <a:rPr lang="en-US" dirty="0">
                <a:solidFill>
                  <a:prstClr val="black"/>
                </a:solidFill>
              </a:rPr>
              <a:t> variable as the natural logarithm transformation of the CRECEIVE variable to bring out potential linear relationships between the CRECEIVE and the CLAIMS variable.</a:t>
            </a:r>
          </a:p>
        </p:txBody>
      </p:sp>
      <p:sp>
        <p:nvSpPr>
          <p:cNvPr id="4" name="Slide Number Placeholder 3"/>
          <p:cNvSpPr>
            <a:spLocks noGrp="1"/>
          </p:cNvSpPr>
          <p:nvPr>
            <p:ph type="sldNum" sz="quarter" idx="10"/>
          </p:nvPr>
        </p:nvSpPr>
        <p:spPr/>
        <p:txBody>
          <a:bodyPr/>
          <a:lstStyle/>
          <a:p>
            <a:fld id="{76C7EBE9-FBA5-4606-B4BF-D5A892555425}" type="slidenum">
              <a:rPr lang="en-US" smtClean="0"/>
              <a:t>22</a:t>
            </a:fld>
            <a:endParaRPr lang="en-US"/>
          </a:p>
        </p:txBody>
      </p:sp>
    </p:spTree>
    <p:extLst>
      <p:ext uri="{BB962C8B-B14F-4D97-AF65-F5344CB8AC3E}">
        <p14:creationId xmlns:p14="http://schemas.microsoft.com/office/powerpoint/2010/main" val="294080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References</a:t>
            </a:r>
          </a:p>
          <a:p>
            <a:r>
              <a:rPr lang="en-US" dirty="0" smtClean="0"/>
              <a:t>https://www.youtube.com/watch?v=Vi34XayXk_Y</a:t>
            </a:r>
          </a:p>
          <a:p>
            <a:r>
              <a:rPr lang="en-US" dirty="0" smtClean="0"/>
              <a:t>https://www.google.com/url?sa=t&amp;rct=j&amp;q=&amp;esrc=s&amp;source=web&amp;cd=3&amp;ved=2ahUKEwi0y9_6rvfeAhUQ0lMKHebFDzwQFjACegQICxAC&amp;url=http%3A%2F%2Fcore.ecu.edu%2Fpsyc%2Fwuenschk%2FSPSS%2FResidual-Plots-SPSS.doc&amp;usg=AOvVaw0ZKB4phPkzUUcCpSOxJrIq</a:t>
            </a:r>
          </a:p>
          <a:p>
            <a:r>
              <a:rPr lang="en-US" dirty="0" smtClean="0"/>
              <a:t>https://en.wikipedia.org/wiki/P%E2%80%93P_plot</a:t>
            </a:r>
          </a:p>
          <a:p>
            <a:r>
              <a:rPr lang="en-US" dirty="0" smtClean="0"/>
              <a:t>https://www.itl.nist.gov/div898/handbook/eda/section3/eda33l.htm</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23</a:t>
            </a:fld>
            <a:endParaRPr lang="en-US"/>
          </a:p>
        </p:txBody>
      </p:sp>
    </p:spTree>
    <p:extLst>
      <p:ext uri="{BB962C8B-B14F-4D97-AF65-F5344CB8AC3E}">
        <p14:creationId xmlns:p14="http://schemas.microsoft.com/office/powerpoint/2010/main" val="4028066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Sub-model 1 uses GENERAL as the DV and ORIGINAL as the IV.  </a:t>
            </a:r>
          </a:p>
          <a:p>
            <a:pPr marL="174708" indent="-174708">
              <a:buFont typeface="Arial" panose="020B0604020202020204" pitchFamily="34" charset="0"/>
              <a:buChar char="•"/>
            </a:pPr>
            <a:r>
              <a:rPr lang="en-US" dirty="0" smtClean="0"/>
              <a:t>It is likely that the originality of a patent will influence whether or not it will have broad applicability.  </a:t>
            </a:r>
          </a:p>
          <a:p>
            <a:pPr marL="174708" indent="-174708">
              <a:buFont typeface="Arial" panose="020B0604020202020204" pitchFamily="34" charset="0"/>
              <a:buChar char="•"/>
            </a:pPr>
            <a:r>
              <a:rPr lang="en-US" dirty="0" smtClean="0"/>
              <a:t>The more original the patent, the more likely that other innovators in various fields will identify applications of the technology over time.  </a:t>
            </a:r>
          </a:p>
          <a:p>
            <a:pPr marL="174708" indent="-174708">
              <a:buFont typeface="Arial" panose="020B0604020202020204" pitchFamily="34" charset="0"/>
              <a:buChar char="•"/>
            </a:pPr>
            <a:r>
              <a:rPr lang="en-US" dirty="0" smtClean="0"/>
              <a:t>Patents that rank low in originality are likely to be specific or specialized to a narrower range of applications within closely related fields. </a:t>
            </a:r>
          </a:p>
          <a:p>
            <a:r>
              <a:rPr lang="en-US" dirty="0" smtClean="0"/>
              <a:t>Sub-model 2 uses CLAIMS as the DV and ORIGINAL, GENERAL, GYEAR, and RATIOCIT as the IVs.  </a:t>
            </a:r>
          </a:p>
          <a:p>
            <a:pPr marL="174708" indent="-174708">
              <a:buFont typeface="Arial" panose="020B0604020202020204" pitchFamily="34" charset="0"/>
              <a:buChar char="•"/>
            </a:pPr>
            <a:r>
              <a:rPr lang="en-US" dirty="0" smtClean="0"/>
              <a:t>The claims of a patent define the scope of the subject that it asserts to be novel, nonobvious, and useful.  </a:t>
            </a:r>
          </a:p>
          <a:p>
            <a:pPr marL="174708" indent="-174708">
              <a:buFont typeface="Arial" panose="020B0604020202020204" pitchFamily="34" charset="0"/>
              <a:buChar char="•"/>
            </a:pPr>
            <a:r>
              <a:rPr lang="en-US" dirty="0" smtClean="0"/>
              <a:t>Patents that rank higher in originality are likely to generate more claims because they stake out new innovation territory.  </a:t>
            </a:r>
          </a:p>
          <a:p>
            <a:pPr marL="174708" indent="-174708">
              <a:buFont typeface="Arial" panose="020B0604020202020204" pitchFamily="34" charset="0"/>
              <a:buChar char="•"/>
            </a:pPr>
            <a:r>
              <a:rPr lang="en-US" dirty="0" smtClean="0"/>
              <a:t>Patents the rank higher in generality are likely to generate more claims because the scope of their applicability. </a:t>
            </a:r>
          </a:p>
          <a:p>
            <a:pPr marL="174708" indent="-174708">
              <a:buFont typeface="Arial" panose="020B0604020202020204" pitchFamily="34" charset="0"/>
              <a:buChar char="•"/>
            </a:pPr>
            <a:r>
              <a:rPr lang="en-US" dirty="0" smtClean="0"/>
              <a:t>In general, patents are likely to have more claims as the grant year increases because of the temporal nature of advances in sciences and the cumulative effects of scientific knowledge. </a:t>
            </a:r>
          </a:p>
          <a:p>
            <a:pPr marL="174708" indent="-174708">
              <a:buFont typeface="Arial" panose="020B0604020202020204" pitchFamily="34" charset="0"/>
              <a:buChar char="•"/>
            </a:pPr>
            <a:r>
              <a:rPr lang="en-US" dirty="0" smtClean="0"/>
              <a:t>I suspect that as the ratio of the number of citations made by all patents granted since 1960 to the total number of citations made by a particular patent increases the number of claims for a patent because of the general increase in scientific knowledge due to network effects.</a:t>
            </a:r>
          </a:p>
          <a:p>
            <a:r>
              <a:rPr lang="en-US" dirty="0" smtClean="0"/>
              <a:t>Sub-model 3 uses </a:t>
            </a:r>
            <a:r>
              <a:rPr lang="en-US" dirty="0" err="1" smtClean="0"/>
              <a:t>CRECEIVEln</a:t>
            </a:r>
            <a:r>
              <a:rPr lang="en-US" dirty="0" smtClean="0"/>
              <a:t> as the DV and ORIGINAL, GENERAL, CLAIMS, GYEAR, and RATIOCIT as the IVs.  </a:t>
            </a:r>
          </a:p>
          <a:p>
            <a:pPr marL="174708" indent="-174708">
              <a:buFont typeface="Arial" panose="020B0604020202020204" pitchFamily="34" charset="0"/>
              <a:buChar char="•"/>
            </a:pPr>
            <a:r>
              <a:rPr lang="en-US" dirty="0" smtClean="0"/>
              <a:t>Previous analysis indicated an inverse relationship between the originality of a patent and the number of citations it received.  This may be because the full capabilities of highly original patents are less readily apparent than patents that rank lower on originality.  </a:t>
            </a:r>
          </a:p>
          <a:p>
            <a:pPr marL="174708" indent="-174708">
              <a:buFont typeface="Arial" panose="020B0604020202020204" pitchFamily="34" charset="0"/>
              <a:buChar char="•"/>
            </a:pPr>
            <a:r>
              <a:rPr lang="en-US" dirty="0" smtClean="0"/>
              <a:t>Patents that rank high in generality probably receive higher numbers of citations because the broader scope of their applicability creates more opportunities to be cited.  </a:t>
            </a:r>
          </a:p>
          <a:p>
            <a:pPr marL="174708" indent="-174708">
              <a:buFont typeface="Arial" panose="020B0604020202020204" pitchFamily="34" charset="0"/>
              <a:buChar char="•"/>
            </a:pPr>
            <a:r>
              <a:rPr lang="en-US" dirty="0" smtClean="0"/>
              <a:t>Likewise, patents that have more claims probably have more opportunities to be cited than patents with fewer claims.  </a:t>
            </a:r>
          </a:p>
          <a:p>
            <a:pPr marL="174708" indent="-174708">
              <a:buFont typeface="Arial" panose="020B0604020202020204" pitchFamily="34" charset="0"/>
              <a:buChar char="•"/>
            </a:pPr>
            <a:r>
              <a:rPr lang="en-US" dirty="0" smtClean="0"/>
              <a:t>In general, patents are likely to receive more citations over time because scientific knowledge accumulates and spreads over time.  </a:t>
            </a:r>
          </a:p>
          <a:p>
            <a:pPr marL="174708" indent="-174708">
              <a:buFont typeface="Arial" panose="020B0604020202020204" pitchFamily="34" charset="0"/>
              <a:buChar char="•"/>
            </a:pPr>
            <a:r>
              <a:rPr lang="en-US" dirty="0" smtClean="0"/>
              <a:t>I suspect that as the ratio of the number of citations made by all patents granted since 1960 to the total number of citations made by a particular patent increases the number of citations a patent receives because of network effects.</a:t>
            </a:r>
          </a:p>
        </p:txBody>
      </p:sp>
      <p:sp>
        <p:nvSpPr>
          <p:cNvPr id="4" name="Slide Number Placeholder 3"/>
          <p:cNvSpPr>
            <a:spLocks noGrp="1"/>
          </p:cNvSpPr>
          <p:nvPr>
            <p:ph type="sldNum" sz="quarter" idx="10"/>
          </p:nvPr>
        </p:nvSpPr>
        <p:spPr/>
        <p:txBody>
          <a:bodyPr/>
          <a:lstStyle/>
          <a:p>
            <a:fld id="{76C7EBE9-FBA5-4606-B4BF-D5A892555425}" type="slidenum">
              <a:rPr lang="en-US" smtClean="0"/>
              <a:t>24</a:t>
            </a:fld>
            <a:endParaRPr lang="en-US"/>
          </a:p>
        </p:txBody>
      </p:sp>
    </p:spTree>
    <p:extLst>
      <p:ext uri="{BB962C8B-B14F-4D97-AF65-F5344CB8AC3E}">
        <p14:creationId xmlns:p14="http://schemas.microsoft.com/office/powerpoint/2010/main" val="38972981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Removed</a:t>
            </a:r>
            <a:r>
              <a:rPr lang="en-US" baseline="0" dirty="0" smtClean="0"/>
              <a:t> path between RATIOCIT and CLAIMS because doing so simplified the model without significantly reducing the R</a:t>
            </a:r>
            <a:r>
              <a:rPr lang="en-US" baseline="30000" dirty="0" smtClean="0"/>
              <a:t>2</a:t>
            </a:r>
            <a:r>
              <a:rPr lang="en-US" baseline="0" dirty="0" smtClean="0"/>
              <a:t> value the CLAIMS variable.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25</a:t>
            </a:fld>
            <a:endParaRPr lang="en-US"/>
          </a:p>
        </p:txBody>
      </p:sp>
    </p:spTree>
    <p:extLst>
      <p:ext uri="{BB962C8B-B14F-4D97-AF65-F5344CB8AC3E}">
        <p14:creationId xmlns:p14="http://schemas.microsoft.com/office/powerpoint/2010/main" val="2754019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result of the Omnibus test indicates that including the CLAIMS, GYEAR, GENERAL, and ORIGINAL variables improved the model fit.  </a:t>
            </a:r>
          </a:p>
          <a:p>
            <a:pPr marL="174708" indent="-174708">
              <a:buFont typeface="Arial" panose="020B0604020202020204" pitchFamily="34" charset="0"/>
              <a:buChar char="•"/>
            </a:pPr>
            <a:r>
              <a:rPr lang="en-US" dirty="0" smtClean="0"/>
              <a:t>One or more of these IVs predict the dependent variable.  </a:t>
            </a:r>
          </a:p>
          <a:p>
            <a:pPr marL="174708" indent="-174708">
              <a:buFont typeface="Arial" panose="020B0604020202020204" pitchFamily="34" charset="0"/>
              <a:buChar char="•"/>
            </a:pPr>
            <a:r>
              <a:rPr lang="en-US" dirty="0" smtClean="0"/>
              <a:t>The p-value was less than 0.001, which was significant.  </a:t>
            </a:r>
          </a:p>
          <a:p>
            <a:pPr marL="174708" indent="-174708">
              <a:buFont typeface="Arial" panose="020B0604020202020204" pitchFamily="34" charset="0"/>
              <a:buChar char="•"/>
            </a:pPr>
            <a:r>
              <a:rPr lang="en-US" dirty="0" smtClean="0"/>
              <a:t>The -2 Log likelihood was reduced from 2,623.109 to 1,906.867, which was a decrease of 716.242.  </a:t>
            </a:r>
          </a:p>
          <a:p>
            <a:pPr marL="174708" indent="-174708">
              <a:buFont typeface="Arial" panose="020B0604020202020204" pitchFamily="34" charset="0"/>
              <a:buChar char="•"/>
            </a:pPr>
            <a:r>
              <a:rPr lang="en-US" dirty="0" smtClean="0"/>
              <a:t>The </a:t>
            </a:r>
            <a:r>
              <a:rPr lang="en-US" dirty="0" err="1" smtClean="0"/>
              <a:t>Nagelkerke</a:t>
            </a:r>
            <a:r>
              <a:rPr lang="en-US" dirty="0" smtClean="0"/>
              <a:t> R</a:t>
            </a:r>
            <a:r>
              <a:rPr lang="en-US" baseline="30000" dirty="0" smtClean="0"/>
              <a:t>2</a:t>
            </a:r>
            <a:r>
              <a:rPr lang="en-US" dirty="0" smtClean="0"/>
              <a:t> was 0.415, which indicates that 41.5 percent of the probability that a patent received more than 2 citations was explained by the IVs included in the model. </a:t>
            </a:r>
          </a:p>
          <a:p>
            <a:endParaRPr lang="en-US" dirty="0" smtClean="0"/>
          </a:p>
          <a:p>
            <a:r>
              <a:rPr lang="en-US" dirty="0" smtClean="0"/>
              <a:t>Hosmer-</a:t>
            </a:r>
            <a:r>
              <a:rPr lang="en-US" dirty="0" err="1" smtClean="0"/>
              <a:t>Lemeshow</a:t>
            </a:r>
            <a:r>
              <a:rPr lang="en-US" baseline="0" dirty="0" smtClean="0"/>
              <a:t> Test results suggest a lack of fit for the model.</a:t>
            </a:r>
          </a:p>
          <a:p>
            <a:pPr marL="174708" indent="-174708">
              <a:buFont typeface="Arial" panose="020B0604020202020204" pitchFamily="34" charset="0"/>
              <a:buChar char="•"/>
            </a:pPr>
            <a:r>
              <a:rPr lang="en-US" dirty="0" smtClean="0"/>
              <a:t>The chi-square value was 23.671, which does not seem very small.  </a:t>
            </a:r>
          </a:p>
          <a:p>
            <a:pPr marL="174708" indent="-174708">
              <a:buFont typeface="Arial" panose="020B0604020202020204" pitchFamily="34" charset="0"/>
              <a:buChar char="•"/>
            </a:pPr>
            <a:r>
              <a:rPr lang="en-US" dirty="0" smtClean="0"/>
              <a:t>The p-value was 0.003 which is not much above the 0.001 significance level. </a:t>
            </a:r>
          </a:p>
          <a:p>
            <a:endParaRPr lang="en-US" dirty="0" smtClean="0"/>
          </a:p>
          <a:p>
            <a:r>
              <a:rPr lang="en-US" dirty="0" smtClean="0"/>
              <a:t>Predictive ability</a:t>
            </a:r>
            <a:r>
              <a:rPr lang="en-US" baseline="0" dirty="0" smtClean="0"/>
              <a:t> vs. goodness-of-fit</a:t>
            </a:r>
            <a:endParaRPr lang="en-US" dirty="0" smtClean="0"/>
          </a:p>
          <a:p>
            <a:pPr defTabSz="931774"/>
            <a:r>
              <a:rPr lang="en-US" dirty="0" smtClean="0"/>
              <a:t>Hosmer-</a:t>
            </a:r>
            <a:r>
              <a:rPr lang="en-US" dirty="0" err="1" smtClean="0"/>
              <a:t>Lemeshow</a:t>
            </a:r>
            <a:r>
              <a:rPr lang="en-US" baseline="0" dirty="0" smtClean="0"/>
              <a:t> </a:t>
            </a:r>
            <a:r>
              <a:rPr lang="en-US" dirty="0" smtClean="0"/>
              <a:t>Test results affected by</a:t>
            </a:r>
            <a:r>
              <a:rPr lang="en-US" baseline="0" dirty="0" smtClean="0"/>
              <a:t> the number of groups and sample size (larger n exacerbates the </a:t>
            </a:r>
            <a:r>
              <a:rPr lang="en-US" baseline="0" dirty="0" err="1" smtClean="0"/>
              <a:t>inherant</a:t>
            </a:r>
            <a:r>
              <a:rPr lang="en-US" baseline="0" dirty="0" smtClean="0"/>
              <a:t> </a:t>
            </a:r>
            <a:r>
              <a:rPr lang="en-US" baseline="0" dirty="0" err="1" smtClean="0"/>
              <a:t>discrepency</a:t>
            </a:r>
            <a:r>
              <a:rPr lang="en-US" baseline="0" dirty="0" smtClean="0"/>
              <a:t> between the logistic form and real-world process)</a:t>
            </a:r>
            <a:endParaRPr lang="en-US" dirty="0" smtClean="0"/>
          </a:p>
          <a:p>
            <a:r>
              <a:rPr lang="en-US" dirty="0" smtClean="0"/>
              <a:t>-2 log likelihood statistic is a measure of how “poorly” the model predicts the data;</a:t>
            </a:r>
            <a:r>
              <a:rPr lang="en-US" baseline="0" dirty="0" smtClean="0"/>
              <a:t> t</a:t>
            </a:r>
            <a:r>
              <a:rPr lang="en-US" dirty="0" smtClean="0"/>
              <a:t>he smaller the statistic the better the model.</a:t>
            </a:r>
          </a:p>
          <a:p>
            <a:r>
              <a:rPr lang="en-US" dirty="0" smtClean="0"/>
              <a:t>The deviance, or -2 log-likelihood (-2LL) statistic</a:t>
            </a:r>
            <a:r>
              <a:rPr lang="en-US" smtClean="0"/>
              <a:t>, is </a:t>
            </a:r>
            <a:r>
              <a:rPr lang="en-US" dirty="0" smtClean="0"/>
              <a:t>basically a measure of how much unexplained variation there is in our logistic regression model – the higher the value the less accurate the model.</a:t>
            </a:r>
          </a:p>
          <a:p>
            <a:endParaRPr lang="en-US" dirty="0" smtClean="0"/>
          </a:p>
          <a:p>
            <a:r>
              <a:rPr lang="en-US" dirty="0" smtClean="0"/>
              <a:t>References</a:t>
            </a:r>
          </a:p>
          <a:p>
            <a:r>
              <a:rPr lang="en-US" dirty="0" smtClean="0"/>
              <a:t>https://stats.stackexchange.com/questions/273966/logistic-regression-with-poor-goodness-of-fit-hosmer-lemeshow</a:t>
            </a:r>
          </a:p>
          <a:p>
            <a:r>
              <a:rPr lang="en-US" dirty="0" smtClean="0"/>
              <a:t>https://stats.stackexchange.com/questions/169000/goodness-of-fit-test-in-logistic-regression-which-fit-do-we-want-to-test</a:t>
            </a:r>
          </a:p>
          <a:p>
            <a:r>
              <a:rPr lang="en-US" dirty="0" smtClean="0"/>
              <a:t>https://statisticalhorizons.com/hosmer-lemeshow</a:t>
            </a:r>
          </a:p>
          <a:p>
            <a:r>
              <a:rPr lang="en-US" dirty="0" smtClean="0"/>
              <a:t>https://www.revolvy.com/page/Omnibus-test</a:t>
            </a:r>
          </a:p>
          <a:p>
            <a:r>
              <a:rPr lang="en-US" dirty="0" smtClean="0"/>
              <a:t>http://www.restore.ac.uk/srme/www/fac/soc/wie/research-new/srme/modules/mod4/6/index.html</a:t>
            </a:r>
          </a:p>
          <a:p>
            <a:r>
              <a:rPr lang="en-US" dirty="0" smtClean="0"/>
              <a:t>http://www.restore.ac.uk/srme/www/fac/soc/wie/research-new/srme/glossary/index1695.html?selectedLetter=D#deviance-2ll</a:t>
            </a:r>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22303875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GENERAL variable had the strongest association with the DV.  </a:t>
            </a:r>
          </a:p>
          <a:p>
            <a:r>
              <a:rPr lang="en-US" dirty="0" smtClean="0"/>
              <a:t>For a one unit increase in the GENERAL variable, the patent was 113.6 times more likely to have been cited by 3 or more times</a:t>
            </a:r>
            <a:r>
              <a:rPr lang="en-US" baseline="0" dirty="0" smtClean="0"/>
              <a:t> by </a:t>
            </a:r>
            <a:r>
              <a:rPr lang="en-US" dirty="0" smtClean="0"/>
              <a:t>other patents. </a:t>
            </a:r>
          </a:p>
          <a:p>
            <a:r>
              <a:rPr lang="en-US" dirty="0" smtClean="0"/>
              <a:t>Influence of the GENERAL</a:t>
            </a:r>
            <a:r>
              <a:rPr lang="en-US" baseline="0" dirty="0" smtClean="0"/>
              <a:t> variable was much higher than expected.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4292587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04/11/2019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04/11/2019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04/11/2019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04/11/2019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795090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innovation 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a:t>
            </a:r>
            <a:r>
              <a:rPr lang="en-US" sz="1600" dirty="0" smtClean="0">
                <a:solidFill>
                  <a:prstClr val="black"/>
                </a:solidFill>
              </a:rPr>
              <a:t>“</a:t>
            </a:r>
            <a:r>
              <a:rPr lang="en-US" sz="1600" dirty="0" smtClean="0">
                <a:solidFill>
                  <a:prstClr val="black"/>
                </a:solidFill>
              </a:rPr>
              <a:t>US </a:t>
            </a:r>
            <a:r>
              <a:rPr lang="en-US" sz="1600" dirty="0" smtClean="0">
                <a:solidFill>
                  <a:prstClr val="black"/>
                </a:solidFill>
              </a:rPr>
              <a:t>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262"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noChangeAspect="1"/>
          </p:cNvGraphicFramePr>
          <p:nvPr>
            <p:extLst>
              <p:ext uri="{D42A27DB-BD31-4B8C-83A1-F6EECF244321}">
                <p14:modId xmlns:p14="http://schemas.microsoft.com/office/powerpoint/2010/main" val="443779935"/>
              </p:ext>
            </p:extLst>
          </p:nvPr>
        </p:nvGraphicFramePr>
        <p:xfrm>
          <a:off x="708747" y="114300"/>
          <a:ext cx="7726507" cy="54864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2155886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619146090"/>
              </p:ext>
            </p:extLst>
          </p:nvPr>
        </p:nvGraphicFramePr>
        <p:xfrm>
          <a:off x="274320" y="691115"/>
          <a:ext cx="8595360" cy="4864713"/>
        </p:xfrm>
        <a:graphic>
          <a:graphicData uri="http://schemas.openxmlformats.org/drawingml/2006/table">
            <a:tbl>
              <a:tblPr firstRow="1" firstCol="1" bandRow="1"/>
              <a:tblGrid>
                <a:gridCol w="497576"/>
                <a:gridCol w="8097784"/>
              </a:tblGrid>
              <a:tr h="876629">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H1</a:t>
                      </a:r>
                      <a:r>
                        <a:rPr lang="en-US" sz="1400" baseline="-25000" dirty="0">
                          <a:solidFill>
                            <a:srgbClr val="000000"/>
                          </a:solidFill>
                          <a:effectLst/>
                          <a:latin typeface="+mn-lt"/>
                          <a:ea typeface="Calibri"/>
                          <a:cs typeface="Times New Roman"/>
                        </a:rPr>
                        <a:t>0</a:t>
                      </a:r>
                      <a:r>
                        <a:rPr lang="en-US" sz="1400" dirty="0">
                          <a:solidFill>
                            <a:srgbClr val="000000"/>
                          </a:solidFill>
                          <a:effectLst/>
                          <a:latin typeface="+mn-lt"/>
                          <a:ea typeface="Calibri"/>
                          <a:cs typeface="Times New Roman"/>
                        </a:rPr>
                        <a:t> </a:t>
                      </a:r>
                      <a:endParaRPr lang="en-US" sz="1200" dirty="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Technologies derived from federally-funded R&amp;D projects that progress further along the development process are NOT transferred to the private sector at significantly greater rates than technologies derived from federally-funded R&amp;D projects that don’t progress very far in the development process.</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876629">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H1</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H2</a:t>
                      </a:r>
                      <a:r>
                        <a:rPr lang="en-US" sz="1400" baseline="-25000">
                          <a:solidFill>
                            <a:srgbClr val="000000"/>
                          </a:solidFill>
                          <a:effectLst/>
                          <a:latin typeface="+mn-lt"/>
                          <a:ea typeface="Calibri"/>
                          <a:cs typeface="Times New Roman"/>
                        </a:rPr>
                        <a:t>0</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The spatial distance between where the R&amp;D project is conducted and the nearest city is NOT negatively associated (i.e., either positively associated or not associated) with the final development stage attained by the R&amp;D project.</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H2</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The spatial distance between where the R&amp;D project is conducted and the nearest city is negatively associated with the final development stage attained by the R&amp;D project.</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76629">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H3</a:t>
                      </a:r>
                      <a:r>
                        <a:rPr lang="en-US" sz="1400" baseline="-25000">
                          <a:solidFill>
                            <a:srgbClr val="000000"/>
                          </a:solidFill>
                          <a:effectLst/>
                          <a:latin typeface="+mn-lt"/>
                          <a:ea typeface="Calibri"/>
                          <a:cs typeface="Times New Roman"/>
                        </a:rPr>
                        <a:t>0</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Instances of technologies derived from federally-funded R&amp;D projects that are successfully transferred to the private sector are NOT negatively associated (i.e., either positively associated or not associated) with the spatial distance between where the R&amp;D project is conducted and the nearest city.</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H3</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Instances of technologies derived from federally-funded R&amp;D projects that are successfully transferred to the private sector are negatively associated with the spatial distance between where the R&amp;D project is conducted and the nearest city.</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127067598"/>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6584705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856939870"/>
              </p:ext>
            </p:extLst>
          </p:nvPr>
        </p:nvGraphicFramePr>
        <p:xfrm>
          <a:off x="50006" y="457200"/>
          <a:ext cx="4389120" cy="3768253"/>
        </p:xfrm>
        <a:graphic>
          <a:graphicData uri="http://schemas.openxmlformats.org/drawingml/2006/table">
            <a:tbl>
              <a:tblPr firstRow="1" firstCol="1" bandRow="1">
                <a:tableStyleId>{5C22544A-7EE6-4342-B048-85BDC9FD1C3A}</a:tableStyleId>
              </a:tblPr>
              <a:tblGrid>
                <a:gridCol w="598516"/>
                <a:gridCol w="864523"/>
                <a:gridCol w="1130530"/>
                <a:gridCol w="1795551"/>
              </a:tblGrid>
              <a:tr h="246496">
                <a:tc>
                  <a:txBody>
                    <a:bodyPr/>
                    <a:lstStyle/>
                    <a:p>
                      <a:pPr marL="0" marR="0" algn="l">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9081" marR="9081" marT="4543" marB="4543" anchor="ctr"/>
                </a:tc>
                <a:tc>
                  <a:txBody>
                    <a:bodyPr/>
                    <a:lstStyle/>
                    <a:p>
                      <a:pPr marL="0" marR="0" algn="l">
                        <a:lnSpc>
                          <a:spcPct val="100000"/>
                        </a:lnSpc>
                        <a:spcBef>
                          <a:spcPts val="0"/>
                        </a:spcBef>
                        <a:spcAft>
                          <a:spcPts val="0"/>
                        </a:spcAft>
                      </a:pPr>
                      <a:r>
                        <a:rPr lang="en-US" sz="800" dirty="0" smtClean="0">
                          <a:effectLst/>
                        </a:rPr>
                        <a:t>Variable </a:t>
                      </a:r>
                      <a:r>
                        <a:rPr lang="en-US" sz="800" dirty="0">
                          <a:effectLst/>
                        </a:rPr>
                        <a:t>Type</a:t>
                      </a:r>
                      <a:endParaRPr lang="en-US" sz="800" dirty="0">
                        <a:effectLst/>
                        <a:latin typeface="Calibri"/>
                        <a:ea typeface="Calibri"/>
                        <a:cs typeface="Times New Roman"/>
                      </a:endParaRPr>
                    </a:p>
                  </a:txBody>
                  <a:tcPr marL="9081" marR="9081" marT="4543" marB="4543" anchor="ctr"/>
                </a:tc>
                <a:tc>
                  <a:txBody>
                    <a:bodyPr/>
                    <a:lstStyle/>
                    <a:p>
                      <a:pPr marL="0" marR="0" algn="l">
                        <a:lnSpc>
                          <a:spcPct val="100000"/>
                        </a:lnSpc>
                        <a:spcBef>
                          <a:spcPts val="0"/>
                        </a:spcBef>
                        <a:spcAft>
                          <a:spcPts val="0"/>
                        </a:spcAft>
                      </a:pPr>
                      <a:r>
                        <a:rPr lang="en-US" sz="800" dirty="0">
                          <a:effectLst/>
                        </a:rPr>
                        <a:t>Extended Name</a:t>
                      </a:r>
                      <a:endParaRPr lang="en-US" sz="800" dirty="0">
                        <a:effectLst/>
                        <a:latin typeface="Calibri"/>
                        <a:ea typeface="Calibri"/>
                        <a:cs typeface="Times New Roman"/>
                      </a:endParaRPr>
                    </a:p>
                  </a:txBody>
                  <a:tcPr marL="9081" marR="9081" marT="4543" marB="4543" anchor="ctr"/>
                </a:tc>
                <a:tc>
                  <a:txBody>
                    <a:bodyPr/>
                    <a:lstStyle/>
                    <a:p>
                      <a:pPr marL="0" marR="0" algn="l">
                        <a:lnSpc>
                          <a:spcPct val="100000"/>
                        </a:lnSpc>
                        <a:spcBef>
                          <a:spcPts val="0"/>
                        </a:spcBef>
                        <a:spcAft>
                          <a:spcPts val="0"/>
                        </a:spcAft>
                      </a:pPr>
                      <a:r>
                        <a:rPr lang="en-US" sz="800" dirty="0">
                          <a:effectLst/>
                        </a:rPr>
                        <a:t>Description</a:t>
                      </a:r>
                      <a:endParaRPr lang="en-US" sz="800" dirty="0">
                        <a:effectLst/>
                        <a:latin typeface="Calibri"/>
                        <a:ea typeface="Calibri"/>
                        <a:cs typeface="Times New Roman"/>
                      </a:endParaRPr>
                    </a:p>
                  </a:txBody>
                  <a:tcPr marL="9081" marR="9081" marT="4543" marB="4543" anchor="ctr"/>
                </a:tc>
              </a:tr>
              <a:tr h="691640">
                <a:tc>
                  <a:txBody>
                    <a:bodyPr/>
                    <a:lstStyle/>
                    <a:p>
                      <a:pPr marL="0" marR="0">
                        <a:lnSpc>
                          <a:spcPct val="100000"/>
                        </a:lnSpc>
                        <a:spcBef>
                          <a:spcPts val="0"/>
                        </a:spcBef>
                        <a:spcAft>
                          <a:spcPts val="0"/>
                        </a:spcAft>
                      </a:pPr>
                      <a:r>
                        <a:rPr lang="en-US" sz="800" dirty="0">
                          <a:effectLst/>
                        </a:rPr>
                        <a:t>PATENT</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Patent Number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number assigned to the allowed patent by the USPTO.</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integer values between 3070801 and 6009554.</a:t>
                      </a:r>
                      <a:endParaRPr lang="en-US" sz="800" dirty="0">
                        <a:effectLst/>
                        <a:latin typeface="Calibri"/>
                        <a:ea typeface="Calibri"/>
                        <a:cs typeface="Times New Roman"/>
                      </a:endParaRPr>
                    </a:p>
                  </a:txBody>
                  <a:tcPr marL="9081" marR="9081" marT="4543" marB="4543"/>
                </a:tc>
              </a:tr>
              <a:tr h="555129">
                <a:tc>
                  <a:txBody>
                    <a:bodyPr/>
                    <a:lstStyle/>
                    <a:p>
                      <a:pPr marL="0" marR="0">
                        <a:lnSpc>
                          <a:spcPct val="100000"/>
                        </a:lnSpc>
                        <a:spcBef>
                          <a:spcPts val="0"/>
                        </a:spcBef>
                        <a:spcAft>
                          <a:spcPts val="0"/>
                        </a:spcAft>
                      </a:pPr>
                      <a:r>
                        <a:rPr lang="en-US" sz="800" dirty="0">
                          <a:effectLst/>
                        </a:rPr>
                        <a:t>GYEAR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Interval</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Grant Year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year the USPTO allowed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between 1963 – 1999.</a:t>
                      </a:r>
                      <a:endParaRPr lang="en-US" sz="800" dirty="0">
                        <a:effectLst/>
                        <a:latin typeface="Calibri"/>
                        <a:ea typeface="Calibri"/>
                        <a:cs typeface="Times New Roman"/>
                      </a:endParaRPr>
                    </a:p>
                  </a:txBody>
                  <a:tcPr marL="9081" marR="9081" marT="4543" marB="4543"/>
                </a:tc>
              </a:tr>
              <a:tr h="964662">
                <a:tc>
                  <a:txBody>
                    <a:bodyPr/>
                    <a:lstStyle/>
                    <a:p>
                      <a:pPr marL="0" marR="0">
                        <a:lnSpc>
                          <a:spcPct val="100000"/>
                        </a:lnSpc>
                        <a:spcBef>
                          <a:spcPts val="0"/>
                        </a:spcBef>
                        <a:spcAft>
                          <a:spcPts val="0"/>
                        </a:spcAft>
                      </a:pPr>
                      <a:r>
                        <a:rPr lang="en-US" sz="800">
                          <a:effectLst/>
                        </a:rPr>
                        <a:t>GDATE</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Interval</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Grant Date</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date the USPTO allowed the patent expressed in terms of the number of weeks elapsed since </a:t>
                      </a:r>
                      <a:br>
                        <a:rPr lang="en-US" sz="800" dirty="0">
                          <a:effectLst/>
                        </a:rPr>
                      </a:br>
                      <a:r>
                        <a:rPr lang="en-US" sz="800" dirty="0">
                          <a:effectLst/>
                        </a:rPr>
                        <a:t>January 1, 1960.</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between 156 and 2,028.</a:t>
                      </a:r>
                      <a:endParaRPr lang="en-US" sz="800" dirty="0">
                        <a:effectLst/>
                        <a:latin typeface="Calibri"/>
                        <a:ea typeface="Calibri"/>
                        <a:cs typeface="Times New Roman"/>
                      </a:endParaRPr>
                    </a:p>
                  </a:txBody>
                  <a:tcPr marL="9081" marR="9081" marT="4543" marB="4543"/>
                </a:tc>
              </a:tr>
              <a:tr h="691640">
                <a:tc>
                  <a:txBody>
                    <a:bodyPr/>
                    <a:lstStyle/>
                    <a:p>
                      <a:pPr marL="0" marR="0">
                        <a:lnSpc>
                          <a:spcPct val="100000"/>
                        </a:lnSpc>
                        <a:spcBef>
                          <a:spcPts val="0"/>
                        </a:spcBef>
                        <a:spcAft>
                          <a:spcPts val="0"/>
                        </a:spcAft>
                      </a:pPr>
                      <a:r>
                        <a:rPr lang="en-US" sz="800">
                          <a:effectLst/>
                        </a:rPr>
                        <a:t>APPYEAR</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Application Year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year the patent application was submitted to the USPTO.</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between 1963 – 1999.</a:t>
                      </a:r>
                      <a:endParaRPr lang="en-US" sz="800" dirty="0">
                        <a:effectLst/>
                        <a:latin typeface="Calibri"/>
                        <a:ea typeface="Calibri"/>
                        <a:cs typeface="Times New Roman"/>
                      </a:endParaRPr>
                    </a:p>
                  </a:txBody>
                  <a:tcPr marL="9081" marR="9081" marT="4543" marB="4543"/>
                </a:tc>
              </a:tr>
              <a:tr h="614483">
                <a:tc>
                  <a:txBody>
                    <a:bodyPr/>
                    <a:lstStyle/>
                    <a:p>
                      <a:pPr marL="0" marR="0">
                        <a:lnSpc>
                          <a:spcPct val="100000"/>
                        </a:lnSpc>
                        <a:spcBef>
                          <a:spcPts val="0"/>
                        </a:spcBef>
                        <a:spcAft>
                          <a:spcPts val="0"/>
                        </a:spcAft>
                      </a:pPr>
                      <a:r>
                        <a:rPr lang="en-US" sz="800">
                          <a:effectLst/>
                        </a:rPr>
                        <a:t>COUNTRY</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a:effectLst/>
                        </a:rPr>
                        <a:t>Character</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Country of First Inventor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country of citizenship for the first inventor listed on the patent application.</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of two character string data.</a:t>
                      </a:r>
                      <a:endParaRPr lang="en-US" sz="800" dirty="0">
                        <a:effectLst/>
                        <a:latin typeface="Calibri"/>
                        <a:ea typeface="Calibri"/>
                        <a:cs typeface="Times New Roman"/>
                      </a:endParaRPr>
                    </a:p>
                  </a:txBody>
                  <a:tcPr marL="9081" marR="9081" marT="4543" marB="4543"/>
                </a:tc>
              </a:tr>
            </a:tbl>
          </a:graphicData>
        </a:graphic>
      </p:graphicFrame>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2545416423"/>
                  </p:ext>
                </p:extLst>
              </p:nvPr>
            </p:nvGraphicFramePr>
            <p:xfrm>
              <a:off x="4712496" y="457200"/>
              <a:ext cx="4389120" cy="3283136"/>
            </p:xfrm>
            <a:graphic>
              <a:graphicData uri="http://schemas.openxmlformats.org/drawingml/2006/table">
                <a:tbl>
                  <a:tblPr firstRow="1" firstCol="1" bandRow="1">
                    <a:tableStyleId>{5C22544A-7EE6-4342-B048-85BDC9FD1C3A}</a:tableStyleId>
                  </a:tblPr>
                  <a:tblGrid>
                    <a:gridCol w="598516"/>
                    <a:gridCol w="864523"/>
                    <a:gridCol w="1130531"/>
                    <a:gridCol w="1795550"/>
                  </a:tblGrid>
                  <a:tr h="237884">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 Type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Extended Name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Description</a:t>
                          </a:r>
                        </a:p>
                      </a:txBody>
                      <a:tcPr marL="8927" marR="8927" marT="4466" marB="4466"/>
                    </a:tc>
                  </a:tr>
                  <a:tr h="844955">
                    <a:tc>
                      <a:txBody>
                        <a:bodyPr/>
                        <a:lstStyle/>
                        <a:p>
                          <a:pPr marL="0" marR="0">
                            <a:lnSpc>
                              <a:spcPct val="100000"/>
                            </a:lnSpc>
                            <a:spcBef>
                              <a:spcPts val="0"/>
                            </a:spcBef>
                            <a:spcAft>
                              <a:spcPts val="0"/>
                            </a:spcAft>
                          </a:pPr>
                          <a:r>
                            <a:rPr lang="en-US" sz="800" dirty="0">
                              <a:effectLst/>
                            </a:rPr>
                            <a:t>POSTATE</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Character</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State of First Inventor (US)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The state of residency for the first inventor listed on the patent application if the country of citizenship is the United States of America.</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of two character string data.</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ASSIGNEE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Identifier</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Unique identifier for the assignee of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10950 to 99550.</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one character code categorizing the type of assignee.</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 to 7.</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CLAIMS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Number of Claims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Number of independent and dependent claims on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from 1 to </a:t>
                          </a:r>
                          <a14:m>
                            <m:oMath xmlns:m="http://schemas.openxmlformats.org/officeDocument/2006/math">
                              <m:r>
                                <a:rPr lang="en-US" sz="800">
                                  <a:effectLst/>
                                  <a:latin typeface="Cambria Math"/>
                                </a:rPr>
                                <m:t>∞</m:t>
                              </m:r>
                            </m:oMath>
                          </a14:m>
                          <a:r>
                            <a:rPr lang="en-US" sz="800" dirty="0">
                              <a:effectLst/>
                            </a:rPr>
                            <a:t>.</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NCLASS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Main Patent Class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code that categorizes the patent into one of several broad classifications.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from 1 to 800.</a:t>
                          </a:r>
                          <a:endParaRPr lang="en-US" sz="800" dirty="0">
                            <a:effectLst/>
                            <a:latin typeface="Calibri"/>
                            <a:ea typeface="Calibri"/>
                            <a:cs typeface="Times New Roman"/>
                          </a:endParaRPr>
                        </a:p>
                      </a:txBody>
                      <a:tcPr marL="8927" marR="8927" marT="4466" marB="4466"/>
                    </a:tc>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2545416423"/>
                  </p:ext>
                </p:extLst>
              </p:nvPr>
            </p:nvGraphicFramePr>
            <p:xfrm>
              <a:off x="4712496" y="457200"/>
              <a:ext cx="4389120" cy="3283136"/>
            </p:xfrm>
            <a:graphic>
              <a:graphicData uri="http://schemas.openxmlformats.org/drawingml/2006/table">
                <a:tbl>
                  <a:tblPr firstRow="1" firstCol="1" bandRow="1">
                    <a:tableStyleId>{5C22544A-7EE6-4342-B048-85BDC9FD1C3A}</a:tableStyleId>
                  </a:tblPr>
                  <a:tblGrid>
                    <a:gridCol w="598516"/>
                    <a:gridCol w="864523"/>
                    <a:gridCol w="1130531"/>
                    <a:gridCol w="1795550"/>
                  </a:tblGrid>
                  <a:tr h="237884">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 Type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Extended Name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Description</a:t>
                          </a:r>
                        </a:p>
                      </a:txBody>
                      <a:tcPr marL="8927" marR="8927" marT="4466" marB="4466"/>
                    </a:tc>
                  </a:tr>
                  <a:tr h="862372">
                    <a:tc>
                      <a:txBody>
                        <a:bodyPr/>
                        <a:lstStyle/>
                        <a:p>
                          <a:pPr marL="0" marR="0">
                            <a:lnSpc>
                              <a:spcPct val="100000"/>
                            </a:lnSpc>
                            <a:spcBef>
                              <a:spcPts val="0"/>
                            </a:spcBef>
                            <a:spcAft>
                              <a:spcPts val="0"/>
                            </a:spcAft>
                          </a:pPr>
                          <a:r>
                            <a:rPr lang="en-US" sz="800" dirty="0">
                              <a:effectLst/>
                            </a:rPr>
                            <a:t>POSTATE</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Character</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State of First Inventor (US)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The state of residency for the first inventor listed on the patent application if the country of citizenship is the United States of America.</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of two character string data.</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ASSIGNEE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Identifier</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Unique identifier for the assignee of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10950 to 99550.</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one character code categorizing the type of assignee.</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 to 7.</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CLAIMS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Number of Claims</a:t>
                          </a:r>
                          <a:endParaRPr lang="en-US" sz="800">
                            <a:effectLst/>
                            <a:latin typeface="Calibri"/>
                            <a:ea typeface="Calibri"/>
                            <a:cs typeface="Times New Roman"/>
                          </a:endParaRPr>
                        </a:p>
                      </a:txBody>
                      <a:tcPr marL="8927" marR="8927" marT="4466" marB="4466"/>
                    </a:tc>
                    <a:tc>
                      <a:txBody>
                        <a:bodyPr/>
                        <a:lstStyle/>
                        <a:p>
                          <a:endParaRPr lang="en-US"/>
                        </a:p>
                      </a:txBody>
                      <a:tcPr marL="8927" marR="8927" marT="4466" marB="4466">
                        <a:blipFill rotWithShape="1">
                          <a:blip r:embed="rId3"/>
                          <a:stretch>
                            <a:fillRect l="-144068" t="-404494" r="-339" b="-103371"/>
                          </a:stretch>
                        </a:blipFill>
                      </a:tcPr>
                    </a:tc>
                  </a:tr>
                  <a:tr h="545720">
                    <a:tc>
                      <a:txBody>
                        <a:bodyPr/>
                        <a:lstStyle/>
                        <a:p>
                          <a:pPr marL="0" marR="0">
                            <a:lnSpc>
                              <a:spcPct val="100000"/>
                            </a:lnSpc>
                            <a:spcBef>
                              <a:spcPts val="0"/>
                            </a:spcBef>
                            <a:spcAft>
                              <a:spcPts val="0"/>
                            </a:spcAft>
                          </a:pPr>
                          <a:r>
                            <a:rPr lang="en-US" sz="800">
                              <a:effectLst/>
                            </a:rPr>
                            <a:t>NCLASS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Main Patent Class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code that categorizes the patent into one of several broad classifications.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from 1 to 800.</a:t>
                          </a:r>
                          <a:endParaRPr lang="en-US" sz="800" dirty="0">
                            <a:effectLst/>
                            <a:latin typeface="Calibri"/>
                            <a:ea typeface="Calibri"/>
                            <a:cs typeface="Times New Roman"/>
                          </a:endParaRPr>
                        </a:p>
                      </a:txBody>
                      <a:tcPr marL="8927" marR="8927" marT="4466" marB="4466"/>
                    </a:tc>
                  </a:tr>
                </a:tbl>
              </a:graphicData>
            </a:graphic>
          </p:graphicFrame>
        </mc:Fallback>
      </mc:AlternateContent>
      <p:sp>
        <p:nvSpPr>
          <p:cNvPr id="5" name="TextBox 4"/>
          <p:cNvSpPr txBox="1"/>
          <p:nvPr/>
        </p:nvSpPr>
        <p:spPr>
          <a:xfrm>
            <a:off x="0" y="0"/>
            <a:ext cx="9144000" cy="369332"/>
          </a:xfrm>
          <a:prstGeom prst="rect">
            <a:avLst/>
          </a:prstGeom>
          <a:noFill/>
        </p:spPr>
        <p:txBody>
          <a:bodyPr wrap="square" rtlCol="0">
            <a:spAutoFit/>
          </a:bodyPr>
          <a:lstStyle/>
          <a:p>
            <a:r>
              <a:rPr lang="en-US" dirty="0" smtClean="0"/>
              <a:t>Original USPTO Variables from Source Data</a:t>
            </a:r>
            <a:endParaRPr lang="en-US" dirty="0"/>
          </a:p>
        </p:txBody>
      </p:sp>
      <p:sp>
        <p:nvSpPr>
          <p:cNvPr id="2" name="Rectangle 1"/>
          <p:cNvSpPr/>
          <p:nvPr/>
        </p:nvSpPr>
        <p:spPr>
          <a:xfrm>
            <a:off x="0" y="4450277"/>
            <a:ext cx="9144000" cy="1154162"/>
          </a:xfrm>
          <a:prstGeom prst="rect">
            <a:avLst/>
          </a:prstGeom>
        </p:spPr>
        <p:txBody>
          <a:bodyPr>
            <a:spAutoFit/>
          </a:bodyPr>
          <a:lstStyle/>
          <a:p>
            <a:pPr marL="457200" lvl="0" indent="-457200">
              <a:spcAft>
                <a:spcPts val="600"/>
              </a:spcAft>
            </a:pPr>
            <a:r>
              <a:rPr lang="en-US" sz="1600" dirty="0">
                <a:solidFill>
                  <a:prstClr val="black"/>
                </a:solidFill>
                <a:latin typeface="Times New Roman"/>
                <a:ea typeface="Calibri"/>
                <a:cs typeface="Times New Roman"/>
              </a:rPr>
              <a:t>National Bureau of Economic Research. </a:t>
            </a:r>
            <a:r>
              <a:rPr lang="en-US" sz="1600" dirty="0" smtClean="0">
                <a:solidFill>
                  <a:prstClr val="black"/>
                </a:solidFill>
                <a:latin typeface="Times New Roman"/>
                <a:ea typeface="Calibri"/>
                <a:cs typeface="Times New Roman"/>
              </a:rPr>
              <a:t>(2018). </a:t>
            </a:r>
            <a:r>
              <a:rPr lang="en-US" sz="1600" dirty="0">
                <a:solidFill>
                  <a:prstClr val="black"/>
                </a:solidFill>
                <a:latin typeface="Times New Roman"/>
                <a:ea typeface="Calibri"/>
                <a:cs typeface="Times New Roman"/>
              </a:rPr>
              <a:t>Patent data, including constructed variables [data file]. Retrieved from http://www.nber.org/patents</a:t>
            </a:r>
            <a:r>
              <a:rPr lang="en-US" sz="1600" dirty="0" smtClean="0">
                <a:solidFill>
                  <a:prstClr val="black"/>
                </a:solidFill>
                <a:latin typeface="Times New Roman"/>
                <a:ea typeface="Calibri"/>
                <a:cs typeface="Times New Roman"/>
              </a:rPr>
              <a:t>/</a:t>
            </a:r>
          </a:p>
          <a:p>
            <a:pPr marL="457200" lvl="0" indent="-457200">
              <a:spcAft>
                <a:spcPts val="600"/>
              </a:spcAft>
            </a:pPr>
            <a:r>
              <a:rPr lang="en-US" sz="1600" dirty="0">
                <a:solidFill>
                  <a:prstClr val="black"/>
                </a:solidFill>
                <a:latin typeface="Times New Roman"/>
                <a:ea typeface="Calibri"/>
                <a:cs typeface="Times New Roman"/>
              </a:rPr>
              <a:t>Hall, B. H., Jaffe, A. B. and </a:t>
            </a:r>
            <a:r>
              <a:rPr lang="en-US" sz="1600" dirty="0" err="1">
                <a:solidFill>
                  <a:prstClr val="black"/>
                </a:solidFill>
                <a:latin typeface="Times New Roman"/>
                <a:ea typeface="Calibri"/>
                <a:cs typeface="Times New Roman"/>
              </a:rPr>
              <a:t>Trajtenberg</a:t>
            </a:r>
            <a:r>
              <a:rPr lang="en-US" sz="1600" dirty="0">
                <a:solidFill>
                  <a:prstClr val="black"/>
                </a:solidFill>
                <a:latin typeface="Times New Roman"/>
                <a:ea typeface="Calibri"/>
                <a:cs typeface="Times New Roman"/>
              </a:rPr>
              <a:t>, M. (2001). "The NBER Patent Citation Data File: Lessons, Insights and Methodological Tools." </a:t>
            </a:r>
            <a:r>
              <a:rPr lang="en-US" sz="1600" i="1" dirty="0">
                <a:solidFill>
                  <a:prstClr val="black"/>
                </a:solidFill>
                <a:latin typeface="Times New Roman"/>
                <a:ea typeface="Calibri"/>
                <a:cs typeface="Times New Roman"/>
              </a:rPr>
              <a:t>NBER Working Paper 8498</a:t>
            </a:r>
            <a:r>
              <a:rPr lang="en-US" sz="1600" dirty="0">
                <a:solidFill>
                  <a:prstClr val="black"/>
                </a:solidFill>
                <a:latin typeface="Times New Roman"/>
                <a:ea typeface="Calibri"/>
                <a:cs typeface="Times New Roman"/>
              </a:rPr>
              <a:t>. Retrieved from http://www.nber.org/patents</a:t>
            </a:r>
            <a:r>
              <a:rPr lang="en-US" sz="1600" dirty="0" smtClean="0">
                <a:solidFill>
                  <a:prstClr val="black"/>
                </a:solidFill>
                <a:latin typeface="Times New Roman"/>
                <a:ea typeface="Calibri"/>
                <a:cs typeface="Times New Roman"/>
              </a:rPr>
              <a:t>/</a:t>
            </a:r>
            <a:endParaRPr lang="en-US" sz="1400" dirty="0">
              <a:solidFill>
                <a:prstClr val="black"/>
              </a:solidFill>
              <a:ea typeface="Calibri"/>
              <a:cs typeface="Times New Roman"/>
            </a:endParaRPr>
          </a:p>
        </p:txBody>
      </p:sp>
      <p:pic>
        <p:nvPicPr>
          <p:cNvPr id="6"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0" y="1267131"/>
            <a:ext cx="548640" cy="36576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02025" y="2524999"/>
            <a:ext cx="548640" cy="36576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0" y="2790384"/>
            <a:ext cx="548640" cy="365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32243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7136"/>
            <a:ext cx="9144000" cy="369332"/>
          </a:xfrm>
          <a:prstGeom prst="rect">
            <a:avLst/>
          </a:prstGeom>
          <a:noFill/>
        </p:spPr>
        <p:txBody>
          <a:bodyPr wrap="square" rtlCol="0">
            <a:spAutoFit/>
          </a:bodyPr>
          <a:lstStyle/>
          <a:p>
            <a:r>
              <a:rPr lang="en-US" dirty="0" smtClean="0"/>
              <a:t>Original Constructed Variables from Source Data</a:t>
            </a:r>
            <a:endParaRPr lang="en-US" dirty="0"/>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554949418"/>
                  </p:ext>
                </p:extLst>
              </p:nvPr>
            </p:nvGraphicFramePr>
            <p:xfrm>
              <a:off x="42862" y="457200"/>
              <a:ext cx="4389120" cy="3815112"/>
            </p:xfrm>
            <a:graphic>
              <a:graphicData uri="http://schemas.openxmlformats.org/drawingml/2006/table">
                <a:tbl>
                  <a:tblPr firstRow="1" firstCol="1" bandRow="1">
                    <a:tableStyleId>{5C22544A-7EE6-4342-B048-85BDC9FD1C3A}</a:tableStyleId>
                  </a:tblPr>
                  <a:tblGrid>
                    <a:gridCol w="810297"/>
                    <a:gridCol w="810297"/>
                    <a:gridCol w="1350498"/>
                    <a:gridCol w="1418028"/>
                  </a:tblGrid>
                  <a:tr h="92290">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929" marR="5929" marT="2966" marB="2966"/>
                    </a:tc>
                  </a:tr>
                  <a:tr h="299773">
                    <a:tc>
                      <a:txBody>
                        <a:bodyPr/>
                        <a:lstStyle/>
                        <a:p>
                          <a:pPr marL="0" marR="0">
                            <a:lnSpc>
                              <a:spcPct val="100000"/>
                            </a:lnSpc>
                            <a:spcBef>
                              <a:spcPts val="0"/>
                            </a:spcBef>
                            <a:spcAft>
                              <a:spcPts val="0"/>
                            </a:spcAft>
                          </a:pPr>
                          <a:r>
                            <a:rPr lang="en-US" sz="800">
                              <a:effectLst/>
                            </a:rPr>
                            <a:t>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A higher-level classification of the Main Patent Class.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a:t>
                          </a:r>
                          <a:endParaRPr lang="en-US" sz="800">
                            <a:effectLst/>
                            <a:latin typeface="Calibri"/>
                            <a:ea typeface="Calibri"/>
                            <a:cs typeface="Times New Roman"/>
                          </a:endParaRPr>
                        </a:p>
                      </a:txBody>
                      <a:tcPr marL="5929" marR="5929" marT="2966" marB="2966"/>
                    </a:tc>
                  </a:tr>
                  <a:tr h="348468">
                    <a:tc>
                      <a:txBody>
                        <a:bodyPr/>
                        <a:lstStyle/>
                        <a:p>
                          <a:pPr marL="0" marR="0">
                            <a:lnSpc>
                              <a:spcPct val="100000"/>
                            </a:lnSpc>
                            <a:spcBef>
                              <a:spcPts val="0"/>
                            </a:spcBef>
                            <a:spcAft>
                              <a:spcPts val="0"/>
                            </a:spcAft>
                          </a:pPr>
                          <a:r>
                            <a:rPr lang="en-US" sz="800">
                              <a:effectLst/>
                            </a:rPr>
                            <a:t>SUBCAT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Sub-category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sub-category of the primary technological category to which the patent is assigned.</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69.</a:t>
                          </a:r>
                          <a:endParaRPr lang="en-US" sz="800">
                            <a:effectLst/>
                            <a:latin typeface="Calibri"/>
                            <a:ea typeface="Calibri"/>
                            <a:cs typeface="Times New Roman"/>
                          </a:endParaRPr>
                        </a:p>
                      </a:txBody>
                      <a:tcPr marL="5929" marR="5929" marT="2966" marB="2966"/>
                    </a:tc>
                  </a:tr>
                  <a:tr h="251078">
                    <a:tc>
                      <a:txBody>
                        <a:bodyPr/>
                        <a:lstStyle/>
                        <a:p>
                          <a:pPr marL="0" marR="0">
                            <a:lnSpc>
                              <a:spcPct val="100000"/>
                            </a:lnSpc>
                            <a:spcBef>
                              <a:spcPts val="0"/>
                            </a:spcBef>
                            <a:spcAft>
                              <a:spcPts val="0"/>
                            </a:spcAft>
                          </a:pPr>
                          <a:r>
                            <a:rPr lang="en-US" sz="800">
                              <a:effectLst/>
                            </a:rPr>
                            <a:t>CMADE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Number of Citations Made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number of citations made by the patent.</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a:t>
                          </a:r>
                          <a14:m>
                            <m:oMath xmlns:m="http://schemas.openxmlformats.org/officeDocument/2006/math">
                              <m:r>
                                <a:rPr lang="en-US" sz="800">
                                  <a:effectLst/>
                                  <a:latin typeface="Cambria Math"/>
                                </a:rPr>
                                <m:t>∞</m:t>
                              </m:r>
                            </m:oMath>
                          </a14:m>
                          <a:r>
                            <a:rPr lang="en-US" sz="800">
                              <a:effectLst/>
                            </a:rPr>
                            <a:t>.</a:t>
                          </a:r>
                          <a:endParaRPr lang="en-US" sz="800">
                            <a:effectLst/>
                            <a:latin typeface="Calibri"/>
                            <a:ea typeface="Calibri"/>
                            <a:cs typeface="Times New Roman"/>
                          </a:endParaRPr>
                        </a:p>
                      </a:txBody>
                      <a:tcPr marL="5929" marR="5929" marT="2966" marB="2966"/>
                    </a:tc>
                  </a:tr>
                  <a:tr h="299773">
                    <a:tc>
                      <a:txBody>
                        <a:bodyPr/>
                        <a:lstStyle/>
                        <a:p>
                          <a:pPr marL="0" marR="0">
                            <a:lnSpc>
                              <a:spcPct val="100000"/>
                            </a:lnSpc>
                            <a:spcBef>
                              <a:spcPts val="0"/>
                            </a:spcBef>
                            <a:spcAft>
                              <a:spcPts val="0"/>
                            </a:spcAft>
                          </a:pPr>
                          <a:r>
                            <a:rPr lang="en-US" sz="800">
                              <a:effectLst/>
                            </a:rPr>
                            <a:t>CRECEIVE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No. of Citations Received</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number of citations in other patents that reference the patent.</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a:t>
                          </a:r>
                          <a14:m>
                            <m:oMath xmlns:m="http://schemas.openxmlformats.org/officeDocument/2006/math">
                              <m:r>
                                <a:rPr lang="en-US" sz="800">
                                  <a:effectLst/>
                                  <a:latin typeface="Cambria Math"/>
                                </a:rPr>
                                <m:t>∞</m:t>
                              </m:r>
                            </m:oMath>
                          </a14:m>
                          <a:r>
                            <a:rPr lang="en-US" sz="800">
                              <a:effectLst/>
                            </a:rPr>
                            <a:t>.</a:t>
                          </a:r>
                          <a:endParaRPr lang="en-US" sz="800">
                            <a:effectLst/>
                            <a:latin typeface="Calibri"/>
                            <a:ea typeface="Calibri"/>
                            <a:cs typeface="Times New Roman"/>
                          </a:endParaRPr>
                        </a:p>
                      </a:txBody>
                      <a:tcPr marL="5929" marR="5929" marT="2966" marB="2966"/>
                    </a:tc>
                  </a:tr>
                  <a:tr h="445859">
                    <a:tc>
                      <a:txBody>
                        <a:bodyPr/>
                        <a:lstStyle/>
                        <a:p>
                          <a:pPr marL="0" marR="0">
                            <a:lnSpc>
                              <a:spcPct val="100000"/>
                            </a:lnSpc>
                            <a:spcBef>
                              <a:spcPts val="0"/>
                            </a:spcBef>
                            <a:spcAft>
                              <a:spcPts val="0"/>
                            </a:spcAft>
                          </a:pPr>
                          <a:r>
                            <a:rPr lang="en-US" sz="800">
                              <a:effectLst/>
                            </a:rPr>
                            <a:t>RATIOCIT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Percent of Citations Made to Patents Granted Since 1963</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The ratio of the number of citations made by all patents granted since 1963 to the total number of citations made by the particular patent. </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554949418"/>
                  </p:ext>
                </p:extLst>
              </p:nvPr>
            </p:nvGraphicFramePr>
            <p:xfrm>
              <a:off x="42862" y="457200"/>
              <a:ext cx="4389120" cy="3815112"/>
            </p:xfrm>
            <a:graphic>
              <a:graphicData uri="http://schemas.openxmlformats.org/drawingml/2006/table">
                <a:tbl>
                  <a:tblPr firstRow="1" firstCol="1" bandRow="1">
                    <a:tableStyleId>{5C22544A-7EE6-4342-B048-85BDC9FD1C3A}</a:tableStyleId>
                  </a:tblPr>
                  <a:tblGrid>
                    <a:gridCol w="810297"/>
                    <a:gridCol w="810297"/>
                    <a:gridCol w="1350498"/>
                    <a:gridCol w="1418028"/>
                  </a:tblGrid>
                  <a:tr h="12785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929" marR="5929" marT="2966" marB="2966"/>
                    </a:tc>
                  </a:tr>
                  <a:tr h="615532">
                    <a:tc>
                      <a:txBody>
                        <a:bodyPr/>
                        <a:lstStyle/>
                        <a:p>
                          <a:pPr marL="0" marR="0">
                            <a:lnSpc>
                              <a:spcPct val="100000"/>
                            </a:lnSpc>
                            <a:spcBef>
                              <a:spcPts val="0"/>
                            </a:spcBef>
                            <a:spcAft>
                              <a:spcPts val="0"/>
                            </a:spcAft>
                          </a:pPr>
                          <a:r>
                            <a:rPr lang="en-US" sz="800">
                              <a:effectLst/>
                            </a:rPr>
                            <a:t>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A higher-level classification of the Main Patent Class.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a:t>
                          </a:r>
                          <a:endParaRPr lang="en-US" sz="800">
                            <a:effectLst/>
                            <a:latin typeface="Calibri"/>
                            <a:ea typeface="Calibri"/>
                            <a:cs typeface="Times New Roman"/>
                          </a:endParaRPr>
                        </a:p>
                      </a:txBody>
                      <a:tcPr marL="5929" marR="5929" marT="2966" marB="2966"/>
                    </a:tc>
                  </a:tr>
                  <a:tr h="737452">
                    <a:tc>
                      <a:txBody>
                        <a:bodyPr/>
                        <a:lstStyle/>
                        <a:p>
                          <a:pPr marL="0" marR="0">
                            <a:lnSpc>
                              <a:spcPct val="100000"/>
                            </a:lnSpc>
                            <a:spcBef>
                              <a:spcPts val="0"/>
                            </a:spcBef>
                            <a:spcAft>
                              <a:spcPts val="0"/>
                            </a:spcAft>
                          </a:pPr>
                          <a:r>
                            <a:rPr lang="en-US" sz="800">
                              <a:effectLst/>
                            </a:rPr>
                            <a:t>SUBCAT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Sub-category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sub-category of the primary technological category to which the patent is assigned.</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69.</a:t>
                          </a:r>
                          <a:endParaRPr lang="en-US" sz="800">
                            <a:effectLst/>
                            <a:latin typeface="Calibri"/>
                            <a:ea typeface="Calibri"/>
                            <a:cs typeface="Times New Roman"/>
                          </a:endParaRPr>
                        </a:p>
                      </a:txBody>
                      <a:tcPr marL="5929" marR="5929" marT="2966" marB="2966"/>
                    </a:tc>
                  </a:tr>
                  <a:tr h="615532">
                    <a:tc>
                      <a:txBody>
                        <a:bodyPr/>
                        <a:lstStyle/>
                        <a:p>
                          <a:pPr marL="0" marR="0">
                            <a:lnSpc>
                              <a:spcPct val="100000"/>
                            </a:lnSpc>
                            <a:spcBef>
                              <a:spcPts val="0"/>
                            </a:spcBef>
                            <a:spcAft>
                              <a:spcPts val="0"/>
                            </a:spcAft>
                          </a:pPr>
                          <a:r>
                            <a:rPr lang="en-US" sz="800">
                              <a:effectLst/>
                            </a:rPr>
                            <a:t>CMADE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Number of Citations Made</a:t>
                          </a:r>
                          <a:endParaRPr lang="en-US" sz="80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2"/>
                          <a:stretch>
                            <a:fillRect l="-209013" t="-244554" r="-429" b="-290099"/>
                          </a:stretch>
                        </a:blipFill>
                      </a:tcPr>
                    </a:tc>
                  </a:tr>
                  <a:tr h="737452">
                    <a:tc>
                      <a:txBody>
                        <a:bodyPr/>
                        <a:lstStyle/>
                        <a:p>
                          <a:pPr marL="0" marR="0">
                            <a:lnSpc>
                              <a:spcPct val="100000"/>
                            </a:lnSpc>
                            <a:spcBef>
                              <a:spcPts val="0"/>
                            </a:spcBef>
                            <a:spcAft>
                              <a:spcPts val="0"/>
                            </a:spcAft>
                          </a:pPr>
                          <a:r>
                            <a:rPr lang="en-US" sz="800">
                              <a:effectLst/>
                            </a:rPr>
                            <a:t>CRECEIVE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No. of Citations Received</a:t>
                          </a:r>
                          <a:endParaRPr lang="en-US" sz="80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2"/>
                          <a:stretch>
                            <a:fillRect l="-209013" t="-287603" r="-429" b="-142149"/>
                          </a:stretch>
                        </a:blipFill>
                      </a:tcPr>
                    </a:tc>
                  </a:tr>
                  <a:tr h="981292">
                    <a:tc>
                      <a:txBody>
                        <a:bodyPr/>
                        <a:lstStyle/>
                        <a:p>
                          <a:pPr marL="0" marR="0">
                            <a:lnSpc>
                              <a:spcPct val="100000"/>
                            </a:lnSpc>
                            <a:spcBef>
                              <a:spcPts val="0"/>
                            </a:spcBef>
                            <a:spcAft>
                              <a:spcPts val="0"/>
                            </a:spcAft>
                          </a:pPr>
                          <a:r>
                            <a:rPr lang="en-US" sz="800">
                              <a:effectLst/>
                            </a:rPr>
                            <a:t>RATIOCIT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Percent of Citations Made to Patents Granted Since 1963</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The ratio of the number of citations made by all patents granted since 1963 to the total number of citations made by the particular patent. </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bl>
              </a:graphicData>
            </a:graphic>
          </p:graphicFrame>
        </mc:Fallback>
      </mc:AlternateContent>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1023192790"/>
                  </p:ext>
                </p:extLst>
              </p:nvPr>
            </p:nvGraphicFramePr>
            <p:xfrm>
              <a:off x="4704874" y="457200"/>
              <a:ext cx="4389120" cy="3983394"/>
            </p:xfrm>
            <a:graphic>
              <a:graphicData uri="http://schemas.openxmlformats.org/drawingml/2006/table">
                <a:tbl>
                  <a:tblPr firstRow="1" firstCol="1" bandRow="1">
                    <a:tableStyleId>{5C22544A-7EE6-4342-B048-85BDC9FD1C3A}</a:tableStyleId>
                  </a:tblPr>
                  <a:tblGrid>
                    <a:gridCol w="810299"/>
                    <a:gridCol w="810299"/>
                    <a:gridCol w="1350497"/>
                    <a:gridCol w="1418025"/>
                  </a:tblGrid>
                  <a:tr h="6920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266095">
                    <a:tc>
                      <a:txBody>
                        <a:bodyPr/>
                        <a:lstStyle/>
                        <a:p>
                          <a:pPr marL="0" marR="0">
                            <a:lnSpc>
                              <a:spcPct val="100000"/>
                            </a:lnSpc>
                            <a:spcBef>
                              <a:spcPts val="0"/>
                            </a:spcBef>
                            <a:spcAft>
                              <a:spcPts val="0"/>
                            </a:spcAft>
                          </a:pPr>
                          <a:r>
                            <a:rPr lang="en-US" sz="800" dirty="0">
                              <a:effectLst/>
                            </a:rPr>
                            <a:t>GENERAL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Generality</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A measure of how broad the influence of a patent spans across fields as determined by the number of different fields of all patents that cite the patent of interest.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Calculated as the following: </a:t>
                          </a:r>
                        </a:p>
                        <a:p>
                          <a:pPr marL="0" marR="0">
                            <a:lnSpc>
                              <a:spcPct val="100000"/>
                            </a:lnSpc>
                            <a:spcBef>
                              <a:spcPts val="0"/>
                            </a:spcBef>
                            <a:spcAft>
                              <a:spcPts val="0"/>
                            </a:spcAft>
                          </a:pPr>
                          <a:r>
                            <a:rPr lang="en-US" sz="800" dirty="0" err="1">
                              <a:effectLst/>
                            </a:rPr>
                            <a:t>Generality</a:t>
                          </a:r>
                          <a:r>
                            <a:rPr lang="en-US" sz="800" baseline="-25000" dirty="0" err="1">
                              <a:effectLst/>
                            </a:rPr>
                            <a:t>i</a:t>
                          </a:r>
                          <a:r>
                            <a:rPr lang="en-US" sz="800" dirty="0">
                              <a:effectLst/>
                            </a:rPr>
                            <a:t> = 1 - </a:t>
                          </a:r>
                          <a14:m>
                            <m:oMath xmlns:m="http://schemas.openxmlformats.org/officeDocument/2006/math">
                              <m:nary>
                                <m:naryPr>
                                  <m:chr m:val="∑"/>
                                  <m:limLoc m:val="undOvr"/>
                                  <m:ctrlPr>
                                    <a:rPr lang="en-US" sz="800" i="1">
                                      <a:effectLst/>
                                      <a:latin typeface="Cambria Math"/>
                                    </a:rPr>
                                  </m:ctrlPr>
                                </m:naryPr>
                                <m:sub>
                                  <m:r>
                                    <a:rPr lang="en-US" sz="800">
                                      <a:effectLst/>
                                      <a:latin typeface="Cambria Math"/>
                                    </a:rPr>
                                    <m:t>𝑗</m:t>
                                  </m:r>
                                </m:sub>
                                <m:sup>
                                  <m:sSub>
                                    <m:sSubPr>
                                      <m:ctrlPr>
                                        <a:rPr lang="en-US" sz="800" i="1">
                                          <a:effectLst/>
                                          <a:latin typeface="Cambria Math"/>
                                        </a:rPr>
                                      </m:ctrlPr>
                                    </m:sSubPr>
                                    <m:e>
                                      <m:r>
                                        <a:rPr lang="en-US" sz="800">
                                          <a:effectLst/>
                                          <a:latin typeface="Cambria Math"/>
                                        </a:rPr>
                                        <m:t>𝑛</m:t>
                                      </m:r>
                                    </m:e>
                                    <m:sub>
                                      <m:r>
                                        <a:rPr lang="en-US" sz="800">
                                          <a:effectLst/>
                                          <a:latin typeface="Cambria Math"/>
                                        </a:rPr>
                                        <m:t>𝑖</m:t>
                                      </m:r>
                                    </m:sub>
                                  </m:sSub>
                                </m:sup>
                                <m:e>
                                  <m:sSubSup>
                                    <m:sSubSupPr>
                                      <m:ctrlPr>
                                        <a:rPr lang="en-US" sz="800" i="1">
                                          <a:effectLst/>
                                          <a:latin typeface="Cambria Math"/>
                                        </a:rPr>
                                      </m:ctrlPr>
                                    </m:sSubSupPr>
                                    <m:e>
                                      <m:r>
                                        <a:rPr lang="en-US" sz="800">
                                          <a:effectLst/>
                                          <a:latin typeface="Cambria Math"/>
                                        </a:rPr>
                                        <m:t>𝑠</m:t>
                                      </m:r>
                                    </m:e>
                                    <m:sub>
                                      <m:r>
                                        <a:rPr lang="en-US" sz="800">
                                          <a:effectLst/>
                                          <a:latin typeface="Cambria Math"/>
                                        </a:rPr>
                                        <m:t>𝑖𝑗</m:t>
                                      </m:r>
                                    </m:sub>
                                    <m:sup>
                                      <m:r>
                                        <a:rPr lang="en-US" sz="800">
                                          <a:effectLst/>
                                          <a:latin typeface="Cambria Math"/>
                                        </a:rPr>
                                        <m:t>2</m:t>
                                      </m:r>
                                    </m:sup>
                                  </m:sSubSup>
                                </m:e>
                              </m:nary>
                            </m:oMath>
                          </a14:m>
                          <a:r>
                            <a:rPr lang="en-US" sz="800" dirty="0">
                              <a:effectLst/>
                            </a:rPr>
                            <a:t> , where </a:t>
                          </a:r>
                          <a:r>
                            <a:rPr lang="en-US" sz="800" dirty="0" err="1">
                              <a:effectLst/>
                            </a:rPr>
                            <a:t>s</a:t>
                          </a:r>
                          <a:r>
                            <a:rPr lang="en-US" sz="800" baseline="-25000" dirty="0" err="1">
                              <a:effectLst/>
                            </a:rPr>
                            <a:t>ij</a:t>
                          </a:r>
                          <a:r>
                            <a:rPr lang="en-US" sz="800" dirty="0">
                              <a:effectLst/>
                            </a:rPr>
                            <a:t> denotes the percentage of citations received by patent </a:t>
                          </a:r>
                          <a:r>
                            <a:rPr lang="en-US" sz="800" dirty="0" err="1">
                              <a:effectLst/>
                            </a:rPr>
                            <a:t>i</a:t>
                          </a:r>
                          <a:r>
                            <a:rPr lang="en-US" sz="800" dirty="0">
                              <a:effectLst/>
                            </a:rPr>
                            <a:t> that belong to patent class j, out of </a:t>
                          </a:r>
                          <a:r>
                            <a:rPr lang="en-US" sz="800" dirty="0" err="1">
                              <a:effectLst/>
                            </a:rPr>
                            <a:t>n</a:t>
                          </a:r>
                          <a:r>
                            <a:rPr lang="en-US" sz="800" baseline="-25000" dirty="0" err="1">
                              <a:effectLst/>
                            </a:rPr>
                            <a:t>i</a:t>
                          </a:r>
                          <a:r>
                            <a:rPr lang="en-US" sz="800" dirty="0">
                              <a:effectLst/>
                            </a:rPr>
                            <a:t> patent classes.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r h="266095">
                    <a:tc>
                      <a:txBody>
                        <a:bodyPr/>
                        <a:lstStyle/>
                        <a:p>
                          <a:pPr marL="0" marR="0">
                            <a:lnSpc>
                              <a:spcPct val="100000"/>
                            </a:lnSpc>
                            <a:spcBef>
                              <a:spcPts val="0"/>
                            </a:spcBef>
                            <a:spcAft>
                              <a:spcPts val="0"/>
                            </a:spcAft>
                          </a:pPr>
                          <a:r>
                            <a:rPr lang="en-US" sz="800">
                              <a:effectLst/>
                            </a:rPr>
                            <a:t>ORIGINAL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Originality</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A measure of the originality of a patent as determined by the number of different fields for all patents cited by the patent of interest.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Calculated as the following: </a:t>
                          </a:r>
                        </a:p>
                        <a:p>
                          <a:pPr marL="0" marR="0">
                            <a:lnSpc>
                              <a:spcPct val="100000"/>
                            </a:lnSpc>
                            <a:spcBef>
                              <a:spcPts val="0"/>
                            </a:spcBef>
                            <a:spcAft>
                              <a:spcPts val="0"/>
                            </a:spcAft>
                          </a:pPr>
                          <a:r>
                            <a:rPr lang="en-US" sz="800" dirty="0" err="1">
                              <a:effectLst/>
                            </a:rPr>
                            <a:t>Originality</a:t>
                          </a:r>
                          <a:r>
                            <a:rPr lang="en-US" sz="800" baseline="-25000" dirty="0" err="1">
                              <a:effectLst/>
                            </a:rPr>
                            <a:t>i</a:t>
                          </a:r>
                          <a:r>
                            <a:rPr lang="en-US" sz="800" dirty="0">
                              <a:effectLst/>
                            </a:rPr>
                            <a:t> = 1 - </a:t>
                          </a:r>
                          <a14:m>
                            <m:oMath xmlns:m="http://schemas.openxmlformats.org/officeDocument/2006/math">
                              <m:nary>
                                <m:naryPr>
                                  <m:chr m:val="∑"/>
                                  <m:limLoc m:val="undOvr"/>
                                  <m:ctrlPr>
                                    <a:rPr lang="en-US" sz="800" i="1">
                                      <a:effectLst/>
                                      <a:latin typeface="Cambria Math"/>
                                    </a:rPr>
                                  </m:ctrlPr>
                                </m:naryPr>
                                <m:sub>
                                  <m:r>
                                    <a:rPr lang="en-US" sz="800">
                                      <a:effectLst/>
                                      <a:latin typeface="Cambria Math"/>
                                    </a:rPr>
                                    <m:t>𝑗</m:t>
                                  </m:r>
                                </m:sub>
                                <m:sup>
                                  <m:sSub>
                                    <m:sSubPr>
                                      <m:ctrlPr>
                                        <a:rPr lang="en-US" sz="800" i="1">
                                          <a:effectLst/>
                                          <a:latin typeface="Cambria Math"/>
                                        </a:rPr>
                                      </m:ctrlPr>
                                    </m:sSubPr>
                                    <m:e>
                                      <m:r>
                                        <a:rPr lang="en-US" sz="800">
                                          <a:effectLst/>
                                          <a:latin typeface="Cambria Math"/>
                                        </a:rPr>
                                        <m:t>𝑛</m:t>
                                      </m:r>
                                    </m:e>
                                    <m:sub>
                                      <m:r>
                                        <a:rPr lang="en-US" sz="800">
                                          <a:effectLst/>
                                          <a:latin typeface="Cambria Math"/>
                                        </a:rPr>
                                        <m:t>𝑖</m:t>
                                      </m:r>
                                    </m:sub>
                                  </m:sSub>
                                </m:sup>
                                <m:e>
                                  <m:sSubSup>
                                    <m:sSubSupPr>
                                      <m:ctrlPr>
                                        <a:rPr lang="en-US" sz="800" i="1">
                                          <a:effectLst/>
                                          <a:latin typeface="Cambria Math"/>
                                        </a:rPr>
                                      </m:ctrlPr>
                                    </m:sSubSupPr>
                                    <m:e>
                                      <m:r>
                                        <a:rPr lang="en-US" sz="800">
                                          <a:effectLst/>
                                          <a:latin typeface="Cambria Math"/>
                                        </a:rPr>
                                        <m:t>𝑠</m:t>
                                      </m:r>
                                    </m:e>
                                    <m:sub>
                                      <m:r>
                                        <a:rPr lang="en-US" sz="800">
                                          <a:effectLst/>
                                          <a:latin typeface="Cambria Math"/>
                                        </a:rPr>
                                        <m:t>𝑖𝑗</m:t>
                                      </m:r>
                                    </m:sub>
                                    <m:sup>
                                      <m:r>
                                        <a:rPr lang="en-US" sz="800">
                                          <a:effectLst/>
                                          <a:latin typeface="Cambria Math"/>
                                        </a:rPr>
                                        <m:t>2</m:t>
                                      </m:r>
                                    </m:sup>
                                  </m:sSubSup>
                                </m:e>
                              </m:nary>
                            </m:oMath>
                          </a14:m>
                          <a:r>
                            <a:rPr lang="en-US" sz="800" dirty="0">
                              <a:effectLst/>
                            </a:rPr>
                            <a:t> , where </a:t>
                          </a:r>
                          <a:r>
                            <a:rPr lang="en-US" sz="800" dirty="0" err="1">
                              <a:effectLst/>
                            </a:rPr>
                            <a:t>s</a:t>
                          </a:r>
                          <a:r>
                            <a:rPr lang="en-US" sz="800" baseline="-25000" dirty="0" err="1">
                              <a:effectLst/>
                            </a:rPr>
                            <a:t>ij</a:t>
                          </a:r>
                          <a:r>
                            <a:rPr lang="en-US" sz="800" dirty="0">
                              <a:effectLst/>
                            </a:rPr>
                            <a:t> denotes the percentage of citations made by patent </a:t>
                          </a:r>
                          <a:r>
                            <a:rPr lang="en-US" sz="800" dirty="0" err="1">
                              <a:effectLst/>
                            </a:rPr>
                            <a:t>i</a:t>
                          </a:r>
                          <a:r>
                            <a:rPr lang="en-US" sz="800" dirty="0">
                              <a:effectLst/>
                            </a:rPr>
                            <a:t> that belong to patent class j, out of </a:t>
                          </a:r>
                          <a:r>
                            <a:rPr lang="en-US" sz="800" dirty="0" err="1">
                              <a:effectLst/>
                            </a:rPr>
                            <a:t>n</a:t>
                          </a:r>
                          <a:r>
                            <a:rPr lang="en-US" sz="800" baseline="-25000" dirty="0" err="1">
                              <a:effectLst/>
                            </a:rPr>
                            <a:t>i</a:t>
                          </a:r>
                          <a:r>
                            <a:rPr lang="en-US" sz="800" dirty="0">
                              <a:effectLst/>
                            </a:rPr>
                            <a:t> patent classes.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1023192790"/>
                  </p:ext>
                </p:extLst>
              </p:nvPr>
            </p:nvGraphicFramePr>
            <p:xfrm>
              <a:off x="4704874" y="457200"/>
              <a:ext cx="4389120" cy="3983394"/>
            </p:xfrm>
            <a:graphic>
              <a:graphicData uri="http://schemas.openxmlformats.org/drawingml/2006/table">
                <a:tbl>
                  <a:tblPr firstRow="1" firstCol="1" bandRow="1">
                    <a:tableStyleId>{5C22544A-7EE6-4342-B048-85BDC9FD1C3A}</a:tableStyleId>
                  </a:tblPr>
                  <a:tblGrid>
                    <a:gridCol w="810299"/>
                    <a:gridCol w="810299"/>
                    <a:gridCol w="1350497"/>
                    <a:gridCol w="1418025"/>
                  </a:tblGrid>
                  <a:tr h="127620">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1988847">
                    <a:tc>
                      <a:txBody>
                        <a:bodyPr/>
                        <a:lstStyle/>
                        <a:p>
                          <a:pPr marL="0" marR="0">
                            <a:lnSpc>
                              <a:spcPct val="100000"/>
                            </a:lnSpc>
                            <a:spcBef>
                              <a:spcPts val="0"/>
                            </a:spcBef>
                            <a:spcAft>
                              <a:spcPts val="0"/>
                            </a:spcAft>
                          </a:pPr>
                          <a:r>
                            <a:rPr lang="en-US" sz="800" dirty="0">
                              <a:effectLst/>
                            </a:rPr>
                            <a:t>GENERAL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Generality</a:t>
                          </a:r>
                          <a:endParaRPr lang="en-US" sz="800" dirty="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3"/>
                          <a:stretch>
                            <a:fillRect l="-209442" t="-7669" b="-97239"/>
                          </a:stretch>
                        </a:blipFill>
                      </a:tcPr>
                    </a:tc>
                  </a:tr>
                  <a:tr h="1866927">
                    <a:tc>
                      <a:txBody>
                        <a:bodyPr/>
                        <a:lstStyle/>
                        <a:p>
                          <a:pPr marL="0" marR="0">
                            <a:lnSpc>
                              <a:spcPct val="100000"/>
                            </a:lnSpc>
                            <a:spcBef>
                              <a:spcPts val="0"/>
                            </a:spcBef>
                            <a:spcAft>
                              <a:spcPts val="0"/>
                            </a:spcAft>
                          </a:pPr>
                          <a:r>
                            <a:rPr lang="en-US" sz="800">
                              <a:effectLst/>
                            </a:rPr>
                            <a:t>ORIGINAL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Originality</a:t>
                          </a:r>
                          <a:endParaRPr lang="en-US" sz="800" dirty="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3"/>
                          <a:stretch>
                            <a:fillRect l="-209442" t="-114706" b="-3595"/>
                          </a:stretch>
                        </a:blipFill>
                      </a:tcPr>
                    </a:tc>
                  </a:tr>
                </a:tbl>
              </a:graphicData>
            </a:graphic>
          </p:graphicFrame>
        </mc:Fallback>
      </mc:AlternateContent>
      <p:sp>
        <p:nvSpPr>
          <p:cNvPr id="5" name="Rectangle 4"/>
          <p:cNvSpPr/>
          <p:nvPr/>
        </p:nvSpPr>
        <p:spPr>
          <a:xfrm>
            <a:off x="0" y="4450277"/>
            <a:ext cx="9144000" cy="1154162"/>
          </a:xfrm>
          <a:prstGeom prst="rect">
            <a:avLst/>
          </a:prstGeom>
        </p:spPr>
        <p:txBody>
          <a:bodyPr>
            <a:spAutoFit/>
          </a:bodyPr>
          <a:lstStyle/>
          <a:p>
            <a:pPr marL="457200" lvl="0" indent="-457200">
              <a:spcAft>
                <a:spcPts val="600"/>
              </a:spcAft>
            </a:pPr>
            <a:r>
              <a:rPr lang="en-US" sz="1600" dirty="0">
                <a:solidFill>
                  <a:prstClr val="black"/>
                </a:solidFill>
                <a:latin typeface="Times New Roman"/>
                <a:ea typeface="Calibri"/>
                <a:cs typeface="Times New Roman"/>
              </a:rPr>
              <a:t>National Bureau of Economic Research. </a:t>
            </a:r>
            <a:r>
              <a:rPr lang="en-US" sz="1600" dirty="0" smtClean="0">
                <a:solidFill>
                  <a:prstClr val="black"/>
                </a:solidFill>
                <a:latin typeface="Times New Roman"/>
                <a:ea typeface="Calibri"/>
                <a:cs typeface="Times New Roman"/>
              </a:rPr>
              <a:t>(2018). </a:t>
            </a:r>
            <a:r>
              <a:rPr lang="en-US" sz="1600" dirty="0">
                <a:solidFill>
                  <a:prstClr val="black"/>
                </a:solidFill>
                <a:latin typeface="Times New Roman"/>
                <a:ea typeface="Calibri"/>
                <a:cs typeface="Times New Roman"/>
              </a:rPr>
              <a:t>Patent data, including constructed variables [data file]. Retrieved from http://www.nber.org/patents</a:t>
            </a:r>
            <a:r>
              <a:rPr lang="en-US" sz="1600" dirty="0" smtClean="0">
                <a:solidFill>
                  <a:prstClr val="black"/>
                </a:solidFill>
                <a:latin typeface="Times New Roman"/>
                <a:ea typeface="Calibri"/>
                <a:cs typeface="Times New Roman"/>
              </a:rPr>
              <a:t>/</a:t>
            </a:r>
          </a:p>
          <a:p>
            <a:pPr marL="457200" lvl="0" indent="-457200">
              <a:spcAft>
                <a:spcPts val="600"/>
              </a:spcAft>
            </a:pPr>
            <a:r>
              <a:rPr lang="en-US" sz="1600" dirty="0">
                <a:solidFill>
                  <a:prstClr val="black"/>
                </a:solidFill>
                <a:latin typeface="Times New Roman"/>
                <a:ea typeface="Calibri"/>
                <a:cs typeface="Times New Roman"/>
              </a:rPr>
              <a:t>Hall, B. H., Jaffe, A. B. and </a:t>
            </a:r>
            <a:r>
              <a:rPr lang="en-US" sz="1600" dirty="0" err="1">
                <a:solidFill>
                  <a:prstClr val="black"/>
                </a:solidFill>
                <a:latin typeface="Times New Roman"/>
                <a:ea typeface="Calibri"/>
                <a:cs typeface="Times New Roman"/>
              </a:rPr>
              <a:t>Trajtenberg</a:t>
            </a:r>
            <a:r>
              <a:rPr lang="en-US" sz="1600" dirty="0">
                <a:solidFill>
                  <a:prstClr val="black"/>
                </a:solidFill>
                <a:latin typeface="Times New Roman"/>
                <a:ea typeface="Calibri"/>
                <a:cs typeface="Times New Roman"/>
              </a:rPr>
              <a:t>, M. (2001). "The NBER Patent Citation Data File: Lessons, Insights and Methodological Tools." </a:t>
            </a:r>
            <a:r>
              <a:rPr lang="en-US" sz="1600" i="1" dirty="0">
                <a:solidFill>
                  <a:prstClr val="black"/>
                </a:solidFill>
                <a:latin typeface="Times New Roman"/>
                <a:ea typeface="Calibri"/>
                <a:cs typeface="Times New Roman"/>
              </a:rPr>
              <a:t>NBER Working Paper 8498</a:t>
            </a:r>
            <a:r>
              <a:rPr lang="en-US" sz="1600" dirty="0">
                <a:solidFill>
                  <a:prstClr val="black"/>
                </a:solidFill>
                <a:latin typeface="Times New Roman"/>
                <a:ea typeface="Calibri"/>
                <a:cs typeface="Times New Roman"/>
              </a:rPr>
              <a:t>. Retrieved from http://www.nber.org/patents</a:t>
            </a:r>
            <a:r>
              <a:rPr lang="en-US" sz="1600" dirty="0" smtClean="0">
                <a:solidFill>
                  <a:prstClr val="black"/>
                </a:solidFill>
                <a:latin typeface="Times New Roman"/>
                <a:ea typeface="Calibri"/>
                <a:cs typeface="Times New Roman"/>
              </a:rPr>
              <a:t>/</a:t>
            </a:r>
            <a:endParaRPr lang="en-US" sz="1400" dirty="0">
              <a:solidFill>
                <a:prstClr val="black"/>
              </a:solidFill>
              <a:ea typeface="Calibri"/>
              <a:cs typeface="Times New Roman"/>
            </a:endParaRPr>
          </a:p>
        </p:txBody>
      </p:sp>
      <p:grpSp>
        <p:nvGrpSpPr>
          <p:cNvPr id="8" name="Group 7"/>
          <p:cNvGrpSpPr/>
          <p:nvPr/>
        </p:nvGrpSpPr>
        <p:grpSpPr>
          <a:xfrm>
            <a:off x="111892" y="1225609"/>
            <a:ext cx="728639" cy="100494"/>
            <a:chOff x="-79180" y="1252905"/>
            <a:chExt cx="728639" cy="100494"/>
          </a:xfrm>
        </p:grpSpPr>
        <p:pic>
          <p:nvPicPr>
            <p:cNvPr id="6"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586846">
              <a:off x="9379" y="1252905"/>
              <a:ext cx="640080" cy="9144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9666543" flipH="1">
              <a:off x="-79180" y="1262818"/>
              <a:ext cx="640080" cy="905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p:cNvGrpSpPr/>
          <p:nvPr/>
        </p:nvGrpSpPr>
        <p:grpSpPr>
          <a:xfrm>
            <a:off x="-22316" y="613721"/>
            <a:ext cx="728639" cy="100494"/>
            <a:chOff x="-79180" y="1252905"/>
            <a:chExt cx="728639" cy="100494"/>
          </a:xfrm>
        </p:grpSpPr>
        <p:pic>
          <p:nvPicPr>
            <p:cNvPr id="10"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586846">
              <a:off x="9379" y="1252905"/>
              <a:ext cx="640080" cy="9144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9666543" flipH="1">
              <a:off x="-79180" y="1262818"/>
              <a:ext cx="640080" cy="9058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24601095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4118252965"/>
              </p:ext>
            </p:extLst>
          </p:nvPr>
        </p:nvGraphicFramePr>
        <p:xfrm>
          <a:off x="57150" y="457200"/>
          <a:ext cx="4389120" cy="3929940"/>
        </p:xfrm>
        <a:graphic>
          <a:graphicData uri="http://schemas.openxmlformats.org/drawingml/2006/table">
            <a:tbl>
              <a:tblPr firstRow="1" firstCol="1" bandRow="1">
                <a:tableStyleId>{5C22544A-7EE6-4342-B048-85BDC9FD1C3A}</a:tableStyleId>
              </a:tblPr>
              <a:tblGrid>
                <a:gridCol w="810299"/>
                <a:gridCol w="810299"/>
                <a:gridCol w="1350497"/>
                <a:gridCol w="1418025"/>
              </a:tblGrid>
              <a:tr h="6920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Variable Type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266095">
                <a:tc>
                  <a:txBody>
                    <a:bodyPr/>
                    <a:lstStyle/>
                    <a:p>
                      <a:pPr marL="0" marR="0">
                        <a:lnSpc>
                          <a:spcPct val="100000"/>
                        </a:lnSpc>
                        <a:spcBef>
                          <a:spcPts val="0"/>
                        </a:spcBef>
                        <a:spcAft>
                          <a:spcPts val="0"/>
                        </a:spcAft>
                      </a:pPr>
                      <a:r>
                        <a:rPr lang="en-US" sz="800" dirty="0">
                          <a:effectLst/>
                        </a:rPr>
                        <a:t>FWDAPLAG</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Mean Forward Citation Lag</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mean time difference between the application or grant date of the patent and that of the other patents citing this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r h="233544">
                <a:tc>
                  <a:txBody>
                    <a:bodyPr/>
                    <a:lstStyle/>
                    <a:p>
                      <a:pPr marL="0" marR="0">
                        <a:lnSpc>
                          <a:spcPct val="100000"/>
                        </a:lnSpc>
                        <a:spcBef>
                          <a:spcPts val="0"/>
                        </a:spcBef>
                        <a:spcAft>
                          <a:spcPts val="0"/>
                        </a:spcAft>
                      </a:pPr>
                      <a:r>
                        <a:rPr lang="en-US" sz="800" dirty="0">
                          <a:effectLst/>
                        </a:rPr>
                        <a:t>BCKGTLAG</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Mean Backward Citation Lag</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mean time difference between the application or grant date of the patent and that of the patents it cites.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r h="298644">
                <a:tc>
                  <a:txBody>
                    <a:bodyPr/>
                    <a:lstStyle/>
                    <a:p>
                      <a:pPr marL="0" marR="0">
                        <a:lnSpc>
                          <a:spcPct val="100000"/>
                        </a:lnSpc>
                        <a:spcBef>
                          <a:spcPts val="0"/>
                        </a:spcBef>
                        <a:spcAft>
                          <a:spcPts val="0"/>
                        </a:spcAft>
                      </a:pPr>
                      <a:r>
                        <a:rPr lang="en-US" sz="800">
                          <a:effectLst/>
                        </a:rPr>
                        <a:t>SELFCTUB</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Made – Upper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The number of citations made by the patent to other patents with the same assignee divided by the total number of citations made by all patents with assignee codes.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continuous values between 0 and 1.</a:t>
                      </a:r>
                      <a:endParaRPr lang="en-US" sz="800">
                        <a:effectLst/>
                        <a:latin typeface="Calibri"/>
                        <a:ea typeface="Calibri"/>
                        <a:cs typeface="Times New Roman"/>
                      </a:endParaRPr>
                    </a:p>
                  </a:txBody>
                  <a:tcPr marL="5700" marR="5700" marT="2850" marB="2850"/>
                </a:tc>
              </a:tr>
              <a:tr h="298644">
                <a:tc>
                  <a:txBody>
                    <a:bodyPr/>
                    <a:lstStyle/>
                    <a:p>
                      <a:pPr marL="0" marR="0">
                        <a:lnSpc>
                          <a:spcPct val="100000"/>
                        </a:lnSpc>
                        <a:spcBef>
                          <a:spcPts val="0"/>
                        </a:spcBef>
                        <a:spcAft>
                          <a:spcPts val="0"/>
                        </a:spcAft>
                      </a:pPr>
                      <a:r>
                        <a:rPr lang="en-US" sz="800">
                          <a:effectLst/>
                        </a:rPr>
                        <a:t>SELFCTLB</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Made – Lower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number of citations made by the patent to other patents with the same assignee divided by the total number of citations made by all patents.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bl>
          </a:graphicData>
        </a:graphic>
      </p:graphicFrame>
      <p:sp>
        <p:nvSpPr>
          <p:cNvPr id="3" name="TextBox 2"/>
          <p:cNvSpPr txBox="1"/>
          <p:nvPr/>
        </p:nvSpPr>
        <p:spPr>
          <a:xfrm>
            <a:off x="0" y="7136"/>
            <a:ext cx="9144000" cy="369332"/>
          </a:xfrm>
          <a:prstGeom prst="rect">
            <a:avLst/>
          </a:prstGeom>
          <a:noFill/>
        </p:spPr>
        <p:txBody>
          <a:bodyPr wrap="square" rtlCol="0">
            <a:spAutoFit/>
          </a:bodyPr>
          <a:lstStyle/>
          <a:p>
            <a:r>
              <a:rPr lang="en-US" dirty="0" smtClean="0"/>
              <a:t>Original Constructed Variables from Source Data (cont’d)</a:t>
            </a: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708239078"/>
              </p:ext>
            </p:extLst>
          </p:nvPr>
        </p:nvGraphicFramePr>
        <p:xfrm>
          <a:off x="4702969" y="457200"/>
          <a:ext cx="4389120" cy="2211660"/>
        </p:xfrm>
        <a:graphic>
          <a:graphicData uri="http://schemas.openxmlformats.org/drawingml/2006/table">
            <a:tbl>
              <a:tblPr firstRow="1" firstCol="1" bandRow="1">
                <a:tableStyleId>{5C22544A-7EE6-4342-B048-85BDC9FD1C3A}</a:tableStyleId>
              </a:tblPr>
              <a:tblGrid>
                <a:gridCol w="810299"/>
                <a:gridCol w="810299"/>
                <a:gridCol w="1350497"/>
                <a:gridCol w="1418025"/>
              </a:tblGrid>
              <a:tr h="6920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Variable Type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331193">
                <a:tc>
                  <a:txBody>
                    <a:bodyPr/>
                    <a:lstStyle/>
                    <a:p>
                      <a:pPr marL="0" marR="0">
                        <a:lnSpc>
                          <a:spcPct val="100000"/>
                        </a:lnSpc>
                        <a:spcBef>
                          <a:spcPts val="0"/>
                        </a:spcBef>
                        <a:spcAft>
                          <a:spcPts val="0"/>
                        </a:spcAft>
                      </a:pPr>
                      <a:r>
                        <a:rPr lang="en-US" sz="800" dirty="0">
                          <a:effectLst/>
                        </a:rPr>
                        <a:t>SECUPBD</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Received – Upper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The number of citations received by the patent from other patents with the same assignee divided by the total number of citations received by all patents with assignee codes.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continuous values between 0 and 1.</a:t>
                      </a:r>
                      <a:endParaRPr lang="en-US" sz="800">
                        <a:effectLst/>
                        <a:latin typeface="Calibri"/>
                        <a:ea typeface="Calibri"/>
                        <a:cs typeface="Times New Roman"/>
                      </a:endParaRPr>
                    </a:p>
                  </a:txBody>
                  <a:tcPr marL="5700" marR="5700" marT="2850" marB="2850"/>
                </a:tc>
              </a:tr>
              <a:tr h="298644">
                <a:tc>
                  <a:txBody>
                    <a:bodyPr/>
                    <a:lstStyle/>
                    <a:p>
                      <a:pPr marL="0" marR="0">
                        <a:lnSpc>
                          <a:spcPct val="100000"/>
                        </a:lnSpc>
                        <a:spcBef>
                          <a:spcPts val="0"/>
                        </a:spcBef>
                        <a:spcAft>
                          <a:spcPts val="0"/>
                        </a:spcAft>
                      </a:pPr>
                      <a:r>
                        <a:rPr lang="en-US" sz="800">
                          <a:effectLst/>
                        </a:rPr>
                        <a:t>SECDLWBD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Received – Lower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number of citations received by the patent from other patents with the same assignee divided by the total number of citations received by all patents.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bl>
          </a:graphicData>
        </a:graphic>
      </p:graphicFrame>
      <p:sp>
        <p:nvSpPr>
          <p:cNvPr id="5" name="Rectangle 4"/>
          <p:cNvSpPr/>
          <p:nvPr/>
        </p:nvSpPr>
        <p:spPr>
          <a:xfrm>
            <a:off x="0" y="4450277"/>
            <a:ext cx="9144000" cy="1154162"/>
          </a:xfrm>
          <a:prstGeom prst="rect">
            <a:avLst/>
          </a:prstGeom>
        </p:spPr>
        <p:txBody>
          <a:bodyPr>
            <a:spAutoFit/>
          </a:bodyPr>
          <a:lstStyle/>
          <a:p>
            <a:pPr marL="457200" lvl="0" indent="-457200">
              <a:spcAft>
                <a:spcPts val="600"/>
              </a:spcAft>
            </a:pPr>
            <a:r>
              <a:rPr lang="en-US" sz="1600" dirty="0">
                <a:solidFill>
                  <a:prstClr val="black"/>
                </a:solidFill>
                <a:latin typeface="Times New Roman"/>
                <a:ea typeface="Calibri"/>
                <a:cs typeface="Times New Roman"/>
              </a:rPr>
              <a:t>National Bureau of Economic Research. </a:t>
            </a:r>
            <a:r>
              <a:rPr lang="en-US" sz="1600" dirty="0" smtClean="0">
                <a:solidFill>
                  <a:prstClr val="black"/>
                </a:solidFill>
                <a:latin typeface="Times New Roman"/>
                <a:ea typeface="Calibri"/>
                <a:cs typeface="Times New Roman"/>
              </a:rPr>
              <a:t>(2018). </a:t>
            </a:r>
            <a:r>
              <a:rPr lang="en-US" sz="1600" dirty="0">
                <a:solidFill>
                  <a:prstClr val="black"/>
                </a:solidFill>
                <a:latin typeface="Times New Roman"/>
                <a:ea typeface="Calibri"/>
                <a:cs typeface="Times New Roman"/>
              </a:rPr>
              <a:t>Patent data, including constructed variables [data file]. Retrieved from http://www.nber.org/patents</a:t>
            </a:r>
            <a:r>
              <a:rPr lang="en-US" sz="1600" dirty="0" smtClean="0">
                <a:solidFill>
                  <a:prstClr val="black"/>
                </a:solidFill>
                <a:latin typeface="Times New Roman"/>
                <a:ea typeface="Calibri"/>
                <a:cs typeface="Times New Roman"/>
              </a:rPr>
              <a:t>/</a:t>
            </a:r>
          </a:p>
          <a:p>
            <a:pPr marL="457200" lvl="0" indent="-457200">
              <a:spcAft>
                <a:spcPts val="600"/>
              </a:spcAft>
            </a:pPr>
            <a:r>
              <a:rPr lang="en-US" sz="1600" dirty="0">
                <a:solidFill>
                  <a:prstClr val="black"/>
                </a:solidFill>
                <a:latin typeface="Times New Roman"/>
                <a:ea typeface="Calibri"/>
                <a:cs typeface="Times New Roman"/>
              </a:rPr>
              <a:t>Hall, B. H., Jaffe, A. B. and </a:t>
            </a:r>
            <a:r>
              <a:rPr lang="en-US" sz="1600" dirty="0" err="1">
                <a:solidFill>
                  <a:prstClr val="black"/>
                </a:solidFill>
                <a:latin typeface="Times New Roman"/>
                <a:ea typeface="Calibri"/>
                <a:cs typeface="Times New Roman"/>
              </a:rPr>
              <a:t>Trajtenberg</a:t>
            </a:r>
            <a:r>
              <a:rPr lang="en-US" sz="1600" dirty="0">
                <a:solidFill>
                  <a:prstClr val="black"/>
                </a:solidFill>
                <a:latin typeface="Times New Roman"/>
                <a:ea typeface="Calibri"/>
                <a:cs typeface="Times New Roman"/>
              </a:rPr>
              <a:t>, M. (2001). "The NBER Patent Citation Data File: Lessons, Insights and Methodological Tools." </a:t>
            </a:r>
            <a:r>
              <a:rPr lang="en-US" sz="1600" i="1" dirty="0">
                <a:solidFill>
                  <a:prstClr val="black"/>
                </a:solidFill>
                <a:latin typeface="Times New Roman"/>
                <a:ea typeface="Calibri"/>
                <a:cs typeface="Times New Roman"/>
              </a:rPr>
              <a:t>NBER Working Paper 8498</a:t>
            </a:r>
            <a:r>
              <a:rPr lang="en-US" sz="1600" dirty="0">
                <a:solidFill>
                  <a:prstClr val="black"/>
                </a:solidFill>
                <a:latin typeface="Times New Roman"/>
                <a:ea typeface="Calibri"/>
                <a:cs typeface="Times New Roman"/>
              </a:rPr>
              <a:t>. Retrieved from http://www.nber.org/patents</a:t>
            </a:r>
            <a:r>
              <a:rPr lang="en-US" sz="1600" dirty="0" smtClean="0">
                <a:solidFill>
                  <a:prstClr val="black"/>
                </a:solidFill>
                <a:latin typeface="Times New Roman"/>
                <a:ea typeface="Calibri"/>
                <a:cs typeface="Times New Roman"/>
              </a:rPr>
              <a:t>/</a:t>
            </a:r>
            <a:endParaRPr lang="en-US" sz="1400" dirty="0">
              <a:solidFill>
                <a:prstClr val="black"/>
              </a:solidFill>
              <a:ea typeface="Calibri"/>
              <a:cs typeface="Times New Roman"/>
            </a:endParaRPr>
          </a:p>
        </p:txBody>
      </p:sp>
    </p:spTree>
    <p:extLst>
      <p:ext uri="{BB962C8B-B14F-4D97-AF65-F5344CB8AC3E}">
        <p14:creationId xmlns:p14="http://schemas.microsoft.com/office/powerpoint/2010/main" val="341119012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36893647"/>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r="12062"/>
          <a:stretch/>
        </p:blipFill>
        <p:spPr bwMode="auto">
          <a:xfrm>
            <a:off x="3518530" y="83820"/>
            <a:ext cx="4087590" cy="2743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0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18530" y="2899410"/>
            <a:ext cx="4648209" cy="2743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1478" y="800100"/>
            <a:ext cx="2343739"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2705961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Multiple Regression Analysis</a:t>
            </a:r>
            <a:endParaRPr lang="en-US" sz="2800" b="1"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134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latin typeface="Courier New"/>
                <a:ea typeface="Calibri"/>
                <a:cs typeface="Times New Roman"/>
              </a:rPr>
              <a:t>CRECEIVE</a:t>
            </a:r>
            <a:r>
              <a:rPr lang="en-US" dirty="0">
                <a:latin typeface="Times New Roman"/>
                <a:ea typeface="Calibri"/>
                <a:cs typeface="Times New Roman"/>
              </a:rPr>
              <a:t>  </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a:t>
            </a:r>
            <a:r>
              <a:rPr lang="en-US" dirty="0" smtClean="0">
                <a:latin typeface="Courier New"/>
                <a:ea typeface="Calibri"/>
                <a:cs typeface="Times New Roman"/>
              </a:rPr>
              <a:t>GYEAR</a:t>
            </a:r>
            <a:r>
              <a:rPr lang="en-US" dirty="0">
                <a:latin typeface="Courier New"/>
                <a:ea typeface="Calibri"/>
                <a:cs typeface="Times New Roman"/>
              </a:rPr>
              <a:t>)</a:t>
            </a:r>
            <a:r>
              <a:rPr lang="en-US" dirty="0">
                <a:latin typeface="Times New Roman"/>
                <a:ea typeface="Calibri"/>
                <a:cs typeface="Times New Roman"/>
              </a:rPr>
              <a:t> + β</a:t>
            </a:r>
            <a:r>
              <a:rPr lang="en-US" baseline="-25000" dirty="0">
                <a:latin typeface="Times New Roman"/>
                <a:ea typeface="Calibri"/>
                <a:cs typeface="Times New Roman"/>
              </a:rPr>
              <a:t>2</a:t>
            </a:r>
            <a:r>
              <a:rPr lang="en-US" dirty="0">
                <a:latin typeface="Courier New"/>
                <a:ea typeface="Calibri"/>
                <a:cs typeface="Times New Roman"/>
              </a:rPr>
              <a:t>(APPYEAR)</a:t>
            </a:r>
            <a:r>
              <a:rPr lang="en-US" dirty="0">
                <a:latin typeface="Times New Roman"/>
                <a:ea typeface="Calibri"/>
                <a:cs typeface="Times New Roman"/>
              </a:rPr>
              <a:t> + β</a:t>
            </a:r>
            <a:r>
              <a:rPr lang="en-US" baseline="-25000" dirty="0">
                <a:latin typeface="Times New Roman"/>
                <a:ea typeface="Calibri"/>
                <a:cs typeface="Times New Roman"/>
              </a:rPr>
              <a:t>3</a:t>
            </a:r>
            <a:r>
              <a:rPr lang="en-US" dirty="0">
                <a:latin typeface="Times New Roman"/>
                <a:ea typeface="Calibri"/>
                <a:cs typeface="Times New Roman"/>
              </a:rPr>
              <a:t>(</a:t>
            </a:r>
            <a:r>
              <a:rPr lang="en-US" dirty="0">
                <a:latin typeface="Courier New"/>
                <a:ea typeface="Calibri"/>
                <a:cs typeface="Times New Roman"/>
              </a:rPr>
              <a:t>CLAIMS)</a:t>
            </a:r>
            <a:r>
              <a:rPr lang="en-US" dirty="0">
                <a:latin typeface="Times New Roman"/>
                <a:ea typeface="Calibri"/>
                <a:cs typeface="Times New Roman"/>
              </a:rPr>
              <a:t> + β</a:t>
            </a:r>
            <a:r>
              <a:rPr lang="en-US" baseline="-25000" dirty="0">
                <a:latin typeface="Times New Roman"/>
                <a:ea typeface="Calibri"/>
                <a:cs typeface="Times New Roman"/>
              </a:rPr>
              <a:t>4</a:t>
            </a:r>
            <a:r>
              <a:rPr lang="en-US" dirty="0">
                <a:latin typeface="Times New Roman"/>
                <a:ea typeface="Calibri"/>
                <a:cs typeface="Times New Roman"/>
              </a:rPr>
              <a:t>(</a:t>
            </a:r>
            <a:r>
              <a:rPr lang="en-US" dirty="0">
                <a:latin typeface="Courier New"/>
                <a:ea typeface="Calibri"/>
                <a:cs typeface="Times New Roman"/>
              </a:rPr>
              <a:t>GENERAL)</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smtClean="0">
                <a:latin typeface="Times New Roman"/>
                <a:ea typeface="Calibri"/>
                <a:cs typeface="Times New Roman"/>
              </a:rPr>
              <a:t>5</a:t>
            </a:r>
            <a:r>
              <a:rPr lang="en-US" dirty="0" smtClean="0">
                <a:latin typeface="Times New Roman"/>
                <a:ea typeface="Calibri"/>
                <a:cs typeface="Times New Roman"/>
              </a:rPr>
              <a:t>(</a:t>
            </a:r>
            <a:r>
              <a:rPr lang="en-US" dirty="0" smtClean="0">
                <a:latin typeface="Courier New"/>
                <a:ea typeface="Calibri"/>
                <a:cs typeface="Times New Roman"/>
              </a:rPr>
              <a:t>ORIGINAL</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a:latin typeface="Times New Roman"/>
                <a:ea typeface="Calibri"/>
                <a:cs typeface="Times New Roman"/>
              </a:rPr>
              <a:t>6</a:t>
            </a:r>
            <a:r>
              <a:rPr lang="en-US" dirty="0" smtClean="0">
                <a:latin typeface="Times New Roman"/>
                <a:ea typeface="Calibri"/>
                <a:cs typeface="Times New Roman"/>
              </a:rPr>
              <a:t>(</a:t>
            </a:r>
            <a:r>
              <a:rPr lang="en-US" dirty="0" smtClean="0">
                <a:latin typeface="Courier New"/>
                <a:ea typeface="Calibri"/>
                <a:cs typeface="Times New Roman"/>
              </a:rPr>
              <a:t>BCKGTLAG</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a:latin typeface="Times New Roman"/>
                <a:ea typeface="Calibri"/>
                <a:cs typeface="Times New Roman"/>
              </a:rPr>
              <a:t>7</a:t>
            </a:r>
            <a:r>
              <a:rPr lang="en-US" dirty="0" smtClean="0">
                <a:latin typeface="Times New Roman"/>
                <a:ea typeface="Calibri"/>
                <a:cs typeface="Times New Roman"/>
              </a:rPr>
              <a:t>(</a:t>
            </a:r>
            <a:r>
              <a:rPr lang="en-US" dirty="0" smtClean="0">
                <a:latin typeface="Courier New"/>
                <a:ea typeface="Calibri"/>
                <a:cs typeface="Times New Roman"/>
              </a:rPr>
              <a:t>FWDAPLAG</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β</a:t>
            </a:r>
            <a:r>
              <a:rPr lang="en-US" baseline="-25000" dirty="0">
                <a:latin typeface="Times New Roman"/>
                <a:ea typeface="Calibri"/>
                <a:cs typeface="Times New Roman"/>
              </a:rPr>
              <a:t>8</a:t>
            </a:r>
            <a:r>
              <a:rPr lang="en-US" dirty="0" smtClean="0">
                <a:latin typeface="Times New Roman"/>
                <a:ea typeface="Calibri"/>
                <a:cs typeface="Times New Roman"/>
              </a:rPr>
              <a:t>(</a:t>
            </a:r>
            <a:r>
              <a:rPr lang="en-US" dirty="0" smtClean="0">
                <a:latin typeface="Courier New"/>
                <a:ea typeface="Calibri"/>
                <a:cs typeface="Times New Roman"/>
              </a:rPr>
              <a:t>SELFCTUB</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a:latin typeface="Times New Roman"/>
                <a:ea typeface="Calibri"/>
                <a:cs typeface="Times New Roman"/>
              </a:rPr>
              <a:t>9</a:t>
            </a:r>
            <a:r>
              <a:rPr lang="en-US" dirty="0" smtClean="0">
                <a:latin typeface="Times New Roman"/>
                <a:ea typeface="Calibri"/>
                <a:cs typeface="Times New Roman"/>
              </a:rPr>
              <a:t>(</a:t>
            </a:r>
            <a:r>
              <a:rPr lang="en-US" dirty="0" smtClean="0">
                <a:latin typeface="Courier New"/>
                <a:ea typeface="Calibri"/>
                <a:cs typeface="Times New Roman"/>
              </a:rPr>
              <a:t>SELFCTLB</a:t>
            </a:r>
            <a:r>
              <a:rPr lang="en-US" dirty="0">
                <a:latin typeface="Times New Roman"/>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10 </a:t>
            </a:r>
            <a:r>
              <a:rPr lang="en-US" dirty="0">
                <a:latin typeface="Times New Roman"/>
                <a:ea typeface="Calibri"/>
                <a:cs typeface="Times New Roman"/>
              </a:rPr>
              <a:t>(</a:t>
            </a:r>
            <a:r>
              <a:rPr lang="en-US" dirty="0">
                <a:latin typeface="Courier New"/>
                <a:ea typeface="Calibri"/>
                <a:cs typeface="Times New Roman"/>
              </a:rPr>
              <a:t>SECDLWBD)</a:t>
            </a:r>
            <a:r>
              <a:rPr lang="en-US" dirty="0">
                <a:latin typeface="Times New Roman"/>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11</a:t>
            </a:r>
            <a:r>
              <a:rPr lang="en-US" dirty="0" smtClean="0">
                <a:latin typeface="Courier New"/>
                <a:ea typeface="Calibri"/>
                <a:cs typeface="Times New Roman"/>
              </a:rPr>
              <a:t>(SECDUPBD</a:t>
            </a:r>
            <a:r>
              <a:rPr lang="en-US" dirty="0">
                <a:latin typeface="Courier New"/>
                <a:ea typeface="Calibri"/>
                <a:cs typeface="Times New Roman"/>
              </a:rPr>
              <a:t>)+ 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3" name="Rectangle 2"/>
          <p:cNvSpPr/>
          <p:nvPr/>
        </p:nvSpPr>
        <p:spPr>
          <a:xfrm>
            <a:off x="226286" y="1446947"/>
            <a:ext cx="2343014" cy="408125"/>
          </a:xfrm>
          <a:prstGeom prst="rect">
            <a:avLst/>
          </a:prstGeom>
        </p:spPr>
        <p:txBody>
          <a:bodyPr wrap="none">
            <a:spAutoFit/>
          </a:bodyPr>
          <a:lstStyle/>
          <a:p>
            <a:pPr>
              <a:lnSpc>
                <a:spcPct val="114000"/>
              </a:lnSpc>
            </a:pPr>
            <a:r>
              <a:rPr lang="en-US" dirty="0">
                <a:latin typeface="Times New Roman"/>
                <a:ea typeface="Calibri"/>
                <a:cs typeface="Times New Roman"/>
              </a:rPr>
              <a:t>H</a:t>
            </a:r>
            <a:r>
              <a:rPr lang="en-US" baseline="-25000" dirty="0">
                <a:latin typeface="Times New Roman"/>
                <a:ea typeface="Calibri"/>
                <a:cs typeface="Times New Roman"/>
              </a:rPr>
              <a:t>0</a:t>
            </a:r>
            <a:r>
              <a:rPr lang="en-US" dirty="0">
                <a:latin typeface="Times New Roman"/>
                <a:ea typeface="Calibri"/>
                <a:cs typeface="Times New Roman"/>
              </a:rPr>
              <a:t>: β</a:t>
            </a:r>
            <a:r>
              <a:rPr lang="en-US" baseline="-25000" dirty="0">
                <a:latin typeface="Times New Roman"/>
                <a:ea typeface="Calibri"/>
                <a:cs typeface="Times New Roman"/>
              </a:rPr>
              <a:t>1</a:t>
            </a:r>
            <a:r>
              <a:rPr lang="en-US" dirty="0">
                <a:latin typeface="Times New Roman"/>
                <a:ea typeface="Calibri"/>
                <a:cs typeface="Times New Roman"/>
              </a:rPr>
              <a:t> = β</a:t>
            </a:r>
            <a:r>
              <a:rPr lang="en-US" baseline="-25000" dirty="0">
                <a:latin typeface="Times New Roman"/>
                <a:ea typeface="Calibri"/>
                <a:cs typeface="Times New Roman"/>
              </a:rPr>
              <a:t>2</a:t>
            </a:r>
            <a:r>
              <a:rPr lang="en-US" dirty="0">
                <a:latin typeface="Times New Roman"/>
                <a:ea typeface="Calibri"/>
                <a:cs typeface="Times New Roman"/>
              </a:rPr>
              <a:t> … = </a:t>
            </a:r>
            <a:r>
              <a:rPr lang="en-US" dirty="0" smtClean="0">
                <a:latin typeface="Times New Roman"/>
                <a:ea typeface="Calibri"/>
                <a:cs typeface="Times New Roman"/>
              </a:rPr>
              <a:t>β</a:t>
            </a:r>
            <a:r>
              <a:rPr lang="en-US" baseline="-25000" dirty="0" smtClean="0">
                <a:latin typeface="Times New Roman"/>
                <a:ea typeface="Calibri"/>
                <a:cs typeface="Times New Roman"/>
              </a:rPr>
              <a:t>11</a:t>
            </a:r>
            <a:r>
              <a:rPr lang="en-US" dirty="0" smtClean="0">
                <a:latin typeface="Times New Roman"/>
                <a:ea typeface="Calibri"/>
                <a:cs typeface="Times New Roman"/>
              </a:rPr>
              <a:t> </a:t>
            </a:r>
            <a:r>
              <a:rPr lang="en-US" dirty="0">
                <a:latin typeface="Times New Roman"/>
                <a:ea typeface="Calibri"/>
                <a:cs typeface="Times New Roman"/>
              </a:rPr>
              <a:t>= 0</a:t>
            </a:r>
            <a:endParaRPr lang="en-US" sz="1600" dirty="0">
              <a:ea typeface="Calibri"/>
              <a:cs typeface="Times New Roman"/>
            </a:endParaRPr>
          </a:p>
        </p:txBody>
      </p:sp>
      <p:sp>
        <p:nvSpPr>
          <p:cNvPr id="4" name="Rectangle 3"/>
          <p:cNvSpPr/>
          <p:nvPr/>
        </p:nvSpPr>
        <p:spPr>
          <a:xfrm>
            <a:off x="3152040" y="1446946"/>
            <a:ext cx="4469493" cy="388633"/>
          </a:xfrm>
          <a:prstGeom prst="rect">
            <a:avLst/>
          </a:prstGeom>
        </p:spPr>
        <p:txBody>
          <a:bodyPr wrap="none">
            <a:spAutoFit/>
          </a:bodyPr>
          <a:lstStyle/>
          <a:p>
            <a:pPr>
              <a:lnSpc>
                <a:spcPct val="114000"/>
              </a:lnSpc>
            </a:pPr>
            <a:r>
              <a:rPr lang="en-US" dirty="0">
                <a:latin typeface="Times New Roman"/>
                <a:ea typeface="Calibri"/>
                <a:cs typeface="Times New Roman"/>
              </a:rPr>
              <a:t>H</a:t>
            </a:r>
            <a:r>
              <a:rPr lang="en-US" baseline="-25000" dirty="0">
                <a:latin typeface="Times New Roman"/>
                <a:ea typeface="Calibri"/>
                <a:cs typeface="Times New Roman"/>
              </a:rPr>
              <a:t>A</a:t>
            </a:r>
            <a:r>
              <a:rPr lang="en-US" dirty="0">
                <a:latin typeface="Times New Roman"/>
                <a:ea typeface="Calibri"/>
                <a:cs typeface="Times New Roman"/>
              </a:rPr>
              <a:t>: β ≠ 0 for at least one independent variable</a:t>
            </a:r>
            <a:endParaRPr lang="en-US" sz="1600" dirty="0">
              <a:ea typeface="Calibri"/>
              <a:cs typeface="Times New Roman"/>
            </a:endParaRPr>
          </a:p>
        </p:txBody>
      </p:sp>
      <p:pic>
        <p:nvPicPr>
          <p:cNvPr id="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 y="2163342"/>
            <a:ext cx="8961120" cy="18184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43113" y="3735705"/>
            <a:ext cx="5057775" cy="1933575"/>
          </a:xfrm>
          <a:prstGeom prst="snip2SameRect">
            <a:avLst>
              <a:gd name="adj1" fmla="val 30854"/>
              <a:gd name="adj2" fmla="val 0"/>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Rectangle 6"/>
          <p:cNvSpPr/>
          <p:nvPr/>
        </p:nvSpPr>
        <p:spPr>
          <a:xfrm>
            <a:off x="5772150" y="4417364"/>
            <a:ext cx="1280160" cy="229044"/>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311593" y="3093776"/>
            <a:ext cx="731520" cy="229044"/>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0" y="958215"/>
            <a:ext cx="9144000" cy="3189956"/>
            <a:chOff x="0" y="958215"/>
            <a:chExt cx="9144000" cy="3189956"/>
          </a:xfrm>
        </p:grpSpPr>
        <p:pic>
          <p:nvPicPr>
            <p:cNvPr id="5124"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958215"/>
              <a:ext cx="9144000" cy="3189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7898130" y="3177540"/>
              <a:ext cx="617220" cy="737235"/>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7898130" y="1924051"/>
              <a:ext cx="617220" cy="156210"/>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7898130" y="2461038"/>
              <a:ext cx="617220" cy="184309"/>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7898130" y="2820607"/>
              <a:ext cx="617220" cy="184309"/>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3989070" y="3177540"/>
              <a:ext cx="537210" cy="737235"/>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3989070" y="2461038"/>
              <a:ext cx="548640" cy="184309"/>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3989070" y="1909303"/>
              <a:ext cx="548640" cy="184309"/>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392072" y="2574297"/>
            <a:ext cx="54864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378424" y="2965862"/>
            <a:ext cx="54864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392072" y="2204664"/>
            <a:ext cx="54864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380696" y="2767641"/>
            <a:ext cx="548640" cy="274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020861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Hierarchical Regression Analysis</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965708938"/>
              </p:ext>
            </p:extLst>
          </p:nvPr>
        </p:nvGraphicFramePr>
        <p:xfrm>
          <a:off x="646710" y="110998"/>
          <a:ext cx="7605751" cy="4918194"/>
        </p:xfrm>
        <a:graphic>
          <a:graphicData uri="http://schemas.openxmlformats.org/drawingml/2006/table">
            <a:tbl>
              <a:tblPr firstRow="1" firstCol="1" bandRow="1"/>
              <a:tblGrid>
                <a:gridCol w="1972945"/>
                <a:gridCol w="1177430"/>
                <a:gridCol w="334782"/>
                <a:gridCol w="1042541"/>
                <a:gridCol w="334782"/>
                <a:gridCol w="1042541"/>
                <a:gridCol w="334782"/>
                <a:gridCol w="1042541"/>
                <a:gridCol w="323407"/>
              </a:tblGrid>
              <a:tr h="273233">
                <a:tc>
                  <a:txBody>
                    <a:bodyPr/>
                    <a:lstStyle/>
                    <a:p>
                      <a:pPr marL="0" marR="0">
                        <a:lnSpc>
                          <a:spcPct val="115000"/>
                        </a:lnSpc>
                        <a:spcBef>
                          <a:spcPts val="0"/>
                        </a:spcBef>
                        <a:spcAft>
                          <a:spcPts val="0"/>
                        </a:spcAft>
                      </a:pPr>
                      <a:r>
                        <a:rPr lang="en-US" sz="1100" dirty="0">
                          <a:solidFill>
                            <a:srgbClr val="FFFFFF"/>
                          </a:solidFill>
                          <a:effectLst/>
                          <a:latin typeface="Times New Roman"/>
                          <a:ea typeface="Calibri"/>
                          <a:cs typeface="Times New Roman"/>
                        </a:rPr>
                        <a:t> </a:t>
                      </a:r>
                      <a:endParaRPr lang="en-US" sz="1000" dirty="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gridSpan="4">
                  <a:txBody>
                    <a:bodyPr/>
                    <a:lstStyle/>
                    <a:p>
                      <a:pPr marL="0" marR="0" algn="ctr">
                        <a:lnSpc>
                          <a:spcPct val="115000"/>
                        </a:lnSpc>
                        <a:spcBef>
                          <a:spcPts val="0"/>
                        </a:spcBef>
                        <a:spcAft>
                          <a:spcPts val="0"/>
                        </a:spcAft>
                      </a:pPr>
                      <a:r>
                        <a:rPr lang="en-US" sz="1100">
                          <a:solidFill>
                            <a:srgbClr val="FFFFFF"/>
                          </a:solidFill>
                          <a:effectLst/>
                          <a:latin typeface="Times New Roman"/>
                          <a:ea typeface="Calibri"/>
                          <a:cs typeface="Times New Roman"/>
                        </a:rPr>
                        <a:t>Unstandardized</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algn="ctr">
                        <a:lnSpc>
                          <a:spcPct val="115000"/>
                        </a:lnSpc>
                        <a:spcBef>
                          <a:spcPts val="0"/>
                        </a:spcBef>
                        <a:spcAft>
                          <a:spcPts val="0"/>
                        </a:spcAft>
                      </a:pPr>
                      <a:r>
                        <a:rPr lang="en-US" sz="1100" dirty="0">
                          <a:solidFill>
                            <a:srgbClr val="FFFFFF"/>
                          </a:solidFill>
                          <a:effectLst/>
                          <a:latin typeface="Times New Roman"/>
                          <a:ea typeface="Calibri"/>
                          <a:cs typeface="Times New Roman"/>
                        </a:rPr>
                        <a:t>Standardized</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273233">
                <a:tc>
                  <a:txBody>
                    <a:bodyPr/>
                    <a:lstStyle/>
                    <a:p>
                      <a:pPr marL="0" marR="0">
                        <a:lnSpc>
                          <a:spcPct val="115000"/>
                        </a:lnSpc>
                        <a:spcBef>
                          <a:spcPts val="0"/>
                        </a:spcBef>
                        <a:spcAft>
                          <a:spcPts val="0"/>
                        </a:spcAft>
                      </a:pPr>
                      <a:r>
                        <a:rPr lang="en-US" sz="1100">
                          <a:effectLst/>
                          <a:latin typeface="Times New Roman"/>
                          <a:ea typeface="Calibri"/>
                          <a:cs typeface="Times New Roman"/>
                        </a:rPr>
                        <a:t>Variable</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b="1">
                          <a:effectLst/>
                          <a:latin typeface="Times New Roman"/>
                          <a:ea typeface="Calibri"/>
                          <a:cs typeface="Times New Roman"/>
                        </a:rPr>
                        <a:t>Model 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b="1">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b="1">
                          <a:effectLst/>
                          <a:latin typeface="Times New Roman"/>
                          <a:ea typeface="Calibri"/>
                          <a:cs typeface="Times New Roman"/>
                        </a:rPr>
                        <a:t>Model 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b="1">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b="1">
                          <a:effectLst/>
                          <a:latin typeface="Times New Roman"/>
                          <a:ea typeface="Calibri"/>
                          <a:cs typeface="Times New Roman"/>
                        </a:rPr>
                        <a:t>Model 1</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b="1">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b="1">
                          <a:effectLst/>
                          <a:latin typeface="Times New Roman"/>
                          <a:ea typeface="Calibri"/>
                          <a:cs typeface="Times New Roman"/>
                        </a:rPr>
                        <a:t>Model 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b="1">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Constant</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330.669</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331.411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0.000</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0.000</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CLAIMS</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0.005</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0.008</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0.077</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0.127</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CMADE</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 </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 </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0.021</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 </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0.022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 </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GENERAL</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1.744</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1.752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0.569</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0.572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GYEAR</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-0.166</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-0.166</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-0.221</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-0.222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ORIGINAL</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-0.301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-0.195</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000" dirty="0" smtClean="0">
                          <a:effectLst/>
                          <a:latin typeface="Calibri"/>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-0.104</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-0.067</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RATIOCIT</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0.555</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0.557</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0.081</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0.082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smtClean="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SECDUPBD</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0.053</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0.023</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SELFCTUB</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dirty="0">
                          <a:effectLst/>
                          <a:latin typeface="Times New Roman"/>
                          <a:ea typeface="Calibri"/>
                          <a:cs typeface="Times New Roman"/>
                        </a:rPr>
                        <a:t>-0.033</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-0.010</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CLAIMSORIGINAL</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dirty="0">
                          <a:effectLst/>
                          <a:latin typeface="Times New Roman"/>
                          <a:ea typeface="Calibri"/>
                          <a:cs typeface="Times New Roman"/>
                        </a:rPr>
                        <a:t>-0.007</a:t>
                      </a:r>
                      <a:endParaRPr lang="en-US" sz="10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-0.073</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Adj. R</a:t>
                      </a:r>
                      <a:r>
                        <a:rPr lang="en-US" sz="1100" b="1" baseline="30000">
                          <a:effectLst/>
                          <a:latin typeface="Times New Roman"/>
                          <a:ea typeface="Calibri"/>
                          <a:cs typeface="Times New Roman"/>
                        </a:rPr>
                        <a:t>2</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0.436</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0.437</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0.436</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0.437</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Adj. R</a:t>
                      </a:r>
                      <a:r>
                        <a:rPr lang="en-US" sz="1100" b="1" baseline="30000">
                          <a:effectLst/>
                          <a:latin typeface="Times New Roman"/>
                          <a:ea typeface="Calibri"/>
                          <a:cs typeface="Times New Roman"/>
                        </a:rPr>
                        <a:t>2</a:t>
                      </a:r>
                      <a:r>
                        <a:rPr lang="en-US" sz="1100" b="1">
                          <a:effectLst/>
                          <a:latin typeface="Times New Roman"/>
                          <a:ea typeface="Calibri"/>
                          <a:cs typeface="Times New Roman"/>
                        </a:rPr>
                        <a:t> change</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0.436</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0.436</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0.001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n-US" sz="1100" b="1">
                          <a:effectLst/>
                          <a:latin typeface="Times New Roman"/>
                          <a:ea typeface="Calibri"/>
                          <a:cs typeface="Times New Roman"/>
                        </a:rPr>
                        <a:t>F</a:t>
                      </a:r>
                      <a:endParaRPr lang="en-US" sz="100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215.741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144.442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215.741</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a:effectLst/>
                          <a:latin typeface="Times New Roman"/>
                          <a:ea typeface="Calibri"/>
                          <a:cs typeface="Times New Roman"/>
                        </a:rPr>
                        <a:t>*</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144.442</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273233">
                <a:tc>
                  <a:txBody>
                    <a:bodyPr/>
                    <a:lstStyle/>
                    <a:p>
                      <a:pPr marL="0" marR="0">
                        <a:lnSpc>
                          <a:spcPct val="115000"/>
                        </a:lnSpc>
                        <a:spcBef>
                          <a:spcPts val="0"/>
                        </a:spcBef>
                        <a:spcAft>
                          <a:spcPts val="0"/>
                        </a:spcAft>
                      </a:pPr>
                      <a:r>
                        <a:rPr lang="en-US" sz="1100" b="1" dirty="0">
                          <a:effectLst/>
                          <a:latin typeface="Times New Roman"/>
                          <a:ea typeface="Calibri"/>
                          <a:cs typeface="Times New Roman"/>
                        </a:rPr>
                        <a:t>F change</a:t>
                      </a:r>
                      <a:endParaRPr lang="en-US" sz="1000" dirty="0">
                        <a:effectLst/>
                        <a:latin typeface="Calibri"/>
                        <a:ea typeface="Calibri"/>
                        <a:cs typeface="Times New Roman"/>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215.741</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1.474</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 </a:t>
                      </a:r>
                      <a:endParaRPr lang="en-US" sz="10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215.741</a:t>
                      </a:r>
                      <a:endParaRPr lang="en-US" sz="100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a:effectLst/>
                          <a:latin typeface="Times New Roman"/>
                          <a:ea typeface="Calibri"/>
                          <a:cs typeface="Times New Roman"/>
                        </a:rPr>
                        <a:t>*</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gn="r">
                        <a:lnSpc>
                          <a:spcPct val="115000"/>
                        </a:lnSpc>
                        <a:spcBef>
                          <a:spcPts val="0"/>
                        </a:spcBef>
                        <a:spcAft>
                          <a:spcPts val="0"/>
                        </a:spcAft>
                      </a:pPr>
                      <a:r>
                        <a:rPr lang="en-US" sz="1100">
                          <a:effectLst/>
                          <a:latin typeface="Times New Roman"/>
                          <a:ea typeface="Calibri"/>
                          <a:cs typeface="Times New Roman"/>
                        </a:rPr>
                        <a:t>1.474</a:t>
                      </a:r>
                      <a:endParaRPr lang="en-US" sz="10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100" dirty="0">
                          <a:effectLst/>
                          <a:latin typeface="Times New Roman"/>
                          <a:ea typeface="Calibri"/>
                          <a:cs typeface="Times New Roman"/>
                        </a:rPr>
                        <a:t> </a:t>
                      </a:r>
                      <a:endParaRPr lang="en-US" sz="10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273233">
                <a:tc>
                  <a:txBody>
                    <a:bodyPr/>
                    <a:lstStyle/>
                    <a:p>
                      <a:pPr marL="0" marR="0">
                        <a:lnSpc>
                          <a:spcPct val="115000"/>
                        </a:lnSpc>
                        <a:spcBef>
                          <a:spcPts val="0"/>
                        </a:spcBef>
                        <a:spcAft>
                          <a:spcPts val="0"/>
                        </a:spcAft>
                      </a:pPr>
                      <a:r>
                        <a:rPr lang="el-GR" sz="1100" b="1" dirty="0" smtClean="0">
                          <a:effectLst/>
                          <a:latin typeface="Times New Roman"/>
                          <a:ea typeface="Calibri"/>
                          <a:cs typeface="Times New Roman"/>
                        </a:rPr>
                        <a:t>Δ</a:t>
                      </a:r>
                      <a:r>
                        <a:rPr lang="en-US" sz="1100" b="1" dirty="0" smtClean="0">
                          <a:effectLst/>
                          <a:latin typeface="Times New Roman"/>
                          <a:ea typeface="Calibri"/>
                          <a:cs typeface="Times New Roman"/>
                        </a:rPr>
                        <a:t> F</a:t>
                      </a:r>
                      <a:endParaRPr lang="en-US" sz="1100" b="1" dirty="0">
                        <a:effectLst/>
                        <a:latin typeface="Times New Roman" panose="02020603050405020304" pitchFamily="18" charset="0"/>
                        <a:ea typeface="Calibri"/>
                        <a:cs typeface="Times New Roman" panose="02020603050405020304" pitchFamily="18" charset="0"/>
                      </a:endParaRPr>
                    </a:p>
                  </a:txBody>
                  <a:tcPr marL="0" marR="0" marT="16532" marB="16532">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gn="r">
                        <a:lnSpc>
                          <a:spcPct val="115000"/>
                        </a:lnSpc>
                        <a:spcBef>
                          <a:spcPts val="0"/>
                        </a:spcBef>
                        <a:spcAft>
                          <a:spcPts val="0"/>
                        </a:spcAft>
                      </a:pPr>
                      <a:r>
                        <a:rPr lang="en-US" sz="1100" dirty="0" smtClean="0">
                          <a:effectLst/>
                          <a:latin typeface="Calibri"/>
                          <a:ea typeface="Calibri"/>
                          <a:cs typeface="Times New Roman"/>
                        </a:rPr>
                        <a:t>215.741</a:t>
                      </a:r>
                      <a:endParaRPr lang="en-US" sz="11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nSpc>
                          <a:spcPct val="115000"/>
                        </a:lnSpc>
                        <a:spcBef>
                          <a:spcPts val="0"/>
                        </a:spcBef>
                        <a:spcAft>
                          <a:spcPts val="0"/>
                        </a:spcAft>
                      </a:pPr>
                      <a:endParaRPr lang="en-US" sz="11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gn="r">
                        <a:lnSpc>
                          <a:spcPct val="115000"/>
                        </a:lnSpc>
                        <a:spcBef>
                          <a:spcPts val="0"/>
                        </a:spcBef>
                        <a:spcAft>
                          <a:spcPts val="0"/>
                        </a:spcAft>
                      </a:pPr>
                      <a:r>
                        <a:rPr lang="en-US" sz="1100" dirty="0" smtClean="0">
                          <a:effectLst/>
                          <a:latin typeface="Calibri"/>
                          <a:ea typeface="Calibri"/>
                          <a:cs typeface="Times New Roman"/>
                        </a:rPr>
                        <a:t>71.299</a:t>
                      </a:r>
                      <a:endParaRPr lang="en-US" sz="11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nSpc>
                          <a:spcPct val="115000"/>
                        </a:lnSpc>
                        <a:spcBef>
                          <a:spcPts val="0"/>
                        </a:spcBef>
                        <a:spcAft>
                          <a:spcPts val="0"/>
                        </a:spcAft>
                      </a:pPr>
                      <a:endParaRPr lang="en-US" sz="1100">
                        <a:effectLst/>
                        <a:latin typeface="Calibri"/>
                        <a:ea typeface="Calibri"/>
                        <a:cs typeface="Times New Roman"/>
                      </a:endParaRPr>
                    </a:p>
                  </a:txBody>
                  <a:tcPr marL="0" marR="0" marT="16532" marB="16532">
                    <a:lnL>
                      <a:noFill/>
                    </a:lnL>
                    <a:lnR w="12700" cap="flat" cmpd="sng" algn="ctr">
                      <a:solidFill>
                        <a:srgbClr val="00000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gn="r">
                        <a:lnSpc>
                          <a:spcPct val="115000"/>
                        </a:lnSpc>
                        <a:spcBef>
                          <a:spcPts val="0"/>
                        </a:spcBef>
                        <a:spcAft>
                          <a:spcPts val="0"/>
                        </a:spcAft>
                      </a:pPr>
                      <a:r>
                        <a:rPr lang="en-US" sz="1100" dirty="0" smtClean="0">
                          <a:effectLst/>
                          <a:latin typeface="Calibri"/>
                          <a:ea typeface="Calibri"/>
                          <a:cs typeface="Times New Roman"/>
                        </a:rPr>
                        <a:t>215.741</a:t>
                      </a:r>
                      <a:endParaRPr lang="en-US" sz="1100" dirty="0">
                        <a:effectLst/>
                        <a:latin typeface="Calibri"/>
                        <a:ea typeface="Calibri"/>
                        <a:cs typeface="Times New Roman"/>
                      </a:endParaRPr>
                    </a:p>
                  </a:txBody>
                  <a:tcPr marL="0" marR="0" marT="16532" marB="16532">
                    <a:lnL w="12700" cap="flat" cmpd="sng" algn="ctr">
                      <a:solidFill>
                        <a:srgbClr val="00000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nSpc>
                          <a:spcPct val="115000"/>
                        </a:lnSpc>
                        <a:spcBef>
                          <a:spcPts val="0"/>
                        </a:spcBef>
                        <a:spcAft>
                          <a:spcPts val="0"/>
                        </a:spcAft>
                      </a:pPr>
                      <a:endParaRPr lang="en-US" sz="110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gn="r">
                        <a:lnSpc>
                          <a:spcPct val="115000"/>
                        </a:lnSpc>
                        <a:spcBef>
                          <a:spcPts val="0"/>
                        </a:spcBef>
                        <a:spcAft>
                          <a:spcPts val="0"/>
                        </a:spcAft>
                      </a:pPr>
                      <a:r>
                        <a:rPr lang="en-US" sz="1100" dirty="0" smtClean="0">
                          <a:effectLst/>
                          <a:latin typeface="Calibri"/>
                          <a:ea typeface="Calibri"/>
                          <a:cs typeface="Times New Roman"/>
                        </a:rPr>
                        <a:t>71.299</a:t>
                      </a:r>
                      <a:endParaRPr lang="en-US" sz="1100" dirty="0">
                        <a:effectLst/>
                        <a:latin typeface="Calibri"/>
                        <a:ea typeface="Calibri"/>
                        <a:cs typeface="Times New Roman"/>
                      </a:endParaRPr>
                    </a:p>
                  </a:txBody>
                  <a:tcPr marL="0" marR="0" marT="16532" marB="16532">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c>
                  <a:txBody>
                    <a:bodyPr/>
                    <a:lstStyle/>
                    <a:p>
                      <a:pPr marL="0" marR="0">
                        <a:lnSpc>
                          <a:spcPct val="115000"/>
                        </a:lnSpc>
                        <a:spcBef>
                          <a:spcPts val="0"/>
                        </a:spcBef>
                        <a:spcAft>
                          <a:spcPts val="0"/>
                        </a:spcAft>
                      </a:pPr>
                      <a:endParaRPr lang="en-US" sz="1100" dirty="0">
                        <a:effectLst/>
                        <a:latin typeface="Calibri"/>
                        <a:ea typeface="Calibri"/>
                        <a:cs typeface="Times New Roman"/>
                      </a:endParaRPr>
                    </a:p>
                  </a:txBody>
                  <a:tcPr marL="0" marR="0" marT="16532" marB="16532">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chemeClr val="bg1">
                        <a:lumMod val="75000"/>
                      </a:schemeClr>
                    </a:solidFill>
                  </a:tcPr>
                </a:tc>
              </a:tr>
            </a:tbl>
          </a:graphicData>
        </a:graphic>
      </p:graphicFrame>
      <p:sp>
        <p:nvSpPr>
          <p:cNvPr id="3" name="Rectangle 2"/>
          <p:cNvSpPr/>
          <p:nvPr/>
        </p:nvSpPr>
        <p:spPr>
          <a:xfrm>
            <a:off x="620644" y="5084564"/>
            <a:ext cx="2531462" cy="496803"/>
          </a:xfrm>
          <a:prstGeom prst="rect">
            <a:avLst/>
          </a:prstGeom>
        </p:spPr>
        <p:txBody>
          <a:bodyPr wrap="none">
            <a:spAutoFit/>
          </a:bodyPr>
          <a:lstStyle/>
          <a:p>
            <a:pPr>
              <a:lnSpc>
                <a:spcPct val="114000"/>
              </a:lnSpc>
            </a:pPr>
            <a:r>
              <a:rPr lang="en-US" sz="1200" dirty="0" smtClean="0">
                <a:latin typeface="Times New Roman" panose="02020603050405020304" pitchFamily="18" charset="0"/>
                <a:cs typeface="Times New Roman" panose="02020603050405020304" pitchFamily="18" charset="0"/>
              </a:rPr>
              <a:t>Dependent variable: </a:t>
            </a:r>
            <a:r>
              <a:rPr lang="en-US" sz="1200" dirty="0" err="1" smtClean="0">
                <a:latin typeface="Times New Roman" panose="02020603050405020304" pitchFamily="18" charset="0"/>
                <a:cs typeface="Times New Roman" panose="02020603050405020304" pitchFamily="18" charset="0"/>
              </a:rPr>
              <a:t>logCRECEIVE</a:t>
            </a:r>
            <a:endParaRPr lang="en-US" sz="1200" dirty="0" smtClean="0">
              <a:latin typeface="Times New Roman" panose="02020603050405020304" pitchFamily="18" charset="0"/>
              <a:cs typeface="Times New Roman" panose="02020603050405020304" pitchFamily="18" charset="0"/>
            </a:endParaRPr>
          </a:p>
          <a:p>
            <a:pPr>
              <a:lnSpc>
                <a:spcPct val="114000"/>
              </a:lnSpc>
            </a:pPr>
            <a:r>
              <a:rPr lang="en-US" sz="1200" dirty="0" smtClean="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p</a:t>
            </a:r>
            <a:r>
              <a:rPr lang="en-US" sz="1200" dirty="0" smtClean="0">
                <a:latin typeface="Times New Roman" panose="02020603050405020304" pitchFamily="18" charset="0"/>
                <a:cs typeface="Times New Roman" panose="02020603050405020304" pitchFamily="18" charset="0"/>
              </a:rPr>
              <a:t> &lt; 0.05; ** p &lt; 0.01; *** p &lt; 0.001</a:t>
            </a:r>
            <a:endParaRPr lang="en-US" sz="1200" dirty="0">
              <a:latin typeface="Times New Roman" panose="02020603050405020304" pitchFamily="18" charset="0"/>
              <a:cs typeface="Times New Roman" panose="02020603050405020304" pitchFamily="18" charset="0"/>
            </a:endParaRPr>
          </a:p>
        </p:txBody>
      </p:sp>
      <p:pic>
        <p:nvPicPr>
          <p:cNvPr id="4" name="Picture 4" descr="C:\Users\townesm\Downloads\kisspng-close-up-font-underline-5b0c091aeb9c10.6365625315275154189651.png"/>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0644" y="3299893"/>
            <a:ext cx="1554480" cy="17109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C:\Users\townesm\Downloads\kisspng-close-up-font-underline-5b0c091aeb9c10.6365625315275154189651.png"/>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0644" y="2467380"/>
            <a:ext cx="1005840" cy="17109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C:\Users\townesm\Downloads\kisspng-close-up-font-underline-5b0c091aeb9c10.6365625315275154189651.png"/>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0644" y="1361911"/>
            <a:ext cx="1097280" cy="17109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2758" y="3610383"/>
            <a:ext cx="640080" cy="365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29664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Path Model</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917" y="296193"/>
            <a:ext cx="8686800" cy="5126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18085" y="713818"/>
            <a:ext cx="3718566" cy="2194560"/>
          </a:xfrm>
          <a:prstGeom prst="rect">
            <a:avLst/>
          </a:prstGeom>
          <a:noFill/>
          <a:ln w="381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90407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r="13704"/>
          <a:stretch/>
        </p:blipFill>
        <p:spPr bwMode="auto">
          <a:xfrm>
            <a:off x="-1" y="767889"/>
            <a:ext cx="5348258"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3"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3612" r="21379"/>
          <a:stretch/>
        </p:blipFill>
        <p:spPr bwMode="auto">
          <a:xfrm>
            <a:off x="5473523" y="767888"/>
            <a:ext cx="3664953" cy="39319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0838475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1179461"/>
            <a:ext cx="6858000" cy="3356078"/>
          </a:xfrm>
          <a:prstGeom prst="rect">
            <a:avLst/>
          </a:prstGeom>
          <a:noFill/>
          <a:ln>
            <a:noFill/>
          </a:ln>
        </p:spPr>
      </p:pic>
      <p:sp>
        <p:nvSpPr>
          <p:cNvPr id="4" name="TextBox 3"/>
          <p:cNvSpPr txBox="1"/>
          <p:nvPr/>
        </p:nvSpPr>
        <p:spPr>
          <a:xfrm>
            <a:off x="3429000" y="546878"/>
            <a:ext cx="2286000" cy="369332"/>
          </a:xfrm>
          <a:prstGeom prst="rect">
            <a:avLst/>
          </a:prstGeom>
          <a:noFill/>
        </p:spPr>
        <p:txBody>
          <a:bodyPr wrap="square" rtlCol="0">
            <a:spAutoFit/>
          </a:bodyPr>
          <a:lstStyle/>
          <a:p>
            <a:pPr algn="ctr"/>
            <a:r>
              <a:rPr lang="en-US" dirty="0" smtClean="0"/>
              <a:t>Theoretical Model</a:t>
            </a:r>
            <a:endParaRPr lang="en-US" dirty="0"/>
          </a:p>
        </p:txBody>
      </p:sp>
    </p:spTree>
    <p:extLst>
      <p:ext uri="{BB962C8B-B14F-4D97-AF65-F5344CB8AC3E}">
        <p14:creationId xmlns:p14="http://schemas.microsoft.com/office/powerpoint/2010/main" val="138814852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605802"/>
            <a:ext cx="4572000" cy="2626460"/>
          </a:xfrm>
          <a:prstGeom prst="rect">
            <a:avLst/>
          </a:prstGeom>
          <a:noFill/>
          <a:ln>
            <a:noFill/>
          </a:ln>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634137"/>
            <a:ext cx="4572000" cy="2598125"/>
          </a:xfrm>
          <a:prstGeom prst="rect">
            <a:avLst/>
          </a:prstGeom>
          <a:noFill/>
          <a:ln>
            <a:noFill/>
          </a:ln>
        </p:spPr>
      </p:pic>
      <p:pic>
        <p:nvPicPr>
          <p:cNvPr id="4" name="Picture 3"/>
          <p:cNvPicPr>
            <a:picLocks noChangeAspect="1"/>
          </p:cNvPicPr>
          <p:nvPr/>
        </p:nvPicPr>
        <p:blipFill>
          <a:blip r:embed="rId5"/>
          <a:stretch>
            <a:fillRect/>
          </a:stretch>
        </p:blipFill>
        <p:spPr>
          <a:xfrm>
            <a:off x="1143000" y="3564254"/>
            <a:ext cx="6858000" cy="2020035"/>
          </a:xfrm>
          <a:prstGeom prst="rect">
            <a:avLst/>
          </a:prstGeom>
        </p:spPr>
      </p:pic>
      <p:cxnSp>
        <p:nvCxnSpPr>
          <p:cNvPr id="6" name="Straight Connector 5"/>
          <p:cNvCxnSpPr/>
          <p:nvPr/>
        </p:nvCxnSpPr>
        <p:spPr>
          <a:xfrm>
            <a:off x="4537710" y="205740"/>
            <a:ext cx="0" cy="308610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1377315" y="32516"/>
            <a:ext cx="1817370" cy="369332"/>
          </a:xfrm>
          <a:prstGeom prst="rect">
            <a:avLst/>
          </a:prstGeom>
          <a:noFill/>
        </p:spPr>
        <p:txBody>
          <a:bodyPr wrap="square" rtlCol="0">
            <a:spAutoFit/>
          </a:bodyPr>
          <a:lstStyle/>
          <a:p>
            <a:pPr algn="ctr"/>
            <a:r>
              <a:rPr lang="en-US" dirty="0" smtClean="0"/>
              <a:t>Original Model</a:t>
            </a:r>
            <a:endParaRPr lang="en-US" dirty="0"/>
          </a:p>
        </p:txBody>
      </p:sp>
      <p:sp>
        <p:nvSpPr>
          <p:cNvPr id="8" name="TextBox 7"/>
          <p:cNvSpPr txBox="1"/>
          <p:nvPr/>
        </p:nvSpPr>
        <p:spPr>
          <a:xfrm>
            <a:off x="5949315" y="32516"/>
            <a:ext cx="1817370" cy="369332"/>
          </a:xfrm>
          <a:prstGeom prst="rect">
            <a:avLst/>
          </a:prstGeom>
          <a:noFill/>
        </p:spPr>
        <p:txBody>
          <a:bodyPr wrap="square" rtlCol="0">
            <a:spAutoFit/>
          </a:bodyPr>
          <a:lstStyle/>
          <a:p>
            <a:pPr algn="ctr"/>
            <a:r>
              <a:rPr lang="en-US" dirty="0" smtClean="0"/>
              <a:t>Revised Model</a:t>
            </a:r>
            <a:endParaRPr lang="en-US" dirty="0"/>
          </a:p>
        </p:txBody>
      </p:sp>
    </p:spTree>
    <p:extLst>
      <p:ext uri="{BB962C8B-B14F-4D97-AF65-F5344CB8AC3E}">
        <p14:creationId xmlns:p14="http://schemas.microsoft.com/office/powerpoint/2010/main" val="35024609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Binary Logistic Regression</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2286000" cy="5715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p:nvSpPr>
        <p:spPr>
          <a:xfrm>
            <a:off x="5669280" y="0"/>
            <a:ext cx="3474720" cy="24679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542" y="818366"/>
            <a:ext cx="2011680" cy="2517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9542" y="3502152"/>
            <a:ext cx="2011680" cy="1207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4"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53640" y="143827"/>
            <a:ext cx="2781300" cy="2324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5"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48890" y="2604135"/>
            <a:ext cx="5372100" cy="301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6" name="Picture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42635" y="143827"/>
            <a:ext cx="3152775"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7" name="Picture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17907" y="1478280"/>
            <a:ext cx="2600325" cy="77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40944" y="4774709"/>
            <a:ext cx="2399048" cy="600164"/>
          </a:xfrm>
          <a:prstGeom prst="rect">
            <a:avLst/>
          </a:prstGeom>
          <a:noFill/>
        </p:spPr>
        <p:txBody>
          <a:bodyPr wrap="square" rtlCol="0">
            <a:spAutoFit/>
          </a:bodyPr>
          <a:lstStyle/>
          <a:p>
            <a:r>
              <a:rPr lang="en-US" sz="1100" dirty="0" smtClean="0">
                <a:solidFill>
                  <a:schemeClr val="bg1"/>
                </a:solidFill>
                <a:latin typeface="Arial" panose="020B0604020202020204" pitchFamily="34" charset="0"/>
                <a:cs typeface="Arial" panose="020B0604020202020204" pitchFamily="34" charset="0"/>
              </a:rPr>
              <a:t>Dependent variable: CRECBINARY </a:t>
            </a:r>
          </a:p>
          <a:p>
            <a:r>
              <a:rPr lang="en-US" sz="1100" dirty="0" smtClean="0">
                <a:solidFill>
                  <a:schemeClr val="bg1"/>
                </a:solidFill>
                <a:latin typeface="Arial" panose="020B0604020202020204" pitchFamily="34" charset="0"/>
                <a:cs typeface="Arial" panose="020B0604020202020204" pitchFamily="34" charset="0"/>
              </a:rPr>
              <a:t>1 = 2 or fewer citations</a:t>
            </a:r>
            <a:endParaRPr lang="en-US" sz="1100" dirty="0">
              <a:solidFill>
                <a:schemeClr val="bg1"/>
              </a:solidFill>
              <a:latin typeface="Arial" panose="020B0604020202020204" pitchFamily="34" charset="0"/>
              <a:cs typeface="Arial" panose="020B0604020202020204" pitchFamily="34" charset="0"/>
            </a:endParaRPr>
          </a:p>
          <a:p>
            <a:r>
              <a:rPr lang="en-US" sz="1100" dirty="0" smtClean="0">
                <a:solidFill>
                  <a:schemeClr val="bg1"/>
                </a:solidFill>
                <a:latin typeface="Arial" panose="020B0604020202020204" pitchFamily="34" charset="0"/>
                <a:cs typeface="Arial" panose="020B0604020202020204" pitchFamily="34" charset="0"/>
              </a:rPr>
              <a:t>2 = 3 or more citations</a:t>
            </a:r>
          </a:p>
        </p:txBody>
      </p:sp>
    </p:spTree>
    <p:extLst>
      <p:ext uri="{BB962C8B-B14F-4D97-AF65-F5344CB8AC3E}">
        <p14:creationId xmlns:p14="http://schemas.microsoft.com/office/powerpoint/2010/main" val="17156210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685800" y="376360"/>
            <a:ext cx="7772400" cy="2612992"/>
            <a:chOff x="685800" y="376360"/>
            <a:chExt cx="7772400" cy="2612992"/>
          </a:xfrm>
        </p:grpSpPr>
        <p:pic>
          <p:nvPicPr>
            <p:cNvPr id="112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376360"/>
              <a:ext cx="7772400" cy="24019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TextBox 2"/>
            <p:cNvSpPr txBox="1"/>
            <p:nvPr/>
          </p:nvSpPr>
          <p:spPr>
            <a:xfrm>
              <a:off x="1062990" y="2727742"/>
              <a:ext cx="7315200" cy="261610"/>
            </a:xfrm>
            <a:prstGeom prst="rect">
              <a:avLst/>
            </a:prstGeom>
            <a:noFill/>
          </p:spPr>
          <p:txBody>
            <a:bodyPr wrap="square" rtlCol="0">
              <a:spAutoFit/>
            </a:bodyPr>
            <a:lstStyle/>
            <a:p>
              <a:r>
                <a:rPr lang="en-US" sz="1100" dirty="0" smtClean="0">
                  <a:latin typeface="Arial" panose="020B0604020202020204" pitchFamily="34" charset="0"/>
                  <a:cs typeface="Arial" panose="020B0604020202020204" pitchFamily="34" charset="0"/>
                </a:rPr>
                <a:t>Dependent variable: CRECBINARY (1 = 2 or fewer citations; 2 = 3 or more citations)</a:t>
              </a:r>
            </a:p>
          </p:txBody>
        </p:sp>
        <p:pic>
          <p:nvPicPr>
            <p:cNvPr id="8"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42374" y="1689422"/>
              <a:ext cx="914400" cy="365760"/>
            </a:xfrm>
            <a:prstGeom prst="rect">
              <a:avLst/>
            </a:prstGeom>
            <a:noFill/>
            <a:extLst>
              <a:ext uri="{909E8E84-426E-40DD-AFC4-6F175D3DCCD1}">
                <a14:hiddenFill xmlns:a14="http://schemas.microsoft.com/office/drawing/2010/main">
                  <a:solidFill>
                    <a:srgbClr val="FFFFFF"/>
                  </a:solidFill>
                </a14:hiddenFill>
              </a:ext>
            </a:extLst>
          </p:spPr>
        </p:pic>
      </p:grpSp>
      <mc:AlternateContent xmlns:mc="http://schemas.openxmlformats.org/markup-compatibility/2006" xmlns:a14="http://schemas.microsoft.com/office/drawing/2010/main">
        <mc:Choice Requires="a14">
          <p:sp>
            <p:nvSpPr>
              <p:cNvPr id="2" name="Rectangle 1"/>
              <p:cNvSpPr/>
              <p:nvPr/>
            </p:nvSpPr>
            <p:spPr>
              <a:xfrm>
                <a:off x="640080" y="3772819"/>
                <a:ext cx="7863840" cy="544123"/>
              </a:xfrm>
              <a:prstGeom prst="rect">
                <a:avLst/>
              </a:prstGeom>
            </p:spPr>
            <p:txBody>
              <a:bodyPr>
                <a:spAutoFit/>
              </a:bodyPr>
              <a:lstStyle/>
              <a:p>
                <a:pPr algn="ctr"/>
                <a14:m>
                  <m:oMath xmlns:m="http://schemas.openxmlformats.org/officeDocument/2006/math">
                    <m:acc>
                      <m:accPr>
                        <m:chr m:val="̂"/>
                        <m:ctrlPr>
                          <a:rPr lang="en-US" i="1">
                            <a:latin typeface="Cambria Math"/>
                            <a:cs typeface="Times New Roman"/>
                          </a:rPr>
                        </m:ctrlPr>
                      </m:accPr>
                      <m:e>
                        <m:r>
                          <a:rPr lang="en-US" i="1">
                            <a:effectLst/>
                            <a:latin typeface="Cambria Math"/>
                            <a:ea typeface="Calibri"/>
                            <a:cs typeface="Times New Roman"/>
                          </a:rPr>
                          <m:t>𝑝</m:t>
                        </m:r>
                      </m:e>
                    </m:acc>
                  </m:oMath>
                </a14:m>
                <a:r>
                  <a:rPr lang="en-US" dirty="0">
                    <a:effectLst/>
                    <a:latin typeface="Times New Roman"/>
                    <a:ea typeface="Calibri"/>
                  </a:rPr>
                  <a:t> </a:t>
                </a:r>
                <a:r>
                  <a:rPr lang="fr-FR" dirty="0">
                    <a:effectLst/>
                    <a:latin typeface="Times New Roman"/>
                    <a:ea typeface="Calibri"/>
                  </a:rPr>
                  <a:t>= Logit</a:t>
                </a:r>
                <a:r>
                  <a:rPr lang="fr-FR" baseline="30000" dirty="0">
                    <a:effectLst/>
                    <a:latin typeface="Times New Roman"/>
                    <a:ea typeface="Calibri"/>
                  </a:rPr>
                  <a:t>-1</a:t>
                </a:r>
                <a:r>
                  <a:rPr lang="fr-FR" dirty="0">
                    <a:effectLst/>
                    <a:latin typeface="Times New Roman"/>
                    <a:ea typeface="Calibri"/>
                  </a:rPr>
                  <a:t>(</a:t>
                </a:r>
                <a14:m>
                  <m:oMath xmlns:m="http://schemas.openxmlformats.org/officeDocument/2006/math">
                    <m:r>
                      <a:rPr lang="en-US" i="1">
                        <a:effectLst/>
                        <a:latin typeface="Cambria Math"/>
                        <a:ea typeface="Calibri"/>
                        <a:cs typeface="Times New Roman"/>
                      </a:rPr>
                      <m:t>𝑝</m:t>
                    </m:r>
                  </m:oMath>
                </a14:m>
                <a:r>
                  <a:rPr lang="fr-FR" dirty="0">
                    <a:effectLst/>
                    <a:latin typeface="Times New Roman"/>
                    <a:ea typeface="Calibri"/>
                  </a:rPr>
                  <a:t>) = </a:t>
                </a:r>
                <a14:m>
                  <m:oMath xmlns:m="http://schemas.openxmlformats.org/officeDocument/2006/math">
                    <m:f>
                      <m:fPr>
                        <m:ctrlPr>
                          <a:rPr lang="en-US" i="1">
                            <a:effectLst/>
                            <a:latin typeface="Cambria Math"/>
                            <a:cs typeface="Times New Roman"/>
                          </a:rPr>
                        </m:ctrlPr>
                      </m:fPr>
                      <m:num>
                        <m:sSup>
                          <m:sSupPr>
                            <m:ctrlPr>
                              <a:rPr lang="en-US" i="1">
                                <a:effectLst/>
                                <a:latin typeface="Cambria Math"/>
                                <a:cs typeface="Times New Roman"/>
                              </a:rPr>
                            </m:ctrlPr>
                          </m:sSupPr>
                          <m:e>
                            <m:r>
                              <a:rPr lang="en-US" i="1">
                                <a:effectLst/>
                                <a:latin typeface="Cambria Math"/>
                                <a:ea typeface="Calibri"/>
                                <a:cs typeface="Times New Roman"/>
                              </a:rPr>
                              <m:t>𝑒</m:t>
                            </m:r>
                          </m:e>
                          <m:sup>
                            <m:r>
                              <a:rPr lang="fr-FR">
                                <a:effectLst/>
                                <a:latin typeface="Cambria Math"/>
                                <a:ea typeface="Calibri"/>
                                <a:cs typeface="Times New Roman"/>
                              </a:rPr>
                              <m:t>1054.771 + 0.015</m:t>
                            </m:r>
                            <m:d>
                              <m:dPr>
                                <m:ctrlPr>
                                  <a:rPr lang="en-US" i="1">
                                    <a:effectLst/>
                                    <a:latin typeface="Cambria Math"/>
                                    <a:cs typeface="Times New Roman"/>
                                  </a:rPr>
                                </m:ctrlPr>
                              </m:dPr>
                              <m:e>
                                <m:r>
                                  <m:rPr>
                                    <m:sty m:val="p"/>
                                  </m:rPr>
                                  <a:rPr lang="fr-FR">
                                    <a:effectLst/>
                                    <a:latin typeface="Cambria Math"/>
                                    <a:ea typeface="Calibri"/>
                                    <a:cs typeface="Courier New"/>
                                  </a:rPr>
                                  <m:t>CLAIMS</m:t>
                                </m:r>
                              </m:e>
                            </m:d>
                            <m:r>
                              <a:rPr lang="fr-FR">
                                <a:effectLst/>
                                <a:latin typeface="Cambria Math"/>
                                <a:ea typeface="Calibri"/>
                                <a:cs typeface="Times New Roman"/>
                              </a:rPr>
                              <m:t> – 0.529</m:t>
                            </m:r>
                            <m:d>
                              <m:dPr>
                                <m:ctrlPr>
                                  <a:rPr lang="en-US" i="1">
                                    <a:effectLst/>
                                    <a:latin typeface="Cambria Math"/>
                                    <a:cs typeface="Times New Roman"/>
                                  </a:rPr>
                                </m:ctrlPr>
                              </m:dPr>
                              <m:e>
                                <m:r>
                                  <m:rPr>
                                    <m:sty m:val="p"/>
                                  </m:rPr>
                                  <a:rPr lang="fr-FR">
                                    <a:effectLst/>
                                    <a:latin typeface="Cambria Math"/>
                                    <a:ea typeface="Calibri"/>
                                    <a:cs typeface="Courier New"/>
                                  </a:rPr>
                                  <m:t>GYEAR</m:t>
                                </m:r>
                              </m:e>
                            </m:d>
                            <m:r>
                              <a:rPr lang="fr-FR">
                                <a:effectLst/>
                                <a:latin typeface="Cambria Math"/>
                                <a:ea typeface="Calibri"/>
                                <a:cs typeface="Times New Roman"/>
                              </a:rPr>
                              <m:t> + 4.733(</m:t>
                            </m:r>
                            <m:r>
                              <m:rPr>
                                <m:sty m:val="p"/>
                              </m:rPr>
                              <a:rPr lang="fr-FR">
                                <a:effectLst/>
                                <a:latin typeface="Cambria Math"/>
                                <a:ea typeface="Calibri"/>
                                <a:cs typeface="Courier New"/>
                              </a:rPr>
                              <m:t>GENERAL</m:t>
                            </m:r>
                            <m:r>
                              <a:rPr lang="fr-FR">
                                <a:effectLst/>
                                <a:latin typeface="Cambria Math"/>
                                <a:ea typeface="Calibri"/>
                                <a:cs typeface="Times New Roman"/>
                              </a:rPr>
                              <m:t>) – 0.627(</m:t>
                            </m:r>
                            <m:r>
                              <m:rPr>
                                <m:sty m:val="p"/>
                              </m:rPr>
                              <a:rPr lang="fr-FR">
                                <a:effectLst/>
                                <a:latin typeface="Cambria Math"/>
                                <a:ea typeface="Calibri"/>
                                <a:cs typeface="Courier New"/>
                              </a:rPr>
                              <m:t>ORIGINAL</m:t>
                            </m:r>
                            <m:r>
                              <a:rPr lang="fr-FR">
                                <a:effectLst/>
                                <a:latin typeface="Cambria Math"/>
                                <a:ea typeface="Calibri"/>
                                <a:cs typeface="Times New Roman"/>
                              </a:rPr>
                              <m:t>)</m:t>
                            </m:r>
                          </m:sup>
                        </m:sSup>
                      </m:num>
                      <m:den>
                        <m:sSup>
                          <m:sSupPr>
                            <m:ctrlPr>
                              <a:rPr lang="en-US" i="1">
                                <a:effectLst/>
                                <a:latin typeface="Cambria Math"/>
                                <a:cs typeface="Times New Roman"/>
                              </a:rPr>
                            </m:ctrlPr>
                          </m:sSupPr>
                          <m:e>
                            <m:r>
                              <a:rPr lang="fr-FR" i="1">
                                <a:effectLst/>
                                <a:latin typeface="Cambria Math"/>
                                <a:ea typeface="Calibri"/>
                                <a:cs typeface="Times New Roman"/>
                              </a:rPr>
                              <m:t>1+ </m:t>
                            </m:r>
                            <m:r>
                              <a:rPr lang="en-US" i="1">
                                <a:effectLst/>
                                <a:latin typeface="Cambria Math"/>
                                <a:ea typeface="Calibri"/>
                                <a:cs typeface="Times New Roman"/>
                              </a:rPr>
                              <m:t>𝑒</m:t>
                            </m:r>
                          </m:e>
                          <m:sup>
                            <m:r>
                              <a:rPr lang="fr-FR">
                                <a:effectLst/>
                                <a:latin typeface="Cambria Math"/>
                                <a:ea typeface="Calibri"/>
                                <a:cs typeface="Times New Roman"/>
                              </a:rPr>
                              <m:t>1054.771 + 0.015</m:t>
                            </m:r>
                            <m:d>
                              <m:dPr>
                                <m:ctrlPr>
                                  <a:rPr lang="en-US" i="1">
                                    <a:effectLst/>
                                    <a:latin typeface="Cambria Math"/>
                                    <a:cs typeface="Times New Roman"/>
                                  </a:rPr>
                                </m:ctrlPr>
                              </m:dPr>
                              <m:e>
                                <m:r>
                                  <m:rPr>
                                    <m:sty m:val="p"/>
                                  </m:rPr>
                                  <a:rPr lang="fr-FR">
                                    <a:effectLst/>
                                    <a:latin typeface="Cambria Math"/>
                                    <a:ea typeface="Calibri"/>
                                    <a:cs typeface="Courier New"/>
                                  </a:rPr>
                                  <m:t>CLAIMS</m:t>
                                </m:r>
                              </m:e>
                            </m:d>
                            <m:r>
                              <a:rPr lang="fr-FR">
                                <a:effectLst/>
                                <a:latin typeface="Cambria Math"/>
                                <a:ea typeface="Calibri"/>
                                <a:cs typeface="Times New Roman"/>
                              </a:rPr>
                              <m:t> – 0.529</m:t>
                            </m:r>
                            <m:d>
                              <m:dPr>
                                <m:ctrlPr>
                                  <a:rPr lang="en-US" i="1">
                                    <a:effectLst/>
                                    <a:latin typeface="Cambria Math"/>
                                    <a:cs typeface="Times New Roman"/>
                                  </a:rPr>
                                </m:ctrlPr>
                              </m:dPr>
                              <m:e>
                                <m:r>
                                  <m:rPr>
                                    <m:sty m:val="p"/>
                                  </m:rPr>
                                  <a:rPr lang="fr-FR">
                                    <a:effectLst/>
                                    <a:latin typeface="Cambria Math"/>
                                    <a:ea typeface="Calibri"/>
                                    <a:cs typeface="Courier New"/>
                                  </a:rPr>
                                  <m:t>GYEAR</m:t>
                                </m:r>
                              </m:e>
                            </m:d>
                            <m:r>
                              <a:rPr lang="fr-FR">
                                <a:effectLst/>
                                <a:latin typeface="Cambria Math"/>
                                <a:ea typeface="Calibri"/>
                                <a:cs typeface="Times New Roman"/>
                              </a:rPr>
                              <m:t> + 4.733(</m:t>
                            </m:r>
                            <m:r>
                              <m:rPr>
                                <m:sty m:val="p"/>
                              </m:rPr>
                              <a:rPr lang="fr-FR">
                                <a:effectLst/>
                                <a:latin typeface="Cambria Math"/>
                                <a:ea typeface="Calibri"/>
                                <a:cs typeface="Courier New"/>
                              </a:rPr>
                              <m:t>GENERAL</m:t>
                            </m:r>
                            <m:r>
                              <a:rPr lang="fr-FR">
                                <a:effectLst/>
                                <a:latin typeface="Cambria Math"/>
                                <a:ea typeface="Calibri"/>
                                <a:cs typeface="Times New Roman"/>
                              </a:rPr>
                              <m:t>) – 0.627(</m:t>
                            </m:r>
                            <m:r>
                              <m:rPr>
                                <m:sty m:val="p"/>
                              </m:rPr>
                              <a:rPr lang="fr-FR">
                                <a:effectLst/>
                                <a:latin typeface="Cambria Math"/>
                                <a:ea typeface="Calibri"/>
                                <a:cs typeface="Courier New"/>
                              </a:rPr>
                              <m:t>ORIGINAL</m:t>
                            </m:r>
                            <m:r>
                              <a:rPr lang="fr-FR">
                                <a:effectLst/>
                                <a:latin typeface="Cambria Math"/>
                                <a:ea typeface="Calibri"/>
                                <a:cs typeface="Times New Roman"/>
                              </a:rPr>
                              <m:t>)</m:t>
                            </m:r>
                          </m:sup>
                        </m:sSup>
                      </m:den>
                    </m:f>
                  </m:oMath>
                </a14:m>
                <a:endParaRPr lang="en-US" dirty="0"/>
              </a:p>
            </p:txBody>
          </p:sp>
        </mc:Choice>
        <mc:Fallback xmlns="">
          <p:sp>
            <p:nvSpPr>
              <p:cNvPr id="2" name="Rectangle 1"/>
              <p:cNvSpPr>
                <a:spLocks noRot="1" noChangeAspect="1" noMove="1" noResize="1" noEditPoints="1" noAdjustHandles="1" noChangeArrowheads="1" noChangeShapeType="1" noTextEdit="1"/>
              </p:cNvSpPr>
              <p:nvPr/>
            </p:nvSpPr>
            <p:spPr>
              <a:xfrm>
                <a:off x="640080" y="3772819"/>
                <a:ext cx="7863840" cy="544123"/>
              </a:xfrm>
              <a:prstGeom prst="rect">
                <a:avLst/>
              </a:prstGeom>
              <a:blipFill rotWithShape="1">
                <a:blip r:embed="rId5"/>
                <a:stretch>
                  <a:fillRect b="-5618"/>
                </a:stretch>
              </a:blipFill>
            </p:spPr>
            <p:txBody>
              <a:bodyPr/>
              <a:lstStyle/>
              <a:p>
                <a:r>
                  <a:rPr lang="en-US">
                    <a:noFill/>
                  </a:rPr>
                  <a:t> </a:t>
                </a:r>
              </a:p>
            </p:txBody>
          </p:sp>
        </mc:Fallback>
      </mc:AlternateContent>
      <p:sp>
        <p:nvSpPr>
          <p:cNvPr id="7" name="Rectangle 6"/>
          <p:cNvSpPr/>
          <p:nvPr/>
        </p:nvSpPr>
        <p:spPr>
          <a:xfrm>
            <a:off x="6137910" y="1748346"/>
            <a:ext cx="731520" cy="229044"/>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788670" y="3341132"/>
            <a:ext cx="7406640" cy="369332"/>
          </a:xfrm>
          <a:prstGeom prst="rect">
            <a:avLst/>
          </a:prstGeom>
          <a:noFill/>
        </p:spPr>
        <p:txBody>
          <a:bodyPr wrap="square" rtlCol="0">
            <a:spAutoFit/>
          </a:bodyPr>
          <a:lstStyle/>
          <a:p>
            <a:r>
              <a:rPr lang="en-US" dirty="0" smtClean="0"/>
              <a:t>Probability that a patent receives more than 2 citations by other patents: </a:t>
            </a:r>
          </a:p>
        </p:txBody>
      </p:sp>
    </p:spTree>
    <p:extLst>
      <p:ext uri="{BB962C8B-B14F-4D97-AF65-F5344CB8AC3E}">
        <p14:creationId xmlns:p14="http://schemas.microsoft.com/office/powerpoint/2010/main" val="392574231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375487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Obtain more current data.</a:t>
            </a:r>
          </a:p>
          <a:p>
            <a:pPr marL="285750" indent="-285750">
              <a:spcAft>
                <a:spcPts val="600"/>
              </a:spcAft>
              <a:buFont typeface="Arial" panose="020B0604020202020204" pitchFamily="34" charset="0"/>
              <a:buChar char="•"/>
            </a:pPr>
            <a:r>
              <a:rPr lang="en-US" dirty="0"/>
              <a:t>Buffer the sample data on the front and back time period to minimize truncation.</a:t>
            </a:r>
          </a:p>
          <a:p>
            <a:pPr marL="285750" indent="-285750">
              <a:spcAft>
                <a:spcPts val="600"/>
              </a:spcAft>
              <a:buFont typeface="Arial" panose="020B0604020202020204" pitchFamily="34" charset="0"/>
              <a:buChar char="•"/>
            </a:pPr>
            <a:r>
              <a:rPr lang="en-US" dirty="0" smtClean="0"/>
              <a:t>Repeat </a:t>
            </a:r>
            <a:r>
              <a:rPr lang="en-US" dirty="0"/>
              <a:t>multiple regression and hierarchical </a:t>
            </a:r>
            <a:r>
              <a:rPr lang="en-US" dirty="0" smtClean="0"/>
              <a:t>regression analyses </a:t>
            </a:r>
            <a:r>
              <a:rPr lang="en-US" dirty="0"/>
              <a:t>using </a:t>
            </a:r>
            <a:r>
              <a:rPr lang="en-US" dirty="0" smtClean="0"/>
              <a:t>the </a:t>
            </a:r>
            <a:br>
              <a:rPr lang="en-US" dirty="0" smtClean="0"/>
            </a:br>
            <a:r>
              <a:rPr lang="en-US" dirty="0" smtClean="0"/>
              <a:t>natural </a:t>
            </a:r>
            <a:r>
              <a:rPr lang="en-US" dirty="0"/>
              <a:t>logarithm of </a:t>
            </a:r>
            <a:r>
              <a:rPr lang="en-US" dirty="0" smtClean="0"/>
              <a:t>the number of citations received </a:t>
            </a:r>
            <a:r>
              <a:rPr lang="en-US" dirty="0"/>
              <a:t>as dependent variable</a:t>
            </a:r>
            <a:r>
              <a:rPr lang="en-US" dirty="0" smtClean="0"/>
              <a:t>.</a:t>
            </a:r>
          </a:p>
          <a:p>
            <a:pPr marL="285750" indent="-285750">
              <a:spcAft>
                <a:spcPts val="600"/>
              </a:spcAft>
              <a:buFont typeface="Arial" panose="020B0604020202020204" pitchFamily="34" charset="0"/>
              <a:buChar char="•"/>
            </a:pPr>
            <a:r>
              <a:rPr lang="en-US" dirty="0" smtClean="0"/>
              <a:t>Repeat binary logistic regression using a mean split instead of median split.</a:t>
            </a:r>
          </a:p>
          <a:p>
            <a:pPr marL="285750" indent="-285750">
              <a:spcAft>
                <a:spcPts val="600"/>
              </a:spcAft>
              <a:buFont typeface="Arial" panose="020B0604020202020204" pitchFamily="34" charset="0"/>
              <a:buChar char="•"/>
            </a:pPr>
            <a:r>
              <a:rPr lang="en-US" dirty="0" smtClean="0"/>
              <a:t>Modify path model using the measure of generality as the primary endogenous independent variable</a:t>
            </a:r>
            <a:r>
              <a:rPr lang="en-US" dirty="0"/>
              <a:t> </a:t>
            </a:r>
            <a:r>
              <a:rPr lang="en-US" dirty="0" smtClean="0"/>
              <a:t>instead of the number of claims.</a:t>
            </a:r>
            <a:endParaRPr lang="en-US" dirty="0"/>
          </a:p>
          <a:p>
            <a:pPr marL="285750" indent="-285750">
              <a:spcAft>
                <a:spcPts val="600"/>
              </a:spcAft>
              <a:buFont typeface="Arial" panose="020B0604020202020204" pitchFamily="34" charset="0"/>
              <a:buChar char="•"/>
            </a:pPr>
            <a:r>
              <a:rPr lang="en-US" dirty="0"/>
              <a:t>Separate independent claims </a:t>
            </a:r>
            <a:r>
              <a:rPr lang="en-US" dirty="0" smtClean="0"/>
              <a:t>and dependent </a:t>
            </a:r>
            <a:r>
              <a:rPr lang="en-US" dirty="0"/>
              <a:t>claims </a:t>
            </a:r>
            <a:r>
              <a:rPr lang="en-US" dirty="0" smtClean="0"/>
              <a:t>as distinct variables.</a:t>
            </a:r>
          </a:p>
          <a:p>
            <a:pPr marL="285750" indent="-285750">
              <a:spcAft>
                <a:spcPts val="600"/>
              </a:spcAft>
              <a:buFont typeface="Arial" panose="020B0604020202020204" pitchFamily="34" charset="0"/>
              <a:buChar char="•"/>
            </a:pPr>
            <a:r>
              <a:rPr lang="en-US" dirty="0" smtClean="0"/>
              <a:t>Include patent classifications and sub-classifications as an indicator of generality.</a:t>
            </a:r>
          </a:p>
          <a:p>
            <a:pPr marL="285750" indent="-285750">
              <a:spcAft>
                <a:spcPts val="600"/>
              </a:spcAft>
              <a:buFont typeface="Arial" panose="020B0604020202020204" pitchFamily="34" charset="0"/>
              <a:buChar char="•"/>
            </a:pPr>
            <a:r>
              <a:rPr lang="en-US" dirty="0" smtClean="0"/>
              <a:t>Control for the patent categories.</a:t>
            </a:r>
          </a:p>
          <a:p>
            <a:pPr marL="285750" indent="-285750">
              <a:spcAft>
                <a:spcPts val="600"/>
              </a:spcAft>
              <a:buFont typeface="Arial" panose="020B0604020202020204" pitchFamily="34" charset="0"/>
              <a:buChar char="•"/>
            </a:pPr>
            <a:r>
              <a:rPr lang="en-US" dirty="0" smtClean="0"/>
              <a:t>Consider the effects of technology readiness level (TRL).</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893100"/>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P</a:t>
            </a:r>
            <a:r>
              <a:rPr lang="en-US" dirty="0" smtClean="0"/>
              <a:t>rovides </a:t>
            </a:r>
            <a:r>
              <a:rPr lang="en-US" dirty="0"/>
              <a:t>information to help both </a:t>
            </a:r>
            <a:r>
              <a:rPr lang="en-US" dirty="0" smtClean="0"/>
              <a:t>industry professionals and </a:t>
            </a:r>
            <a:r>
              <a:rPr lang="en-US" dirty="0"/>
              <a:t>policymakers better understand the drivers of the technology transfer </a:t>
            </a:r>
            <a:r>
              <a:rPr lang="en-US" dirty="0" smtClean="0"/>
              <a:t>outcomes.</a:t>
            </a:r>
          </a:p>
          <a:p>
            <a:pPr marL="285750" indent="-285750">
              <a:spcAft>
                <a:spcPts val="600"/>
              </a:spcAft>
              <a:buFont typeface="Arial" panose="020B0604020202020204" pitchFamily="34" charset="0"/>
              <a:buChar char="•"/>
            </a:pPr>
            <a:r>
              <a:rPr lang="en-US" dirty="0" smtClean="0"/>
              <a:t>Identifies </a:t>
            </a:r>
            <a:r>
              <a:rPr lang="en-US" dirty="0"/>
              <a:t>possible factors that should be considered when forming public policy regarding technology transfer.  </a:t>
            </a:r>
            <a:endParaRPr lang="en-US" dirty="0" smtClean="0"/>
          </a:p>
          <a:p>
            <a:pPr marL="285750" indent="-285750">
              <a:spcAft>
                <a:spcPts val="600"/>
              </a:spcAft>
              <a:buFont typeface="Arial" panose="020B0604020202020204" pitchFamily="34" charset="0"/>
              <a:buChar char="•"/>
            </a:pPr>
            <a:r>
              <a:rPr lang="en-US" dirty="0" smtClean="0"/>
              <a:t>Suggests that considering </a:t>
            </a:r>
            <a:r>
              <a:rPr lang="en-US" dirty="0"/>
              <a:t>non-transactional measures </a:t>
            </a:r>
            <a:r>
              <a:rPr lang="en-US"/>
              <a:t>of </a:t>
            </a:r>
            <a:r>
              <a:rPr lang="en-US" smtClean="0"/>
              <a:t>technology </a:t>
            </a:r>
            <a:r>
              <a:rPr lang="en-US" dirty="0"/>
              <a:t>transfer may be feasible.  </a:t>
            </a:r>
            <a:endParaRPr lang="en-US" dirty="0" smtClean="0"/>
          </a:p>
          <a:p>
            <a:pPr marL="285750" indent="-285750">
              <a:spcAft>
                <a:spcPts val="600"/>
              </a:spcAft>
              <a:buFont typeface="Arial" panose="020B0604020202020204" pitchFamily="34" charset="0"/>
              <a:buChar char="•"/>
            </a:pPr>
            <a:r>
              <a:rPr lang="en-US" dirty="0" smtClean="0"/>
              <a:t>Affect </a:t>
            </a:r>
            <a:r>
              <a:rPr lang="en-US" dirty="0"/>
              <a:t>the objectives of policymakers with regard to technology transfer.  </a:t>
            </a:r>
          </a:p>
          <a:p>
            <a:pPr marL="285750" indent="-285750">
              <a:spcAft>
                <a:spcPts val="600"/>
              </a:spcAft>
              <a:buFont typeface="Arial" panose="020B0604020202020204" pitchFamily="34" charset="0"/>
              <a:buChar char="•"/>
            </a:pPr>
            <a:r>
              <a:rPr lang="en-US" dirty="0" smtClean="0"/>
              <a:t>Influence </a:t>
            </a:r>
            <a:r>
              <a:rPr lang="en-US" dirty="0"/>
              <a:t>how policymakers think about technology transfer and how they formulate public policy to increase the transfer of federally-funded research to the private sector.</a:t>
            </a:r>
            <a:endParaRPr lang="en-US" dirty="0" smtClean="0"/>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369332"/>
          </a:xfrm>
          <a:prstGeom prst="rect">
            <a:avLst/>
          </a:prstGeom>
          <a:noFill/>
        </p:spPr>
        <p:txBody>
          <a:bodyPr wrap="square" lIns="457200" rtlCol="0">
            <a:spAutoFit/>
          </a:bodyPr>
          <a:lstStyle/>
          <a:p>
            <a:pPr>
              <a:spcAft>
                <a:spcPts val="600"/>
              </a:spcAft>
            </a:pPr>
            <a:r>
              <a:rPr lang="en-US" dirty="0" smtClean="0"/>
              <a:t>Enter text.</a:t>
            </a:r>
            <a:endParaRPr lang="en-US" dirty="0" smtClean="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a:t>
            </a:r>
            <a:r>
              <a:rPr lang="en-US" dirty="0" smtClean="0"/>
              <a:t>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11597410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867</TotalTime>
  <Words>3186</Words>
  <Application>Microsoft Office PowerPoint</Application>
  <PresentationFormat>On-screen Show (16:10)</PresentationFormat>
  <Paragraphs>557</Paragraphs>
  <Slides>33</Slides>
  <Notes>15</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33</vt:i4>
      </vt:variant>
    </vt:vector>
  </HeadingPairs>
  <TitlesOfParts>
    <vt:vector size="35"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165</cp:revision>
  <cp:lastPrinted>2018-11-28T15:13:03Z</cp:lastPrinted>
  <dcterms:created xsi:type="dcterms:W3CDTF">2018-11-26T20:29:52Z</dcterms:created>
  <dcterms:modified xsi:type="dcterms:W3CDTF">2019-04-11T14:58:05Z</dcterms:modified>
</cp:coreProperties>
</file>