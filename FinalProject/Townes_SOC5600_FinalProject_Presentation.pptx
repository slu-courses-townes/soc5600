
<file path=[Content_Types].xml><?xml version="1.0" encoding="utf-8"?>
<Types xmlns="http://schemas.openxmlformats.org/package/2006/content-types">
  <Default Extension="png" ContentType="image/png"/>
  <Default Extension="emf" ContentType="image/x-emf"/>
  <Default Extension="xls" ContentType="application/vnd.ms-excel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7"/>
  </p:notesMasterIdLst>
  <p:handoutMasterIdLst>
    <p:handoutMasterId r:id="rId38"/>
  </p:handoutMasterIdLst>
  <p:sldIdLst>
    <p:sldId id="256" r:id="rId2"/>
    <p:sldId id="280" r:id="rId3"/>
    <p:sldId id="260" r:id="rId4"/>
    <p:sldId id="289" r:id="rId5"/>
    <p:sldId id="285" r:id="rId6"/>
    <p:sldId id="286" r:id="rId7"/>
    <p:sldId id="290" r:id="rId8"/>
    <p:sldId id="262" r:id="rId9"/>
    <p:sldId id="257" r:id="rId10"/>
    <p:sldId id="258" r:id="rId11"/>
    <p:sldId id="259" r:id="rId12"/>
    <p:sldId id="291" r:id="rId13"/>
    <p:sldId id="292" r:id="rId14"/>
    <p:sldId id="263" r:id="rId15"/>
    <p:sldId id="275" r:id="rId16"/>
    <p:sldId id="264" r:id="rId17"/>
    <p:sldId id="265" r:id="rId18"/>
    <p:sldId id="274" r:id="rId19"/>
    <p:sldId id="266" r:id="rId20"/>
    <p:sldId id="273" r:id="rId21"/>
    <p:sldId id="269" r:id="rId22"/>
    <p:sldId id="283" r:id="rId23"/>
    <p:sldId id="267" r:id="rId24"/>
    <p:sldId id="268" r:id="rId25"/>
    <p:sldId id="272" r:id="rId26"/>
    <p:sldId id="270" r:id="rId27"/>
    <p:sldId id="271" r:id="rId28"/>
    <p:sldId id="281" r:id="rId29"/>
    <p:sldId id="288" r:id="rId30"/>
    <p:sldId id="282" r:id="rId31"/>
    <p:sldId id="276" r:id="rId32"/>
    <p:sldId id="277" r:id="rId33"/>
    <p:sldId id="278" r:id="rId34"/>
    <p:sldId id="279" r:id="rId35"/>
    <p:sldId id="284" r:id="rId36"/>
  </p:sldIdLst>
  <p:sldSz cx="9144000" cy="5715000" type="screen16x1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08" autoAdjust="0"/>
    <p:restoredTop sz="83837" autoAdjust="0"/>
  </p:normalViewPr>
  <p:slideViewPr>
    <p:cSldViewPr snapToGrid="0">
      <p:cViewPr>
        <p:scale>
          <a:sx n="110" d="100"/>
          <a:sy n="110" d="100"/>
        </p:scale>
        <p:origin x="-1644" y="-216"/>
      </p:cViewPr>
      <p:guideLst>
        <p:guide orient="horz" pos="180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 dirty="0"/>
              <a:t>Percent </a:t>
            </a:r>
            <a:r>
              <a:rPr lang="en-US" dirty="0" smtClean="0"/>
              <a:t>Contribution to Gross Domestic</a:t>
            </a:r>
            <a:r>
              <a:rPr lang="en-US" baseline="0" dirty="0" smtClean="0"/>
              <a:t> Product</a:t>
            </a:r>
            <a:endParaRPr lang="en-US" dirty="0"/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Percent Contribution</c:v>
                </c:pt>
              </c:strCache>
            </c:strRef>
          </c:tx>
          <c:explosion val="25"/>
          <c:dLbls>
            <c:dLblPos val="outEnd"/>
            <c:showLegendKey val="0"/>
            <c:showVal val="0"/>
            <c:showCatName val="1"/>
            <c:showSerName val="0"/>
            <c:showPercent val="1"/>
            <c:showBubbleSize val="0"/>
            <c:separator>, </c:separator>
            <c:showLeaderLines val="1"/>
          </c:dLbls>
          <c:cat>
            <c:strRef>
              <c:f>Sheet1!$A$2:$A$3</c:f>
              <c:strCache>
                <c:ptCount val="2"/>
                <c:pt idx="0">
                  <c:v>Technology</c:v>
                </c:pt>
                <c:pt idx="1">
                  <c:v>All other factors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80</c:v>
                </c:pt>
                <c:pt idx="1">
                  <c:v>20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12051B9-F660-41FB-9BFB-187ECABCD821}" type="doc">
      <dgm:prSet loTypeId="urn:microsoft.com/office/officeart/2005/8/layout/hProcess7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56D25664-E470-4423-B8A9-9B6E4F3E9501}">
      <dgm:prSet phldrT="[Text]"/>
      <dgm:spPr/>
      <dgm:t>
        <a:bodyPr/>
        <a:lstStyle/>
        <a:p>
          <a:r>
            <a:rPr lang="en-US" dirty="0" smtClean="0"/>
            <a:t>Construct</a:t>
          </a:r>
          <a:endParaRPr lang="en-US" dirty="0"/>
        </a:p>
      </dgm:t>
    </dgm:pt>
    <dgm:pt modelId="{AE225F17-CB4A-4698-895E-495209A24EDD}" type="parTrans" cxnId="{874CAB56-E993-4BA7-B073-DD6F211AB452}">
      <dgm:prSet/>
      <dgm:spPr/>
      <dgm:t>
        <a:bodyPr/>
        <a:lstStyle/>
        <a:p>
          <a:endParaRPr lang="en-US"/>
        </a:p>
      </dgm:t>
    </dgm:pt>
    <dgm:pt modelId="{0513D618-905F-43E6-8DF3-0764A99732D8}" type="sibTrans" cxnId="{874CAB56-E993-4BA7-B073-DD6F211AB452}">
      <dgm:prSet/>
      <dgm:spPr/>
      <dgm:t>
        <a:bodyPr/>
        <a:lstStyle/>
        <a:p>
          <a:endParaRPr lang="en-US"/>
        </a:p>
      </dgm:t>
    </dgm:pt>
    <dgm:pt modelId="{F754AD28-8B54-47D9-83F1-8D45F35B4A81}">
      <dgm:prSet phldrT="[Text]" phldr="1"/>
      <dgm:spPr/>
      <dgm:t>
        <a:bodyPr/>
        <a:lstStyle/>
        <a:p>
          <a:endParaRPr lang="en-US" dirty="0"/>
        </a:p>
      </dgm:t>
    </dgm:pt>
    <dgm:pt modelId="{26AD8160-5FF5-41BE-AFAF-E29D66F0469B}" type="parTrans" cxnId="{C5F869C1-8FEF-4035-9EC3-FDF0092FF2C9}">
      <dgm:prSet/>
      <dgm:spPr/>
      <dgm:t>
        <a:bodyPr/>
        <a:lstStyle/>
        <a:p>
          <a:endParaRPr lang="en-US"/>
        </a:p>
      </dgm:t>
    </dgm:pt>
    <dgm:pt modelId="{BE9BECBC-F94F-4E2F-BDB2-93E8BAEBEFE7}" type="sibTrans" cxnId="{C5F869C1-8FEF-4035-9EC3-FDF0092FF2C9}">
      <dgm:prSet/>
      <dgm:spPr/>
      <dgm:t>
        <a:bodyPr/>
        <a:lstStyle/>
        <a:p>
          <a:endParaRPr lang="en-US"/>
        </a:p>
      </dgm:t>
    </dgm:pt>
    <dgm:pt modelId="{275823A6-DA31-4015-971F-013EA967541C}">
      <dgm:prSet phldrT="[Text]"/>
      <dgm:spPr/>
      <dgm:t>
        <a:bodyPr/>
        <a:lstStyle/>
        <a:p>
          <a:r>
            <a:rPr lang="en-US" dirty="0" smtClean="0"/>
            <a:t>Literature</a:t>
          </a:r>
          <a:endParaRPr lang="en-US" dirty="0"/>
        </a:p>
      </dgm:t>
    </dgm:pt>
    <dgm:pt modelId="{875E5474-64E5-4108-955A-9C4C5981F19E}" type="parTrans" cxnId="{7437843E-C873-4F0A-B5EA-DE17D4B19CEC}">
      <dgm:prSet/>
      <dgm:spPr/>
      <dgm:t>
        <a:bodyPr/>
        <a:lstStyle/>
        <a:p>
          <a:endParaRPr lang="en-US"/>
        </a:p>
      </dgm:t>
    </dgm:pt>
    <dgm:pt modelId="{51902D99-3A7E-49E6-ACF4-64573B002DF3}" type="sibTrans" cxnId="{7437843E-C873-4F0A-B5EA-DE17D4B19CEC}">
      <dgm:prSet/>
      <dgm:spPr/>
      <dgm:t>
        <a:bodyPr/>
        <a:lstStyle/>
        <a:p>
          <a:endParaRPr lang="en-US"/>
        </a:p>
      </dgm:t>
    </dgm:pt>
    <dgm:pt modelId="{E7E09A88-A855-416A-B17D-5608BAB5F968}">
      <dgm:prSet phldrT="[Text]" phldr="1"/>
      <dgm:spPr/>
      <dgm:t>
        <a:bodyPr/>
        <a:lstStyle/>
        <a:p>
          <a:endParaRPr lang="en-US"/>
        </a:p>
      </dgm:t>
    </dgm:pt>
    <dgm:pt modelId="{791A9365-62E9-4724-B5DD-36351582D82E}" type="parTrans" cxnId="{955316F3-D59D-4E22-BAC5-4B54F7BE800A}">
      <dgm:prSet/>
      <dgm:spPr/>
      <dgm:t>
        <a:bodyPr/>
        <a:lstStyle/>
        <a:p>
          <a:endParaRPr lang="en-US"/>
        </a:p>
      </dgm:t>
    </dgm:pt>
    <dgm:pt modelId="{C2A5DE0A-7824-4E35-BB27-47DBE8541DB5}" type="sibTrans" cxnId="{955316F3-D59D-4E22-BAC5-4B54F7BE800A}">
      <dgm:prSet/>
      <dgm:spPr/>
      <dgm:t>
        <a:bodyPr/>
        <a:lstStyle/>
        <a:p>
          <a:endParaRPr lang="en-US"/>
        </a:p>
      </dgm:t>
    </dgm:pt>
    <dgm:pt modelId="{2645AA64-F59A-4567-9741-8E504AE7F8ED}">
      <dgm:prSet phldrT="[Text]"/>
      <dgm:spPr/>
      <dgm:t>
        <a:bodyPr/>
        <a:lstStyle/>
        <a:p>
          <a:r>
            <a:rPr lang="en-US" dirty="0" smtClean="0"/>
            <a:t>Operationalization</a:t>
          </a:r>
          <a:endParaRPr lang="en-US" dirty="0"/>
        </a:p>
      </dgm:t>
    </dgm:pt>
    <dgm:pt modelId="{AC7E47B7-C191-494F-A858-138D80EBAA8B}" type="parTrans" cxnId="{9CD48B93-ABB8-433A-A639-193F0A28CBE5}">
      <dgm:prSet/>
      <dgm:spPr/>
      <dgm:t>
        <a:bodyPr/>
        <a:lstStyle/>
        <a:p>
          <a:endParaRPr lang="en-US"/>
        </a:p>
      </dgm:t>
    </dgm:pt>
    <dgm:pt modelId="{8534D89E-94B4-4294-B728-B7172A8E774D}" type="sibTrans" cxnId="{9CD48B93-ABB8-433A-A639-193F0A28CBE5}">
      <dgm:prSet/>
      <dgm:spPr/>
      <dgm:t>
        <a:bodyPr/>
        <a:lstStyle/>
        <a:p>
          <a:endParaRPr lang="en-US"/>
        </a:p>
      </dgm:t>
    </dgm:pt>
    <dgm:pt modelId="{D264B8C8-0C74-4047-BC3D-D328ABB04B07}">
      <dgm:prSet phldrT="[Text]" phldr="1"/>
      <dgm:spPr/>
      <dgm:t>
        <a:bodyPr/>
        <a:lstStyle/>
        <a:p>
          <a:endParaRPr lang="en-US"/>
        </a:p>
      </dgm:t>
    </dgm:pt>
    <dgm:pt modelId="{EFE8DCE1-CB9B-44C0-BE30-595BF1898A8E}" type="parTrans" cxnId="{DB884937-1E09-49E0-BABE-97AC4679294D}">
      <dgm:prSet/>
      <dgm:spPr/>
      <dgm:t>
        <a:bodyPr/>
        <a:lstStyle/>
        <a:p>
          <a:endParaRPr lang="en-US"/>
        </a:p>
      </dgm:t>
    </dgm:pt>
    <dgm:pt modelId="{E5F6790C-BCA3-4DEC-A52E-7D738F9F57BD}" type="sibTrans" cxnId="{DB884937-1E09-49E0-BABE-97AC4679294D}">
      <dgm:prSet/>
      <dgm:spPr/>
      <dgm:t>
        <a:bodyPr/>
        <a:lstStyle/>
        <a:p>
          <a:endParaRPr lang="en-US"/>
        </a:p>
      </dgm:t>
    </dgm:pt>
    <dgm:pt modelId="{4413368B-ACCA-469B-9D0E-1FEFC4075FB0}" type="pres">
      <dgm:prSet presAssocID="{E12051B9-F660-41FB-9BFB-187ECABCD821}" presName="Name0" presStyleCnt="0">
        <dgm:presLayoutVars>
          <dgm:dir/>
          <dgm:animLvl val="lvl"/>
          <dgm:resizeHandles val="exact"/>
        </dgm:presLayoutVars>
      </dgm:prSet>
      <dgm:spPr/>
    </dgm:pt>
    <dgm:pt modelId="{8E1BCC0E-B989-4435-8915-645304C71A64}" type="pres">
      <dgm:prSet presAssocID="{56D25664-E470-4423-B8A9-9B6E4F3E9501}" presName="compositeNode" presStyleCnt="0">
        <dgm:presLayoutVars>
          <dgm:bulletEnabled val="1"/>
        </dgm:presLayoutVars>
      </dgm:prSet>
      <dgm:spPr/>
    </dgm:pt>
    <dgm:pt modelId="{5EE1D2E5-E13B-4FA3-A68E-FA18C8AD1A1A}" type="pres">
      <dgm:prSet presAssocID="{56D25664-E470-4423-B8A9-9B6E4F3E9501}" presName="bgRect" presStyleLbl="node1" presStyleIdx="0" presStyleCnt="3"/>
      <dgm:spPr/>
      <dgm:t>
        <a:bodyPr/>
        <a:lstStyle/>
        <a:p>
          <a:endParaRPr lang="en-US"/>
        </a:p>
      </dgm:t>
    </dgm:pt>
    <dgm:pt modelId="{1F2FC209-C6F9-4BD8-BE18-C50B50281548}" type="pres">
      <dgm:prSet presAssocID="{56D25664-E470-4423-B8A9-9B6E4F3E9501}" presName="parentNode" presStyleLbl="node1" presStyleIdx="0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F07502A-98A4-4880-9779-27EA2BEB6F02}" type="pres">
      <dgm:prSet presAssocID="{56D25664-E470-4423-B8A9-9B6E4F3E9501}" presName="childNode" presStyleLbl="node1" presStyleIdx="0" presStyleCnt="3">
        <dgm:presLayoutVars>
          <dgm:bulletEnabled val="1"/>
        </dgm:presLayoutVars>
      </dgm:prSet>
      <dgm:spPr/>
    </dgm:pt>
    <dgm:pt modelId="{13ACBB4E-2F0C-4773-92A7-F091255EA962}" type="pres">
      <dgm:prSet presAssocID="{0513D618-905F-43E6-8DF3-0764A99732D8}" presName="hSp" presStyleCnt="0"/>
      <dgm:spPr/>
    </dgm:pt>
    <dgm:pt modelId="{BAD87237-2D53-4DFC-BA2E-02EC39493885}" type="pres">
      <dgm:prSet presAssocID="{0513D618-905F-43E6-8DF3-0764A99732D8}" presName="vProcSp" presStyleCnt="0"/>
      <dgm:spPr/>
    </dgm:pt>
    <dgm:pt modelId="{221F174E-2568-4C2B-B98A-B21C733FC119}" type="pres">
      <dgm:prSet presAssocID="{0513D618-905F-43E6-8DF3-0764A99732D8}" presName="vSp1" presStyleCnt="0"/>
      <dgm:spPr/>
    </dgm:pt>
    <dgm:pt modelId="{45668240-D897-4FC1-8421-6DD785B65040}" type="pres">
      <dgm:prSet presAssocID="{0513D618-905F-43E6-8DF3-0764A99732D8}" presName="simulatedConn" presStyleLbl="solidFgAcc1" presStyleIdx="0" presStyleCnt="2"/>
      <dgm:spPr/>
    </dgm:pt>
    <dgm:pt modelId="{50ECFA14-9F36-4C35-911C-A780FF037D2C}" type="pres">
      <dgm:prSet presAssocID="{0513D618-905F-43E6-8DF3-0764A99732D8}" presName="vSp2" presStyleCnt="0"/>
      <dgm:spPr/>
    </dgm:pt>
    <dgm:pt modelId="{B0CEB5DD-B27E-454F-A39C-A559A187214D}" type="pres">
      <dgm:prSet presAssocID="{0513D618-905F-43E6-8DF3-0764A99732D8}" presName="sibTrans" presStyleCnt="0"/>
      <dgm:spPr/>
    </dgm:pt>
    <dgm:pt modelId="{4C92115F-DFB0-4372-AF66-CF11B70A8EFD}" type="pres">
      <dgm:prSet presAssocID="{275823A6-DA31-4015-971F-013EA967541C}" presName="compositeNode" presStyleCnt="0">
        <dgm:presLayoutVars>
          <dgm:bulletEnabled val="1"/>
        </dgm:presLayoutVars>
      </dgm:prSet>
      <dgm:spPr/>
    </dgm:pt>
    <dgm:pt modelId="{CB5EA34A-627A-4C1F-96E3-4088D2A98FDD}" type="pres">
      <dgm:prSet presAssocID="{275823A6-DA31-4015-971F-013EA967541C}" presName="bgRect" presStyleLbl="node1" presStyleIdx="1" presStyleCnt="3"/>
      <dgm:spPr/>
    </dgm:pt>
    <dgm:pt modelId="{752682F3-57CE-4B43-B292-A62B3D508EDD}" type="pres">
      <dgm:prSet presAssocID="{275823A6-DA31-4015-971F-013EA967541C}" presName="parentNode" presStyleLbl="node1" presStyleIdx="1" presStyleCnt="3">
        <dgm:presLayoutVars>
          <dgm:chMax val="0"/>
          <dgm:bulletEnabled val="1"/>
        </dgm:presLayoutVars>
      </dgm:prSet>
      <dgm:spPr/>
    </dgm:pt>
    <dgm:pt modelId="{7C1FE252-E5CE-40AF-AE08-799A5F741FEE}" type="pres">
      <dgm:prSet presAssocID="{275823A6-DA31-4015-971F-013EA967541C}" presName="childNode" presStyleLbl="node1" presStyleIdx="1" presStyleCnt="3">
        <dgm:presLayoutVars>
          <dgm:bulletEnabled val="1"/>
        </dgm:presLayoutVars>
      </dgm:prSet>
      <dgm:spPr/>
    </dgm:pt>
    <dgm:pt modelId="{E94DD569-30C2-4DB5-BFE9-2EA1C054A099}" type="pres">
      <dgm:prSet presAssocID="{51902D99-3A7E-49E6-ACF4-64573B002DF3}" presName="hSp" presStyleCnt="0"/>
      <dgm:spPr/>
    </dgm:pt>
    <dgm:pt modelId="{D0762C22-9124-4CFC-9FEF-33DB241A1B75}" type="pres">
      <dgm:prSet presAssocID="{51902D99-3A7E-49E6-ACF4-64573B002DF3}" presName="vProcSp" presStyleCnt="0"/>
      <dgm:spPr/>
    </dgm:pt>
    <dgm:pt modelId="{C8DF72E1-70D1-4214-8DAD-40E18FF824F5}" type="pres">
      <dgm:prSet presAssocID="{51902D99-3A7E-49E6-ACF4-64573B002DF3}" presName="vSp1" presStyleCnt="0"/>
      <dgm:spPr/>
    </dgm:pt>
    <dgm:pt modelId="{BAC8B8B3-49A2-4BE7-B498-654C601FE809}" type="pres">
      <dgm:prSet presAssocID="{51902D99-3A7E-49E6-ACF4-64573B002DF3}" presName="simulatedConn" presStyleLbl="solidFgAcc1" presStyleIdx="1" presStyleCnt="2"/>
      <dgm:spPr/>
    </dgm:pt>
    <dgm:pt modelId="{4A5065A5-7398-4E75-9460-0F7770025FB9}" type="pres">
      <dgm:prSet presAssocID="{51902D99-3A7E-49E6-ACF4-64573B002DF3}" presName="vSp2" presStyleCnt="0"/>
      <dgm:spPr/>
    </dgm:pt>
    <dgm:pt modelId="{2AE61FAA-6DD0-4F7B-8C42-F1DA0A887180}" type="pres">
      <dgm:prSet presAssocID="{51902D99-3A7E-49E6-ACF4-64573B002DF3}" presName="sibTrans" presStyleCnt="0"/>
      <dgm:spPr/>
    </dgm:pt>
    <dgm:pt modelId="{72B73D94-A19D-488F-A34B-978C721C47B4}" type="pres">
      <dgm:prSet presAssocID="{2645AA64-F59A-4567-9741-8E504AE7F8ED}" presName="compositeNode" presStyleCnt="0">
        <dgm:presLayoutVars>
          <dgm:bulletEnabled val="1"/>
        </dgm:presLayoutVars>
      </dgm:prSet>
      <dgm:spPr/>
    </dgm:pt>
    <dgm:pt modelId="{BBE81636-BCDD-48A0-B978-839FA7B950F8}" type="pres">
      <dgm:prSet presAssocID="{2645AA64-F59A-4567-9741-8E504AE7F8ED}" presName="bgRect" presStyleLbl="node1" presStyleIdx="2" presStyleCnt="3"/>
      <dgm:spPr/>
      <dgm:t>
        <a:bodyPr/>
        <a:lstStyle/>
        <a:p>
          <a:endParaRPr lang="en-US"/>
        </a:p>
      </dgm:t>
    </dgm:pt>
    <dgm:pt modelId="{5002EEF7-AB5F-41AC-BBA4-49DC2C142864}" type="pres">
      <dgm:prSet presAssocID="{2645AA64-F59A-4567-9741-8E504AE7F8ED}" presName="parentNode" presStyleLbl="node1" presStyleIdx="2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428B23C-049C-4D7B-92D7-DD65A1003E4E}" type="pres">
      <dgm:prSet presAssocID="{2645AA64-F59A-4567-9741-8E504AE7F8ED}" presName="childNode" presStyleLbl="node1" presStyleIdx="2" presStyleCnt="3">
        <dgm:presLayoutVars>
          <dgm:bulletEnabled val="1"/>
        </dgm:presLayoutVars>
      </dgm:prSet>
      <dgm:spPr/>
    </dgm:pt>
  </dgm:ptLst>
  <dgm:cxnLst>
    <dgm:cxn modelId="{874CAB56-E993-4BA7-B073-DD6F211AB452}" srcId="{E12051B9-F660-41FB-9BFB-187ECABCD821}" destId="{56D25664-E470-4423-B8A9-9B6E4F3E9501}" srcOrd="0" destOrd="0" parTransId="{AE225F17-CB4A-4698-895E-495209A24EDD}" sibTransId="{0513D618-905F-43E6-8DF3-0764A99732D8}"/>
    <dgm:cxn modelId="{78906CAA-52AE-4D19-BD07-D9E0618BF54F}" type="presOf" srcId="{275823A6-DA31-4015-971F-013EA967541C}" destId="{CB5EA34A-627A-4C1F-96E3-4088D2A98FDD}" srcOrd="0" destOrd="0" presId="urn:microsoft.com/office/officeart/2005/8/layout/hProcess7"/>
    <dgm:cxn modelId="{C5F869C1-8FEF-4035-9EC3-FDF0092FF2C9}" srcId="{56D25664-E470-4423-B8A9-9B6E4F3E9501}" destId="{F754AD28-8B54-47D9-83F1-8D45F35B4A81}" srcOrd="0" destOrd="0" parTransId="{26AD8160-5FF5-41BE-AFAF-E29D66F0469B}" sibTransId="{BE9BECBC-F94F-4E2F-BDB2-93E8BAEBEFE7}"/>
    <dgm:cxn modelId="{76F14B5A-7078-4E00-849A-87AEE3907D77}" type="presOf" srcId="{2645AA64-F59A-4567-9741-8E504AE7F8ED}" destId="{5002EEF7-AB5F-41AC-BBA4-49DC2C142864}" srcOrd="1" destOrd="0" presId="urn:microsoft.com/office/officeart/2005/8/layout/hProcess7"/>
    <dgm:cxn modelId="{ACFF0878-7DBB-4F38-B291-B00E324656EA}" type="presOf" srcId="{E12051B9-F660-41FB-9BFB-187ECABCD821}" destId="{4413368B-ACCA-469B-9D0E-1FEFC4075FB0}" srcOrd="0" destOrd="0" presId="urn:microsoft.com/office/officeart/2005/8/layout/hProcess7"/>
    <dgm:cxn modelId="{0BB8952D-4477-4C8D-A1CB-F7BE57D33850}" type="presOf" srcId="{56D25664-E470-4423-B8A9-9B6E4F3E9501}" destId="{5EE1D2E5-E13B-4FA3-A68E-FA18C8AD1A1A}" srcOrd="0" destOrd="0" presId="urn:microsoft.com/office/officeart/2005/8/layout/hProcess7"/>
    <dgm:cxn modelId="{982C3429-E99B-4B29-AA58-585E121A0F18}" type="presOf" srcId="{D264B8C8-0C74-4047-BC3D-D328ABB04B07}" destId="{4428B23C-049C-4D7B-92D7-DD65A1003E4E}" srcOrd="0" destOrd="0" presId="urn:microsoft.com/office/officeart/2005/8/layout/hProcess7"/>
    <dgm:cxn modelId="{B4079E49-8C15-4492-A72D-B785699EEDEF}" type="presOf" srcId="{56D25664-E470-4423-B8A9-9B6E4F3E9501}" destId="{1F2FC209-C6F9-4BD8-BE18-C50B50281548}" srcOrd="1" destOrd="0" presId="urn:microsoft.com/office/officeart/2005/8/layout/hProcess7"/>
    <dgm:cxn modelId="{9EF043F6-81C9-4B62-A3C2-161B9242ACE0}" type="presOf" srcId="{2645AA64-F59A-4567-9741-8E504AE7F8ED}" destId="{BBE81636-BCDD-48A0-B978-839FA7B950F8}" srcOrd="0" destOrd="0" presId="urn:microsoft.com/office/officeart/2005/8/layout/hProcess7"/>
    <dgm:cxn modelId="{4B8BD138-B8D8-4987-9D01-12439CC30C2C}" type="presOf" srcId="{E7E09A88-A855-416A-B17D-5608BAB5F968}" destId="{7C1FE252-E5CE-40AF-AE08-799A5F741FEE}" srcOrd="0" destOrd="0" presId="urn:microsoft.com/office/officeart/2005/8/layout/hProcess7"/>
    <dgm:cxn modelId="{955316F3-D59D-4E22-BAC5-4B54F7BE800A}" srcId="{275823A6-DA31-4015-971F-013EA967541C}" destId="{E7E09A88-A855-416A-B17D-5608BAB5F968}" srcOrd="0" destOrd="0" parTransId="{791A9365-62E9-4724-B5DD-36351582D82E}" sibTransId="{C2A5DE0A-7824-4E35-BB27-47DBE8541DB5}"/>
    <dgm:cxn modelId="{9CD48B93-ABB8-433A-A639-193F0A28CBE5}" srcId="{E12051B9-F660-41FB-9BFB-187ECABCD821}" destId="{2645AA64-F59A-4567-9741-8E504AE7F8ED}" srcOrd="2" destOrd="0" parTransId="{AC7E47B7-C191-494F-A858-138D80EBAA8B}" sibTransId="{8534D89E-94B4-4294-B728-B7172A8E774D}"/>
    <dgm:cxn modelId="{DB884937-1E09-49E0-BABE-97AC4679294D}" srcId="{2645AA64-F59A-4567-9741-8E504AE7F8ED}" destId="{D264B8C8-0C74-4047-BC3D-D328ABB04B07}" srcOrd="0" destOrd="0" parTransId="{EFE8DCE1-CB9B-44C0-BE30-595BF1898A8E}" sibTransId="{E5F6790C-BCA3-4DEC-A52E-7D738F9F57BD}"/>
    <dgm:cxn modelId="{7AD55E02-AAF6-4B97-910E-6630BC69E26C}" type="presOf" srcId="{275823A6-DA31-4015-971F-013EA967541C}" destId="{752682F3-57CE-4B43-B292-A62B3D508EDD}" srcOrd="1" destOrd="0" presId="urn:microsoft.com/office/officeart/2005/8/layout/hProcess7"/>
    <dgm:cxn modelId="{E3BA9FB2-B5D4-4A6B-A343-CF7A90A8C69E}" type="presOf" srcId="{F754AD28-8B54-47D9-83F1-8D45F35B4A81}" destId="{0F07502A-98A4-4880-9779-27EA2BEB6F02}" srcOrd="0" destOrd="0" presId="urn:microsoft.com/office/officeart/2005/8/layout/hProcess7"/>
    <dgm:cxn modelId="{7437843E-C873-4F0A-B5EA-DE17D4B19CEC}" srcId="{E12051B9-F660-41FB-9BFB-187ECABCD821}" destId="{275823A6-DA31-4015-971F-013EA967541C}" srcOrd="1" destOrd="0" parTransId="{875E5474-64E5-4108-955A-9C4C5981F19E}" sibTransId="{51902D99-3A7E-49E6-ACF4-64573B002DF3}"/>
    <dgm:cxn modelId="{6FF34941-3A60-47E8-9587-23E7C2E7FBB9}" type="presParOf" srcId="{4413368B-ACCA-469B-9D0E-1FEFC4075FB0}" destId="{8E1BCC0E-B989-4435-8915-645304C71A64}" srcOrd="0" destOrd="0" presId="urn:microsoft.com/office/officeart/2005/8/layout/hProcess7"/>
    <dgm:cxn modelId="{6E507EE1-9038-444D-AC92-4EDC3105A0FF}" type="presParOf" srcId="{8E1BCC0E-B989-4435-8915-645304C71A64}" destId="{5EE1D2E5-E13B-4FA3-A68E-FA18C8AD1A1A}" srcOrd="0" destOrd="0" presId="urn:microsoft.com/office/officeart/2005/8/layout/hProcess7"/>
    <dgm:cxn modelId="{F27016E5-F178-43A6-9147-AB6FE8EFAF43}" type="presParOf" srcId="{8E1BCC0E-B989-4435-8915-645304C71A64}" destId="{1F2FC209-C6F9-4BD8-BE18-C50B50281548}" srcOrd="1" destOrd="0" presId="urn:microsoft.com/office/officeart/2005/8/layout/hProcess7"/>
    <dgm:cxn modelId="{7A8EE87A-1200-4701-912C-BD5C4FDE9B55}" type="presParOf" srcId="{8E1BCC0E-B989-4435-8915-645304C71A64}" destId="{0F07502A-98A4-4880-9779-27EA2BEB6F02}" srcOrd="2" destOrd="0" presId="urn:microsoft.com/office/officeart/2005/8/layout/hProcess7"/>
    <dgm:cxn modelId="{635FAD3F-BFBC-4471-A1F5-D7ABFDD0460F}" type="presParOf" srcId="{4413368B-ACCA-469B-9D0E-1FEFC4075FB0}" destId="{13ACBB4E-2F0C-4773-92A7-F091255EA962}" srcOrd="1" destOrd="0" presId="urn:microsoft.com/office/officeart/2005/8/layout/hProcess7"/>
    <dgm:cxn modelId="{5438440B-6D26-4FDE-8C50-449244E168EE}" type="presParOf" srcId="{4413368B-ACCA-469B-9D0E-1FEFC4075FB0}" destId="{BAD87237-2D53-4DFC-BA2E-02EC39493885}" srcOrd="2" destOrd="0" presId="urn:microsoft.com/office/officeart/2005/8/layout/hProcess7"/>
    <dgm:cxn modelId="{9B7FA16E-D367-491A-B7AB-60187847BC4B}" type="presParOf" srcId="{BAD87237-2D53-4DFC-BA2E-02EC39493885}" destId="{221F174E-2568-4C2B-B98A-B21C733FC119}" srcOrd="0" destOrd="0" presId="urn:microsoft.com/office/officeart/2005/8/layout/hProcess7"/>
    <dgm:cxn modelId="{452D00B4-6DAD-4F7C-8050-EA4077634965}" type="presParOf" srcId="{BAD87237-2D53-4DFC-BA2E-02EC39493885}" destId="{45668240-D897-4FC1-8421-6DD785B65040}" srcOrd="1" destOrd="0" presId="urn:microsoft.com/office/officeart/2005/8/layout/hProcess7"/>
    <dgm:cxn modelId="{D0F56D7B-B5A8-47A5-BF5B-D32C02BAC75B}" type="presParOf" srcId="{BAD87237-2D53-4DFC-BA2E-02EC39493885}" destId="{50ECFA14-9F36-4C35-911C-A780FF037D2C}" srcOrd="2" destOrd="0" presId="urn:microsoft.com/office/officeart/2005/8/layout/hProcess7"/>
    <dgm:cxn modelId="{DA827FCF-9EBE-4D9D-8EC7-121D0674600C}" type="presParOf" srcId="{4413368B-ACCA-469B-9D0E-1FEFC4075FB0}" destId="{B0CEB5DD-B27E-454F-A39C-A559A187214D}" srcOrd="3" destOrd="0" presId="urn:microsoft.com/office/officeart/2005/8/layout/hProcess7"/>
    <dgm:cxn modelId="{15520DD5-00AE-43A8-8823-C4A40F2626DE}" type="presParOf" srcId="{4413368B-ACCA-469B-9D0E-1FEFC4075FB0}" destId="{4C92115F-DFB0-4372-AF66-CF11B70A8EFD}" srcOrd="4" destOrd="0" presId="urn:microsoft.com/office/officeart/2005/8/layout/hProcess7"/>
    <dgm:cxn modelId="{AA470EC9-9634-4BC2-8E8D-B45637B56DB0}" type="presParOf" srcId="{4C92115F-DFB0-4372-AF66-CF11B70A8EFD}" destId="{CB5EA34A-627A-4C1F-96E3-4088D2A98FDD}" srcOrd="0" destOrd="0" presId="urn:microsoft.com/office/officeart/2005/8/layout/hProcess7"/>
    <dgm:cxn modelId="{67CC8AEF-C99D-4CA9-AC64-8CB71DFAC78B}" type="presParOf" srcId="{4C92115F-DFB0-4372-AF66-CF11B70A8EFD}" destId="{752682F3-57CE-4B43-B292-A62B3D508EDD}" srcOrd="1" destOrd="0" presId="urn:microsoft.com/office/officeart/2005/8/layout/hProcess7"/>
    <dgm:cxn modelId="{25ACC279-4F6B-46DD-9617-40F8798880A8}" type="presParOf" srcId="{4C92115F-DFB0-4372-AF66-CF11B70A8EFD}" destId="{7C1FE252-E5CE-40AF-AE08-799A5F741FEE}" srcOrd="2" destOrd="0" presId="urn:microsoft.com/office/officeart/2005/8/layout/hProcess7"/>
    <dgm:cxn modelId="{F3147E9C-2C5B-43B8-B32B-7FF9B8E6C011}" type="presParOf" srcId="{4413368B-ACCA-469B-9D0E-1FEFC4075FB0}" destId="{E94DD569-30C2-4DB5-BFE9-2EA1C054A099}" srcOrd="5" destOrd="0" presId="urn:microsoft.com/office/officeart/2005/8/layout/hProcess7"/>
    <dgm:cxn modelId="{3B7F752E-7810-46C1-981A-904519AF3328}" type="presParOf" srcId="{4413368B-ACCA-469B-9D0E-1FEFC4075FB0}" destId="{D0762C22-9124-4CFC-9FEF-33DB241A1B75}" srcOrd="6" destOrd="0" presId="urn:microsoft.com/office/officeart/2005/8/layout/hProcess7"/>
    <dgm:cxn modelId="{44C8F8A0-51DC-4A9B-9E10-39E49302C2D8}" type="presParOf" srcId="{D0762C22-9124-4CFC-9FEF-33DB241A1B75}" destId="{C8DF72E1-70D1-4214-8DAD-40E18FF824F5}" srcOrd="0" destOrd="0" presId="urn:microsoft.com/office/officeart/2005/8/layout/hProcess7"/>
    <dgm:cxn modelId="{5ED6F97A-5774-482D-B94D-83893848E135}" type="presParOf" srcId="{D0762C22-9124-4CFC-9FEF-33DB241A1B75}" destId="{BAC8B8B3-49A2-4BE7-B498-654C601FE809}" srcOrd="1" destOrd="0" presId="urn:microsoft.com/office/officeart/2005/8/layout/hProcess7"/>
    <dgm:cxn modelId="{B6873A67-01FD-4C87-90CB-92B66DD23F33}" type="presParOf" srcId="{D0762C22-9124-4CFC-9FEF-33DB241A1B75}" destId="{4A5065A5-7398-4E75-9460-0F7770025FB9}" srcOrd="2" destOrd="0" presId="urn:microsoft.com/office/officeart/2005/8/layout/hProcess7"/>
    <dgm:cxn modelId="{89D4D044-122F-43D0-A5A8-DFEA0D272215}" type="presParOf" srcId="{4413368B-ACCA-469B-9D0E-1FEFC4075FB0}" destId="{2AE61FAA-6DD0-4F7B-8C42-F1DA0A887180}" srcOrd="7" destOrd="0" presId="urn:microsoft.com/office/officeart/2005/8/layout/hProcess7"/>
    <dgm:cxn modelId="{7E920A9C-9F74-459D-A2C4-2AA701B7BA4F}" type="presParOf" srcId="{4413368B-ACCA-469B-9D0E-1FEFC4075FB0}" destId="{72B73D94-A19D-488F-A34B-978C721C47B4}" srcOrd="8" destOrd="0" presId="urn:microsoft.com/office/officeart/2005/8/layout/hProcess7"/>
    <dgm:cxn modelId="{1D2A4340-A768-4625-A659-731A434A6BD0}" type="presParOf" srcId="{72B73D94-A19D-488F-A34B-978C721C47B4}" destId="{BBE81636-BCDD-48A0-B978-839FA7B950F8}" srcOrd="0" destOrd="0" presId="urn:microsoft.com/office/officeart/2005/8/layout/hProcess7"/>
    <dgm:cxn modelId="{F0EC97FC-BE34-45EF-B4E9-1C6E8F62B52F}" type="presParOf" srcId="{72B73D94-A19D-488F-A34B-978C721C47B4}" destId="{5002EEF7-AB5F-41AC-BBA4-49DC2C142864}" srcOrd="1" destOrd="0" presId="urn:microsoft.com/office/officeart/2005/8/layout/hProcess7"/>
    <dgm:cxn modelId="{DDA4F593-5DEE-4329-86DB-28689C0673D0}" type="presParOf" srcId="{72B73D94-A19D-488F-A34B-978C721C47B4}" destId="{4428B23C-049C-4D7B-92D7-DD65A1003E4E}" srcOrd="2" destOrd="0" presId="urn:microsoft.com/office/officeart/2005/8/layout/hProcess7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12051B9-F660-41FB-9BFB-187ECABCD821}" type="doc">
      <dgm:prSet loTypeId="urn:microsoft.com/office/officeart/2005/8/layout/hProcess7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56D25664-E470-4423-B8A9-9B6E4F3E9501}">
      <dgm:prSet phldrT="[Text]"/>
      <dgm:spPr/>
      <dgm:t>
        <a:bodyPr/>
        <a:lstStyle/>
        <a:p>
          <a:r>
            <a:rPr lang="en-US" dirty="0" smtClean="0"/>
            <a:t>Construct</a:t>
          </a:r>
          <a:endParaRPr lang="en-US" dirty="0"/>
        </a:p>
      </dgm:t>
    </dgm:pt>
    <dgm:pt modelId="{AE225F17-CB4A-4698-895E-495209A24EDD}" type="parTrans" cxnId="{874CAB56-E993-4BA7-B073-DD6F211AB452}">
      <dgm:prSet/>
      <dgm:spPr/>
      <dgm:t>
        <a:bodyPr/>
        <a:lstStyle/>
        <a:p>
          <a:endParaRPr lang="en-US"/>
        </a:p>
      </dgm:t>
    </dgm:pt>
    <dgm:pt modelId="{0513D618-905F-43E6-8DF3-0764A99732D8}" type="sibTrans" cxnId="{874CAB56-E993-4BA7-B073-DD6F211AB452}">
      <dgm:prSet/>
      <dgm:spPr/>
      <dgm:t>
        <a:bodyPr/>
        <a:lstStyle/>
        <a:p>
          <a:endParaRPr lang="en-US"/>
        </a:p>
      </dgm:t>
    </dgm:pt>
    <dgm:pt modelId="{F754AD28-8B54-47D9-83F1-8D45F35B4A81}">
      <dgm:prSet phldrT="[Text]" phldr="1"/>
      <dgm:spPr/>
      <dgm:t>
        <a:bodyPr/>
        <a:lstStyle/>
        <a:p>
          <a:endParaRPr lang="en-US" dirty="0"/>
        </a:p>
      </dgm:t>
    </dgm:pt>
    <dgm:pt modelId="{26AD8160-5FF5-41BE-AFAF-E29D66F0469B}" type="parTrans" cxnId="{C5F869C1-8FEF-4035-9EC3-FDF0092FF2C9}">
      <dgm:prSet/>
      <dgm:spPr/>
      <dgm:t>
        <a:bodyPr/>
        <a:lstStyle/>
        <a:p>
          <a:endParaRPr lang="en-US"/>
        </a:p>
      </dgm:t>
    </dgm:pt>
    <dgm:pt modelId="{BE9BECBC-F94F-4E2F-BDB2-93E8BAEBEFE7}" type="sibTrans" cxnId="{C5F869C1-8FEF-4035-9EC3-FDF0092FF2C9}">
      <dgm:prSet/>
      <dgm:spPr/>
      <dgm:t>
        <a:bodyPr/>
        <a:lstStyle/>
        <a:p>
          <a:endParaRPr lang="en-US"/>
        </a:p>
      </dgm:t>
    </dgm:pt>
    <dgm:pt modelId="{E7E09A88-A855-416A-B17D-5608BAB5F968}">
      <dgm:prSet phldrT="[Text]"/>
      <dgm:spPr/>
      <dgm:t>
        <a:bodyPr/>
        <a:lstStyle/>
        <a:p>
          <a:r>
            <a:rPr lang="en-US" dirty="0" smtClean="0"/>
            <a:t>Operationalization</a:t>
          </a:r>
          <a:endParaRPr lang="en-US" dirty="0"/>
        </a:p>
      </dgm:t>
    </dgm:pt>
    <dgm:pt modelId="{791A9365-62E9-4724-B5DD-36351582D82E}" type="parTrans" cxnId="{955316F3-D59D-4E22-BAC5-4B54F7BE800A}">
      <dgm:prSet/>
      <dgm:spPr/>
      <dgm:t>
        <a:bodyPr/>
        <a:lstStyle/>
        <a:p>
          <a:endParaRPr lang="en-US"/>
        </a:p>
      </dgm:t>
    </dgm:pt>
    <dgm:pt modelId="{C2A5DE0A-7824-4E35-BB27-47DBE8541DB5}" type="sibTrans" cxnId="{955316F3-D59D-4E22-BAC5-4B54F7BE800A}">
      <dgm:prSet/>
      <dgm:spPr/>
      <dgm:t>
        <a:bodyPr/>
        <a:lstStyle/>
        <a:p>
          <a:endParaRPr lang="en-US"/>
        </a:p>
      </dgm:t>
    </dgm:pt>
    <dgm:pt modelId="{D264B8C8-0C74-4047-BC3D-D328ABB04B07}">
      <dgm:prSet phldrT="[Text]" phldr="1"/>
      <dgm:spPr/>
      <dgm:t>
        <a:bodyPr/>
        <a:lstStyle/>
        <a:p>
          <a:endParaRPr lang="en-US" dirty="0"/>
        </a:p>
      </dgm:t>
    </dgm:pt>
    <dgm:pt modelId="{EFE8DCE1-CB9B-44C0-BE30-595BF1898A8E}" type="parTrans" cxnId="{DB884937-1E09-49E0-BABE-97AC4679294D}">
      <dgm:prSet/>
      <dgm:spPr/>
      <dgm:t>
        <a:bodyPr/>
        <a:lstStyle/>
        <a:p>
          <a:endParaRPr lang="en-US"/>
        </a:p>
      </dgm:t>
    </dgm:pt>
    <dgm:pt modelId="{E5F6790C-BCA3-4DEC-A52E-7D738F9F57BD}" type="sibTrans" cxnId="{DB884937-1E09-49E0-BABE-97AC4679294D}">
      <dgm:prSet/>
      <dgm:spPr/>
      <dgm:t>
        <a:bodyPr/>
        <a:lstStyle/>
        <a:p>
          <a:endParaRPr lang="en-US"/>
        </a:p>
      </dgm:t>
    </dgm:pt>
    <dgm:pt modelId="{38988576-B0AA-4C1A-9619-43A386D2A929}">
      <dgm:prSet phldrT="[Text]"/>
      <dgm:spPr/>
      <dgm:t>
        <a:bodyPr/>
        <a:lstStyle/>
        <a:p>
          <a:r>
            <a:rPr lang="en-US" dirty="0" smtClean="0"/>
            <a:t>Variables and Data</a:t>
          </a:r>
          <a:endParaRPr lang="en-US" dirty="0"/>
        </a:p>
      </dgm:t>
    </dgm:pt>
    <dgm:pt modelId="{AA48F846-FDF7-46B2-8E10-A63DA435194B}" type="parTrans" cxnId="{359B345D-1425-490E-BB65-B1A59577003D}">
      <dgm:prSet/>
      <dgm:spPr/>
      <dgm:t>
        <a:bodyPr/>
        <a:lstStyle/>
        <a:p>
          <a:endParaRPr lang="en-US"/>
        </a:p>
      </dgm:t>
    </dgm:pt>
    <dgm:pt modelId="{34707D83-AD15-4F83-B9C6-839F2BAB8772}" type="sibTrans" cxnId="{359B345D-1425-490E-BB65-B1A59577003D}">
      <dgm:prSet/>
      <dgm:spPr/>
      <dgm:t>
        <a:bodyPr/>
        <a:lstStyle/>
        <a:p>
          <a:endParaRPr lang="en-US"/>
        </a:p>
      </dgm:t>
    </dgm:pt>
    <dgm:pt modelId="{4413368B-ACCA-469B-9D0E-1FEFC4075FB0}" type="pres">
      <dgm:prSet presAssocID="{E12051B9-F660-41FB-9BFB-187ECABCD821}" presName="Name0" presStyleCnt="0">
        <dgm:presLayoutVars>
          <dgm:dir/>
          <dgm:animLvl val="lvl"/>
          <dgm:resizeHandles val="exact"/>
        </dgm:presLayoutVars>
      </dgm:prSet>
      <dgm:spPr/>
    </dgm:pt>
    <dgm:pt modelId="{8E1BCC0E-B989-4435-8915-645304C71A64}" type="pres">
      <dgm:prSet presAssocID="{56D25664-E470-4423-B8A9-9B6E4F3E9501}" presName="compositeNode" presStyleCnt="0">
        <dgm:presLayoutVars>
          <dgm:bulletEnabled val="1"/>
        </dgm:presLayoutVars>
      </dgm:prSet>
      <dgm:spPr/>
    </dgm:pt>
    <dgm:pt modelId="{5EE1D2E5-E13B-4FA3-A68E-FA18C8AD1A1A}" type="pres">
      <dgm:prSet presAssocID="{56D25664-E470-4423-B8A9-9B6E4F3E9501}" presName="bgRect" presStyleLbl="node1" presStyleIdx="0" presStyleCnt="3"/>
      <dgm:spPr/>
      <dgm:t>
        <a:bodyPr/>
        <a:lstStyle/>
        <a:p>
          <a:endParaRPr lang="en-US"/>
        </a:p>
      </dgm:t>
    </dgm:pt>
    <dgm:pt modelId="{1F2FC209-C6F9-4BD8-BE18-C50B50281548}" type="pres">
      <dgm:prSet presAssocID="{56D25664-E470-4423-B8A9-9B6E4F3E9501}" presName="parentNode" presStyleLbl="node1" presStyleIdx="0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F07502A-98A4-4880-9779-27EA2BEB6F02}" type="pres">
      <dgm:prSet presAssocID="{56D25664-E470-4423-B8A9-9B6E4F3E9501}" presName="childNode" presStyleLbl="node1" presStyleIdx="0" presStyleCnt="3">
        <dgm:presLayoutVars>
          <dgm:bulletEnabled val="1"/>
        </dgm:presLayoutVars>
      </dgm:prSet>
      <dgm:spPr/>
    </dgm:pt>
    <dgm:pt modelId="{13ACBB4E-2F0C-4773-92A7-F091255EA962}" type="pres">
      <dgm:prSet presAssocID="{0513D618-905F-43E6-8DF3-0764A99732D8}" presName="hSp" presStyleCnt="0"/>
      <dgm:spPr/>
    </dgm:pt>
    <dgm:pt modelId="{BAD87237-2D53-4DFC-BA2E-02EC39493885}" type="pres">
      <dgm:prSet presAssocID="{0513D618-905F-43E6-8DF3-0764A99732D8}" presName="vProcSp" presStyleCnt="0"/>
      <dgm:spPr/>
    </dgm:pt>
    <dgm:pt modelId="{221F174E-2568-4C2B-B98A-B21C733FC119}" type="pres">
      <dgm:prSet presAssocID="{0513D618-905F-43E6-8DF3-0764A99732D8}" presName="vSp1" presStyleCnt="0"/>
      <dgm:spPr/>
    </dgm:pt>
    <dgm:pt modelId="{45668240-D897-4FC1-8421-6DD785B65040}" type="pres">
      <dgm:prSet presAssocID="{0513D618-905F-43E6-8DF3-0764A99732D8}" presName="simulatedConn" presStyleLbl="solidFgAcc1" presStyleIdx="0" presStyleCnt="2"/>
      <dgm:spPr/>
    </dgm:pt>
    <dgm:pt modelId="{50ECFA14-9F36-4C35-911C-A780FF037D2C}" type="pres">
      <dgm:prSet presAssocID="{0513D618-905F-43E6-8DF3-0764A99732D8}" presName="vSp2" presStyleCnt="0"/>
      <dgm:spPr/>
    </dgm:pt>
    <dgm:pt modelId="{B0CEB5DD-B27E-454F-A39C-A559A187214D}" type="pres">
      <dgm:prSet presAssocID="{0513D618-905F-43E6-8DF3-0764A99732D8}" presName="sibTrans" presStyleCnt="0"/>
      <dgm:spPr/>
    </dgm:pt>
    <dgm:pt modelId="{4BB7D377-EFD6-4B5D-AFC7-E199B4378248}" type="pres">
      <dgm:prSet presAssocID="{E7E09A88-A855-416A-B17D-5608BAB5F968}" presName="compositeNode" presStyleCnt="0">
        <dgm:presLayoutVars>
          <dgm:bulletEnabled val="1"/>
        </dgm:presLayoutVars>
      </dgm:prSet>
      <dgm:spPr/>
    </dgm:pt>
    <dgm:pt modelId="{63E694CA-EB8A-49E7-8F7E-40E9648E8D50}" type="pres">
      <dgm:prSet presAssocID="{E7E09A88-A855-416A-B17D-5608BAB5F968}" presName="bgRect" presStyleLbl="node1" presStyleIdx="1" presStyleCnt="3"/>
      <dgm:spPr/>
    </dgm:pt>
    <dgm:pt modelId="{84855266-605F-4E2F-859A-33AF21B4CC74}" type="pres">
      <dgm:prSet presAssocID="{E7E09A88-A855-416A-B17D-5608BAB5F968}" presName="parentNode" presStyleLbl="node1" presStyleIdx="1" presStyleCnt="3">
        <dgm:presLayoutVars>
          <dgm:chMax val="0"/>
          <dgm:bulletEnabled val="1"/>
        </dgm:presLayoutVars>
      </dgm:prSet>
      <dgm:spPr/>
    </dgm:pt>
    <dgm:pt modelId="{27D5C2FA-66B3-4507-8DD9-0DFEBE9E49C4}" type="pres">
      <dgm:prSet presAssocID="{E7E09A88-A855-416A-B17D-5608BAB5F968}" presName="childNode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E508BEB-62F7-4273-AFD9-13F02568DD39}" type="pres">
      <dgm:prSet presAssocID="{C2A5DE0A-7824-4E35-BB27-47DBE8541DB5}" presName="hSp" presStyleCnt="0"/>
      <dgm:spPr/>
    </dgm:pt>
    <dgm:pt modelId="{20A68127-C095-4D4D-B36C-96BA54B85DB0}" type="pres">
      <dgm:prSet presAssocID="{C2A5DE0A-7824-4E35-BB27-47DBE8541DB5}" presName="vProcSp" presStyleCnt="0"/>
      <dgm:spPr/>
    </dgm:pt>
    <dgm:pt modelId="{00D4E5B4-15FE-4223-8CF1-EADD9A7F1E52}" type="pres">
      <dgm:prSet presAssocID="{C2A5DE0A-7824-4E35-BB27-47DBE8541DB5}" presName="vSp1" presStyleCnt="0"/>
      <dgm:spPr/>
    </dgm:pt>
    <dgm:pt modelId="{0B1D8E78-2B68-4C5D-9329-AB01D008FC04}" type="pres">
      <dgm:prSet presAssocID="{C2A5DE0A-7824-4E35-BB27-47DBE8541DB5}" presName="simulatedConn" presStyleLbl="solidFgAcc1" presStyleIdx="1" presStyleCnt="2"/>
      <dgm:spPr/>
    </dgm:pt>
    <dgm:pt modelId="{E447F79B-3147-4AFA-97C4-CCAE6DBFF058}" type="pres">
      <dgm:prSet presAssocID="{C2A5DE0A-7824-4E35-BB27-47DBE8541DB5}" presName="vSp2" presStyleCnt="0"/>
      <dgm:spPr/>
    </dgm:pt>
    <dgm:pt modelId="{EAB02694-BB77-4688-815D-9FF6A75A2E23}" type="pres">
      <dgm:prSet presAssocID="{C2A5DE0A-7824-4E35-BB27-47DBE8541DB5}" presName="sibTrans" presStyleCnt="0"/>
      <dgm:spPr/>
    </dgm:pt>
    <dgm:pt modelId="{897A3698-2D97-4DDC-95D9-A0BDC45706A4}" type="pres">
      <dgm:prSet presAssocID="{38988576-B0AA-4C1A-9619-43A386D2A929}" presName="compositeNode" presStyleCnt="0">
        <dgm:presLayoutVars>
          <dgm:bulletEnabled val="1"/>
        </dgm:presLayoutVars>
      </dgm:prSet>
      <dgm:spPr/>
    </dgm:pt>
    <dgm:pt modelId="{89F889ED-FCCD-445E-BB3B-3F65B70521C8}" type="pres">
      <dgm:prSet presAssocID="{38988576-B0AA-4C1A-9619-43A386D2A929}" presName="bgRect" presStyleLbl="node1" presStyleIdx="2" presStyleCnt="3"/>
      <dgm:spPr/>
    </dgm:pt>
    <dgm:pt modelId="{7A9FE149-B78D-4591-8ED3-6FAE619303EF}" type="pres">
      <dgm:prSet presAssocID="{38988576-B0AA-4C1A-9619-43A386D2A929}" presName="parentNode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2BE3415A-4C64-4D29-B5AB-F2DF894FF9D7}" type="presOf" srcId="{F754AD28-8B54-47D9-83F1-8D45F35B4A81}" destId="{0F07502A-98A4-4880-9779-27EA2BEB6F02}" srcOrd="0" destOrd="0" presId="urn:microsoft.com/office/officeart/2005/8/layout/hProcess7"/>
    <dgm:cxn modelId="{899A4EFF-4D92-4CAD-8A22-AEBE72E784E3}" type="presOf" srcId="{E7E09A88-A855-416A-B17D-5608BAB5F968}" destId="{84855266-605F-4E2F-859A-33AF21B4CC74}" srcOrd="1" destOrd="0" presId="urn:microsoft.com/office/officeart/2005/8/layout/hProcess7"/>
    <dgm:cxn modelId="{955316F3-D59D-4E22-BAC5-4B54F7BE800A}" srcId="{E12051B9-F660-41FB-9BFB-187ECABCD821}" destId="{E7E09A88-A855-416A-B17D-5608BAB5F968}" srcOrd="1" destOrd="0" parTransId="{791A9365-62E9-4724-B5DD-36351582D82E}" sibTransId="{C2A5DE0A-7824-4E35-BB27-47DBE8541DB5}"/>
    <dgm:cxn modelId="{C5F869C1-8FEF-4035-9EC3-FDF0092FF2C9}" srcId="{56D25664-E470-4423-B8A9-9B6E4F3E9501}" destId="{F754AD28-8B54-47D9-83F1-8D45F35B4A81}" srcOrd="0" destOrd="0" parTransId="{26AD8160-5FF5-41BE-AFAF-E29D66F0469B}" sibTransId="{BE9BECBC-F94F-4E2F-BDB2-93E8BAEBEFE7}"/>
    <dgm:cxn modelId="{83676060-CE13-4EF6-A59A-C274F7FE70B1}" type="presOf" srcId="{D264B8C8-0C74-4047-BC3D-D328ABB04B07}" destId="{27D5C2FA-66B3-4507-8DD9-0DFEBE9E49C4}" srcOrd="0" destOrd="0" presId="urn:microsoft.com/office/officeart/2005/8/layout/hProcess7"/>
    <dgm:cxn modelId="{359B345D-1425-490E-BB65-B1A59577003D}" srcId="{E12051B9-F660-41FB-9BFB-187ECABCD821}" destId="{38988576-B0AA-4C1A-9619-43A386D2A929}" srcOrd="2" destOrd="0" parTransId="{AA48F846-FDF7-46B2-8E10-A63DA435194B}" sibTransId="{34707D83-AD15-4F83-B9C6-839F2BAB8772}"/>
    <dgm:cxn modelId="{094477E0-B275-4AD0-A4FA-96F8BACE93A6}" type="presOf" srcId="{38988576-B0AA-4C1A-9619-43A386D2A929}" destId="{7A9FE149-B78D-4591-8ED3-6FAE619303EF}" srcOrd="1" destOrd="0" presId="urn:microsoft.com/office/officeart/2005/8/layout/hProcess7"/>
    <dgm:cxn modelId="{874CAB56-E993-4BA7-B073-DD6F211AB452}" srcId="{E12051B9-F660-41FB-9BFB-187ECABCD821}" destId="{56D25664-E470-4423-B8A9-9B6E4F3E9501}" srcOrd="0" destOrd="0" parTransId="{AE225F17-CB4A-4698-895E-495209A24EDD}" sibTransId="{0513D618-905F-43E6-8DF3-0764A99732D8}"/>
    <dgm:cxn modelId="{B5227D0F-C7B9-402C-94E1-FE3FAF6B59C9}" type="presOf" srcId="{E7E09A88-A855-416A-B17D-5608BAB5F968}" destId="{63E694CA-EB8A-49E7-8F7E-40E9648E8D50}" srcOrd="0" destOrd="0" presId="urn:microsoft.com/office/officeart/2005/8/layout/hProcess7"/>
    <dgm:cxn modelId="{703CB32B-A1E8-4113-A3E5-62F002D74F02}" type="presOf" srcId="{56D25664-E470-4423-B8A9-9B6E4F3E9501}" destId="{5EE1D2E5-E13B-4FA3-A68E-FA18C8AD1A1A}" srcOrd="0" destOrd="0" presId="urn:microsoft.com/office/officeart/2005/8/layout/hProcess7"/>
    <dgm:cxn modelId="{9B12C2B8-7A5B-4F6D-8FAC-6951263DFFE6}" type="presOf" srcId="{E12051B9-F660-41FB-9BFB-187ECABCD821}" destId="{4413368B-ACCA-469B-9D0E-1FEFC4075FB0}" srcOrd="0" destOrd="0" presId="urn:microsoft.com/office/officeart/2005/8/layout/hProcess7"/>
    <dgm:cxn modelId="{2AF991F4-295B-47A4-96C4-FF1BFB05195E}" type="presOf" srcId="{56D25664-E470-4423-B8A9-9B6E4F3E9501}" destId="{1F2FC209-C6F9-4BD8-BE18-C50B50281548}" srcOrd="1" destOrd="0" presId="urn:microsoft.com/office/officeart/2005/8/layout/hProcess7"/>
    <dgm:cxn modelId="{DB884937-1E09-49E0-BABE-97AC4679294D}" srcId="{E7E09A88-A855-416A-B17D-5608BAB5F968}" destId="{D264B8C8-0C74-4047-BC3D-D328ABB04B07}" srcOrd="0" destOrd="0" parTransId="{EFE8DCE1-CB9B-44C0-BE30-595BF1898A8E}" sibTransId="{E5F6790C-BCA3-4DEC-A52E-7D738F9F57BD}"/>
    <dgm:cxn modelId="{1B70EA55-6C11-4A91-94F4-28AFD688DABE}" type="presOf" srcId="{38988576-B0AA-4C1A-9619-43A386D2A929}" destId="{89F889ED-FCCD-445E-BB3B-3F65B70521C8}" srcOrd="0" destOrd="0" presId="urn:microsoft.com/office/officeart/2005/8/layout/hProcess7"/>
    <dgm:cxn modelId="{60FED524-AEC3-42F4-9F88-773F1EB0D6A2}" type="presParOf" srcId="{4413368B-ACCA-469B-9D0E-1FEFC4075FB0}" destId="{8E1BCC0E-B989-4435-8915-645304C71A64}" srcOrd="0" destOrd="0" presId="urn:microsoft.com/office/officeart/2005/8/layout/hProcess7"/>
    <dgm:cxn modelId="{C69D918B-94F4-4EB6-859A-28C2AD58A671}" type="presParOf" srcId="{8E1BCC0E-B989-4435-8915-645304C71A64}" destId="{5EE1D2E5-E13B-4FA3-A68E-FA18C8AD1A1A}" srcOrd="0" destOrd="0" presId="urn:microsoft.com/office/officeart/2005/8/layout/hProcess7"/>
    <dgm:cxn modelId="{9F2BC622-DE1E-4383-A080-756650DD7C20}" type="presParOf" srcId="{8E1BCC0E-B989-4435-8915-645304C71A64}" destId="{1F2FC209-C6F9-4BD8-BE18-C50B50281548}" srcOrd="1" destOrd="0" presId="urn:microsoft.com/office/officeart/2005/8/layout/hProcess7"/>
    <dgm:cxn modelId="{8E3DB8FE-C07F-4216-971D-E8F89E4BE632}" type="presParOf" srcId="{8E1BCC0E-B989-4435-8915-645304C71A64}" destId="{0F07502A-98A4-4880-9779-27EA2BEB6F02}" srcOrd="2" destOrd="0" presId="urn:microsoft.com/office/officeart/2005/8/layout/hProcess7"/>
    <dgm:cxn modelId="{3526D88B-9E25-4FE3-8AB8-A7519934E051}" type="presParOf" srcId="{4413368B-ACCA-469B-9D0E-1FEFC4075FB0}" destId="{13ACBB4E-2F0C-4773-92A7-F091255EA962}" srcOrd="1" destOrd="0" presId="urn:microsoft.com/office/officeart/2005/8/layout/hProcess7"/>
    <dgm:cxn modelId="{EA1BD2B8-FCED-4447-AD74-0AE39C74A2E9}" type="presParOf" srcId="{4413368B-ACCA-469B-9D0E-1FEFC4075FB0}" destId="{BAD87237-2D53-4DFC-BA2E-02EC39493885}" srcOrd="2" destOrd="0" presId="urn:microsoft.com/office/officeart/2005/8/layout/hProcess7"/>
    <dgm:cxn modelId="{6A5160F9-4E58-49E9-94F1-64D9744400AF}" type="presParOf" srcId="{BAD87237-2D53-4DFC-BA2E-02EC39493885}" destId="{221F174E-2568-4C2B-B98A-B21C733FC119}" srcOrd="0" destOrd="0" presId="urn:microsoft.com/office/officeart/2005/8/layout/hProcess7"/>
    <dgm:cxn modelId="{D4E609AE-9DAB-4EBB-817D-44A5BA6B3721}" type="presParOf" srcId="{BAD87237-2D53-4DFC-BA2E-02EC39493885}" destId="{45668240-D897-4FC1-8421-6DD785B65040}" srcOrd="1" destOrd="0" presId="urn:microsoft.com/office/officeart/2005/8/layout/hProcess7"/>
    <dgm:cxn modelId="{A357FC0A-3EC8-4960-9DAF-5C77BEF63656}" type="presParOf" srcId="{BAD87237-2D53-4DFC-BA2E-02EC39493885}" destId="{50ECFA14-9F36-4C35-911C-A780FF037D2C}" srcOrd="2" destOrd="0" presId="urn:microsoft.com/office/officeart/2005/8/layout/hProcess7"/>
    <dgm:cxn modelId="{F28125D3-0ECA-43E8-9711-4855CC2F4111}" type="presParOf" srcId="{4413368B-ACCA-469B-9D0E-1FEFC4075FB0}" destId="{B0CEB5DD-B27E-454F-A39C-A559A187214D}" srcOrd="3" destOrd="0" presId="urn:microsoft.com/office/officeart/2005/8/layout/hProcess7"/>
    <dgm:cxn modelId="{F256B0F7-660B-48B8-935D-C5152A1B1679}" type="presParOf" srcId="{4413368B-ACCA-469B-9D0E-1FEFC4075FB0}" destId="{4BB7D377-EFD6-4B5D-AFC7-E199B4378248}" srcOrd="4" destOrd="0" presId="urn:microsoft.com/office/officeart/2005/8/layout/hProcess7"/>
    <dgm:cxn modelId="{DE24E7AD-8D26-4C0F-8C58-B49DEC1385B7}" type="presParOf" srcId="{4BB7D377-EFD6-4B5D-AFC7-E199B4378248}" destId="{63E694CA-EB8A-49E7-8F7E-40E9648E8D50}" srcOrd="0" destOrd="0" presId="urn:microsoft.com/office/officeart/2005/8/layout/hProcess7"/>
    <dgm:cxn modelId="{D906CB7A-C7F6-4746-A5EE-1A7353AA16C4}" type="presParOf" srcId="{4BB7D377-EFD6-4B5D-AFC7-E199B4378248}" destId="{84855266-605F-4E2F-859A-33AF21B4CC74}" srcOrd="1" destOrd="0" presId="urn:microsoft.com/office/officeart/2005/8/layout/hProcess7"/>
    <dgm:cxn modelId="{73A5AD8E-B961-4683-850C-927B05A7A240}" type="presParOf" srcId="{4BB7D377-EFD6-4B5D-AFC7-E199B4378248}" destId="{27D5C2FA-66B3-4507-8DD9-0DFEBE9E49C4}" srcOrd="2" destOrd="0" presId="urn:microsoft.com/office/officeart/2005/8/layout/hProcess7"/>
    <dgm:cxn modelId="{9A7C2C57-6E77-49FF-BBF9-87C4458AACCC}" type="presParOf" srcId="{4413368B-ACCA-469B-9D0E-1FEFC4075FB0}" destId="{AE508BEB-62F7-4273-AFD9-13F02568DD39}" srcOrd="5" destOrd="0" presId="urn:microsoft.com/office/officeart/2005/8/layout/hProcess7"/>
    <dgm:cxn modelId="{86AD56FE-D979-4D9B-A086-1FB36882346C}" type="presParOf" srcId="{4413368B-ACCA-469B-9D0E-1FEFC4075FB0}" destId="{20A68127-C095-4D4D-B36C-96BA54B85DB0}" srcOrd="6" destOrd="0" presId="urn:microsoft.com/office/officeart/2005/8/layout/hProcess7"/>
    <dgm:cxn modelId="{F7432B9F-CB68-4D37-9B2F-6CFE2DC1E8A9}" type="presParOf" srcId="{20A68127-C095-4D4D-B36C-96BA54B85DB0}" destId="{00D4E5B4-15FE-4223-8CF1-EADD9A7F1E52}" srcOrd="0" destOrd="0" presId="urn:microsoft.com/office/officeart/2005/8/layout/hProcess7"/>
    <dgm:cxn modelId="{C11E3BE7-17C2-4ECD-8705-F331386BCD03}" type="presParOf" srcId="{20A68127-C095-4D4D-B36C-96BA54B85DB0}" destId="{0B1D8E78-2B68-4C5D-9329-AB01D008FC04}" srcOrd="1" destOrd="0" presId="urn:microsoft.com/office/officeart/2005/8/layout/hProcess7"/>
    <dgm:cxn modelId="{04C7C09F-3DE4-43CF-A438-A996353A2C89}" type="presParOf" srcId="{20A68127-C095-4D4D-B36C-96BA54B85DB0}" destId="{E447F79B-3147-4AFA-97C4-CCAE6DBFF058}" srcOrd="2" destOrd="0" presId="urn:microsoft.com/office/officeart/2005/8/layout/hProcess7"/>
    <dgm:cxn modelId="{481F6751-D680-4DB4-B9ED-03FA972FE153}" type="presParOf" srcId="{4413368B-ACCA-469B-9D0E-1FEFC4075FB0}" destId="{EAB02694-BB77-4688-815D-9FF6A75A2E23}" srcOrd="7" destOrd="0" presId="urn:microsoft.com/office/officeart/2005/8/layout/hProcess7"/>
    <dgm:cxn modelId="{5C270AD6-4DF0-43B0-9E88-27C16E224033}" type="presParOf" srcId="{4413368B-ACCA-469B-9D0E-1FEFC4075FB0}" destId="{897A3698-2D97-4DDC-95D9-A0BDC45706A4}" srcOrd="8" destOrd="0" presId="urn:microsoft.com/office/officeart/2005/8/layout/hProcess7"/>
    <dgm:cxn modelId="{0D31600F-F15C-442A-B694-2814723A0514}" type="presParOf" srcId="{897A3698-2D97-4DDC-95D9-A0BDC45706A4}" destId="{89F889ED-FCCD-445E-BB3B-3F65B70521C8}" srcOrd="0" destOrd="0" presId="urn:microsoft.com/office/officeart/2005/8/layout/hProcess7"/>
    <dgm:cxn modelId="{ED62BD1D-F10D-48AB-A696-04978FB30694}" type="presParOf" srcId="{897A3698-2D97-4DDC-95D9-A0BDC45706A4}" destId="{7A9FE149-B78D-4591-8ED3-6FAE619303EF}" srcOrd="1" destOrd="0" presId="urn:microsoft.com/office/officeart/2005/8/layout/hProcess7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EE1D2E5-E13B-4FA3-A68E-FA18C8AD1A1A}">
      <dsp:nvSpPr>
        <dsp:cNvPr id="0" name=""/>
        <dsp:cNvSpPr/>
      </dsp:nvSpPr>
      <dsp:spPr>
        <a:xfrm>
          <a:off x="678" y="0"/>
          <a:ext cx="2918489" cy="1917700"/>
        </a:xfrm>
        <a:prstGeom prst="roundRect">
          <a:avLst>
            <a:gd name="adj" fmla="val 5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51435" rIns="66675" bIns="0" numCol="1" spcCol="1270" anchor="t" anchorCtr="0">
          <a:noAutofit/>
        </a:bodyPr>
        <a:lstStyle/>
        <a:p>
          <a:pPr lvl="0" algn="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kern="1200" dirty="0" smtClean="0"/>
            <a:t>Construct</a:t>
          </a:r>
          <a:endParaRPr lang="en-US" sz="1500" kern="1200" dirty="0"/>
        </a:p>
      </dsp:txBody>
      <dsp:txXfrm rot="16200000">
        <a:off x="-493729" y="494408"/>
        <a:ext cx="1572514" cy="583697"/>
      </dsp:txXfrm>
    </dsp:sp>
    <dsp:sp modelId="{0F07502A-98A4-4880-9779-27EA2BEB6F02}">
      <dsp:nvSpPr>
        <dsp:cNvPr id="0" name=""/>
        <dsp:cNvSpPr/>
      </dsp:nvSpPr>
      <dsp:spPr>
        <a:xfrm>
          <a:off x="584376" y="0"/>
          <a:ext cx="2174274" cy="1917700"/>
        </a:xfrm>
        <a:prstGeom prst="rect">
          <a:avLst/>
        </a:prstGeom>
        <a:noFill/>
        <a:ln w="254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222885" rIns="0" bIns="0" numCol="1" spcCol="1270" anchor="t" anchorCtr="0">
          <a:noAutofit/>
        </a:bodyPr>
        <a:lstStyle/>
        <a:p>
          <a:pPr lvl="0" algn="l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6500" kern="1200" dirty="0"/>
        </a:p>
      </dsp:txBody>
      <dsp:txXfrm>
        <a:off x="584376" y="0"/>
        <a:ext cx="2174274" cy="1917700"/>
      </dsp:txXfrm>
    </dsp:sp>
    <dsp:sp modelId="{CB5EA34A-627A-4C1F-96E3-4088D2A98FDD}">
      <dsp:nvSpPr>
        <dsp:cNvPr id="0" name=""/>
        <dsp:cNvSpPr/>
      </dsp:nvSpPr>
      <dsp:spPr>
        <a:xfrm>
          <a:off x="3021315" y="0"/>
          <a:ext cx="2918489" cy="1917700"/>
        </a:xfrm>
        <a:prstGeom prst="roundRect">
          <a:avLst>
            <a:gd name="adj" fmla="val 5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51435" rIns="66675" bIns="0" numCol="1" spcCol="1270" anchor="t" anchorCtr="0">
          <a:noAutofit/>
        </a:bodyPr>
        <a:lstStyle/>
        <a:p>
          <a:pPr lvl="0" algn="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kern="1200" dirty="0" smtClean="0"/>
            <a:t>Literature</a:t>
          </a:r>
          <a:endParaRPr lang="en-US" sz="1500" kern="1200" dirty="0"/>
        </a:p>
      </dsp:txBody>
      <dsp:txXfrm rot="16200000">
        <a:off x="2526907" y="494408"/>
        <a:ext cx="1572514" cy="583697"/>
      </dsp:txXfrm>
    </dsp:sp>
    <dsp:sp modelId="{45668240-D897-4FC1-8421-6DD785B65040}">
      <dsp:nvSpPr>
        <dsp:cNvPr id="0" name=""/>
        <dsp:cNvSpPr/>
      </dsp:nvSpPr>
      <dsp:spPr>
        <a:xfrm rot="5400000">
          <a:off x="2894960" y="1425498"/>
          <a:ext cx="281894" cy="437773"/>
        </a:xfrm>
        <a:prstGeom prst="flowChartExtra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C1FE252-E5CE-40AF-AE08-799A5F741FEE}">
      <dsp:nvSpPr>
        <dsp:cNvPr id="0" name=""/>
        <dsp:cNvSpPr/>
      </dsp:nvSpPr>
      <dsp:spPr>
        <a:xfrm>
          <a:off x="3605013" y="0"/>
          <a:ext cx="2174274" cy="1917700"/>
        </a:xfrm>
        <a:prstGeom prst="rect">
          <a:avLst/>
        </a:prstGeom>
        <a:noFill/>
        <a:ln w="254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222885" rIns="0" bIns="0" numCol="1" spcCol="1270" anchor="t" anchorCtr="0">
          <a:noAutofit/>
        </a:bodyPr>
        <a:lstStyle/>
        <a:p>
          <a:pPr lvl="0" algn="l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6500" kern="1200"/>
        </a:p>
      </dsp:txBody>
      <dsp:txXfrm>
        <a:off x="3605013" y="0"/>
        <a:ext cx="2174274" cy="1917700"/>
      </dsp:txXfrm>
    </dsp:sp>
    <dsp:sp modelId="{BBE81636-BCDD-48A0-B978-839FA7B950F8}">
      <dsp:nvSpPr>
        <dsp:cNvPr id="0" name=""/>
        <dsp:cNvSpPr/>
      </dsp:nvSpPr>
      <dsp:spPr>
        <a:xfrm>
          <a:off x="6041952" y="0"/>
          <a:ext cx="2918489" cy="1917700"/>
        </a:xfrm>
        <a:prstGeom prst="roundRect">
          <a:avLst>
            <a:gd name="adj" fmla="val 5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51435" rIns="66675" bIns="0" numCol="1" spcCol="1270" anchor="t" anchorCtr="0">
          <a:noAutofit/>
        </a:bodyPr>
        <a:lstStyle/>
        <a:p>
          <a:pPr lvl="0" algn="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kern="1200" dirty="0" smtClean="0"/>
            <a:t>Operationalization</a:t>
          </a:r>
          <a:endParaRPr lang="en-US" sz="1500" kern="1200" dirty="0"/>
        </a:p>
      </dsp:txBody>
      <dsp:txXfrm rot="16200000">
        <a:off x="5547544" y="494408"/>
        <a:ext cx="1572514" cy="583697"/>
      </dsp:txXfrm>
    </dsp:sp>
    <dsp:sp modelId="{BAC8B8B3-49A2-4BE7-B498-654C601FE809}">
      <dsp:nvSpPr>
        <dsp:cNvPr id="0" name=""/>
        <dsp:cNvSpPr/>
      </dsp:nvSpPr>
      <dsp:spPr>
        <a:xfrm rot="5400000">
          <a:off x="5915597" y="1425498"/>
          <a:ext cx="281894" cy="437773"/>
        </a:xfrm>
        <a:prstGeom prst="flowChartExtra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428B23C-049C-4D7B-92D7-DD65A1003E4E}">
      <dsp:nvSpPr>
        <dsp:cNvPr id="0" name=""/>
        <dsp:cNvSpPr/>
      </dsp:nvSpPr>
      <dsp:spPr>
        <a:xfrm>
          <a:off x="6625649" y="0"/>
          <a:ext cx="2174274" cy="1917700"/>
        </a:xfrm>
        <a:prstGeom prst="rect">
          <a:avLst/>
        </a:prstGeom>
        <a:noFill/>
        <a:ln w="254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222885" rIns="0" bIns="0" numCol="1" spcCol="1270" anchor="t" anchorCtr="0">
          <a:noAutofit/>
        </a:bodyPr>
        <a:lstStyle/>
        <a:p>
          <a:pPr lvl="0" algn="l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6500" kern="1200"/>
        </a:p>
      </dsp:txBody>
      <dsp:txXfrm>
        <a:off x="6625649" y="0"/>
        <a:ext cx="2174274" cy="19177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EE1D2E5-E13B-4FA3-A68E-FA18C8AD1A1A}">
      <dsp:nvSpPr>
        <dsp:cNvPr id="0" name=""/>
        <dsp:cNvSpPr/>
      </dsp:nvSpPr>
      <dsp:spPr>
        <a:xfrm>
          <a:off x="678" y="0"/>
          <a:ext cx="2918489" cy="1917700"/>
        </a:xfrm>
        <a:prstGeom prst="roundRect">
          <a:avLst>
            <a:gd name="adj" fmla="val 5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51435" rIns="66675" bIns="0" numCol="1" spcCol="1270" anchor="t" anchorCtr="0">
          <a:noAutofit/>
        </a:bodyPr>
        <a:lstStyle/>
        <a:p>
          <a:pPr lvl="0" algn="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kern="1200" dirty="0" smtClean="0"/>
            <a:t>Construct</a:t>
          </a:r>
          <a:endParaRPr lang="en-US" sz="1500" kern="1200" dirty="0"/>
        </a:p>
      </dsp:txBody>
      <dsp:txXfrm rot="16200000">
        <a:off x="-493729" y="494408"/>
        <a:ext cx="1572514" cy="583697"/>
      </dsp:txXfrm>
    </dsp:sp>
    <dsp:sp modelId="{0F07502A-98A4-4880-9779-27EA2BEB6F02}">
      <dsp:nvSpPr>
        <dsp:cNvPr id="0" name=""/>
        <dsp:cNvSpPr/>
      </dsp:nvSpPr>
      <dsp:spPr>
        <a:xfrm>
          <a:off x="584376" y="0"/>
          <a:ext cx="2174274" cy="1917700"/>
        </a:xfrm>
        <a:prstGeom prst="rect">
          <a:avLst/>
        </a:prstGeom>
        <a:noFill/>
        <a:ln w="254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222885" rIns="0" bIns="0" numCol="1" spcCol="1270" anchor="t" anchorCtr="0">
          <a:noAutofit/>
        </a:bodyPr>
        <a:lstStyle/>
        <a:p>
          <a:pPr lvl="0" algn="l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6500" kern="1200" dirty="0"/>
        </a:p>
      </dsp:txBody>
      <dsp:txXfrm>
        <a:off x="584376" y="0"/>
        <a:ext cx="2174274" cy="1917700"/>
      </dsp:txXfrm>
    </dsp:sp>
    <dsp:sp modelId="{63E694CA-EB8A-49E7-8F7E-40E9648E8D50}">
      <dsp:nvSpPr>
        <dsp:cNvPr id="0" name=""/>
        <dsp:cNvSpPr/>
      </dsp:nvSpPr>
      <dsp:spPr>
        <a:xfrm>
          <a:off x="3021315" y="0"/>
          <a:ext cx="2918489" cy="1917700"/>
        </a:xfrm>
        <a:prstGeom prst="roundRect">
          <a:avLst>
            <a:gd name="adj" fmla="val 5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51435" rIns="66675" bIns="0" numCol="1" spcCol="1270" anchor="t" anchorCtr="0">
          <a:noAutofit/>
        </a:bodyPr>
        <a:lstStyle/>
        <a:p>
          <a:pPr lvl="0" algn="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kern="1200" dirty="0" smtClean="0"/>
            <a:t>Operationalization</a:t>
          </a:r>
          <a:endParaRPr lang="en-US" sz="1500" kern="1200" dirty="0"/>
        </a:p>
      </dsp:txBody>
      <dsp:txXfrm rot="16200000">
        <a:off x="2526907" y="494408"/>
        <a:ext cx="1572514" cy="583697"/>
      </dsp:txXfrm>
    </dsp:sp>
    <dsp:sp modelId="{45668240-D897-4FC1-8421-6DD785B65040}">
      <dsp:nvSpPr>
        <dsp:cNvPr id="0" name=""/>
        <dsp:cNvSpPr/>
      </dsp:nvSpPr>
      <dsp:spPr>
        <a:xfrm rot="5400000">
          <a:off x="2894960" y="1425498"/>
          <a:ext cx="281894" cy="437773"/>
        </a:xfrm>
        <a:prstGeom prst="flowChartExtra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7D5C2FA-66B3-4507-8DD9-0DFEBE9E49C4}">
      <dsp:nvSpPr>
        <dsp:cNvPr id="0" name=""/>
        <dsp:cNvSpPr/>
      </dsp:nvSpPr>
      <dsp:spPr>
        <a:xfrm>
          <a:off x="3605013" y="0"/>
          <a:ext cx="2174274" cy="1917700"/>
        </a:xfrm>
        <a:prstGeom prst="rect">
          <a:avLst/>
        </a:prstGeom>
        <a:noFill/>
        <a:ln w="254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222885" rIns="0" bIns="0" numCol="1" spcCol="1270" anchor="t" anchorCtr="0">
          <a:noAutofit/>
        </a:bodyPr>
        <a:lstStyle/>
        <a:p>
          <a:pPr lvl="0" algn="l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6500" kern="1200" dirty="0"/>
        </a:p>
      </dsp:txBody>
      <dsp:txXfrm>
        <a:off x="3605013" y="0"/>
        <a:ext cx="2174274" cy="1917700"/>
      </dsp:txXfrm>
    </dsp:sp>
    <dsp:sp modelId="{89F889ED-FCCD-445E-BB3B-3F65B70521C8}">
      <dsp:nvSpPr>
        <dsp:cNvPr id="0" name=""/>
        <dsp:cNvSpPr/>
      </dsp:nvSpPr>
      <dsp:spPr>
        <a:xfrm>
          <a:off x="6041952" y="0"/>
          <a:ext cx="2918489" cy="1917700"/>
        </a:xfrm>
        <a:prstGeom prst="roundRect">
          <a:avLst>
            <a:gd name="adj" fmla="val 5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51435" rIns="66675" bIns="0" numCol="1" spcCol="1270" anchor="t" anchorCtr="0">
          <a:noAutofit/>
        </a:bodyPr>
        <a:lstStyle/>
        <a:p>
          <a:pPr lvl="0" algn="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kern="1200" dirty="0" smtClean="0"/>
            <a:t>Variables and Data</a:t>
          </a:r>
          <a:endParaRPr lang="en-US" sz="1500" kern="1200" dirty="0"/>
        </a:p>
      </dsp:txBody>
      <dsp:txXfrm rot="16200000">
        <a:off x="5547544" y="494408"/>
        <a:ext cx="1572514" cy="583697"/>
      </dsp:txXfrm>
    </dsp:sp>
    <dsp:sp modelId="{0B1D8E78-2B68-4C5D-9329-AB01D008FC04}">
      <dsp:nvSpPr>
        <dsp:cNvPr id="0" name=""/>
        <dsp:cNvSpPr/>
      </dsp:nvSpPr>
      <dsp:spPr>
        <a:xfrm rot="5400000">
          <a:off x="5915597" y="1425498"/>
          <a:ext cx="281894" cy="437773"/>
        </a:xfrm>
        <a:prstGeom prst="flowChartExtra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7">
  <dgm:title val=""/>
  <dgm:desc val=""/>
  <dgm:catLst>
    <dgm:cat type="process" pri="21000"/>
    <dgm:cat type="list" pri="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L"/>
          <dgm:param type="nodeVertAlign" val="t"/>
        </dgm:alg>
      </dgm:if>
      <dgm:else name="Name3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ch" forName="hSp" refType="w" refFor="ch" refForName="compositeNode" fact="-0.035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-0.08"/>
      <dgm:constr type="primFontSz" for="des" forName="parentNode" op="equ"/>
      <dgm:constr type="primFontSz" for="des" forName="childNode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hoose name="Name5">
          <dgm:if name="Name6" func="var" arg="dir" op="equ" val="norm">
            <dgm:constrLst>
              <dgm:constr type="h" refType="w" op="lte" fact="1.2"/>
              <dgm:constr type="w" for="ch" forName="bgRect" refType="w"/>
              <dgm:constr type="h" for="ch" forName="bgRect" refType="h"/>
              <dgm:constr type="t" for="ch" forName="bgRect"/>
              <dgm:constr type="l" for="ch" forName="bgRect"/>
              <dgm:constr type="w" for="ch" forName="parentNode" refType="w" refFor="ch" refForName="bgRect" fact="0.2"/>
              <dgm:constr type="h" for="ch" forName="parentNode" refType="h" fact="0.82"/>
              <dgm:constr type="t" for="ch" forName="parentNode"/>
              <dgm:constr type="l" for="ch" forName="parentNode"/>
              <dgm:constr type="r" for="ch" forName="childNode" refType="r" refFor="ch" refForName="bgRect" fact="0.945"/>
              <dgm:constr type="h" for="ch" forName="childNode" refType="h" refFor="ch" refForName="bgRect" op="equ"/>
              <dgm:constr type="t" for="ch" forName="childNode"/>
              <dgm:constr type="l" for="ch" forName="childNode" refType="r" refFor="ch" refForName="parentNode"/>
            </dgm:constrLst>
          </dgm:if>
          <dgm:else name="Name7">
            <dgm:constrLst>
              <dgm:constr type="h" refType="w" op="lte" fact="1.2"/>
              <dgm:constr type="w" for="ch" forName="bgRect" refType="w"/>
              <dgm:constr type="h" for="ch" forName="bgRect" refType="h"/>
              <dgm:constr type="t" for="ch" forName="bgRect"/>
              <dgm:constr type="r" for="ch" forName="bgRect" refType="w"/>
              <dgm:constr type="w" for="ch" forName="parentNode" refType="w" refFor="ch" refForName="bgRect" fact="0.2"/>
              <dgm:constr type="h" for="ch" forName="parentNode" refType="h" fact="0.82"/>
              <dgm:constr type="t" for="ch" forName="parentNode"/>
              <dgm:constr type="r" for="ch" forName="parentNode" refType="w"/>
              <dgm:constr type="h" for="ch" forName="childNode" refType="h" refFor="ch" refForName="bgRect"/>
              <dgm:constr type="t" for="ch" forName="childNode"/>
              <dgm:constr type="r" for="ch" forName="childNode" refType="l" refFor="ch" refForName="parentNode"/>
              <dgm:constr type="l" for="ch" forName="childNode" refType="w" refFor="ch" refForName="bgRect" fact="0.055"/>
            </dgm:constrLst>
          </dgm:else>
        </dgm:choose>
        <dgm:ruleLst>
          <dgm:rule type="w" for="ch" forName="childNode" val="NaN" fact="NaN" max="30"/>
        </dgm:ruleLst>
        <dgm:layoutNode name="bgRect" styleLbl="node1">
          <dgm:alg type="sp"/>
          <dgm:shape xmlns:r="http://schemas.openxmlformats.org/officeDocument/2006/relationships" type="roundRect" r:blip="" zOrderOff="-1">
            <dgm:adjLst>
              <dgm:adj idx="1" val="0.05"/>
            </dgm:adjLst>
          </dgm:shape>
          <dgm:presOf axis="self"/>
          <dgm:constrLst/>
          <dgm:ruleLst/>
        </dgm:layoutNode>
        <dgm:layoutNode name="parentNode" styleLbl="node1">
          <dgm:varLst>
            <dgm:chMax val="0"/>
            <dgm:bulletEnabled val="1"/>
          </dgm:varLst>
          <dgm:presOf axis="self"/>
          <dgm:choose name="Name8">
            <dgm:if name="Name9" func="var" arg="dir" op="equ" val="norm">
              <dgm:alg type="tx">
                <dgm:param type="autoTxRot" val="grav"/>
                <dgm:param type="txAnchorVert" val="t"/>
                <dgm:param type="parTxLTRAlign" val="r"/>
                <dgm:param type="parTxRTLAlign" val="r"/>
              </dgm:alg>
              <dgm:shape xmlns:r="http://schemas.openxmlformats.org/officeDocument/2006/relationships" rot="270" type="rect" r:blip="" hideGeom="1">
                <dgm:adjLst/>
              </dgm:shape>
              <dgm:constrLst>
                <dgm:constr type="primFontSz" val="65"/>
                <dgm:constr type="lMarg"/>
                <dgm:constr type="rMarg" refType="primFontSz" fact="0.35"/>
                <dgm:constr type="tMarg" refType="primFontSz" fact="0.27"/>
                <dgm:constr type="bMarg"/>
              </dgm:constrLst>
            </dgm:if>
            <dgm:else name="Name10">
              <dgm:alg type="tx">
                <dgm:param type="autoTxRot" val="grav"/>
                <dgm:param type="txAnchorVert" val="t"/>
                <dgm:param type="parTxLTRAlign" val="l"/>
                <dgm:param type="parTxRTLAlign" val="l"/>
              </dgm:alg>
              <dgm:shape xmlns:r="http://schemas.openxmlformats.org/officeDocument/2006/relationships" rot="90" type="rect" r:blip="" hideGeom="1">
                <dgm:adjLst/>
              </dgm:shape>
              <dgm:constrLst>
                <dgm:constr type="primFontSz" val="65"/>
                <dgm:constr type="lMarg" refType="primFontSz" fact="0.35"/>
                <dgm:constr type="rMarg"/>
                <dgm:constr type="tMarg" refType="primFontSz" fact="0.27"/>
                <dgm:constr type="bMarg"/>
              </dgm:constrLst>
            </dgm:else>
          </dgm:choose>
          <dgm:ruleLst>
            <dgm:rule type="primFontSz" val="5" fact="NaN" max="NaN"/>
          </dgm:ruleLst>
        </dgm:layoutNode>
        <dgm:choose name="Name11">
          <dgm:if name="Name12" axis="ch" ptType="node" func="cnt" op="gte" val="1">
            <dgm:layoutNode name="childNode" styleLbl="node1" moveWith="bgRect">
              <dgm:varLst>
                <dgm:bulletEnabled val="1"/>
              </dgm:varLst>
              <dgm:alg type="tx">
                <dgm:param type="parTxLTRAlign" val="l"/>
                <dgm:param type="parTxRTLAlign" val="r"/>
                <dgm:param type="txAnchorVert" val="t"/>
              </dgm:alg>
              <dgm:shape xmlns:r="http://schemas.openxmlformats.org/officeDocument/2006/relationships" type="rect" r:blip="" hideGeom="1">
                <dgm:adjLst/>
              </dgm:shape>
              <dgm:presOf axis="des" ptType="node"/>
              <dgm:constrLst>
                <dgm:constr type="primFontSz" val="65"/>
                <dgm:constr type="lMarg"/>
                <dgm:constr type="bMarg"/>
                <dgm:constr type="tMarg" refType="primFontSz" fact="0.27"/>
                <dgm:constr type="rMarg"/>
              </dgm:constrLst>
              <dgm:ruleLst>
                <dgm:rule type="prim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h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vProcSp" moveWith="bgRect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vSp1" refType="w"/>
            <dgm:constr type="w" for="ch" forName="simulatedConn" refType="w"/>
            <dgm:constr type="w" for="ch" forName="vSp2" refType="w"/>
          </dgm:constrLst>
          <dgm:ruleLst/>
          <dgm:layoutNode name="vSp1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simulatedConn" styleLbl="solidFgAcc1">
            <dgm:alg type="sp"/>
            <dgm:choose name="Name15">
              <dgm:if name="Name16" func="var" arg="dir" op="equ" val="norm">
                <dgm:shape xmlns:r="http://schemas.openxmlformats.org/officeDocument/2006/relationships" rot="90" type="flowChartExtract" r:blip="">
                  <dgm:adjLst/>
                </dgm:shape>
              </dgm:if>
              <dgm:else name="Name17">
                <dgm:shape xmlns:r="http://schemas.openxmlformats.org/officeDocument/2006/relationships" rot="-90" type="flowChartExtract" r:blip="">
                  <dgm:adjLst/>
                </dgm:shape>
              </dgm:else>
            </dgm:choose>
            <dgm:presOf/>
            <dgm:constrLst/>
            <dgm:ruleLst/>
          </dgm:layoutNode>
          <dgm:layoutNode name="vSp2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Process7">
  <dgm:title val=""/>
  <dgm:desc val=""/>
  <dgm:catLst>
    <dgm:cat type="process" pri="21000"/>
    <dgm:cat type="list" pri="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L"/>
          <dgm:param type="nodeVertAlign" val="t"/>
        </dgm:alg>
      </dgm:if>
      <dgm:else name="Name3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ch" forName="hSp" refType="w" refFor="ch" refForName="compositeNode" fact="-0.035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-0.08"/>
      <dgm:constr type="primFontSz" for="des" forName="parentNode" op="equ"/>
      <dgm:constr type="primFontSz" for="des" forName="childNode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hoose name="Name5">
          <dgm:if name="Name6" func="var" arg="dir" op="equ" val="norm">
            <dgm:constrLst>
              <dgm:constr type="h" refType="w" op="lte" fact="1.2"/>
              <dgm:constr type="w" for="ch" forName="bgRect" refType="w"/>
              <dgm:constr type="h" for="ch" forName="bgRect" refType="h"/>
              <dgm:constr type="t" for="ch" forName="bgRect"/>
              <dgm:constr type="l" for="ch" forName="bgRect"/>
              <dgm:constr type="w" for="ch" forName="parentNode" refType="w" refFor="ch" refForName="bgRect" fact="0.2"/>
              <dgm:constr type="h" for="ch" forName="parentNode" refType="h" fact="0.82"/>
              <dgm:constr type="t" for="ch" forName="parentNode"/>
              <dgm:constr type="l" for="ch" forName="parentNode"/>
              <dgm:constr type="r" for="ch" forName="childNode" refType="r" refFor="ch" refForName="bgRect" fact="0.945"/>
              <dgm:constr type="h" for="ch" forName="childNode" refType="h" refFor="ch" refForName="bgRect" op="equ"/>
              <dgm:constr type="t" for="ch" forName="childNode"/>
              <dgm:constr type="l" for="ch" forName="childNode" refType="r" refFor="ch" refForName="parentNode"/>
            </dgm:constrLst>
          </dgm:if>
          <dgm:else name="Name7">
            <dgm:constrLst>
              <dgm:constr type="h" refType="w" op="lte" fact="1.2"/>
              <dgm:constr type="w" for="ch" forName="bgRect" refType="w"/>
              <dgm:constr type="h" for="ch" forName="bgRect" refType="h"/>
              <dgm:constr type="t" for="ch" forName="bgRect"/>
              <dgm:constr type="r" for="ch" forName="bgRect" refType="w"/>
              <dgm:constr type="w" for="ch" forName="parentNode" refType="w" refFor="ch" refForName="bgRect" fact="0.2"/>
              <dgm:constr type="h" for="ch" forName="parentNode" refType="h" fact="0.82"/>
              <dgm:constr type="t" for="ch" forName="parentNode"/>
              <dgm:constr type="r" for="ch" forName="parentNode" refType="w"/>
              <dgm:constr type="h" for="ch" forName="childNode" refType="h" refFor="ch" refForName="bgRect"/>
              <dgm:constr type="t" for="ch" forName="childNode"/>
              <dgm:constr type="r" for="ch" forName="childNode" refType="l" refFor="ch" refForName="parentNode"/>
              <dgm:constr type="l" for="ch" forName="childNode" refType="w" refFor="ch" refForName="bgRect" fact="0.055"/>
            </dgm:constrLst>
          </dgm:else>
        </dgm:choose>
        <dgm:ruleLst>
          <dgm:rule type="w" for="ch" forName="childNode" val="NaN" fact="NaN" max="30"/>
        </dgm:ruleLst>
        <dgm:layoutNode name="bgRect" styleLbl="node1">
          <dgm:alg type="sp"/>
          <dgm:shape xmlns:r="http://schemas.openxmlformats.org/officeDocument/2006/relationships" type="roundRect" r:blip="" zOrderOff="-1">
            <dgm:adjLst>
              <dgm:adj idx="1" val="0.05"/>
            </dgm:adjLst>
          </dgm:shape>
          <dgm:presOf axis="self"/>
          <dgm:constrLst/>
          <dgm:ruleLst/>
        </dgm:layoutNode>
        <dgm:layoutNode name="parentNode" styleLbl="node1">
          <dgm:varLst>
            <dgm:chMax val="0"/>
            <dgm:bulletEnabled val="1"/>
          </dgm:varLst>
          <dgm:presOf axis="self"/>
          <dgm:choose name="Name8">
            <dgm:if name="Name9" func="var" arg="dir" op="equ" val="norm">
              <dgm:alg type="tx">
                <dgm:param type="autoTxRot" val="grav"/>
                <dgm:param type="txAnchorVert" val="t"/>
                <dgm:param type="parTxLTRAlign" val="r"/>
                <dgm:param type="parTxRTLAlign" val="r"/>
              </dgm:alg>
              <dgm:shape xmlns:r="http://schemas.openxmlformats.org/officeDocument/2006/relationships" rot="270" type="rect" r:blip="" hideGeom="1">
                <dgm:adjLst/>
              </dgm:shape>
              <dgm:constrLst>
                <dgm:constr type="primFontSz" val="65"/>
                <dgm:constr type="lMarg"/>
                <dgm:constr type="rMarg" refType="primFontSz" fact="0.35"/>
                <dgm:constr type="tMarg" refType="primFontSz" fact="0.27"/>
                <dgm:constr type="bMarg"/>
              </dgm:constrLst>
            </dgm:if>
            <dgm:else name="Name10">
              <dgm:alg type="tx">
                <dgm:param type="autoTxRot" val="grav"/>
                <dgm:param type="txAnchorVert" val="t"/>
                <dgm:param type="parTxLTRAlign" val="l"/>
                <dgm:param type="parTxRTLAlign" val="l"/>
              </dgm:alg>
              <dgm:shape xmlns:r="http://schemas.openxmlformats.org/officeDocument/2006/relationships" rot="90" type="rect" r:blip="" hideGeom="1">
                <dgm:adjLst/>
              </dgm:shape>
              <dgm:constrLst>
                <dgm:constr type="primFontSz" val="65"/>
                <dgm:constr type="lMarg" refType="primFontSz" fact="0.35"/>
                <dgm:constr type="rMarg"/>
                <dgm:constr type="tMarg" refType="primFontSz" fact="0.27"/>
                <dgm:constr type="bMarg"/>
              </dgm:constrLst>
            </dgm:else>
          </dgm:choose>
          <dgm:ruleLst>
            <dgm:rule type="primFontSz" val="5" fact="NaN" max="NaN"/>
          </dgm:ruleLst>
        </dgm:layoutNode>
        <dgm:choose name="Name11">
          <dgm:if name="Name12" axis="ch" ptType="node" func="cnt" op="gte" val="1">
            <dgm:layoutNode name="childNode" styleLbl="node1" moveWith="bgRect">
              <dgm:varLst>
                <dgm:bulletEnabled val="1"/>
              </dgm:varLst>
              <dgm:alg type="tx">
                <dgm:param type="parTxLTRAlign" val="l"/>
                <dgm:param type="parTxRTLAlign" val="r"/>
                <dgm:param type="txAnchorVert" val="t"/>
              </dgm:alg>
              <dgm:shape xmlns:r="http://schemas.openxmlformats.org/officeDocument/2006/relationships" type="rect" r:blip="" hideGeom="1">
                <dgm:adjLst/>
              </dgm:shape>
              <dgm:presOf axis="des" ptType="node"/>
              <dgm:constrLst>
                <dgm:constr type="primFontSz" val="65"/>
                <dgm:constr type="lMarg"/>
                <dgm:constr type="bMarg"/>
                <dgm:constr type="tMarg" refType="primFontSz" fact="0.27"/>
                <dgm:constr type="rMarg"/>
              </dgm:constrLst>
              <dgm:ruleLst>
                <dgm:rule type="prim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h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vProcSp" moveWith="bgRect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vSp1" refType="w"/>
            <dgm:constr type="w" for="ch" forName="simulatedConn" refType="w"/>
            <dgm:constr type="w" for="ch" forName="vSp2" refType="w"/>
          </dgm:constrLst>
          <dgm:ruleLst/>
          <dgm:layoutNode name="vSp1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simulatedConn" styleLbl="solidFgAcc1">
            <dgm:alg type="sp"/>
            <dgm:choose name="Name15">
              <dgm:if name="Name16" func="var" arg="dir" op="equ" val="norm">
                <dgm:shape xmlns:r="http://schemas.openxmlformats.org/officeDocument/2006/relationships" rot="90" type="flowChartExtract" r:blip="">
                  <dgm:adjLst/>
                </dgm:shape>
              </dgm:if>
              <dgm:else name="Name17">
                <dgm:shape xmlns:r="http://schemas.openxmlformats.org/officeDocument/2006/relationships" rot="-90" type="flowChartExtract" r:blip="">
                  <dgm:adjLst/>
                </dgm:shape>
              </dgm:else>
            </dgm:choose>
            <dgm:presOf/>
            <dgm:constrLst/>
            <dgm:ruleLst/>
          </dgm:layoutNode>
          <dgm:layoutNode name="vSp2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DA0FC191-2DC4-4A3C-B384-0C651DCE00E9}" type="datetimeFigureOut">
              <a:rPr lang="en-US" smtClean="0"/>
              <a:t>04/10/2019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F2A53F67-EC31-4399-91BC-4634EC46F4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17291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0F42D459-5C80-4371-BDC6-89835A09395D}" type="datetimeFigureOut">
              <a:rPr lang="en-US" smtClean="0"/>
              <a:t>04/10/2019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5963" y="696913"/>
            <a:ext cx="5578475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76C7EBE9-FBA5-4606-B4BF-D5A8925554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4938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Criteria: The government</a:t>
            </a:r>
            <a:r>
              <a:rPr lang="en-US" baseline="0" dirty="0" smtClean="0"/>
              <a:t> has decided that the issue is a societal problem that must </a:t>
            </a:r>
            <a:r>
              <a:rPr lang="en-US" baseline="0" smtClean="0"/>
              <a:t>be addressed.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C7EBE9-FBA5-4606-B4BF-D5A89255542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30913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Criteria: The issue</a:t>
            </a:r>
            <a:r>
              <a:rPr lang="en-US" baseline="0" dirty="0" smtClean="0"/>
              <a:t> involves a significant amount of limited resources.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“</a:t>
            </a:r>
            <a:r>
              <a:rPr lang="en-US" dirty="0" smtClean="0"/>
              <a:t>CMS Medicare Budget Overview.” 2018. Centers for Medicare and Medicaid</a:t>
            </a:r>
            <a:r>
              <a:rPr lang="en-US" baseline="0" dirty="0" smtClean="0"/>
              <a:t> Services. U.S. Department of Health &amp; Human Services. Retrieved from https://www.hhs.gov/about/budget/fy2018/budget-in-brief/cms/medicare/index.html.</a:t>
            </a:r>
          </a:p>
          <a:p>
            <a:endParaRPr lang="en-US" baseline="0" dirty="0" smtClean="0"/>
          </a:p>
          <a:p>
            <a:r>
              <a:rPr lang="en-US" baseline="0" dirty="0" smtClean="0"/>
              <a:t>US Spending. (</a:t>
            </a:r>
            <a:r>
              <a:rPr lang="en-US" baseline="0" dirty="0" err="1" smtClean="0"/>
              <a:t>n.d.</a:t>
            </a:r>
            <a:r>
              <a:rPr lang="en-US" baseline="0" dirty="0" smtClean="0"/>
              <a:t>) USGovernmentSpending.com. Retrieved from https://www.usgovernmentspending.com/year_spending_2018USbn_20bs2n_4041_605#usgs302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C7EBE9-FBA5-4606-B4BF-D5A89255542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4819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Criteria: The issue has a significant</a:t>
            </a:r>
            <a:r>
              <a:rPr lang="en-US" baseline="0" dirty="0" smtClean="0"/>
              <a:t> impact </a:t>
            </a:r>
            <a:r>
              <a:rPr lang="en-US" dirty="0" smtClean="0"/>
              <a:t>on general</a:t>
            </a:r>
            <a:r>
              <a:rPr lang="en-US" baseline="0" dirty="0" smtClean="0"/>
              <a:t> societal welfare.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C7EBE9-FBA5-4606-B4BF-D5A89255542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03300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Previous analyses</a:t>
            </a:r>
            <a:r>
              <a:rPr lang="en-US" baseline="0" dirty="0" smtClean="0"/>
              <a:t> focus on asset-based measures of technology transfer, which are typically transactional.</a:t>
            </a:r>
          </a:p>
          <a:p>
            <a:r>
              <a:rPr lang="en-US" baseline="0" dirty="0" smtClean="0"/>
              <a:t>I theorize that a significant amount of technology transfer is non-transactional, information-based.</a:t>
            </a:r>
          </a:p>
          <a:p>
            <a:r>
              <a:rPr lang="en-US" baseline="0" dirty="0" smtClean="0"/>
              <a:t>Focus on asset-based measures of technology transfer suggests that construct validity (i.e., content validity) may be lacking.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C7EBE9-FBA5-4606-B4BF-D5A89255542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22006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C7EBE9-FBA5-4606-B4BF-D5A89255542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02330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All utility patents granted in the U.S. from January 1, 1963 to December 30, 1999.</a:t>
            </a:r>
          </a:p>
          <a:p>
            <a:r>
              <a:rPr lang="en-US" dirty="0" smtClean="0"/>
              <a:t>Listed in the Technology Assessment and Forecast (TAF) database of the United States Patent and Trademark Office (USPTO).  </a:t>
            </a:r>
          </a:p>
          <a:p>
            <a:r>
              <a:rPr lang="en-US" dirty="0" smtClean="0"/>
              <a:t>The file contained data on 2,923,922 patents across 23 variables. </a:t>
            </a:r>
          </a:p>
          <a:p>
            <a:r>
              <a:rPr lang="en-US" dirty="0" smtClean="0"/>
              <a:t>Random sample of 2,000</a:t>
            </a:r>
            <a:r>
              <a:rPr lang="en-US" baseline="0" dirty="0" smtClean="0"/>
              <a:t> patents from a subset of 253,328 patents for the period January 1, 1995 to December 31, 1999.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C7EBE9-FBA5-4606-B4BF-D5A892555425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84701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Excluded</a:t>
            </a:r>
            <a:r>
              <a:rPr lang="en-US" baseline="0" dirty="0" smtClean="0"/>
              <a:t> CMADE and RATIOCIT because of logical reasoning.</a:t>
            </a:r>
          </a:p>
          <a:p>
            <a:r>
              <a:rPr lang="en-US" baseline="0" dirty="0" smtClean="0"/>
              <a:t>Excluded other predictor variables that were not continuous interval.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C7EBE9-FBA5-4606-B4BF-D5A892555425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211175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GENERAL variable had the greatest influence.</a:t>
            </a:r>
          </a:p>
          <a:p>
            <a:r>
              <a:rPr lang="en-US" dirty="0" smtClean="0"/>
              <a:t>GYEAR and</a:t>
            </a:r>
            <a:r>
              <a:rPr lang="en-US" baseline="0" dirty="0" smtClean="0"/>
              <a:t> ORIGINAL were negatively associated with the number of citations received.</a:t>
            </a:r>
            <a:endParaRPr lang="en-US" dirty="0" smtClean="0"/>
          </a:p>
          <a:p>
            <a:r>
              <a:rPr lang="en-US" dirty="0" smtClean="0"/>
              <a:t>Most constructed variables were not significant with the exception of BCKGTLAG.</a:t>
            </a:r>
          </a:p>
          <a:p>
            <a:r>
              <a:rPr lang="en-US" dirty="0" smtClean="0"/>
              <a:t>APPYEAR was not significant but GYEAR was significant.</a:t>
            </a:r>
          </a:p>
          <a:p>
            <a:r>
              <a:rPr lang="en-US" dirty="0" smtClean="0"/>
              <a:t>Constructed</a:t>
            </a:r>
            <a:r>
              <a:rPr lang="en-US" baseline="0" dirty="0" smtClean="0"/>
              <a:t> variables had high degrees of multicollinearity.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C7EBE9-FBA5-4606-B4BF-D5A892555425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911272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I used </a:t>
            </a:r>
            <a:r>
              <a:rPr lang="en-US" dirty="0" err="1" smtClean="0"/>
              <a:t>logCRECEIVE</a:t>
            </a:r>
            <a:r>
              <a:rPr lang="en-US" dirty="0" smtClean="0"/>
              <a:t> as the dependent variable.</a:t>
            </a:r>
          </a:p>
          <a:p>
            <a:r>
              <a:rPr lang="en-US" dirty="0" smtClean="0"/>
              <a:t>I created a product term called CLAIMSORIGINAL using the CLAIMS variable and ORIGINAL variable to test for possible interaction. </a:t>
            </a:r>
          </a:p>
          <a:p>
            <a:r>
              <a:rPr lang="en-US" dirty="0" smtClean="0"/>
              <a:t>I suspected that the relationship between the DV and the CLAIMS variable varies as a function of the ORIGINAL variable.  </a:t>
            </a:r>
          </a:p>
          <a:p>
            <a:r>
              <a:rPr lang="en-US" dirty="0" smtClean="0"/>
              <a:t>I surmised that the higher the originality of a technology as represented by a patent, the more interest that it may receive from other innovators and thus the more likely that the patent will be cited in the patents of other innovators.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C7EBE9-FBA5-4606-B4BF-D5A892555425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63132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4708" indent="-174708" defTabSz="931774"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prstClr val="black"/>
                </a:solidFill>
              </a:rPr>
              <a:t>Based on a scatter plot of the CRECEIVE variable against the CLAIMS variable, I removed observations with CLAIMS greater than 90 claims and CRECEIVE greater than 40 citations received as outliers. </a:t>
            </a:r>
          </a:p>
          <a:p>
            <a:pPr marL="174708" indent="-174708" defTabSz="931774"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prstClr val="black"/>
                </a:solidFill>
              </a:rPr>
              <a:t>Constructed the </a:t>
            </a:r>
            <a:r>
              <a:rPr lang="en-US" dirty="0" err="1">
                <a:solidFill>
                  <a:prstClr val="black"/>
                </a:solidFill>
              </a:rPr>
              <a:t>CRECEIVEln</a:t>
            </a:r>
            <a:r>
              <a:rPr lang="en-US" dirty="0">
                <a:solidFill>
                  <a:prstClr val="black"/>
                </a:solidFill>
              </a:rPr>
              <a:t> variable as the natural logarithm transformation of the CRECEIVE variable to bring out potential linear relationships between the CRECEIVE and the CLAIMS variable.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C7EBE9-FBA5-4606-B4BF-D5A892555425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0809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</a:p>
          <a:p>
            <a:r>
              <a:rPr lang="en-US" dirty="0" smtClean="0"/>
              <a:t>https://www.youtube.com/watch?v=Vi34XayXk_Y</a:t>
            </a:r>
          </a:p>
          <a:p>
            <a:r>
              <a:rPr lang="en-US" dirty="0" smtClean="0"/>
              <a:t>https://www.google.com/url?sa=t&amp;rct=j&amp;q=&amp;esrc=s&amp;source=web&amp;cd=3&amp;ved=2ahUKEwi0y9_6rvfeAhUQ0lMKHebFDzwQFjACegQICxAC&amp;url=http%3A%2F%2Fcore.ecu.edu%2Fpsyc%2Fwuenschk%2FSPSS%2FResidual-Plots-SPSS.doc&amp;usg=AOvVaw0ZKB4phPkzUUcCpSOxJrIq</a:t>
            </a:r>
          </a:p>
          <a:p>
            <a:r>
              <a:rPr lang="en-US" dirty="0" smtClean="0"/>
              <a:t>https://en.wikipedia.org/wiki/P%E2%80%93P_plot</a:t>
            </a:r>
          </a:p>
          <a:p>
            <a:r>
              <a:rPr lang="en-US" dirty="0" smtClean="0"/>
              <a:t>https://www.itl.nist.gov/div898/handbook/eda/section3/eda33l.htm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C7EBE9-FBA5-4606-B4BF-D5A892555425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806635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Sub-model 1 uses GENERAL as the DV and ORIGINAL as the IV.  </a:t>
            </a:r>
          </a:p>
          <a:p>
            <a:pPr marL="174708" indent="-174708">
              <a:buFont typeface="Arial" panose="020B0604020202020204" pitchFamily="34" charset="0"/>
              <a:buChar char="•"/>
            </a:pPr>
            <a:r>
              <a:rPr lang="en-US" dirty="0" smtClean="0"/>
              <a:t>It is likely that the originality of a patent will influence whether or not it will have broad applicability.  </a:t>
            </a:r>
          </a:p>
          <a:p>
            <a:pPr marL="174708" indent="-174708">
              <a:buFont typeface="Arial" panose="020B0604020202020204" pitchFamily="34" charset="0"/>
              <a:buChar char="•"/>
            </a:pPr>
            <a:r>
              <a:rPr lang="en-US" dirty="0" smtClean="0"/>
              <a:t>The more original the patent, the more likely that other innovators in various fields will identify applications of the technology over time.  </a:t>
            </a:r>
          </a:p>
          <a:p>
            <a:pPr marL="174708" indent="-174708">
              <a:buFont typeface="Arial" panose="020B0604020202020204" pitchFamily="34" charset="0"/>
              <a:buChar char="•"/>
            </a:pPr>
            <a:r>
              <a:rPr lang="en-US" dirty="0" smtClean="0"/>
              <a:t>Patents that rank low in originality are likely to be specific or specialized to a narrower range of applications within closely related fields. </a:t>
            </a:r>
          </a:p>
          <a:p>
            <a:r>
              <a:rPr lang="en-US" dirty="0" smtClean="0"/>
              <a:t>Sub-model 2 uses CLAIMS as the DV and ORIGINAL, GENERAL, GYEAR, and RATIOCIT as the IVs.  </a:t>
            </a:r>
          </a:p>
          <a:p>
            <a:pPr marL="174708" indent="-174708">
              <a:buFont typeface="Arial" panose="020B0604020202020204" pitchFamily="34" charset="0"/>
              <a:buChar char="•"/>
            </a:pPr>
            <a:r>
              <a:rPr lang="en-US" dirty="0" smtClean="0"/>
              <a:t>The claims of a patent define the scope of the subject that it asserts to be novel, nonobvious, and useful.  </a:t>
            </a:r>
          </a:p>
          <a:p>
            <a:pPr marL="174708" indent="-174708">
              <a:buFont typeface="Arial" panose="020B0604020202020204" pitchFamily="34" charset="0"/>
              <a:buChar char="•"/>
            </a:pPr>
            <a:r>
              <a:rPr lang="en-US" dirty="0" smtClean="0"/>
              <a:t>Patents that rank higher in originality are likely to generate more claims because they stake out new innovation territory.  </a:t>
            </a:r>
          </a:p>
          <a:p>
            <a:pPr marL="174708" indent="-174708">
              <a:buFont typeface="Arial" panose="020B0604020202020204" pitchFamily="34" charset="0"/>
              <a:buChar char="•"/>
            </a:pPr>
            <a:r>
              <a:rPr lang="en-US" dirty="0" smtClean="0"/>
              <a:t>Patents the rank higher in generality are likely to generate more claims because the scope of their applicability. </a:t>
            </a:r>
          </a:p>
          <a:p>
            <a:pPr marL="174708" indent="-174708">
              <a:buFont typeface="Arial" panose="020B0604020202020204" pitchFamily="34" charset="0"/>
              <a:buChar char="•"/>
            </a:pPr>
            <a:r>
              <a:rPr lang="en-US" dirty="0" smtClean="0"/>
              <a:t>In general, patents are likely to have more claims as the grant year increases because of the temporal nature of advances in sciences and the cumulative effects of scientific knowledge. </a:t>
            </a:r>
          </a:p>
          <a:p>
            <a:pPr marL="174708" indent="-174708">
              <a:buFont typeface="Arial" panose="020B0604020202020204" pitchFamily="34" charset="0"/>
              <a:buChar char="•"/>
            </a:pPr>
            <a:r>
              <a:rPr lang="en-US" dirty="0" smtClean="0"/>
              <a:t>I suspect that as the ratio of the number of citations made by all patents granted since 1960 to the total number of citations made by a particular patent increases the number of claims for a patent because of the general increase in scientific knowledge due to network effects.</a:t>
            </a:r>
          </a:p>
          <a:p>
            <a:r>
              <a:rPr lang="en-US" dirty="0" smtClean="0"/>
              <a:t>Sub-model 3 uses </a:t>
            </a:r>
            <a:r>
              <a:rPr lang="en-US" dirty="0" err="1" smtClean="0"/>
              <a:t>CRECEIVEln</a:t>
            </a:r>
            <a:r>
              <a:rPr lang="en-US" dirty="0" smtClean="0"/>
              <a:t> as the DV and ORIGINAL, GENERAL, CLAIMS, GYEAR, and RATIOCIT as the IVs.  </a:t>
            </a:r>
          </a:p>
          <a:p>
            <a:pPr marL="174708" indent="-174708">
              <a:buFont typeface="Arial" panose="020B0604020202020204" pitchFamily="34" charset="0"/>
              <a:buChar char="•"/>
            </a:pPr>
            <a:r>
              <a:rPr lang="en-US" dirty="0" smtClean="0"/>
              <a:t>Previous analysis indicated an inverse relationship between the originality of a patent and the number of citations it received.  This may be because the full capabilities of highly original patents are less readily apparent than patents that rank lower on originality.  </a:t>
            </a:r>
          </a:p>
          <a:p>
            <a:pPr marL="174708" indent="-174708">
              <a:buFont typeface="Arial" panose="020B0604020202020204" pitchFamily="34" charset="0"/>
              <a:buChar char="•"/>
            </a:pPr>
            <a:r>
              <a:rPr lang="en-US" dirty="0" smtClean="0"/>
              <a:t>Patents that rank high in generality probably receive higher numbers of citations because the broader scope of their applicability creates more opportunities to be cited.  </a:t>
            </a:r>
          </a:p>
          <a:p>
            <a:pPr marL="174708" indent="-174708">
              <a:buFont typeface="Arial" panose="020B0604020202020204" pitchFamily="34" charset="0"/>
              <a:buChar char="•"/>
            </a:pPr>
            <a:r>
              <a:rPr lang="en-US" dirty="0" smtClean="0"/>
              <a:t>Likewise, patents that have more claims probably have more opportunities to be cited than patents with fewer claims.  </a:t>
            </a:r>
          </a:p>
          <a:p>
            <a:pPr marL="174708" indent="-174708">
              <a:buFont typeface="Arial" panose="020B0604020202020204" pitchFamily="34" charset="0"/>
              <a:buChar char="•"/>
            </a:pPr>
            <a:r>
              <a:rPr lang="en-US" dirty="0" smtClean="0"/>
              <a:t>In general, patents are likely to receive more citations over time because scientific knowledge accumulates and spreads over time.  </a:t>
            </a:r>
          </a:p>
          <a:p>
            <a:pPr marL="174708" indent="-174708">
              <a:buFont typeface="Arial" panose="020B0604020202020204" pitchFamily="34" charset="0"/>
              <a:buChar char="•"/>
            </a:pPr>
            <a:r>
              <a:rPr lang="en-US" dirty="0" smtClean="0"/>
              <a:t>I suspect that as the ratio of the number of citations made by all patents granted since 1960 to the total number of citations made by a particular patent increases the number of citations a patent receives because of network effects.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C7EBE9-FBA5-4606-B4BF-D5A892555425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729818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Removed</a:t>
            </a:r>
            <a:r>
              <a:rPr lang="en-US" baseline="0" dirty="0" smtClean="0"/>
              <a:t> path between RATIOCIT and CLAIMS because doing so simplified the model without significantly reducing the R</a:t>
            </a:r>
            <a:r>
              <a:rPr lang="en-US" baseline="30000" dirty="0" smtClean="0"/>
              <a:t>2</a:t>
            </a:r>
            <a:r>
              <a:rPr lang="en-US" baseline="0" dirty="0" smtClean="0"/>
              <a:t> value the CLAIMS variable.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C7EBE9-FBA5-4606-B4BF-D5A892555425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40190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The result of the Omnibus test indicates that including the CLAIMS, GYEAR, GENERAL, and ORIGINAL variables improved the model fit.  </a:t>
            </a:r>
          </a:p>
          <a:p>
            <a:pPr marL="174708" indent="-174708">
              <a:buFont typeface="Arial" panose="020B0604020202020204" pitchFamily="34" charset="0"/>
              <a:buChar char="•"/>
            </a:pPr>
            <a:r>
              <a:rPr lang="en-US" dirty="0" smtClean="0"/>
              <a:t>One or more of these IVs predict the dependent variable.  </a:t>
            </a:r>
          </a:p>
          <a:p>
            <a:pPr marL="174708" indent="-174708">
              <a:buFont typeface="Arial" panose="020B0604020202020204" pitchFamily="34" charset="0"/>
              <a:buChar char="•"/>
            </a:pPr>
            <a:r>
              <a:rPr lang="en-US" dirty="0" smtClean="0"/>
              <a:t>The p-value was less than 0.001, which was significant.  </a:t>
            </a:r>
          </a:p>
          <a:p>
            <a:pPr marL="174708" indent="-174708">
              <a:buFont typeface="Arial" panose="020B0604020202020204" pitchFamily="34" charset="0"/>
              <a:buChar char="•"/>
            </a:pPr>
            <a:r>
              <a:rPr lang="en-US" dirty="0" smtClean="0"/>
              <a:t>The -2 Log likelihood was reduced from 2,623.109 to 1,906.867, which was a decrease of 716.242.  </a:t>
            </a:r>
          </a:p>
          <a:p>
            <a:pPr marL="174708" indent="-174708">
              <a:buFont typeface="Arial" panose="020B0604020202020204" pitchFamily="34" charset="0"/>
              <a:buChar char="•"/>
            </a:pPr>
            <a:r>
              <a:rPr lang="en-US" dirty="0" smtClean="0"/>
              <a:t>The </a:t>
            </a:r>
            <a:r>
              <a:rPr lang="en-US" dirty="0" err="1" smtClean="0"/>
              <a:t>Nagelkerke</a:t>
            </a:r>
            <a:r>
              <a:rPr lang="en-US" dirty="0" smtClean="0"/>
              <a:t> R</a:t>
            </a:r>
            <a:r>
              <a:rPr lang="en-US" baseline="30000" dirty="0" smtClean="0"/>
              <a:t>2</a:t>
            </a:r>
            <a:r>
              <a:rPr lang="en-US" dirty="0" smtClean="0"/>
              <a:t> was 0.415, which indicates that 41.5 percent of the probability that a patent received more than 2 citations was explained by the IVs included in the model. </a:t>
            </a:r>
          </a:p>
          <a:p>
            <a:endParaRPr lang="en-US" dirty="0" smtClean="0"/>
          </a:p>
          <a:p>
            <a:r>
              <a:rPr lang="en-US" dirty="0" smtClean="0"/>
              <a:t>Hosmer-</a:t>
            </a:r>
            <a:r>
              <a:rPr lang="en-US" dirty="0" err="1" smtClean="0"/>
              <a:t>Lemeshow</a:t>
            </a:r>
            <a:r>
              <a:rPr lang="en-US" baseline="0" dirty="0" smtClean="0"/>
              <a:t> Test results suggest a lack of fit for the model.</a:t>
            </a:r>
          </a:p>
          <a:p>
            <a:pPr marL="174708" indent="-174708">
              <a:buFont typeface="Arial" panose="020B0604020202020204" pitchFamily="34" charset="0"/>
              <a:buChar char="•"/>
            </a:pPr>
            <a:r>
              <a:rPr lang="en-US" dirty="0" smtClean="0"/>
              <a:t>The chi-square value was 23.671, which does not seem very small.  </a:t>
            </a:r>
          </a:p>
          <a:p>
            <a:pPr marL="174708" indent="-174708">
              <a:buFont typeface="Arial" panose="020B0604020202020204" pitchFamily="34" charset="0"/>
              <a:buChar char="•"/>
            </a:pPr>
            <a:r>
              <a:rPr lang="en-US" dirty="0" smtClean="0"/>
              <a:t>The p-value was 0.003 which is not much above the 0.001 significance level. </a:t>
            </a:r>
          </a:p>
          <a:p>
            <a:endParaRPr lang="en-US" dirty="0" smtClean="0"/>
          </a:p>
          <a:p>
            <a:r>
              <a:rPr lang="en-US" dirty="0" smtClean="0"/>
              <a:t>Predictive ability</a:t>
            </a:r>
            <a:r>
              <a:rPr lang="en-US" baseline="0" dirty="0" smtClean="0"/>
              <a:t> vs. goodness-of-fit</a:t>
            </a:r>
            <a:endParaRPr lang="en-US" dirty="0" smtClean="0"/>
          </a:p>
          <a:p>
            <a:pPr defTabSz="931774"/>
            <a:r>
              <a:rPr lang="en-US" dirty="0" smtClean="0"/>
              <a:t>Hosmer-</a:t>
            </a:r>
            <a:r>
              <a:rPr lang="en-US" dirty="0" err="1" smtClean="0"/>
              <a:t>Lemeshow</a:t>
            </a:r>
            <a:r>
              <a:rPr lang="en-US" baseline="0" dirty="0" smtClean="0"/>
              <a:t> </a:t>
            </a:r>
            <a:r>
              <a:rPr lang="en-US" dirty="0" smtClean="0"/>
              <a:t>Test results affected by</a:t>
            </a:r>
            <a:r>
              <a:rPr lang="en-US" baseline="0" dirty="0" smtClean="0"/>
              <a:t> the number of groups and sample size (larger n exacerbates the </a:t>
            </a:r>
            <a:r>
              <a:rPr lang="en-US" baseline="0" dirty="0" err="1" smtClean="0"/>
              <a:t>inherant</a:t>
            </a:r>
            <a:r>
              <a:rPr lang="en-US" baseline="0" dirty="0" smtClean="0"/>
              <a:t> </a:t>
            </a:r>
            <a:r>
              <a:rPr lang="en-US" baseline="0" dirty="0" err="1" smtClean="0"/>
              <a:t>discrepency</a:t>
            </a:r>
            <a:r>
              <a:rPr lang="en-US" baseline="0" dirty="0" smtClean="0"/>
              <a:t> between the logistic form and real-world process)</a:t>
            </a:r>
            <a:endParaRPr lang="en-US" dirty="0" smtClean="0"/>
          </a:p>
          <a:p>
            <a:r>
              <a:rPr lang="en-US" dirty="0" smtClean="0"/>
              <a:t>-2 log likelihood statistic is a measure of how “poorly” the model predicts the data;</a:t>
            </a:r>
            <a:r>
              <a:rPr lang="en-US" baseline="0" dirty="0" smtClean="0"/>
              <a:t> t</a:t>
            </a:r>
            <a:r>
              <a:rPr lang="en-US" dirty="0" smtClean="0"/>
              <a:t>he smaller the statistic the better the model.</a:t>
            </a:r>
          </a:p>
          <a:p>
            <a:r>
              <a:rPr lang="en-US" dirty="0" smtClean="0"/>
              <a:t>The deviance, or -2 log-likelihood (-2LL) statistic</a:t>
            </a:r>
            <a:r>
              <a:rPr lang="en-US" smtClean="0"/>
              <a:t>, is </a:t>
            </a:r>
            <a:r>
              <a:rPr lang="en-US" dirty="0" smtClean="0"/>
              <a:t>basically a measure of how much unexplained variation there is in our logistic regression model – the higher the value the less accurate the model.</a:t>
            </a:r>
          </a:p>
          <a:p>
            <a:endParaRPr lang="en-US" dirty="0" smtClean="0"/>
          </a:p>
          <a:p>
            <a:r>
              <a:rPr lang="en-US" dirty="0" smtClean="0"/>
              <a:t>References</a:t>
            </a:r>
          </a:p>
          <a:p>
            <a:r>
              <a:rPr lang="en-US" dirty="0" smtClean="0"/>
              <a:t>https://stats.stackexchange.com/questions/273966/logistic-regression-with-poor-goodness-of-fit-hosmer-lemeshow</a:t>
            </a:r>
          </a:p>
          <a:p>
            <a:r>
              <a:rPr lang="en-US" dirty="0" smtClean="0"/>
              <a:t>https://stats.stackexchange.com/questions/169000/goodness-of-fit-test-in-logistic-regression-which-fit-do-we-want-to-test</a:t>
            </a:r>
          </a:p>
          <a:p>
            <a:r>
              <a:rPr lang="en-US" dirty="0" smtClean="0"/>
              <a:t>https://statisticalhorizons.com/hosmer-lemeshow</a:t>
            </a:r>
          </a:p>
          <a:p>
            <a:r>
              <a:rPr lang="en-US" dirty="0" smtClean="0"/>
              <a:t>https://www.revolvy.com/page/Omnibus-test</a:t>
            </a:r>
          </a:p>
          <a:p>
            <a:r>
              <a:rPr lang="en-US" dirty="0" smtClean="0"/>
              <a:t>http://www.restore.ac.uk/srme/www/fac/soc/wie/research-new/srme/modules/mod4/6/index.html</a:t>
            </a:r>
          </a:p>
          <a:p>
            <a:r>
              <a:rPr lang="en-US" dirty="0" smtClean="0"/>
              <a:t>http://www.restore.ac.uk/srme/www/fac/soc/wie/research-new/srme/glossary/index1695.html?selectedLetter=D#deviance-2ll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C7EBE9-FBA5-4606-B4BF-D5A892555425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038756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The GENERAL variable had the strongest association with the DV.  </a:t>
            </a:r>
          </a:p>
          <a:p>
            <a:r>
              <a:rPr lang="en-US" dirty="0" smtClean="0"/>
              <a:t>For a one unit increase in the GENERAL variable, the patent was 113.6 times more likely to have been cited by 3 or more times</a:t>
            </a:r>
            <a:r>
              <a:rPr lang="en-US" baseline="0" dirty="0" smtClean="0"/>
              <a:t> by </a:t>
            </a:r>
            <a:r>
              <a:rPr lang="en-US" dirty="0" smtClean="0"/>
              <a:t>other patents. </a:t>
            </a:r>
          </a:p>
          <a:p>
            <a:r>
              <a:rPr lang="en-US" dirty="0" smtClean="0"/>
              <a:t>Influence of the GENERAL</a:t>
            </a:r>
            <a:r>
              <a:rPr lang="en-US" baseline="0" dirty="0" smtClean="0"/>
              <a:t> variable was much higher than expected.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C7EBE9-FBA5-4606-B4BF-D5A892555425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25874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775355"/>
            <a:ext cx="7772400" cy="122502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238500"/>
            <a:ext cx="6400800" cy="14605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FCE38-2186-4D26-B7FB-3342183A2F51}" type="datetimeFigureOut">
              <a:rPr lang="en-US" smtClean="0"/>
              <a:t>04/10/2019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165FE-5E7F-4CA1-B535-35D8C888C5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4911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FCE38-2186-4D26-B7FB-3342183A2F51}" type="datetimeFigureOut">
              <a:rPr lang="en-US" smtClean="0"/>
              <a:t>04/10/2019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165FE-5E7F-4CA1-B535-35D8C888C5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92693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672417"/>
            <a:ext cx="7772400" cy="1135063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422261"/>
            <a:ext cx="7772400" cy="125015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FCE38-2186-4D26-B7FB-3342183A2F51}" type="datetimeFigureOut">
              <a:rPr lang="en-US" smtClean="0"/>
              <a:t>04/10/2019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165FE-5E7F-4CA1-B535-35D8C888C5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34172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111250"/>
            <a:ext cx="4038600" cy="31432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111250"/>
            <a:ext cx="4038600" cy="31432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FCE38-2186-4D26-B7FB-3342183A2F51}" type="datetimeFigureOut">
              <a:rPr lang="en-US" smtClean="0"/>
              <a:t>04/10/2019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165FE-5E7F-4CA1-B535-35D8C888C5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4703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865"/>
            <a:ext cx="8229600" cy="9525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79261"/>
            <a:ext cx="4040188" cy="53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812396"/>
            <a:ext cx="4040188" cy="329274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279261"/>
            <a:ext cx="4041775" cy="53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812396"/>
            <a:ext cx="4041775" cy="329274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FCE38-2186-4D26-B7FB-3342183A2F51}" type="datetimeFigureOut">
              <a:rPr lang="en-US" smtClean="0"/>
              <a:t>04/10/2019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165FE-5E7F-4CA1-B535-35D8C888C5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79296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FCE38-2186-4D26-B7FB-3342183A2F51}" type="datetimeFigureOut">
              <a:rPr lang="en-US" smtClean="0"/>
              <a:t>04/10/2019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165FE-5E7F-4CA1-B535-35D8C888C5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65485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FCE38-2186-4D26-B7FB-3342183A2F51}" type="datetimeFigureOut">
              <a:rPr lang="en-US" smtClean="0"/>
              <a:t>04/10/2019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165FE-5E7F-4CA1-B535-35D8C888C5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39590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27542"/>
            <a:ext cx="3008313" cy="96837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27542"/>
            <a:ext cx="5111750" cy="487759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195917"/>
            <a:ext cx="3008313" cy="390921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FCE38-2186-4D26-B7FB-3342183A2F51}" type="datetimeFigureOut">
              <a:rPr lang="en-US" smtClean="0"/>
              <a:t>04/10/2019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165FE-5E7F-4CA1-B535-35D8C888C5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23906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000500"/>
            <a:ext cx="5486400" cy="472282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510646"/>
            <a:ext cx="5486400" cy="34290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472782"/>
            <a:ext cx="5486400" cy="67071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FCE38-2186-4D26-B7FB-3342183A2F51}" type="datetimeFigureOut">
              <a:rPr lang="en-US" smtClean="0"/>
              <a:t>04/10/2019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165FE-5E7F-4CA1-B535-35D8C888C5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06840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FCE38-2186-4D26-B7FB-3342183A2F51}" type="datetimeFigureOut">
              <a:rPr lang="en-US" smtClean="0"/>
              <a:t>04/10/2019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165FE-5E7F-4CA1-B535-35D8C888C5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85875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90500"/>
            <a:ext cx="2057400" cy="40640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90500"/>
            <a:ext cx="6019800" cy="40640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FCE38-2186-4D26-B7FB-3342183A2F51}" type="datetimeFigureOut">
              <a:rPr lang="en-US" smtClean="0"/>
              <a:t>04/10/2019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165FE-5E7F-4CA1-B535-35D8C888C5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0787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28865"/>
            <a:ext cx="8229600" cy="952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333500"/>
            <a:ext cx="8229600" cy="37716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5296959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1FCE38-2186-4D26-B7FB-3342183A2F51}" type="datetimeFigureOut">
              <a:rPr lang="en-US" smtClean="0"/>
              <a:t>04/10/2019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5296959"/>
            <a:ext cx="2895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5296959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F165FE-5E7F-4CA1-B535-35D8C888C5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23829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3.emf"/><Relationship Id="rId4" Type="http://schemas.openxmlformats.org/officeDocument/2006/relationships/oleObject" Target="../embeddings/Microsoft_Excel_97-2003_Worksheet1.xls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png"/><Relationship Id="rId4" Type="http://schemas.openxmlformats.org/officeDocument/2006/relationships/image" Target="../media/image20.emf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40.png"/><Relationship Id="rId4" Type="http://schemas.openxmlformats.org/officeDocument/2006/relationships/image" Target="../media/image14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1463040"/>
            <a:ext cx="91440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/>
              <a:t>Considering Development Stage and Geography in Technology Transfer Public Policy</a:t>
            </a:r>
            <a:endParaRPr lang="en-US" sz="2800" b="1" dirty="0"/>
          </a:p>
        </p:txBody>
      </p:sp>
      <p:sp>
        <p:nvSpPr>
          <p:cNvPr id="5" name="TextBox 4"/>
          <p:cNvSpPr txBox="1"/>
          <p:nvPr/>
        </p:nvSpPr>
        <p:spPr>
          <a:xfrm>
            <a:off x="0" y="2743200"/>
            <a:ext cx="9144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Malcolm S. Townes</a:t>
            </a:r>
          </a:p>
          <a:p>
            <a:pPr algn="ctr"/>
            <a:endParaRPr lang="en-US" dirty="0" smtClean="0"/>
          </a:p>
          <a:p>
            <a:pPr algn="ctr"/>
            <a:r>
              <a:rPr lang="en-US" dirty="0" smtClean="0"/>
              <a:t>Saint Louis University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12714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13501" y="58653"/>
            <a:ext cx="4572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Technology Transfer</a:t>
            </a:r>
            <a:r>
              <a:rPr lang="en-US" dirty="0" smtClean="0"/>
              <a:t>: The conveyance </a:t>
            </a:r>
            <a:r>
              <a:rPr lang="en-US" dirty="0"/>
              <a:t>from one person or entity to another person or </a:t>
            </a:r>
            <a:r>
              <a:rPr lang="en-US" dirty="0" smtClean="0"/>
              <a:t>entity of a capability to perform a useful task or replicate a beneficial accomplishment.</a:t>
            </a:r>
            <a:endParaRPr lang="en-US" dirty="0"/>
          </a:p>
        </p:txBody>
      </p:sp>
      <p:grpSp>
        <p:nvGrpSpPr>
          <p:cNvPr id="2" name="Group 1"/>
          <p:cNvGrpSpPr/>
          <p:nvPr/>
        </p:nvGrpSpPr>
        <p:grpSpPr>
          <a:xfrm>
            <a:off x="38637" y="25758"/>
            <a:ext cx="4421810" cy="5669280"/>
            <a:chOff x="38637" y="25758"/>
            <a:chExt cx="4421810" cy="5669280"/>
          </a:xfrm>
        </p:grpSpPr>
        <p:pic>
          <p:nvPicPr>
            <p:cNvPr id="4098" name="Picture 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637" y="25758"/>
              <a:ext cx="4421810" cy="56692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" name="Rectangle 3"/>
            <p:cNvSpPr/>
            <p:nvPr/>
          </p:nvSpPr>
          <p:spPr>
            <a:xfrm>
              <a:off x="808602" y="3264905"/>
              <a:ext cx="1280160" cy="92154"/>
            </a:xfrm>
            <a:prstGeom prst="rect">
              <a:avLst/>
            </a:prstGeom>
            <a:solidFill>
              <a:srgbClr val="FFFF00">
                <a:alpha val="20000"/>
              </a:srgbClr>
            </a:solidFill>
            <a:ln w="15875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4"/>
            <p:cNvSpPr/>
            <p:nvPr/>
          </p:nvSpPr>
          <p:spPr>
            <a:xfrm>
              <a:off x="640357" y="3577829"/>
              <a:ext cx="1459106" cy="92154"/>
            </a:xfrm>
            <a:prstGeom prst="rect">
              <a:avLst/>
            </a:prstGeom>
            <a:solidFill>
              <a:srgbClr val="FFFF00">
                <a:alpha val="20000"/>
              </a:srgbClr>
            </a:solidFill>
            <a:ln w="15875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/>
            <p:cNvSpPr/>
            <p:nvPr/>
          </p:nvSpPr>
          <p:spPr>
            <a:xfrm>
              <a:off x="640357" y="3669522"/>
              <a:ext cx="449608" cy="92154"/>
            </a:xfrm>
            <a:prstGeom prst="rect">
              <a:avLst/>
            </a:prstGeom>
            <a:solidFill>
              <a:srgbClr val="FFFF00">
                <a:alpha val="20000"/>
              </a:srgbClr>
            </a:solidFill>
            <a:ln w="15875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/>
            <p:cNvSpPr/>
            <p:nvPr/>
          </p:nvSpPr>
          <p:spPr>
            <a:xfrm>
              <a:off x="1431951" y="3484186"/>
              <a:ext cx="667512" cy="93643"/>
            </a:xfrm>
            <a:prstGeom prst="rect">
              <a:avLst/>
            </a:prstGeom>
            <a:solidFill>
              <a:srgbClr val="FFFF00">
                <a:alpha val="20000"/>
              </a:srgbClr>
            </a:solidFill>
            <a:ln w="15875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/>
            <p:cNvSpPr/>
            <p:nvPr/>
          </p:nvSpPr>
          <p:spPr>
            <a:xfrm>
              <a:off x="646457" y="4074565"/>
              <a:ext cx="1459106" cy="102413"/>
            </a:xfrm>
            <a:prstGeom prst="rect">
              <a:avLst/>
            </a:prstGeom>
            <a:solidFill>
              <a:srgbClr val="FFFF00">
                <a:alpha val="20000"/>
              </a:srgbClr>
            </a:solidFill>
            <a:ln w="15875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/>
            <p:cNvSpPr/>
            <p:nvPr/>
          </p:nvSpPr>
          <p:spPr>
            <a:xfrm>
              <a:off x="646457" y="3972152"/>
              <a:ext cx="1459106" cy="102413"/>
            </a:xfrm>
            <a:prstGeom prst="rect">
              <a:avLst/>
            </a:prstGeom>
            <a:solidFill>
              <a:srgbClr val="FFFF00">
                <a:alpha val="20000"/>
              </a:srgbClr>
            </a:solidFill>
            <a:ln w="15875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028839" y="3869739"/>
              <a:ext cx="1078992" cy="102413"/>
            </a:xfrm>
            <a:prstGeom prst="rect">
              <a:avLst/>
            </a:prstGeom>
            <a:solidFill>
              <a:srgbClr val="FFFF00">
                <a:alpha val="20000"/>
              </a:srgbClr>
            </a:solidFill>
            <a:ln w="15875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640357" y="3353036"/>
              <a:ext cx="548640" cy="92154"/>
            </a:xfrm>
            <a:prstGeom prst="rect">
              <a:avLst/>
            </a:prstGeom>
            <a:solidFill>
              <a:srgbClr val="FFFF00">
                <a:alpha val="20000"/>
              </a:srgbClr>
            </a:solidFill>
            <a:ln w="15875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537947" y="1743384"/>
              <a:ext cx="1645920" cy="663317"/>
            </a:xfrm>
            <a:prstGeom prst="rect">
              <a:avLst/>
            </a:prstGeom>
            <a:solidFill>
              <a:srgbClr val="FFFF00">
                <a:alpha val="20000"/>
              </a:srgbClr>
            </a:solidFill>
            <a:ln w="15875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4776717" y="2251882"/>
            <a:ext cx="433608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…prior to 1980, only 5 percent of government-owned patents had ever been used by industry.</a:t>
            </a:r>
            <a:endParaRPr lang="en-US" sz="2400" dirty="0"/>
          </a:p>
        </p:txBody>
      </p:sp>
      <p:sp>
        <p:nvSpPr>
          <p:cNvPr id="15" name="TextBox 14"/>
          <p:cNvSpPr txBox="1"/>
          <p:nvPr/>
        </p:nvSpPr>
        <p:spPr>
          <a:xfrm>
            <a:off x="5008729" y="3458838"/>
            <a:ext cx="39987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 smtClean="0"/>
              <a:t>Schact  (2012) as cited in Tseng &amp; </a:t>
            </a:r>
            <a:r>
              <a:rPr lang="en-US" sz="1400" dirty="0" err="1" smtClean="0"/>
              <a:t>Raudensky</a:t>
            </a:r>
            <a:r>
              <a:rPr lang="en-US" sz="1400" dirty="0" smtClean="0"/>
              <a:t>, 2014</a:t>
            </a:r>
            <a:endParaRPr lang="en-US" sz="1400" dirty="0"/>
          </a:p>
        </p:txBody>
      </p:sp>
      <p:pic>
        <p:nvPicPr>
          <p:cNvPr id="5122" name="Picture 2" descr="C:\Users\townesm\Downloads\kisspng-quotation-mark-symbol-icon-quotation-transparent-png-5a758275d3b618.8653046915176505498672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0821" y="2249757"/>
            <a:ext cx="274320" cy="274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2" descr="C:\Users\townesm\Downloads\kisspng-quotation-mark-symbol-icon-quotation-transparent-png-5a758275d3b618.8653046915176505498672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8368996" y="3012559"/>
            <a:ext cx="274320" cy="274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67946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0" y="4693430"/>
            <a:ext cx="914400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>
              <a:spcAft>
                <a:spcPts val="600"/>
              </a:spcAft>
            </a:pPr>
            <a:r>
              <a:rPr lang="en-US" sz="1200" dirty="0">
                <a:solidFill>
                  <a:prstClr val="black"/>
                </a:solidFill>
              </a:rPr>
              <a:t>“CMS Medicare Budget Overview.” 2018. Centers for Medicare and Medicaid Services. U.S. Department of Health &amp; Human Services. Retrieved from https://www.hhs.gov/about/budget/fy2018/budget-in-brief/cms/medicare/index.html</a:t>
            </a:r>
            <a:r>
              <a:rPr lang="en-US" sz="1200" dirty="0" smtClean="0">
                <a:solidFill>
                  <a:prstClr val="black"/>
                </a:solidFill>
              </a:rPr>
              <a:t>.</a:t>
            </a:r>
          </a:p>
          <a:p>
            <a:pPr marL="457200" lvl="0" indent="-457200">
              <a:spcAft>
                <a:spcPts val="600"/>
              </a:spcAft>
            </a:pPr>
            <a:r>
              <a:rPr lang="en-US" sz="1200" dirty="0" smtClean="0">
                <a:solidFill>
                  <a:prstClr val="black"/>
                </a:solidFill>
              </a:rPr>
              <a:t>“US Spending”. </a:t>
            </a:r>
            <a:r>
              <a:rPr lang="en-US" sz="1200" dirty="0" err="1">
                <a:solidFill>
                  <a:prstClr val="black"/>
                </a:solidFill>
              </a:rPr>
              <a:t>nd</a:t>
            </a:r>
            <a:r>
              <a:rPr lang="en-US" sz="1200" dirty="0">
                <a:solidFill>
                  <a:prstClr val="black"/>
                </a:solidFill>
              </a:rPr>
              <a:t>. USGovernmentSpending.com. Retrieved </a:t>
            </a:r>
            <a:r>
              <a:rPr lang="en-US" sz="1200" dirty="0" smtClean="0">
                <a:solidFill>
                  <a:prstClr val="black"/>
                </a:solidFill>
              </a:rPr>
              <a:t>from https</a:t>
            </a:r>
            <a:r>
              <a:rPr lang="en-US" sz="1200" dirty="0">
                <a:solidFill>
                  <a:prstClr val="black"/>
                </a:solidFill>
              </a:rPr>
              <a:t>://www.usgovernmentspending.com/year_spending_2018USbn_20bs2n_4041_605#usgs302</a:t>
            </a:r>
          </a:p>
          <a:p>
            <a:pPr lvl="0"/>
            <a:endParaRPr lang="en-US" sz="1200" dirty="0">
              <a:solidFill>
                <a:prstClr val="black"/>
              </a:solidFill>
            </a:endParaRPr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6640837"/>
              </p:ext>
            </p:extLst>
          </p:nvPr>
        </p:nvGraphicFramePr>
        <p:xfrm>
          <a:off x="573110" y="-1"/>
          <a:ext cx="7997780" cy="46445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50" name="Worksheet" r:id="rId4" imgW="7038854" imgH="4086180" progId="Excel.Sheet.8">
                  <p:embed followColorScheme="full"/>
                </p:oleObj>
              </mc:Choice>
              <mc:Fallback>
                <p:oleObj name="Worksheet" r:id="rId4" imgW="7038854" imgH="4086180" progId="Excel.Sheet.8">
                  <p:embed followColorScheme="full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73110" y="-1"/>
                        <a:ext cx="7997780" cy="464456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609793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43779935"/>
              </p:ext>
            </p:extLst>
          </p:nvPr>
        </p:nvGraphicFramePr>
        <p:xfrm>
          <a:off x="708747" y="114300"/>
          <a:ext cx="7726507" cy="5486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42155886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0" y="9144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/>
              <a:t>Literature Review</a:t>
            </a:r>
            <a:endParaRPr lang="en-US" sz="2800" b="1" dirty="0"/>
          </a:p>
        </p:txBody>
      </p:sp>
      <p:graphicFrame>
        <p:nvGraphicFramePr>
          <p:cNvPr id="4" name="Diagram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91719203"/>
              </p:ext>
            </p:extLst>
          </p:nvPr>
        </p:nvGraphicFramePr>
        <p:xfrm>
          <a:off x="92014" y="816874"/>
          <a:ext cx="8961120" cy="19177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01834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9144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/>
              <a:t>Literature Review</a:t>
            </a: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28658470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9144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/>
              <a:t>Research Questions</a:t>
            </a: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15721055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4379711"/>
            <a:ext cx="9144000" cy="13542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indent="-457200">
              <a:spcAft>
                <a:spcPts val="600"/>
              </a:spcAft>
            </a:pPr>
            <a:r>
              <a:rPr lang="en-US" u="sng" dirty="0" smtClean="0"/>
              <a:t>Research Questions</a:t>
            </a:r>
          </a:p>
          <a:p>
            <a:pPr marL="274320" indent="-457200">
              <a:spcAft>
                <a:spcPts val="600"/>
              </a:spcAft>
            </a:pPr>
            <a:r>
              <a:rPr lang="en-US" dirty="0" smtClean="0"/>
              <a:t>1. 	Can </a:t>
            </a:r>
            <a:r>
              <a:rPr lang="en-US" dirty="0"/>
              <a:t>patent citations </a:t>
            </a:r>
            <a:r>
              <a:rPr lang="en-US" dirty="0" smtClean="0"/>
              <a:t>serve </a:t>
            </a:r>
            <a:r>
              <a:rPr lang="en-US" dirty="0"/>
              <a:t>as a useful measure of technology </a:t>
            </a:r>
            <a:r>
              <a:rPr lang="en-US" dirty="0" smtClean="0"/>
              <a:t>transfer?</a:t>
            </a:r>
            <a:endParaRPr lang="en-US" dirty="0"/>
          </a:p>
          <a:p>
            <a:pPr marL="274320" indent="-457200">
              <a:spcAft>
                <a:spcPts val="600"/>
              </a:spcAft>
            </a:pPr>
            <a:r>
              <a:rPr lang="en-US" dirty="0" smtClean="0"/>
              <a:t>2. 	Is technology transfer as </a:t>
            </a:r>
            <a:r>
              <a:rPr lang="en-US" dirty="0"/>
              <a:t>measured by patent citations received significantly related to other variables captured in the patent citation data? 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135741" y="25758"/>
            <a:ext cx="8862182" cy="4219391"/>
            <a:chOff x="135741" y="25758"/>
            <a:chExt cx="8862182" cy="4219391"/>
          </a:xfrm>
        </p:grpSpPr>
        <p:sp>
          <p:nvSpPr>
            <p:cNvPr id="5" name="Rectangle 4"/>
            <p:cNvSpPr/>
            <p:nvPr/>
          </p:nvSpPr>
          <p:spPr>
            <a:xfrm>
              <a:off x="135742" y="570663"/>
              <a:ext cx="2926080" cy="118872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Asset-based</a:t>
              </a:r>
              <a:endParaRPr lang="en-US" dirty="0"/>
            </a:p>
          </p:txBody>
        </p:sp>
        <p:sp>
          <p:nvSpPr>
            <p:cNvPr id="6" name="Rectangle 5"/>
            <p:cNvSpPr/>
            <p:nvPr/>
          </p:nvSpPr>
          <p:spPr>
            <a:xfrm>
              <a:off x="135742" y="1813546"/>
              <a:ext cx="2926080" cy="1188720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Information-based</a:t>
              </a:r>
              <a:endParaRPr lang="en-US" dirty="0"/>
            </a:p>
          </p:txBody>
        </p:sp>
        <p:sp>
          <p:nvSpPr>
            <p:cNvPr id="7" name="Rectangle 6"/>
            <p:cNvSpPr/>
            <p:nvPr/>
          </p:nvSpPr>
          <p:spPr>
            <a:xfrm>
              <a:off x="135741" y="3056429"/>
              <a:ext cx="2926080" cy="118872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Service-based</a:t>
              </a:r>
              <a:endParaRPr lang="en-US" dirty="0"/>
            </a:p>
          </p:txBody>
        </p:sp>
        <p:sp>
          <p:nvSpPr>
            <p:cNvPr id="8" name="Rectangle 7"/>
            <p:cNvSpPr/>
            <p:nvPr/>
          </p:nvSpPr>
          <p:spPr>
            <a:xfrm>
              <a:off x="3103792" y="570663"/>
              <a:ext cx="2926080" cy="118872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Patent rights</a:t>
              </a:r>
            </a:p>
            <a:p>
              <a:pPr algn="ctr"/>
              <a:r>
                <a:rPr lang="en-US" dirty="0" smtClean="0"/>
                <a:t>Trade secrets</a:t>
              </a:r>
            </a:p>
            <a:p>
              <a:pPr algn="ctr"/>
              <a:r>
                <a:rPr lang="en-US" dirty="0" smtClean="0"/>
                <a:t>Copyright</a:t>
              </a:r>
              <a:endParaRPr lang="en-US" dirty="0"/>
            </a:p>
          </p:txBody>
        </p:sp>
        <p:sp>
          <p:nvSpPr>
            <p:cNvPr id="9" name="Rectangle 8"/>
            <p:cNvSpPr/>
            <p:nvPr/>
          </p:nvSpPr>
          <p:spPr>
            <a:xfrm>
              <a:off x="3103792" y="1812223"/>
              <a:ext cx="2926080" cy="1188720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Patent documents</a:t>
              </a:r>
            </a:p>
            <a:p>
              <a:pPr algn="ctr"/>
              <a:r>
                <a:rPr lang="en-US" dirty="0" smtClean="0"/>
                <a:t>Patent applications</a:t>
              </a:r>
            </a:p>
            <a:p>
              <a:pPr algn="ctr"/>
              <a:r>
                <a:rPr lang="en-US" dirty="0" smtClean="0"/>
                <a:t>Journal articles</a:t>
              </a:r>
            </a:p>
            <a:p>
              <a:pPr algn="ctr"/>
              <a:r>
                <a:rPr lang="en-US" dirty="0" smtClean="0"/>
                <a:t>Presentations</a:t>
              </a:r>
              <a:endParaRPr lang="en-US" dirty="0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103792" y="3056429"/>
              <a:ext cx="2926080" cy="118872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Consulting services</a:t>
              </a:r>
            </a:p>
            <a:p>
              <a:pPr algn="ctr"/>
              <a:r>
                <a:rPr lang="en-US" dirty="0" smtClean="0"/>
                <a:t>Contract services</a:t>
              </a:r>
            </a:p>
            <a:p>
              <a:pPr algn="ctr"/>
              <a:r>
                <a:rPr lang="en-US" dirty="0" smtClean="0"/>
                <a:t>Sponsored research</a:t>
              </a:r>
              <a:endParaRPr lang="en-US" dirty="0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6071843" y="570663"/>
              <a:ext cx="2926080" cy="118872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License agreements</a:t>
              </a:r>
            </a:p>
            <a:p>
              <a:pPr algn="ctr"/>
              <a:r>
                <a:rPr lang="en-US" dirty="0" smtClean="0"/>
                <a:t>License income</a:t>
              </a:r>
            </a:p>
            <a:p>
              <a:pPr algn="ctr"/>
              <a:r>
                <a:rPr lang="en-US" dirty="0" smtClean="0"/>
                <a:t>New ventures</a:t>
              </a:r>
            </a:p>
            <a:p>
              <a:pPr algn="ctr"/>
              <a:r>
                <a:rPr lang="en-US" dirty="0" smtClean="0"/>
                <a:t>Acquisitions</a:t>
              </a:r>
              <a:endParaRPr lang="en-US" dirty="0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6071843" y="1812223"/>
              <a:ext cx="2926080" cy="1188720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Citations</a:t>
              </a:r>
            </a:p>
            <a:p>
              <a:pPr algn="ctr"/>
              <a:r>
                <a:rPr lang="en-US" dirty="0" smtClean="0"/>
                <a:t>Downloads</a:t>
              </a:r>
            </a:p>
            <a:p>
              <a:pPr algn="ctr"/>
              <a:r>
                <a:rPr lang="en-US" dirty="0" smtClean="0"/>
                <a:t>Readings</a:t>
              </a:r>
            </a:p>
            <a:p>
              <a:pPr algn="ctr"/>
              <a:r>
                <a:rPr lang="en-US" dirty="0" smtClean="0"/>
                <a:t>Event attendance</a:t>
              </a:r>
              <a:endParaRPr lang="en-US" dirty="0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6071843" y="3056429"/>
              <a:ext cx="2926080" cy="118872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Outside interest disclosures</a:t>
              </a:r>
            </a:p>
            <a:p>
              <a:pPr algn="ctr"/>
              <a:r>
                <a:rPr lang="en-US" dirty="0" smtClean="0"/>
                <a:t>Contracts</a:t>
              </a:r>
            </a:p>
            <a:p>
              <a:pPr algn="ctr"/>
              <a:r>
                <a:rPr lang="en-US" dirty="0" smtClean="0"/>
                <a:t>Service invoices</a:t>
              </a:r>
            </a:p>
            <a:p>
              <a:pPr algn="ctr"/>
              <a:r>
                <a:rPr lang="en-US" dirty="0" smtClean="0"/>
                <a:t>SR agreements</a:t>
              </a: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135741" y="25758"/>
              <a:ext cx="2926080" cy="490742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Category</a:t>
              </a:r>
              <a:endParaRPr lang="en-US" dirty="0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3103792" y="25758"/>
              <a:ext cx="2926080" cy="490742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Embodiment</a:t>
              </a:r>
              <a:endParaRPr lang="en-US" dirty="0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6071843" y="25758"/>
              <a:ext cx="2926080" cy="490742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Measureable Indicators</a:t>
              </a:r>
              <a:endParaRPr lang="en-US" dirty="0"/>
            </a:p>
          </p:txBody>
        </p:sp>
      </p:grpSp>
      <p:pic>
        <p:nvPicPr>
          <p:cNvPr id="4099" name="Picture 3" descr="C:\Users\townesm\Downloads\clipart886407.png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3536" y="344975"/>
            <a:ext cx="2468880" cy="12801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C:\Users\townesm\Downloads\kisspng-close-up-font-underline-5b0c091aeb9c10.6365625315275154189651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92083" y="2057947"/>
            <a:ext cx="1554480" cy="1710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421821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6939870"/>
              </p:ext>
            </p:extLst>
          </p:nvPr>
        </p:nvGraphicFramePr>
        <p:xfrm>
          <a:off x="50006" y="457200"/>
          <a:ext cx="4389120" cy="376825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98516"/>
                <a:gridCol w="864523"/>
                <a:gridCol w="1130530"/>
                <a:gridCol w="1795551"/>
              </a:tblGrid>
              <a:tr h="246496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dirty="0">
                          <a:effectLst/>
                        </a:rPr>
                        <a:t>Variable</a:t>
                      </a:r>
                      <a:endParaRPr lang="en-US" sz="8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081" marR="9081" marT="4543" marB="4543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dirty="0" smtClean="0">
                          <a:effectLst/>
                        </a:rPr>
                        <a:t>Variable </a:t>
                      </a:r>
                      <a:r>
                        <a:rPr lang="en-US" sz="800" dirty="0">
                          <a:effectLst/>
                        </a:rPr>
                        <a:t>Type</a:t>
                      </a:r>
                      <a:endParaRPr lang="en-US" sz="8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081" marR="9081" marT="4543" marB="4543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dirty="0">
                          <a:effectLst/>
                        </a:rPr>
                        <a:t>Extended Name</a:t>
                      </a:r>
                      <a:endParaRPr lang="en-US" sz="8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081" marR="9081" marT="4543" marB="4543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dirty="0">
                          <a:effectLst/>
                        </a:rPr>
                        <a:t>Description</a:t>
                      </a:r>
                      <a:endParaRPr lang="en-US" sz="8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081" marR="9081" marT="4543" marB="4543" anchor="ctr"/>
                </a:tc>
              </a:tr>
              <a:tr h="691640"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dirty="0">
                          <a:effectLst/>
                        </a:rPr>
                        <a:t>PATENT</a:t>
                      </a:r>
                      <a:endParaRPr lang="en-US" sz="8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081" marR="9081" marT="4543" marB="4543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dirty="0">
                          <a:effectLst/>
                        </a:rPr>
                        <a:t>Numeric</a:t>
                      </a:r>
                    </a:p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dirty="0">
                          <a:effectLst/>
                        </a:rPr>
                        <a:t>Nominal</a:t>
                      </a:r>
                      <a:endParaRPr lang="en-US" sz="8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081" marR="9081" marT="4543" marB="4543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dirty="0">
                          <a:effectLst/>
                        </a:rPr>
                        <a:t>Patent Number</a:t>
                      </a:r>
                      <a:endParaRPr lang="en-US" sz="8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081" marR="9081" marT="4543" marB="4543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dirty="0">
                          <a:effectLst/>
                        </a:rPr>
                        <a:t>The number assigned to the allowed patent by the USPTO.</a:t>
                      </a:r>
                    </a:p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dirty="0">
                          <a:effectLst/>
                        </a:rPr>
                        <a:t> </a:t>
                      </a:r>
                    </a:p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dirty="0">
                          <a:effectLst/>
                        </a:rPr>
                        <a:t>Takes on values integer values between 3070801 and 6009554.</a:t>
                      </a:r>
                      <a:endParaRPr lang="en-US" sz="8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081" marR="9081" marT="4543" marB="4543"/>
                </a:tc>
              </a:tr>
              <a:tr h="555129"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dirty="0">
                          <a:effectLst/>
                        </a:rPr>
                        <a:t>GYEAR</a:t>
                      </a:r>
                      <a:endParaRPr lang="en-US" sz="8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081" marR="9081" marT="4543" marB="4543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dirty="0">
                          <a:effectLst/>
                        </a:rPr>
                        <a:t>Numeric</a:t>
                      </a:r>
                    </a:p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dirty="0">
                          <a:effectLst/>
                        </a:rPr>
                        <a:t>Interval</a:t>
                      </a:r>
                      <a:endParaRPr lang="en-US" sz="8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081" marR="9081" marT="4543" marB="4543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dirty="0">
                          <a:effectLst/>
                        </a:rPr>
                        <a:t>Grant Year</a:t>
                      </a:r>
                      <a:endParaRPr lang="en-US" sz="8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081" marR="9081" marT="4543" marB="4543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dirty="0">
                          <a:effectLst/>
                        </a:rPr>
                        <a:t>The year the USPTO allowed the patent.</a:t>
                      </a:r>
                    </a:p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dirty="0">
                          <a:effectLst/>
                        </a:rPr>
                        <a:t> </a:t>
                      </a:r>
                    </a:p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dirty="0">
                          <a:effectLst/>
                        </a:rPr>
                        <a:t>Takes on integer values between 1963 – 1999.</a:t>
                      </a:r>
                      <a:endParaRPr lang="en-US" sz="8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081" marR="9081" marT="4543" marB="4543"/>
                </a:tc>
              </a:tr>
              <a:tr h="964662"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GDATE</a:t>
                      </a:r>
                      <a:endParaRPr lang="en-US" sz="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081" marR="9081" marT="4543" marB="4543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dirty="0">
                          <a:effectLst/>
                        </a:rPr>
                        <a:t>Numeric</a:t>
                      </a:r>
                    </a:p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dirty="0">
                          <a:effectLst/>
                        </a:rPr>
                        <a:t>Interval</a:t>
                      </a:r>
                      <a:endParaRPr lang="en-US" sz="8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081" marR="9081" marT="4543" marB="4543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dirty="0">
                          <a:effectLst/>
                        </a:rPr>
                        <a:t>Grant Date</a:t>
                      </a:r>
                      <a:endParaRPr lang="en-US" sz="8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081" marR="9081" marT="4543" marB="4543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dirty="0">
                          <a:effectLst/>
                        </a:rPr>
                        <a:t>The date the USPTO allowed the patent expressed in terms of the number of weeks elapsed since </a:t>
                      </a:r>
                      <a:br>
                        <a:rPr lang="en-US" sz="800" dirty="0">
                          <a:effectLst/>
                        </a:rPr>
                      </a:br>
                      <a:r>
                        <a:rPr lang="en-US" sz="800" dirty="0">
                          <a:effectLst/>
                        </a:rPr>
                        <a:t>January 1, 1960.</a:t>
                      </a:r>
                    </a:p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dirty="0">
                          <a:effectLst/>
                        </a:rPr>
                        <a:t> </a:t>
                      </a:r>
                    </a:p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dirty="0">
                          <a:effectLst/>
                        </a:rPr>
                        <a:t>Takes on integer values between 156 and 2,028.</a:t>
                      </a:r>
                      <a:endParaRPr lang="en-US" sz="8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081" marR="9081" marT="4543" marB="4543"/>
                </a:tc>
              </a:tr>
              <a:tr h="691640"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APPYEAR</a:t>
                      </a:r>
                      <a:endParaRPr lang="en-US" sz="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081" marR="9081" marT="4543" marB="4543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Numeric</a:t>
                      </a:r>
                    </a:p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Interval</a:t>
                      </a:r>
                      <a:endParaRPr lang="en-US" sz="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081" marR="9081" marT="4543" marB="4543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dirty="0">
                          <a:effectLst/>
                        </a:rPr>
                        <a:t>Application Year</a:t>
                      </a:r>
                      <a:endParaRPr lang="en-US" sz="8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081" marR="9081" marT="4543" marB="4543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dirty="0">
                          <a:effectLst/>
                        </a:rPr>
                        <a:t>The year the patent application was submitted to the USPTO.</a:t>
                      </a:r>
                    </a:p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dirty="0">
                          <a:effectLst/>
                        </a:rPr>
                        <a:t> </a:t>
                      </a:r>
                    </a:p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dirty="0">
                          <a:effectLst/>
                        </a:rPr>
                        <a:t>Takes on integer values between 1963 – 1999.</a:t>
                      </a:r>
                      <a:endParaRPr lang="en-US" sz="8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081" marR="9081" marT="4543" marB="4543"/>
                </a:tc>
              </a:tr>
              <a:tr h="614483"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COUNTRY</a:t>
                      </a:r>
                      <a:endParaRPr lang="en-US" sz="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081" marR="9081" marT="4543" marB="4543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Character</a:t>
                      </a:r>
                    </a:p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Nominal</a:t>
                      </a:r>
                      <a:endParaRPr lang="en-US" sz="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081" marR="9081" marT="4543" marB="4543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dirty="0">
                          <a:effectLst/>
                        </a:rPr>
                        <a:t>Country of First Inventor</a:t>
                      </a:r>
                      <a:endParaRPr lang="en-US" sz="8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081" marR="9081" marT="4543" marB="4543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dirty="0">
                          <a:effectLst/>
                        </a:rPr>
                        <a:t>The country of citizenship for the first inventor listed on the patent application.</a:t>
                      </a:r>
                    </a:p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dirty="0">
                          <a:effectLst/>
                        </a:rPr>
                        <a:t> </a:t>
                      </a:r>
                    </a:p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dirty="0">
                          <a:effectLst/>
                        </a:rPr>
                        <a:t>Takes on values of two character string data.</a:t>
                      </a:r>
                      <a:endParaRPr lang="en-US" sz="8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081" marR="9081" marT="4543" marB="4543"/>
                </a:tc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45416423"/>
                  </p:ext>
                </p:extLst>
              </p:nvPr>
            </p:nvGraphicFramePr>
            <p:xfrm>
              <a:off x="4712496" y="457200"/>
              <a:ext cx="4389120" cy="3283136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598516"/>
                    <a:gridCol w="864523"/>
                    <a:gridCol w="1130531"/>
                    <a:gridCol w="1795550"/>
                  </a:tblGrid>
                  <a:tr h="237884">
                    <a:tc>
                      <a:txBody>
                        <a:bodyPr/>
                        <a:lstStyle/>
                        <a:p>
                          <a:pPr marL="0" marR="0" algn="l" defTabSz="914400" rtl="0" eaLnBrk="1" latinLnBrk="0" hangingPunct="1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800" b="1" kern="1200" dirty="0">
                              <a:solidFill>
                                <a:schemeClr val="lt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Variable</a:t>
                          </a:r>
                        </a:p>
                      </a:txBody>
                      <a:tcPr marL="8927" marR="8927" marT="4466" marB="4466"/>
                    </a:tc>
                    <a:tc>
                      <a:txBody>
                        <a:bodyPr/>
                        <a:lstStyle/>
                        <a:p>
                          <a:pPr marL="0" marR="0" algn="l" defTabSz="914400" rtl="0" eaLnBrk="1" latinLnBrk="0" hangingPunct="1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800" b="1" kern="1200" dirty="0">
                              <a:solidFill>
                                <a:schemeClr val="lt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Variable Type</a:t>
                          </a:r>
                        </a:p>
                      </a:txBody>
                      <a:tcPr marL="8927" marR="8927" marT="4466" marB="4466"/>
                    </a:tc>
                    <a:tc>
                      <a:txBody>
                        <a:bodyPr/>
                        <a:lstStyle/>
                        <a:p>
                          <a:pPr marL="0" marR="0" algn="l" defTabSz="914400" rtl="0" eaLnBrk="1" latinLnBrk="0" hangingPunct="1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800" b="1" kern="1200" dirty="0">
                              <a:solidFill>
                                <a:schemeClr val="lt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Extended Name</a:t>
                          </a:r>
                        </a:p>
                      </a:txBody>
                      <a:tcPr marL="8927" marR="8927" marT="4466" marB="4466"/>
                    </a:tc>
                    <a:tc>
                      <a:txBody>
                        <a:bodyPr/>
                        <a:lstStyle/>
                        <a:p>
                          <a:pPr marL="0" marR="0" algn="l" defTabSz="914400" rtl="0" eaLnBrk="1" latinLnBrk="0" hangingPunct="1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800" b="1" kern="1200" dirty="0">
                              <a:solidFill>
                                <a:schemeClr val="lt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Description</a:t>
                          </a:r>
                        </a:p>
                      </a:txBody>
                      <a:tcPr marL="8927" marR="8927" marT="4466" marB="4466"/>
                    </a:tc>
                  </a:tr>
                  <a:tr h="844955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800" dirty="0">
                              <a:effectLst/>
                            </a:rPr>
                            <a:t>POSTATE</a:t>
                          </a:r>
                          <a:endParaRPr lang="en-US" sz="8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8927" marR="8927" marT="4466" marB="4466"/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800" dirty="0">
                              <a:effectLst/>
                            </a:rPr>
                            <a:t>Character</a:t>
                          </a:r>
                        </a:p>
                        <a:p>
                          <a:pPr marL="0" marR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800" dirty="0">
                              <a:effectLst/>
                            </a:rPr>
                            <a:t>Nominal</a:t>
                          </a:r>
                          <a:endParaRPr lang="en-US" sz="8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8927" marR="8927" marT="4466" marB="4466"/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800" dirty="0">
                              <a:effectLst/>
                            </a:rPr>
                            <a:t>State of First Inventor (US)</a:t>
                          </a:r>
                          <a:endParaRPr lang="en-US" sz="8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8927" marR="8927" marT="4466" marB="4466"/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800" dirty="0">
                              <a:effectLst/>
                            </a:rPr>
                            <a:t>The state of residency for the first inventor listed on the patent application if the country of citizenship is the United States of America.</a:t>
                          </a:r>
                        </a:p>
                        <a:p>
                          <a:pPr marL="0" marR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800" dirty="0">
                              <a:effectLst/>
                            </a:rPr>
                            <a:t> </a:t>
                          </a:r>
                        </a:p>
                        <a:p>
                          <a:pPr marL="0" marR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800" dirty="0">
                              <a:effectLst/>
                            </a:rPr>
                            <a:t>Takes on values of two character string data.</a:t>
                          </a:r>
                          <a:endParaRPr lang="en-US" sz="8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8927" marR="8927" marT="4466" marB="4466"/>
                    </a:tc>
                  </a:tr>
                  <a:tr h="545720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800">
                              <a:effectLst/>
                            </a:rPr>
                            <a:t>ASSIGNEE</a:t>
                          </a:r>
                          <a:endParaRPr lang="en-US" sz="8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8927" marR="8927" marT="4466" marB="4466"/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800">
                              <a:effectLst/>
                            </a:rPr>
                            <a:t>Numeric</a:t>
                          </a:r>
                        </a:p>
                        <a:p>
                          <a:pPr marL="0" marR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800">
                              <a:effectLst/>
                            </a:rPr>
                            <a:t>Nominal</a:t>
                          </a:r>
                          <a:endParaRPr lang="en-US" sz="8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8927" marR="8927" marT="4466" marB="4466"/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800">
                              <a:effectLst/>
                            </a:rPr>
                            <a:t>Assignee Identifier</a:t>
                          </a:r>
                          <a:endParaRPr lang="en-US" sz="8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8927" marR="8927" marT="4466" marB="4466"/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800" dirty="0">
                              <a:effectLst/>
                            </a:rPr>
                            <a:t>Unique identifier for the assignee of the patent.</a:t>
                          </a:r>
                        </a:p>
                        <a:p>
                          <a:pPr marL="0" marR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800" dirty="0">
                              <a:effectLst/>
                            </a:rPr>
                            <a:t> </a:t>
                          </a:r>
                        </a:p>
                        <a:p>
                          <a:pPr marL="0" marR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800" dirty="0">
                              <a:effectLst/>
                            </a:rPr>
                            <a:t>Takes on values from 10950 to 99550.</a:t>
                          </a:r>
                          <a:endParaRPr lang="en-US" sz="8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8927" marR="8927" marT="4466" marB="4466"/>
                    </a:tc>
                  </a:tr>
                  <a:tr h="545720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800">
                              <a:effectLst/>
                            </a:rPr>
                            <a:t>ASSCODE</a:t>
                          </a:r>
                          <a:endParaRPr lang="en-US" sz="8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8927" marR="8927" marT="4466" marB="4466"/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800">
                              <a:effectLst/>
                            </a:rPr>
                            <a:t>Numeric</a:t>
                          </a:r>
                        </a:p>
                        <a:p>
                          <a:pPr marL="0" marR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800">
                              <a:effectLst/>
                            </a:rPr>
                            <a:t>Nominal</a:t>
                          </a:r>
                          <a:endParaRPr lang="en-US" sz="8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8927" marR="8927" marT="4466" marB="4466"/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800">
                              <a:effectLst/>
                            </a:rPr>
                            <a:t>Assignee Code</a:t>
                          </a:r>
                          <a:endParaRPr lang="en-US" sz="8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8927" marR="8927" marT="4466" marB="4466"/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800" dirty="0">
                              <a:effectLst/>
                            </a:rPr>
                            <a:t>A one character code categorizing the type of assignee.</a:t>
                          </a:r>
                        </a:p>
                        <a:p>
                          <a:pPr marL="0" marR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800" dirty="0">
                              <a:effectLst/>
                            </a:rPr>
                            <a:t> </a:t>
                          </a:r>
                        </a:p>
                        <a:p>
                          <a:pPr marL="0" marR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800" dirty="0">
                              <a:effectLst/>
                            </a:rPr>
                            <a:t>Takes on values from 1 to 7.</a:t>
                          </a:r>
                          <a:endParaRPr lang="en-US" sz="8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8927" marR="8927" marT="4466" marB="4466"/>
                    </a:tc>
                  </a:tr>
                  <a:tr h="545720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800">
                              <a:effectLst/>
                            </a:rPr>
                            <a:t>CLAIMS</a:t>
                          </a:r>
                          <a:endParaRPr lang="en-US" sz="8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8927" marR="8927" marT="4466" marB="4466"/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800">
                              <a:effectLst/>
                            </a:rPr>
                            <a:t>Numeric</a:t>
                          </a:r>
                        </a:p>
                        <a:p>
                          <a:pPr marL="0" marR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800">
                              <a:effectLst/>
                            </a:rPr>
                            <a:t>Interval</a:t>
                          </a:r>
                          <a:endParaRPr lang="en-US" sz="8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8927" marR="8927" marT="4466" marB="4466"/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800">
                              <a:effectLst/>
                            </a:rPr>
                            <a:t>Number of Claims</a:t>
                          </a:r>
                          <a:endParaRPr lang="en-US" sz="8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8927" marR="8927" marT="4466" marB="4466"/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800" dirty="0">
                              <a:effectLst/>
                            </a:rPr>
                            <a:t>Number of independent and dependent claims on the patent.</a:t>
                          </a:r>
                        </a:p>
                        <a:p>
                          <a:pPr marL="0" marR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800" dirty="0">
                              <a:effectLst/>
                            </a:rPr>
                            <a:t> </a:t>
                          </a:r>
                        </a:p>
                        <a:p>
                          <a:pPr marL="0" marR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800" dirty="0">
                              <a:effectLst/>
                            </a:rPr>
                            <a:t>Takes on integer values from 1 to </a:t>
                          </a:r>
                          <a14:m>
                            <m:oMath xmlns:m="http://schemas.openxmlformats.org/officeDocument/2006/math">
                              <m:r>
                                <a:rPr lang="en-US" sz="800">
                                  <a:effectLst/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r>
                            <a:rPr lang="en-US" sz="800" dirty="0">
                              <a:effectLst/>
                            </a:rPr>
                            <a:t>.</a:t>
                          </a:r>
                          <a:endParaRPr lang="en-US" sz="8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8927" marR="8927" marT="4466" marB="4466"/>
                    </a:tc>
                  </a:tr>
                  <a:tr h="545720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800">
                              <a:effectLst/>
                            </a:rPr>
                            <a:t>NCLASS</a:t>
                          </a:r>
                          <a:endParaRPr lang="en-US" sz="8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8927" marR="8927" marT="4466" marB="4466"/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800">
                              <a:effectLst/>
                            </a:rPr>
                            <a:t>Numeric</a:t>
                          </a:r>
                        </a:p>
                        <a:p>
                          <a:pPr marL="0" marR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800">
                              <a:effectLst/>
                            </a:rPr>
                            <a:t>Nominal</a:t>
                          </a:r>
                          <a:endParaRPr lang="en-US" sz="8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8927" marR="8927" marT="4466" marB="4466"/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800" dirty="0">
                              <a:effectLst/>
                            </a:rPr>
                            <a:t>Main Patent Class</a:t>
                          </a:r>
                          <a:endParaRPr lang="en-US" sz="8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8927" marR="8927" marT="4466" marB="4466"/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800" dirty="0">
                              <a:effectLst/>
                            </a:rPr>
                            <a:t>A code that categorizes the patent into one of several broad classifications.</a:t>
                          </a:r>
                        </a:p>
                        <a:p>
                          <a:pPr marL="0" marR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800" dirty="0">
                              <a:effectLst/>
                            </a:rPr>
                            <a:t> </a:t>
                          </a:r>
                        </a:p>
                        <a:p>
                          <a:pPr marL="0" marR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800" dirty="0">
                              <a:effectLst/>
                            </a:rPr>
                            <a:t>Takes on integer values from 1 to 800.</a:t>
                          </a:r>
                          <a:endParaRPr lang="en-US" sz="8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8927" marR="8927" marT="4466" marB="4466"/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45416423"/>
                  </p:ext>
                </p:extLst>
              </p:nvPr>
            </p:nvGraphicFramePr>
            <p:xfrm>
              <a:off x="4712496" y="457200"/>
              <a:ext cx="4389120" cy="3283136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598516"/>
                    <a:gridCol w="864523"/>
                    <a:gridCol w="1130531"/>
                    <a:gridCol w="1795550"/>
                  </a:tblGrid>
                  <a:tr h="237884">
                    <a:tc>
                      <a:txBody>
                        <a:bodyPr/>
                        <a:lstStyle/>
                        <a:p>
                          <a:pPr marL="0" marR="0" algn="l" defTabSz="914400" rtl="0" eaLnBrk="1" latinLnBrk="0" hangingPunct="1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800" b="1" kern="1200" dirty="0">
                              <a:solidFill>
                                <a:schemeClr val="lt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Variable</a:t>
                          </a:r>
                        </a:p>
                      </a:txBody>
                      <a:tcPr marL="8927" marR="8927" marT="4466" marB="4466"/>
                    </a:tc>
                    <a:tc>
                      <a:txBody>
                        <a:bodyPr/>
                        <a:lstStyle/>
                        <a:p>
                          <a:pPr marL="0" marR="0" algn="l" defTabSz="914400" rtl="0" eaLnBrk="1" latinLnBrk="0" hangingPunct="1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800" b="1" kern="1200" dirty="0">
                              <a:solidFill>
                                <a:schemeClr val="lt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Variable Type</a:t>
                          </a:r>
                        </a:p>
                      </a:txBody>
                      <a:tcPr marL="8927" marR="8927" marT="4466" marB="4466"/>
                    </a:tc>
                    <a:tc>
                      <a:txBody>
                        <a:bodyPr/>
                        <a:lstStyle/>
                        <a:p>
                          <a:pPr marL="0" marR="0" algn="l" defTabSz="914400" rtl="0" eaLnBrk="1" latinLnBrk="0" hangingPunct="1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800" b="1" kern="1200" dirty="0">
                              <a:solidFill>
                                <a:schemeClr val="lt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Extended Name</a:t>
                          </a:r>
                        </a:p>
                      </a:txBody>
                      <a:tcPr marL="8927" marR="8927" marT="4466" marB="4466"/>
                    </a:tc>
                    <a:tc>
                      <a:txBody>
                        <a:bodyPr/>
                        <a:lstStyle/>
                        <a:p>
                          <a:pPr marL="0" marR="0" algn="l" defTabSz="914400" rtl="0" eaLnBrk="1" latinLnBrk="0" hangingPunct="1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800" b="1" kern="1200" dirty="0">
                              <a:solidFill>
                                <a:schemeClr val="lt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Description</a:t>
                          </a:r>
                        </a:p>
                      </a:txBody>
                      <a:tcPr marL="8927" marR="8927" marT="4466" marB="4466"/>
                    </a:tc>
                  </a:tr>
                  <a:tr h="862372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800" dirty="0">
                              <a:effectLst/>
                            </a:rPr>
                            <a:t>POSTATE</a:t>
                          </a:r>
                          <a:endParaRPr lang="en-US" sz="8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8927" marR="8927" marT="4466" marB="4466"/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800" dirty="0">
                              <a:effectLst/>
                            </a:rPr>
                            <a:t>Character</a:t>
                          </a:r>
                        </a:p>
                        <a:p>
                          <a:pPr marL="0" marR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800" dirty="0">
                              <a:effectLst/>
                            </a:rPr>
                            <a:t>Nominal</a:t>
                          </a:r>
                          <a:endParaRPr lang="en-US" sz="8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8927" marR="8927" marT="4466" marB="4466"/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800" dirty="0">
                              <a:effectLst/>
                            </a:rPr>
                            <a:t>State of First Inventor (US)</a:t>
                          </a:r>
                          <a:endParaRPr lang="en-US" sz="8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8927" marR="8927" marT="4466" marB="4466"/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800" dirty="0">
                              <a:effectLst/>
                            </a:rPr>
                            <a:t>The state of residency for the first inventor listed on the patent application if the country of citizenship is the United States of America.</a:t>
                          </a:r>
                        </a:p>
                        <a:p>
                          <a:pPr marL="0" marR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800" dirty="0">
                              <a:effectLst/>
                            </a:rPr>
                            <a:t> </a:t>
                          </a:r>
                        </a:p>
                        <a:p>
                          <a:pPr marL="0" marR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800" dirty="0">
                              <a:effectLst/>
                            </a:rPr>
                            <a:t>Takes on values of two character string data.</a:t>
                          </a:r>
                          <a:endParaRPr lang="en-US" sz="8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8927" marR="8927" marT="4466" marB="4466"/>
                    </a:tc>
                  </a:tr>
                  <a:tr h="545720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800">
                              <a:effectLst/>
                            </a:rPr>
                            <a:t>ASSIGNEE</a:t>
                          </a:r>
                          <a:endParaRPr lang="en-US" sz="8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8927" marR="8927" marT="4466" marB="4466"/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800">
                              <a:effectLst/>
                            </a:rPr>
                            <a:t>Numeric</a:t>
                          </a:r>
                        </a:p>
                        <a:p>
                          <a:pPr marL="0" marR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800">
                              <a:effectLst/>
                            </a:rPr>
                            <a:t>Nominal</a:t>
                          </a:r>
                          <a:endParaRPr lang="en-US" sz="8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8927" marR="8927" marT="4466" marB="4466"/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800">
                              <a:effectLst/>
                            </a:rPr>
                            <a:t>Assignee Identifier</a:t>
                          </a:r>
                          <a:endParaRPr lang="en-US" sz="8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8927" marR="8927" marT="4466" marB="4466"/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800" dirty="0">
                              <a:effectLst/>
                            </a:rPr>
                            <a:t>Unique identifier for the assignee of the patent.</a:t>
                          </a:r>
                        </a:p>
                        <a:p>
                          <a:pPr marL="0" marR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800" dirty="0">
                              <a:effectLst/>
                            </a:rPr>
                            <a:t> </a:t>
                          </a:r>
                        </a:p>
                        <a:p>
                          <a:pPr marL="0" marR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800" dirty="0">
                              <a:effectLst/>
                            </a:rPr>
                            <a:t>Takes on values from 10950 to 99550.</a:t>
                          </a:r>
                          <a:endParaRPr lang="en-US" sz="8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8927" marR="8927" marT="4466" marB="4466"/>
                    </a:tc>
                  </a:tr>
                  <a:tr h="545720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800">
                              <a:effectLst/>
                            </a:rPr>
                            <a:t>ASSCODE</a:t>
                          </a:r>
                          <a:endParaRPr lang="en-US" sz="8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8927" marR="8927" marT="4466" marB="4466"/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800">
                              <a:effectLst/>
                            </a:rPr>
                            <a:t>Numeric</a:t>
                          </a:r>
                        </a:p>
                        <a:p>
                          <a:pPr marL="0" marR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800">
                              <a:effectLst/>
                            </a:rPr>
                            <a:t>Nominal</a:t>
                          </a:r>
                          <a:endParaRPr lang="en-US" sz="8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8927" marR="8927" marT="4466" marB="4466"/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800">
                              <a:effectLst/>
                            </a:rPr>
                            <a:t>Assignee Code</a:t>
                          </a:r>
                          <a:endParaRPr lang="en-US" sz="8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8927" marR="8927" marT="4466" marB="4466"/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800" dirty="0">
                              <a:effectLst/>
                            </a:rPr>
                            <a:t>A one character code categorizing the type of assignee.</a:t>
                          </a:r>
                        </a:p>
                        <a:p>
                          <a:pPr marL="0" marR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800" dirty="0">
                              <a:effectLst/>
                            </a:rPr>
                            <a:t> </a:t>
                          </a:r>
                        </a:p>
                        <a:p>
                          <a:pPr marL="0" marR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800" dirty="0">
                              <a:effectLst/>
                            </a:rPr>
                            <a:t>Takes on values from 1 to 7.</a:t>
                          </a:r>
                          <a:endParaRPr lang="en-US" sz="8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8927" marR="8927" marT="4466" marB="4466"/>
                    </a:tc>
                  </a:tr>
                  <a:tr h="545720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800">
                              <a:effectLst/>
                            </a:rPr>
                            <a:t>CLAIMS</a:t>
                          </a:r>
                          <a:endParaRPr lang="en-US" sz="8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8927" marR="8927" marT="4466" marB="4466"/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800">
                              <a:effectLst/>
                            </a:rPr>
                            <a:t>Numeric</a:t>
                          </a:r>
                        </a:p>
                        <a:p>
                          <a:pPr marL="0" marR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800">
                              <a:effectLst/>
                            </a:rPr>
                            <a:t>Interval</a:t>
                          </a:r>
                          <a:endParaRPr lang="en-US" sz="8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8927" marR="8927" marT="4466" marB="4466"/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800">
                              <a:effectLst/>
                            </a:rPr>
                            <a:t>Number of Claims</a:t>
                          </a:r>
                          <a:endParaRPr lang="en-US" sz="8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8927" marR="8927" marT="4466" marB="4466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8927" marR="8927" marT="4466" marB="4466">
                        <a:blipFill rotWithShape="1">
                          <a:blip r:embed="rId3"/>
                          <a:stretch>
                            <a:fillRect l="-144068" t="-404494" r="-339" b="-103371"/>
                          </a:stretch>
                        </a:blipFill>
                      </a:tcPr>
                    </a:tc>
                  </a:tr>
                  <a:tr h="545720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800">
                              <a:effectLst/>
                            </a:rPr>
                            <a:t>NCLASS</a:t>
                          </a:r>
                          <a:endParaRPr lang="en-US" sz="8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8927" marR="8927" marT="4466" marB="4466"/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800">
                              <a:effectLst/>
                            </a:rPr>
                            <a:t>Numeric</a:t>
                          </a:r>
                        </a:p>
                        <a:p>
                          <a:pPr marL="0" marR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800">
                              <a:effectLst/>
                            </a:rPr>
                            <a:t>Nominal</a:t>
                          </a:r>
                          <a:endParaRPr lang="en-US" sz="8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8927" marR="8927" marT="4466" marB="4466"/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800" dirty="0">
                              <a:effectLst/>
                            </a:rPr>
                            <a:t>Main Patent Class</a:t>
                          </a:r>
                          <a:endParaRPr lang="en-US" sz="8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8927" marR="8927" marT="4466" marB="4466"/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800" dirty="0">
                              <a:effectLst/>
                            </a:rPr>
                            <a:t>A code that categorizes the patent into one of several broad classifications.</a:t>
                          </a:r>
                        </a:p>
                        <a:p>
                          <a:pPr marL="0" marR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800" dirty="0">
                              <a:effectLst/>
                            </a:rPr>
                            <a:t> </a:t>
                          </a:r>
                        </a:p>
                        <a:p>
                          <a:pPr marL="0" marR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800" dirty="0">
                              <a:effectLst/>
                            </a:rPr>
                            <a:t>Takes on integer values from 1 to 800.</a:t>
                          </a:r>
                          <a:endParaRPr lang="en-US" sz="8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8927" marR="8927" marT="4466" marB="4466"/>
                    </a:tc>
                  </a:tr>
                </a:tbl>
              </a:graphicData>
            </a:graphic>
          </p:graphicFrame>
        </mc:Fallback>
      </mc:AlternateContent>
      <p:sp>
        <p:nvSpPr>
          <p:cNvPr id="5" name="TextBox 4"/>
          <p:cNvSpPr txBox="1"/>
          <p:nvPr/>
        </p:nvSpPr>
        <p:spPr>
          <a:xfrm>
            <a:off x="0" y="0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Original USPTO Variables from Source Data</a:t>
            </a:r>
            <a:endParaRPr lang="en-US" dirty="0"/>
          </a:p>
        </p:txBody>
      </p:sp>
      <p:sp>
        <p:nvSpPr>
          <p:cNvPr id="2" name="Rectangle 1"/>
          <p:cNvSpPr/>
          <p:nvPr/>
        </p:nvSpPr>
        <p:spPr>
          <a:xfrm>
            <a:off x="0" y="4450277"/>
            <a:ext cx="9144000" cy="1154162"/>
          </a:xfrm>
          <a:prstGeom prst="rect">
            <a:avLst/>
          </a:prstGeom>
        </p:spPr>
        <p:txBody>
          <a:bodyPr>
            <a:spAutoFit/>
          </a:bodyPr>
          <a:lstStyle/>
          <a:p>
            <a:pPr marL="457200" lvl="0" indent="-457200">
              <a:spcAft>
                <a:spcPts val="600"/>
              </a:spcAft>
            </a:pPr>
            <a:r>
              <a:rPr lang="en-US" sz="1600" dirty="0">
                <a:solidFill>
                  <a:prstClr val="black"/>
                </a:solidFill>
                <a:latin typeface="Times New Roman"/>
                <a:ea typeface="Calibri"/>
                <a:cs typeface="Times New Roman"/>
              </a:rPr>
              <a:t>National Bureau of Economic Research. </a:t>
            </a:r>
            <a:r>
              <a:rPr lang="en-US" sz="1600" dirty="0" smtClean="0">
                <a:solidFill>
                  <a:prstClr val="black"/>
                </a:solidFill>
                <a:latin typeface="Times New Roman"/>
                <a:ea typeface="Calibri"/>
                <a:cs typeface="Times New Roman"/>
              </a:rPr>
              <a:t>(2018). </a:t>
            </a:r>
            <a:r>
              <a:rPr lang="en-US" sz="1600" dirty="0">
                <a:solidFill>
                  <a:prstClr val="black"/>
                </a:solidFill>
                <a:latin typeface="Times New Roman"/>
                <a:ea typeface="Calibri"/>
                <a:cs typeface="Times New Roman"/>
              </a:rPr>
              <a:t>Patent data, including constructed variables [data file]. Retrieved from http://www.nber.org/patents</a:t>
            </a:r>
            <a:r>
              <a:rPr lang="en-US" sz="1600" dirty="0" smtClean="0">
                <a:solidFill>
                  <a:prstClr val="black"/>
                </a:solidFill>
                <a:latin typeface="Times New Roman"/>
                <a:ea typeface="Calibri"/>
                <a:cs typeface="Times New Roman"/>
              </a:rPr>
              <a:t>/</a:t>
            </a:r>
          </a:p>
          <a:p>
            <a:pPr marL="457200" lvl="0" indent="-457200">
              <a:spcAft>
                <a:spcPts val="600"/>
              </a:spcAft>
            </a:pPr>
            <a:r>
              <a:rPr lang="en-US" sz="1600" dirty="0">
                <a:solidFill>
                  <a:prstClr val="black"/>
                </a:solidFill>
                <a:latin typeface="Times New Roman"/>
                <a:ea typeface="Calibri"/>
                <a:cs typeface="Times New Roman"/>
              </a:rPr>
              <a:t>Hall, B. H., Jaffe, A. B. and </a:t>
            </a:r>
            <a:r>
              <a:rPr lang="en-US" sz="1600" dirty="0" err="1">
                <a:solidFill>
                  <a:prstClr val="black"/>
                </a:solidFill>
                <a:latin typeface="Times New Roman"/>
                <a:ea typeface="Calibri"/>
                <a:cs typeface="Times New Roman"/>
              </a:rPr>
              <a:t>Trajtenberg</a:t>
            </a:r>
            <a:r>
              <a:rPr lang="en-US" sz="1600" dirty="0">
                <a:solidFill>
                  <a:prstClr val="black"/>
                </a:solidFill>
                <a:latin typeface="Times New Roman"/>
                <a:ea typeface="Calibri"/>
                <a:cs typeface="Times New Roman"/>
              </a:rPr>
              <a:t>, M. (2001). "The NBER Patent Citation Data File: Lessons, Insights and Methodological Tools." </a:t>
            </a:r>
            <a:r>
              <a:rPr lang="en-US" sz="1600" i="1" dirty="0">
                <a:solidFill>
                  <a:prstClr val="black"/>
                </a:solidFill>
                <a:latin typeface="Times New Roman"/>
                <a:ea typeface="Calibri"/>
                <a:cs typeface="Times New Roman"/>
              </a:rPr>
              <a:t>NBER Working Paper 8498</a:t>
            </a:r>
            <a:r>
              <a:rPr lang="en-US" sz="1600" dirty="0">
                <a:solidFill>
                  <a:prstClr val="black"/>
                </a:solidFill>
                <a:latin typeface="Times New Roman"/>
                <a:ea typeface="Calibri"/>
                <a:cs typeface="Times New Roman"/>
              </a:rPr>
              <a:t>. Retrieved from http://www.nber.org/patents</a:t>
            </a:r>
            <a:r>
              <a:rPr lang="en-US" sz="1600" dirty="0" smtClean="0">
                <a:solidFill>
                  <a:prstClr val="black"/>
                </a:solidFill>
                <a:latin typeface="Times New Roman"/>
                <a:ea typeface="Calibri"/>
                <a:cs typeface="Times New Roman"/>
              </a:rPr>
              <a:t>/</a:t>
            </a:r>
            <a:endParaRPr lang="en-US" sz="1400" dirty="0">
              <a:solidFill>
                <a:prstClr val="black"/>
              </a:solidFill>
              <a:ea typeface="Calibri"/>
              <a:cs typeface="Times New Roman"/>
            </a:endParaRPr>
          </a:p>
        </p:txBody>
      </p:sp>
      <p:pic>
        <p:nvPicPr>
          <p:cNvPr id="6" name="Picture 3" descr="C:\Users\townesm\Downloads\clipart886407.png"/>
          <p:cNvPicPr>
            <a:picLocks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267131"/>
            <a:ext cx="548640" cy="365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3" descr="C:\Users\townesm\Downloads\clipart886407.png"/>
          <p:cNvPicPr>
            <a:picLocks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2025" y="2524999"/>
            <a:ext cx="548640" cy="365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3" descr="C:\Users\townesm\Downloads\clipart886407.png"/>
          <p:cNvPicPr>
            <a:picLocks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790384"/>
            <a:ext cx="548640" cy="365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732243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7136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Original Constructed Variables from Source Data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54949418"/>
                  </p:ext>
                </p:extLst>
              </p:nvPr>
            </p:nvGraphicFramePr>
            <p:xfrm>
              <a:off x="42862" y="457200"/>
              <a:ext cx="4389120" cy="3815112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810297"/>
                    <a:gridCol w="810297"/>
                    <a:gridCol w="1350498"/>
                    <a:gridCol w="1418028"/>
                  </a:tblGrid>
                  <a:tr h="92290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800" dirty="0">
                              <a:effectLst/>
                            </a:rPr>
                            <a:t>Variable</a:t>
                          </a:r>
                          <a:endParaRPr lang="en-US" sz="8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929" marR="5929" marT="2966" marB="2966"/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800">
                              <a:effectLst/>
                            </a:rPr>
                            <a:t>Variable Type</a:t>
                          </a:r>
                          <a:endParaRPr lang="en-US" sz="8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929" marR="5929" marT="2966" marB="2966"/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800">
                              <a:effectLst/>
                            </a:rPr>
                            <a:t>Extended Name</a:t>
                          </a:r>
                          <a:endParaRPr lang="en-US" sz="8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929" marR="5929" marT="2966" marB="2966"/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800">
                              <a:effectLst/>
                            </a:rPr>
                            <a:t>Description</a:t>
                          </a:r>
                          <a:endParaRPr lang="en-US" sz="8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929" marR="5929" marT="2966" marB="2966"/>
                    </a:tc>
                  </a:tr>
                  <a:tr h="299773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800">
                              <a:effectLst/>
                            </a:rPr>
                            <a:t>CAT</a:t>
                          </a:r>
                          <a:endParaRPr lang="en-US" sz="8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929" marR="5929" marT="2966" marB="2966"/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800" dirty="0">
                              <a:effectLst/>
                            </a:rPr>
                            <a:t>Numeric</a:t>
                          </a:r>
                        </a:p>
                        <a:p>
                          <a:pPr marL="0" marR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800" dirty="0">
                              <a:effectLst/>
                            </a:rPr>
                            <a:t>Nominal</a:t>
                          </a:r>
                          <a:endParaRPr lang="en-US" sz="8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929" marR="5929" marT="2966" marB="2966"/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800">
                              <a:effectLst/>
                            </a:rPr>
                            <a:t>Technological Category</a:t>
                          </a:r>
                          <a:endParaRPr lang="en-US" sz="8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929" marR="5929" marT="2966" marB="2966"/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800">
                              <a:effectLst/>
                            </a:rPr>
                            <a:t>A higher-level classification of the Main Patent Class.</a:t>
                          </a:r>
                        </a:p>
                        <a:p>
                          <a:pPr marL="0" marR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800">
                              <a:effectLst/>
                            </a:rPr>
                            <a:t> </a:t>
                          </a:r>
                        </a:p>
                        <a:p>
                          <a:pPr marL="0" marR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800">
                              <a:effectLst/>
                            </a:rPr>
                            <a:t>Takes on integer values from 1 to 6.</a:t>
                          </a:r>
                          <a:endParaRPr lang="en-US" sz="8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929" marR="5929" marT="2966" marB="2966"/>
                    </a:tc>
                  </a:tr>
                  <a:tr h="348468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800">
                              <a:effectLst/>
                            </a:rPr>
                            <a:t>SUBCAT</a:t>
                          </a:r>
                          <a:endParaRPr lang="en-US" sz="8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929" marR="5929" marT="2966" marB="2966"/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800">
                              <a:effectLst/>
                            </a:rPr>
                            <a:t>Numeric</a:t>
                          </a:r>
                        </a:p>
                        <a:p>
                          <a:pPr marL="0" marR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800">
                              <a:effectLst/>
                            </a:rPr>
                            <a:t>Nominal</a:t>
                          </a:r>
                          <a:endParaRPr lang="en-US" sz="8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929" marR="5929" marT="2966" marB="2966"/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800">
                              <a:effectLst/>
                            </a:rPr>
                            <a:t>Technological Sub-category</a:t>
                          </a:r>
                          <a:endParaRPr lang="en-US" sz="8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929" marR="5929" marT="2966" marB="2966"/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800">
                              <a:effectLst/>
                            </a:rPr>
                            <a:t>The sub-category of the primary technological category to which the patent is assigned.</a:t>
                          </a:r>
                        </a:p>
                        <a:p>
                          <a:pPr marL="0" marR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800">
                              <a:effectLst/>
                            </a:rPr>
                            <a:t> </a:t>
                          </a:r>
                        </a:p>
                        <a:p>
                          <a:pPr marL="0" marR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800">
                              <a:effectLst/>
                            </a:rPr>
                            <a:t>Takes on integer values from 1 to 69.</a:t>
                          </a:r>
                          <a:endParaRPr lang="en-US" sz="8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929" marR="5929" marT="2966" marB="2966"/>
                    </a:tc>
                  </a:tr>
                  <a:tr h="251078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800">
                              <a:effectLst/>
                            </a:rPr>
                            <a:t>CMADE</a:t>
                          </a:r>
                          <a:endParaRPr lang="en-US" sz="8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929" marR="5929" marT="2966" marB="2966"/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800">
                              <a:effectLst/>
                            </a:rPr>
                            <a:t>Numeric</a:t>
                          </a:r>
                        </a:p>
                        <a:p>
                          <a:pPr marL="0" marR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800">
                              <a:effectLst/>
                            </a:rPr>
                            <a:t>Interval</a:t>
                          </a:r>
                          <a:endParaRPr lang="en-US" sz="8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929" marR="5929" marT="2966" marB="2966"/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800">
                              <a:effectLst/>
                            </a:rPr>
                            <a:t>Number of Citations Made</a:t>
                          </a:r>
                          <a:endParaRPr lang="en-US" sz="8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929" marR="5929" marT="2966" marB="2966"/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800">
                              <a:effectLst/>
                            </a:rPr>
                            <a:t>The number of citations made by the patent.</a:t>
                          </a:r>
                        </a:p>
                        <a:p>
                          <a:pPr marL="0" marR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800">
                              <a:effectLst/>
                            </a:rPr>
                            <a:t> </a:t>
                          </a:r>
                        </a:p>
                        <a:p>
                          <a:pPr marL="0" marR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800">
                              <a:effectLst/>
                            </a:rPr>
                            <a:t>Takes on integer values from 1 to </a:t>
                          </a:r>
                          <a14:m>
                            <m:oMath xmlns:m="http://schemas.openxmlformats.org/officeDocument/2006/math">
                              <m:r>
                                <a:rPr lang="en-US" sz="800">
                                  <a:effectLst/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r>
                            <a:rPr lang="en-US" sz="800">
                              <a:effectLst/>
                            </a:rPr>
                            <a:t>.</a:t>
                          </a:r>
                          <a:endParaRPr lang="en-US" sz="8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929" marR="5929" marT="2966" marB="2966"/>
                    </a:tc>
                  </a:tr>
                  <a:tr h="299773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800">
                              <a:effectLst/>
                            </a:rPr>
                            <a:t>CRECEIVE</a:t>
                          </a:r>
                          <a:endParaRPr lang="en-US" sz="8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929" marR="5929" marT="2966" marB="2966"/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800">
                              <a:effectLst/>
                            </a:rPr>
                            <a:t>Numeric</a:t>
                          </a:r>
                        </a:p>
                        <a:p>
                          <a:pPr marL="0" marR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800">
                              <a:effectLst/>
                            </a:rPr>
                            <a:t>Interval</a:t>
                          </a:r>
                          <a:endParaRPr lang="en-US" sz="8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929" marR="5929" marT="2966" marB="2966"/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800">
                              <a:effectLst/>
                            </a:rPr>
                            <a:t>No. of Citations Received</a:t>
                          </a:r>
                          <a:endParaRPr lang="en-US" sz="8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929" marR="5929" marT="2966" marB="2966"/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800">
                              <a:effectLst/>
                            </a:rPr>
                            <a:t>The number of citations in other patents that reference the patent.</a:t>
                          </a:r>
                        </a:p>
                        <a:p>
                          <a:pPr marL="0" marR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800">
                              <a:effectLst/>
                            </a:rPr>
                            <a:t> </a:t>
                          </a:r>
                        </a:p>
                        <a:p>
                          <a:pPr marL="0" marR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800">
                              <a:effectLst/>
                            </a:rPr>
                            <a:t>Takes on integer values from 1 to </a:t>
                          </a:r>
                          <a14:m>
                            <m:oMath xmlns:m="http://schemas.openxmlformats.org/officeDocument/2006/math">
                              <m:r>
                                <a:rPr lang="en-US" sz="800">
                                  <a:effectLst/>
                                  <a:latin typeface="Cambria Math"/>
                                </a:rPr>
                                <m:t>∞</m:t>
                              </m:r>
                            </m:oMath>
                          </a14:m>
                          <a:r>
                            <a:rPr lang="en-US" sz="800">
                              <a:effectLst/>
                            </a:rPr>
                            <a:t>.</a:t>
                          </a:r>
                          <a:endParaRPr lang="en-US" sz="8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929" marR="5929" marT="2966" marB="2966"/>
                    </a:tc>
                  </a:tr>
                  <a:tr h="445859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800">
                              <a:effectLst/>
                            </a:rPr>
                            <a:t>RATIOCIT</a:t>
                          </a:r>
                          <a:endParaRPr lang="en-US" sz="8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929" marR="5929" marT="2966" marB="2966"/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800" dirty="0">
                              <a:effectLst/>
                            </a:rPr>
                            <a:t>Numeric</a:t>
                          </a:r>
                        </a:p>
                        <a:p>
                          <a:pPr marL="0" marR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800" dirty="0">
                              <a:effectLst/>
                            </a:rPr>
                            <a:t>Ratio</a:t>
                          </a:r>
                          <a:endParaRPr lang="en-US" sz="8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929" marR="5929" marT="2966" marB="2966"/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800">
                              <a:effectLst/>
                            </a:rPr>
                            <a:t>Percent of Citations Made to Patents Granted Since 1963</a:t>
                          </a:r>
                          <a:endParaRPr lang="en-US" sz="8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929" marR="5929" marT="2966" marB="2966"/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800" dirty="0">
                              <a:effectLst/>
                            </a:rPr>
                            <a:t>The ratio of the number of citations made by all patents granted since 1963 to the total number of citations made by the particular patent. </a:t>
                          </a:r>
                        </a:p>
                        <a:p>
                          <a:pPr marL="0" marR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800" dirty="0">
                              <a:effectLst/>
                            </a:rPr>
                            <a:t> </a:t>
                          </a:r>
                        </a:p>
                        <a:p>
                          <a:pPr marL="0" marR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800" dirty="0">
                              <a:effectLst/>
                            </a:rPr>
                            <a:t>Takes on continuous values between 0 and 1.</a:t>
                          </a:r>
                          <a:endParaRPr lang="en-US" sz="8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929" marR="5929" marT="2966" marB="2966"/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54949418"/>
                  </p:ext>
                </p:extLst>
              </p:nvPr>
            </p:nvGraphicFramePr>
            <p:xfrm>
              <a:off x="42862" y="457200"/>
              <a:ext cx="4389120" cy="3815112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810297"/>
                    <a:gridCol w="810297"/>
                    <a:gridCol w="1350498"/>
                    <a:gridCol w="1418028"/>
                  </a:tblGrid>
                  <a:tr h="127852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800" dirty="0">
                              <a:effectLst/>
                            </a:rPr>
                            <a:t>Variable</a:t>
                          </a:r>
                          <a:endParaRPr lang="en-US" sz="8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929" marR="5929" marT="2966" marB="2966"/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800">
                              <a:effectLst/>
                            </a:rPr>
                            <a:t>Variable Type</a:t>
                          </a:r>
                          <a:endParaRPr lang="en-US" sz="8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929" marR="5929" marT="2966" marB="2966"/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800">
                              <a:effectLst/>
                            </a:rPr>
                            <a:t>Extended Name</a:t>
                          </a:r>
                          <a:endParaRPr lang="en-US" sz="8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929" marR="5929" marT="2966" marB="2966"/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800">
                              <a:effectLst/>
                            </a:rPr>
                            <a:t>Description</a:t>
                          </a:r>
                          <a:endParaRPr lang="en-US" sz="8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929" marR="5929" marT="2966" marB="2966"/>
                    </a:tc>
                  </a:tr>
                  <a:tr h="615532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800">
                              <a:effectLst/>
                            </a:rPr>
                            <a:t>CAT</a:t>
                          </a:r>
                          <a:endParaRPr lang="en-US" sz="8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929" marR="5929" marT="2966" marB="2966"/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800" dirty="0">
                              <a:effectLst/>
                            </a:rPr>
                            <a:t>Numeric</a:t>
                          </a:r>
                        </a:p>
                        <a:p>
                          <a:pPr marL="0" marR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800" dirty="0">
                              <a:effectLst/>
                            </a:rPr>
                            <a:t>Nominal</a:t>
                          </a:r>
                          <a:endParaRPr lang="en-US" sz="8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929" marR="5929" marT="2966" marB="2966"/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800">
                              <a:effectLst/>
                            </a:rPr>
                            <a:t>Technological Category</a:t>
                          </a:r>
                          <a:endParaRPr lang="en-US" sz="8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929" marR="5929" marT="2966" marB="2966"/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800">
                              <a:effectLst/>
                            </a:rPr>
                            <a:t>A higher-level classification of the Main Patent Class.</a:t>
                          </a:r>
                        </a:p>
                        <a:p>
                          <a:pPr marL="0" marR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800">
                              <a:effectLst/>
                            </a:rPr>
                            <a:t> </a:t>
                          </a:r>
                        </a:p>
                        <a:p>
                          <a:pPr marL="0" marR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800">
                              <a:effectLst/>
                            </a:rPr>
                            <a:t>Takes on integer values from 1 to 6.</a:t>
                          </a:r>
                          <a:endParaRPr lang="en-US" sz="8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929" marR="5929" marT="2966" marB="2966"/>
                    </a:tc>
                  </a:tr>
                  <a:tr h="737452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800">
                              <a:effectLst/>
                            </a:rPr>
                            <a:t>SUBCAT</a:t>
                          </a:r>
                          <a:endParaRPr lang="en-US" sz="8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929" marR="5929" marT="2966" marB="2966"/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800">
                              <a:effectLst/>
                            </a:rPr>
                            <a:t>Numeric</a:t>
                          </a:r>
                        </a:p>
                        <a:p>
                          <a:pPr marL="0" marR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800">
                              <a:effectLst/>
                            </a:rPr>
                            <a:t>Nominal</a:t>
                          </a:r>
                          <a:endParaRPr lang="en-US" sz="8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929" marR="5929" marT="2966" marB="2966"/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800">
                              <a:effectLst/>
                            </a:rPr>
                            <a:t>Technological Sub-category</a:t>
                          </a:r>
                          <a:endParaRPr lang="en-US" sz="8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929" marR="5929" marT="2966" marB="2966"/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800">
                              <a:effectLst/>
                            </a:rPr>
                            <a:t>The sub-category of the primary technological category to which the patent is assigned.</a:t>
                          </a:r>
                        </a:p>
                        <a:p>
                          <a:pPr marL="0" marR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800">
                              <a:effectLst/>
                            </a:rPr>
                            <a:t> </a:t>
                          </a:r>
                        </a:p>
                        <a:p>
                          <a:pPr marL="0" marR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800">
                              <a:effectLst/>
                            </a:rPr>
                            <a:t>Takes on integer values from 1 to 69.</a:t>
                          </a:r>
                          <a:endParaRPr lang="en-US" sz="8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929" marR="5929" marT="2966" marB="2966"/>
                    </a:tc>
                  </a:tr>
                  <a:tr h="615532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800">
                              <a:effectLst/>
                            </a:rPr>
                            <a:t>CMADE</a:t>
                          </a:r>
                          <a:endParaRPr lang="en-US" sz="8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929" marR="5929" marT="2966" marB="2966"/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800">
                              <a:effectLst/>
                            </a:rPr>
                            <a:t>Numeric</a:t>
                          </a:r>
                        </a:p>
                        <a:p>
                          <a:pPr marL="0" marR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800">
                              <a:effectLst/>
                            </a:rPr>
                            <a:t>Interval</a:t>
                          </a:r>
                          <a:endParaRPr lang="en-US" sz="8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929" marR="5929" marT="2966" marB="2966"/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800">
                              <a:effectLst/>
                            </a:rPr>
                            <a:t>Number of Citations Made</a:t>
                          </a:r>
                          <a:endParaRPr lang="en-US" sz="8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929" marR="5929" marT="2966" marB="2966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929" marR="5929" marT="2966" marB="2966">
                        <a:blipFill rotWithShape="1">
                          <a:blip r:embed="rId2"/>
                          <a:stretch>
                            <a:fillRect l="-209013" t="-244554" r="-429" b="-290099"/>
                          </a:stretch>
                        </a:blipFill>
                      </a:tcPr>
                    </a:tc>
                  </a:tr>
                  <a:tr h="737452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800">
                              <a:effectLst/>
                            </a:rPr>
                            <a:t>CRECEIVE</a:t>
                          </a:r>
                          <a:endParaRPr lang="en-US" sz="8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929" marR="5929" marT="2966" marB="2966"/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800">
                              <a:effectLst/>
                            </a:rPr>
                            <a:t>Numeric</a:t>
                          </a:r>
                        </a:p>
                        <a:p>
                          <a:pPr marL="0" marR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800">
                              <a:effectLst/>
                            </a:rPr>
                            <a:t>Interval</a:t>
                          </a:r>
                          <a:endParaRPr lang="en-US" sz="8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929" marR="5929" marT="2966" marB="2966"/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800">
                              <a:effectLst/>
                            </a:rPr>
                            <a:t>No. of Citations Received</a:t>
                          </a:r>
                          <a:endParaRPr lang="en-US" sz="8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929" marR="5929" marT="2966" marB="2966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929" marR="5929" marT="2966" marB="2966">
                        <a:blipFill rotWithShape="1">
                          <a:blip r:embed="rId2"/>
                          <a:stretch>
                            <a:fillRect l="-209013" t="-287603" r="-429" b="-142149"/>
                          </a:stretch>
                        </a:blipFill>
                      </a:tcPr>
                    </a:tc>
                  </a:tr>
                  <a:tr h="981292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800">
                              <a:effectLst/>
                            </a:rPr>
                            <a:t>RATIOCIT</a:t>
                          </a:r>
                          <a:endParaRPr lang="en-US" sz="8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929" marR="5929" marT="2966" marB="2966"/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800" dirty="0">
                              <a:effectLst/>
                            </a:rPr>
                            <a:t>Numeric</a:t>
                          </a:r>
                        </a:p>
                        <a:p>
                          <a:pPr marL="0" marR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800" dirty="0">
                              <a:effectLst/>
                            </a:rPr>
                            <a:t>Ratio</a:t>
                          </a:r>
                          <a:endParaRPr lang="en-US" sz="8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929" marR="5929" marT="2966" marB="2966"/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800">
                              <a:effectLst/>
                            </a:rPr>
                            <a:t>Percent of Citations Made to Patents Granted Since 1963</a:t>
                          </a:r>
                          <a:endParaRPr lang="en-US" sz="8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929" marR="5929" marT="2966" marB="2966"/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800" dirty="0">
                              <a:effectLst/>
                            </a:rPr>
                            <a:t>The ratio of the number of citations made by all patents granted since 1963 to the total number of citations made by the particular patent. </a:t>
                          </a:r>
                        </a:p>
                        <a:p>
                          <a:pPr marL="0" marR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800" dirty="0">
                              <a:effectLst/>
                            </a:rPr>
                            <a:t> </a:t>
                          </a:r>
                        </a:p>
                        <a:p>
                          <a:pPr marL="0" marR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800" dirty="0">
                              <a:effectLst/>
                            </a:rPr>
                            <a:t>Takes on continuous values between 0 and 1.</a:t>
                          </a:r>
                          <a:endParaRPr lang="en-US" sz="8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929" marR="5929" marT="2966" marB="2966"/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23192790"/>
                  </p:ext>
                </p:extLst>
              </p:nvPr>
            </p:nvGraphicFramePr>
            <p:xfrm>
              <a:off x="4704874" y="457200"/>
              <a:ext cx="4389120" cy="3983394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810299"/>
                    <a:gridCol w="810299"/>
                    <a:gridCol w="1350497"/>
                    <a:gridCol w="1418025"/>
                  </a:tblGrid>
                  <a:tr h="69202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800" dirty="0">
                              <a:effectLst/>
                            </a:rPr>
                            <a:t>Variable</a:t>
                          </a:r>
                          <a:endParaRPr lang="en-US" sz="8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700" marR="5700" marT="2850" marB="2850"/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800">
                              <a:effectLst/>
                            </a:rPr>
                            <a:t>Variable Type</a:t>
                          </a:r>
                          <a:endParaRPr lang="en-US" sz="8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700" marR="5700" marT="2850" marB="2850"/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800">
                              <a:effectLst/>
                            </a:rPr>
                            <a:t>Extended Name</a:t>
                          </a:r>
                          <a:endParaRPr lang="en-US" sz="8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700" marR="5700" marT="2850" marB="2850"/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800">
                              <a:effectLst/>
                            </a:rPr>
                            <a:t>Description</a:t>
                          </a:r>
                          <a:endParaRPr lang="en-US" sz="8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700" marR="5700" marT="2850" marB="2850"/>
                    </a:tc>
                  </a:tr>
                  <a:tr h="266095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800" dirty="0">
                              <a:effectLst/>
                            </a:rPr>
                            <a:t>GENERAL</a:t>
                          </a:r>
                          <a:endParaRPr lang="en-US" sz="8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929" marR="5929" marT="2966" marB="2966"/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800" dirty="0">
                              <a:effectLst/>
                            </a:rPr>
                            <a:t>Numeric</a:t>
                          </a:r>
                        </a:p>
                        <a:p>
                          <a:pPr marL="0" marR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800" dirty="0">
                              <a:effectLst/>
                            </a:rPr>
                            <a:t>Ratio</a:t>
                          </a:r>
                          <a:endParaRPr lang="en-US" sz="8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929" marR="5929" marT="2966" marB="2966"/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800" dirty="0">
                              <a:effectLst/>
                            </a:rPr>
                            <a:t>Measure of Generality</a:t>
                          </a:r>
                          <a:endParaRPr lang="en-US" sz="8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929" marR="5929" marT="2966" marB="2966"/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800" dirty="0">
                              <a:effectLst/>
                            </a:rPr>
                            <a:t>A measure of how broad the influence of a patent spans across fields as determined by the number of different fields of all patents that cite the patent of interest.</a:t>
                          </a:r>
                        </a:p>
                        <a:p>
                          <a:pPr marL="0" marR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800" dirty="0">
                              <a:effectLst/>
                            </a:rPr>
                            <a:t> </a:t>
                          </a:r>
                        </a:p>
                        <a:p>
                          <a:pPr marL="0" marR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800" dirty="0">
                              <a:effectLst/>
                            </a:rPr>
                            <a:t>Calculated as the following: </a:t>
                          </a:r>
                        </a:p>
                        <a:p>
                          <a:pPr marL="0" marR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800" dirty="0" err="1">
                              <a:effectLst/>
                            </a:rPr>
                            <a:t>Generality</a:t>
                          </a:r>
                          <a:r>
                            <a:rPr lang="en-US" sz="800" baseline="-25000" dirty="0" err="1">
                              <a:effectLst/>
                            </a:rPr>
                            <a:t>i</a:t>
                          </a:r>
                          <a:r>
                            <a:rPr lang="en-US" sz="800" dirty="0">
                              <a:effectLst/>
                            </a:rPr>
                            <a:t> = 1 - </a:t>
                          </a:r>
                          <a14:m>
                            <m:oMath xmlns:m="http://schemas.openxmlformats.org/officeDocument/2006/math">
                              <m:nary>
                                <m:naryPr>
                                  <m:chr m:val="∑"/>
                                  <m:limLoc m:val="undOvr"/>
                                  <m:ctrlPr>
                                    <a:rPr lang="en-US" sz="800" i="1">
                                      <a:effectLst/>
                                      <a:latin typeface="Cambria Math"/>
                                    </a:rPr>
                                  </m:ctrlPr>
                                </m:naryPr>
                                <m:sub>
                                  <m:r>
                                    <a:rPr lang="en-US" sz="800">
                                      <a:effectLst/>
                                      <a:latin typeface="Cambria Math"/>
                                    </a:rPr>
                                    <m:t>𝑗</m:t>
                                  </m:r>
                                </m:sub>
                                <m:sup>
                                  <m:sSub>
                                    <m:sSubPr>
                                      <m:ctrlPr>
                                        <a:rPr lang="en-US" sz="800" i="1">
                                          <a:effectLst/>
                                          <a:latin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800">
                                          <a:effectLst/>
                                          <a:latin typeface="Cambria Math"/>
                                        </a:rPr>
                                        <m:t>𝑛</m:t>
                                      </m:r>
                                    </m:e>
                                    <m:sub>
                                      <m:r>
                                        <a:rPr lang="en-US" sz="800">
                                          <a:effectLst/>
                                          <a:latin typeface="Cambria Math"/>
                                        </a:rPr>
                                        <m:t>𝑖</m:t>
                                      </m:r>
                                    </m:sub>
                                  </m:sSub>
                                </m:sup>
                                <m:e>
                                  <m:sSubSup>
                                    <m:sSubSupPr>
                                      <m:ctrlPr>
                                        <a:rPr lang="en-US" sz="800" i="1">
                                          <a:effectLst/>
                                          <a:latin typeface="Cambria Math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sz="800">
                                          <a:effectLst/>
                                          <a:latin typeface="Cambria Math"/>
                                        </a:rPr>
                                        <m:t>𝑠</m:t>
                                      </m:r>
                                    </m:e>
                                    <m:sub>
                                      <m:r>
                                        <a:rPr lang="en-US" sz="800">
                                          <a:effectLst/>
                                          <a:latin typeface="Cambria Math"/>
                                        </a:rPr>
                                        <m:t>𝑖𝑗</m:t>
                                      </m:r>
                                    </m:sub>
                                    <m:sup>
                                      <m:r>
                                        <a:rPr lang="en-US" sz="800">
                                          <a:effectLst/>
                                          <a:latin typeface="Cambria Math"/>
                                        </a:rPr>
                                        <m:t>2</m:t>
                                      </m:r>
                                    </m:sup>
                                  </m:sSubSup>
                                </m:e>
                              </m:nary>
                            </m:oMath>
                          </a14:m>
                          <a:r>
                            <a:rPr lang="en-US" sz="800" dirty="0">
                              <a:effectLst/>
                            </a:rPr>
                            <a:t> , where </a:t>
                          </a:r>
                          <a:r>
                            <a:rPr lang="en-US" sz="800" dirty="0" err="1">
                              <a:effectLst/>
                            </a:rPr>
                            <a:t>s</a:t>
                          </a:r>
                          <a:r>
                            <a:rPr lang="en-US" sz="800" baseline="-25000" dirty="0" err="1">
                              <a:effectLst/>
                            </a:rPr>
                            <a:t>ij</a:t>
                          </a:r>
                          <a:r>
                            <a:rPr lang="en-US" sz="800" dirty="0">
                              <a:effectLst/>
                            </a:rPr>
                            <a:t> denotes the percentage of citations received by patent </a:t>
                          </a:r>
                          <a:r>
                            <a:rPr lang="en-US" sz="800" dirty="0" err="1">
                              <a:effectLst/>
                            </a:rPr>
                            <a:t>i</a:t>
                          </a:r>
                          <a:r>
                            <a:rPr lang="en-US" sz="800" dirty="0">
                              <a:effectLst/>
                            </a:rPr>
                            <a:t> that belong to patent class j, out of </a:t>
                          </a:r>
                          <a:r>
                            <a:rPr lang="en-US" sz="800" dirty="0" err="1">
                              <a:effectLst/>
                            </a:rPr>
                            <a:t>n</a:t>
                          </a:r>
                          <a:r>
                            <a:rPr lang="en-US" sz="800" baseline="-25000" dirty="0" err="1">
                              <a:effectLst/>
                            </a:rPr>
                            <a:t>i</a:t>
                          </a:r>
                          <a:r>
                            <a:rPr lang="en-US" sz="800" dirty="0">
                              <a:effectLst/>
                            </a:rPr>
                            <a:t> patent classes.</a:t>
                          </a:r>
                        </a:p>
                        <a:p>
                          <a:pPr marL="0" marR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800" dirty="0">
                              <a:effectLst/>
                            </a:rPr>
                            <a:t> </a:t>
                          </a:r>
                        </a:p>
                        <a:p>
                          <a:pPr marL="0" marR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800" dirty="0">
                              <a:effectLst/>
                            </a:rPr>
                            <a:t>Takes on continuous values between 0 and 1.</a:t>
                          </a:r>
                          <a:endParaRPr lang="en-US" sz="8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929" marR="5929" marT="2966" marB="2966"/>
                    </a:tc>
                  </a:tr>
                  <a:tr h="266095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800">
                              <a:effectLst/>
                            </a:rPr>
                            <a:t>ORIGINAL</a:t>
                          </a:r>
                          <a:endParaRPr lang="en-US" sz="8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929" marR="5929" marT="2966" marB="2966"/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800">
                              <a:effectLst/>
                            </a:rPr>
                            <a:t>Numeric</a:t>
                          </a:r>
                        </a:p>
                        <a:p>
                          <a:pPr marL="0" marR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800">
                              <a:effectLst/>
                            </a:rPr>
                            <a:t>Ratio</a:t>
                          </a:r>
                          <a:endParaRPr lang="en-US" sz="8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929" marR="5929" marT="2966" marB="2966"/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800" dirty="0">
                              <a:effectLst/>
                            </a:rPr>
                            <a:t>Measure of Originality</a:t>
                          </a:r>
                          <a:endParaRPr lang="en-US" sz="8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929" marR="5929" marT="2966" marB="2966"/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800" dirty="0">
                              <a:effectLst/>
                            </a:rPr>
                            <a:t>A measure of the originality of a patent as determined by the number of different fields for all patents cited by the patent of interest.</a:t>
                          </a:r>
                        </a:p>
                        <a:p>
                          <a:pPr marL="0" marR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800" dirty="0">
                              <a:effectLst/>
                            </a:rPr>
                            <a:t> </a:t>
                          </a:r>
                        </a:p>
                        <a:p>
                          <a:pPr marL="0" marR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800" dirty="0">
                              <a:effectLst/>
                            </a:rPr>
                            <a:t>Calculated as the following: </a:t>
                          </a:r>
                        </a:p>
                        <a:p>
                          <a:pPr marL="0" marR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800" dirty="0" err="1">
                              <a:effectLst/>
                            </a:rPr>
                            <a:t>Originality</a:t>
                          </a:r>
                          <a:r>
                            <a:rPr lang="en-US" sz="800" baseline="-25000" dirty="0" err="1">
                              <a:effectLst/>
                            </a:rPr>
                            <a:t>i</a:t>
                          </a:r>
                          <a:r>
                            <a:rPr lang="en-US" sz="800" dirty="0">
                              <a:effectLst/>
                            </a:rPr>
                            <a:t> = 1 - </a:t>
                          </a:r>
                          <a14:m>
                            <m:oMath xmlns:m="http://schemas.openxmlformats.org/officeDocument/2006/math">
                              <m:nary>
                                <m:naryPr>
                                  <m:chr m:val="∑"/>
                                  <m:limLoc m:val="undOvr"/>
                                  <m:ctrlPr>
                                    <a:rPr lang="en-US" sz="800" i="1">
                                      <a:effectLst/>
                                      <a:latin typeface="Cambria Math"/>
                                    </a:rPr>
                                  </m:ctrlPr>
                                </m:naryPr>
                                <m:sub>
                                  <m:r>
                                    <a:rPr lang="en-US" sz="800">
                                      <a:effectLst/>
                                      <a:latin typeface="Cambria Math"/>
                                    </a:rPr>
                                    <m:t>𝑗</m:t>
                                  </m:r>
                                </m:sub>
                                <m:sup>
                                  <m:sSub>
                                    <m:sSubPr>
                                      <m:ctrlPr>
                                        <a:rPr lang="en-US" sz="800" i="1">
                                          <a:effectLst/>
                                          <a:latin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800">
                                          <a:effectLst/>
                                          <a:latin typeface="Cambria Math"/>
                                        </a:rPr>
                                        <m:t>𝑛</m:t>
                                      </m:r>
                                    </m:e>
                                    <m:sub>
                                      <m:r>
                                        <a:rPr lang="en-US" sz="800">
                                          <a:effectLst/>
                                          <a:latin typeface="Cambria Math"/>
                                        </a:rPr>
                                        <m:t>𝑖</m:t>
                                      </m:r>
                                    </m:sub>
                                  </m:sSub>
                                </m:sup>
                                <m:e>
                                  <m:sSubSup>
                                    <m:sSubSupPr>
                                      <m:ctrlPr>
                                        <a:rPr lang="en-US" sz="800" i="1">
                                          <a:effectLst/>
                                          <a:latin typeface="Cambria Math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sz="800">
                                          <a:effectLst/>
                                          <a:latin typeface="Cambria Math"/>
                                        </a:rPr>
                                        <m:t>𝑠</m:t>
                                      </m:r>
                                    </m:e>
                                    <m:sub>
                                      <m:r>
                                        <a:rPr lang="en-US" sz="800">
                                          <a:effectLst/>
                                          <a:latin typeface="Cambria Math"/>
                                        </a:rPr>
                                        <m:t>𝑖𝑗</m:t>
                                      </m:r>
                                    </m:sub>
                                    <m:sup>
                                      <m:r>
                                        <a:rPr lang="en-US" sz="800">
                                          <a:effectLst/>
                                          <a:latin typeface="Cambria Math"/>
                                        </a:rPr>
                                        <m:t>2</m:t>
                                      </m:r>
                                    </m:sup>
                                  </m:sSubSup>
                                </m:e>
                              </m:nary>
                            </m:oMath>
                          </a14:m>
                          <a:r>
                            <a:rPr lang="en-US" sz="800" dirty="0">
                              <a:effectLst/>
                            </a:rPr>
                            <a:t> , where </a:t>
                          </a:r>
                          <a:r>
                            <a:rPr lang="en-US" sz="800" dirty="0" err="1">
                              <a:effectLst/>
                            </a:rPr>
                            <a:t>s</a:t>
                          </a:r>
                          <a:r>
                            <a:rPr lang="en-US" sz="800" baseline="-25000" dirty="0" err="1">
                              <a:effectLst/>
                            </a:rPr>
                            <a:t>ij</a:t>
                          </a:r>
                          <a:r>
                            <a:rPr lang="en-US" sz="800" dirty="0">
                              <a:effectLst/>
                            </a:rPr>
                            <a:t> denotes the percentage of citations made by patent </a:t>
                          </a:r>
                          <a:r>
                            <a:rPr lang="en-US" sz="800" dirty="0" err="1">
                              <a:effectLst/>
                            </a:rPr>
                            <a:t>i</a:t>
                          </a:r>
                          <a:r>
                            <a:rPr lang="en-US" sz="800" dirty="0">
                              <a:effectLst/>
                            </a:rPr>
                            <a:t> that belong to patent class j, out of </a:t>
                          </a:r>
                          <a:r>
                            <a:rPr lang="en-US" sz="800" dirty="0" err="1">
                              <a:effectLst/>
                            </a:rPr>
                            <a:t>n</a:t>
                          </a:r>
                          <a:r>
                            <a:rPr lang="en-US" sz="800" baseline="-25000" dirty="0" err="1">
                              <a:effectLst/>
                            </a:rPr>
                            <a:t>i</a:t>
                          </a:r>
                          <a:r>
                            <a:rPr lang="en-US" sz="800" dirty="0">
                              <a:effectLst/>
                            </a:rPr>
                            <a:t> patent classes.</a:t>
                          </a:r>
                        </a:p>
                        <a:p>
                          <a:pPr marL="0" marR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800" dirty="0">
                              <a:effectLst/>
                            </a:rPr>
                            <a:t> </a:t>
                          </a:r>
                        </a:p>
                        <a:p>
                          <a:pPr marL="0" marR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800" dirty="0">
                              <a:effectLst/>
                            </a:rPr>
                            <a:t>Takes on continuous values between 0 and 1.</a:t>
                          </a:r>
                          <a:endParaRPr lang="en-US" sz="8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929" marR="5929" marT="2966" marB="2966"/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23192790"/>
                  </p:ext>
                </p:extLst>
              </p:nvPr>
            </p:nvGraphicFramePr>
            <p:xfrm>
              <a:off x="4704874" y="457200"/>
              <a:ext cx="4389120" cy="3983394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810299"/>
                    <a:gridCol w="810299"/>
                    <a:gridCol w="1350497"/>
                    <a:gridCol w="1418025"/>
                  </a:tblGrid>
                  <a:tr h="127620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800" dirty="0">
                              <a:effectLst/>
                            </a:rPr>
                            <a:t>Variable</a:t>
                          </a:r>
                          <a:endParaRPr lang="en-US" sz="8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700" marR="5700" marT="2850" marB="2850"/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800">
                              <a:effectLst/>
                            </a:rPr>
                            <a:t>Variable Type</a:t>
                          </a:r>
                          <a:endParaRPr lang="en-US" sz="8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700" marR="5700" marT="2850" marB="2850"/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800">
                              <a:effectLst/>
                            </a:rPr>
                            <a:t>Extended Name</a:t>
                          </a:r>
                          <a:endParaRPr lang="en-US" sz="8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700" marR="5700" marT="2850" marB="2850"/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800">
                              <a:effectLst/>
                            </a:rPr>
                            <a:t>Description</a:t>
                          </a:r>
                          <a:endParaRPr lang="en-US" sz="8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700" marR="5700" marT="2850" marB="2850"/>
                    </a:tc>
                  </a:tr>
                  <a:tr h="1988847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800" dirty="0">
                              <a:effectLst/>
                            </a:rPr>
                            <a:t>GENERAL</a:t>
                          </a:r>
                          <a:endParaRPr lang="en-US" sz="8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929" marR="5929" marT="2966" marB="2966"/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800" dirty="0">
                              <a:effectLst/>
                            </a:rPr>
                            <a:t>Numeric</a:t>
                          </a:r>
                        </a:p>
                        <a:p>
                          <a:pPr marL="0" marR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800" dirty="0">
                              <a:effectLst/>
                            </a:rPr>
                            <a:t>Ratio</a:t>
                          </a:r>
                          <a:endParaRPr lang="en-US" sz="8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929" marR="5929" marT="2966" marB="2966"/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800" dirty="0">
                              <a:effectLst/>
                            </a:rPr>
                            <a:t>Measure of Generality</a:t>
                          </a:r>
                          <a:endParaRPr lang="en-US" sz="8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929" marR="5929" marT="2966" marB="2966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929" marR="5929" marT="2966" marB="2966">
                        <a:blipFill rotWithShape="1">
                          <a:blip r:embed="rId3"/>
                          <a:stretch>
                            <a:fillRect l="-209442" t="-7669" b="-97239"/>
                          </a:stretch>
                        </a:blipFill>
                      </a:tcPr>
                    </a:tc>
                  </a:tr>
                  <a:tr h="1866927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800">
                              <a:effectLst/>
                            </a:rPr>
                            <a:t>ORIGINAL</a:t>
                          </a:r>
                          <a:endParaRPr lang="en-US" sz="8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929" marR="5929" marT="2966" marB="2966"/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800">
                              <a:effectLst/>
                            </a:rPr>
                            <a:t>Numeric</a:t>
                          </a:r>
                        </a:p>
                        <a:p>
                          <a:pPr marL="0" marR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800">
                              <a:effectLst/>
                            </a:rPr>
                            <a:t>Ratio</a:t>
                          </a:r>
                          <a:endParaRPr lang="en-US" sz="8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929" marR="5929" marT="2966" marB="2966"/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800" dirty="0">
                              <a:effectLst/>
                            </a:rPr>
                            <a:t>Measure of Originality</a:t>
                          </a:r>
                          <a:endParaRPr lang="en-US" sz="8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5929" marR="5929" marT="2966" marB="2966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929" marR="5929" marT="2966" marB="2966">
                        <a:blipFill rotWithShape="1">
                          <a:blip r:embed="rId3"/>
                          <a:stretch>
                            <a:fillRect l="-209442" t="-114706" b="-3595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5" name="Rectangle 4"/>
          <p:cNvSpPr/>
          <p:nvPr/>
        </p:nvSpPr>
        <p:spPr>
          <a:xfrm>
            <a:off x="0" y="4450277"/>
            <a:ext cx="9144000" cy="1154162"/>
          </a:xfrm>
          <a:prstGeom prst="rect">
            <a:avLst/>
          </a:prstGeom>
        </p:spPr>
        <p:txBody>
          <a:bodyPr>
            <a:spAutoFit/>
          </a:bodyPr>
          <a:lstStyle/>
          <a:p>
            <a:pPr marL="457200" lvl="0" indent="-457200">
              <a:spcAft>
                <a:spcPts val="600"/>
              </a:spcAft>
            </a:pPr>
            <a:r>
              <a:rPr lang="en-US" sz="1600" dirty="0">
                <a:solidFill>
                  <a:prstClr val="black"/>
                </a:solidFill>
                <a:latin typeface="Times New Roman"/>
                <a:ea typeface="Calibri"/>
                <a:cs typeface="Times New Roman"/>
              </a:rPr>
              <a:t>National Bureau of Economic Research. </a:t>
            </a:r>
            <a:r>
              <a:rPr lang="en-US" sz="1600" dirty="0" smtClean="0">
                <a:solidFill>
                  <a:prstClr val="black"/>
                </a:solidFill>
                <a:latin typeface="Times New Roman"/>
                <a:ea typeface="Calibri"/>
                <a:cs typeface="Times New Roman"/>
              </a:rPr>
              <a:t>(2018). </a:t>
            </a:r>
            <a:r>
              <a:rPr lang="en-US" sz="1600" dirty="0">
                <a:solidFill>
                  <a:prstClr val="black"/>
                </a:solidFill>
                <a:latin typeface="Times New Roman"/>
                <a:ea typeface="Calibri"/>
                <a:cs typeface="Times New Roman"/>
              </a:rPr>
              <a:t>Patent data, including constructed variables [data file]. Retrieved from http://www.nber.org/patents</a:t>
            </a:r>
            <a:r>
              <a:rPr lang="en-US" sz="1600" dirty="0" smtClean="0">
                <a:solidFill>
                  <a:prstClr val="black"/>
                </a:solidFill>
                <a:latin typeface="Times New Roman"/>
                <a:ea typeface="Calibri"/>
                <a:cs typeface="Times New Roman"/>
              </a:rPr>
              <a:t>/</a:t>
            </a:r>
          </a:p>
          <a:p>
            <a:pPr marL="457200" lvl="0" indent="-457200">
              <a:spcAft>
                <a:spcPts val="600"/>
              </a:spcAft>
            </a:pPr>
            <a:r>
              <a:rPr lang="en-US" sz="1600" dirty="0">
                <a:solidFill>
                  <a:prstClr val="black"/>
                </a:solidFill>
                <a:latin typeface="Times New Roman"/>
                <a:ea typeface="Calibri"/>
                <a:cs typeface="Times New Roman"/>
              </a:rPr>
              <a:t>Hall, B. H., Jaffe, A. B. and </a:t>
            </a:r>
            <a:r>
              <a:rPr lang="en-US" sz="1600" dirty="0" err="1">
                <a:solidFill>
                  <a:prstClr val="black"/>
                </a:solidFill>
                <a:latin typeface="Times New Roman"/>
                <a:ea typeface="Calibri"/>
                <a:cs typeface="Times New Roman"/>
              </a:rPr>
              <a:t>Trajtenberg</a:t>
            </a:r>
            <a:r>
              <a:rPr lang="en-US" sz="1600" dirty="0">
                <a:solidFill>
                  <a:prstClr val="black"/>
                </a:solidFill>
                <a:latin typeface="Times New Roman"/>
                <a:ea typeface="Calibri"/>
                <a:cs typeface="Times New Roman"/>
              </a:rPr>
              <a:t>, M. (2001). "The NBER Patent Citation Data File: Lessons, Insights and Methodological Tools." </a:t>
            </a:r>
            <a:r>
              <a:rPr lang="en-US" sz="1600" i="1" dirty="0">
                <a:solidFill>
                  <a:prstClr val="black"/>
                </a:solidFill>
                <a:latin typeface="Times New Roman"/>
                <a:ea typeface="Calibri"/>
                <a:cs typeface="Times New Roman"/>
              </a:rPr>
              <a:t>NBER Working Paper 8498</a:t>
            </a:r>
            <a:r>
              <a:rPr lang="en-US" sz="1600" dirty="0">
                <a:solidFill>
                  <a:prstClr val="black"/>
                </a:solidFill>
                <a:latin typeface="Times New Roman"/>
                <a:ea typeface="Calibri"/>
                <a:cs typeface="Times New Roman"/>
              </a:rPr>
              <a:t>. Retrieved from http://www.nber.org/patents</a:t>
            </a:r>
            <a:r>
              <a:rPr lang="en-US" sz="1600" dirty="0" smtClean="0">
                <a:solidFill>
                  <a:prstClr val="black"/>
                </a:solidFill>
                <a:latin typeface="Times New Roman"/>
                <a:ea typeface="Calibri"/>
                <a:cs typeface="Times New Roman"/>
              </a:rPr>
              <a:t>/</a:t>
            </a:r>
            <a:endParaRPr lang="en-US" sz="1400" dirty="0">
              <a:solidFill>
                <a:prstClr val="black"/>
              </a:solidFill>
              <a:ea typeface="Calibri"/>
              <a:cs typeface="Times New Roman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111892" y="1225609"/>
            <a:ext cx="728639" cy="100494"/>
            <a:chOff x="-79180" y="1252905"/>
            <a:chExt cx="728639" cy="100494"/>
          </a:xfrm>
        </p:grpSpPr>
        <p:pic>
          <p:nvPicPr>
            <p:cNvPr id="6" name="Picture 4" descr="C:\Users\townesm\Downloads\kisspng-close-up-font-underline-5b0c091aeb9c10.6365625315275154189651.png"/>
            <p:cNvPicPr>
              <a:picLocks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586846">
              <a:off x="9379" y="1252905"/>
              <a:ext cx="640080" cy="914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" name="Picture 4" descr="C:\Users\townesm\Downloads\kisspng-close-up-font-underline-5b0c091aeb9c10.6365625315275154189651.png"/>
            <p:cNvPicPr>
              <a:picLocks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9666543" flipH="1">
              <a:off x="-79180" y="1262818"/>
              <a:ext cx="640080" cy="9058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9" name="Group 8"/>
          <p:cNvGrpSpPr/>
          <p:nvPr/>
        </p:nvGrpSpPr>
        <p:grpSpPr>
          <a:xfrm>
            <a:off x="-22316" y="613721"/>
            <a:ext cx="728639" cy="100494"/>
            <a:chOff x="-79180" y="1252905"/>
            <a:chExt cx="728639" cy="100494"/>
          </a:xfrm>
        </p:grpSpPr>
        <p:pic>
          <p:nvPicPr>
            <p:cNvPr id="10" name="Picture 4" descr="C:\Users\townesm\Downloads\kisspng-close-up-font-underline-5b0c091aeb9c10.6365625315275154189651.png"/>
            <p:cNvPicPr>
              <a:picLocks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586846">
              <a:off x="9379" y="1252905"/>
              <a:ext cx="640080" cy="914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" name="Picture 4" descr="C:\Users\townesm\Downloads\kisspng-close-up-font-underline-5b0c091aeb9c10.6365625315275154189651.png"/>
            <p:cNvPicPr>
              <a:picLocks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9666543" flipH="1">
              <a:off x="-79180" y="1262818"/>
              <a:ext cx="640080" cy="9058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42460109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8252965"/>
              </p:ext>
            </p:extLst>
          </p:nvPr>
        </p:nvGraphicFramePr>
        <p:xfrm>
          <a:off x="57150" y="457200"/>
          <a:ext cx="4389120" cy="392994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10299"/>
                <a:gridCol w="810299"/>
                <a:gridCol w="1350497"/>
                <a:gridCol w="1418025"/>
              </a:tblGrid>
              <a:tr h="69202"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dirty="0">
                          <a:effectLst/>
                        </a:rPr>
                        <a:t>Variable</a:t>
                      </a:r>
                      <a:endParaRPr lang="en-US" sz="8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700" marR="5700" marT="2850" marB="285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dirty="0">
                          <a:effectLst/>
                        </a:rPr>
                        <a:t>Variable Type</a:t>
                      </a:r>
                      <a:endParaRPr lang="en-US" sz="8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700" marR="5700" marT="2850" marB="285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Extended Name</a:t>
                      </a:r>
                      <a:endParaRPr lang="en-US" sz="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700" marR="5700" marT="2850" marB="285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Description</a:t>
                      </a:r>
                      <a:endParaRPr lang="en-US" sz="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700" marR="5700" marT="2850" marB="2850"/>
                </a:tc>
              </a:tr>
              <a:tr h="266095"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dirty="0">
                          <a:effectLst/>
                        </a:rPr>
                        <a:t>FWDAPLAG</a:t>
                      </a:r>
                      <a:endParaRPr lang="en-US" sz="8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700" marR="5700" marT="2850" marB="285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dirty="0">
                          <a:effectLst/>
                        </a:rPr>
                        <a:t>Numeric</a:t>
                      </a:r>
                    </a:p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dirty="0">
                          <a:effectLst/>
                        </a:rPr>
                        <a:t>Ratio</a:t>
                      </a:r>
                      <a:endParaRPr lang="en-US" sz="8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700" marR="5700" marT="2850" marB="285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dirty="0">
                          <a:effectLst/>
                        </a:rPr>
                        <a:t>Mean Forward Citation Lag</a:t>
                      </a:r>
                      <a:endParaRPr lang="en-US" sz="8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700" marR="5700" marT="2850" marB="285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dirty="0">
                          <a:effectLst/>
                        </a:rPr>
                        <a:t>The mean time difference between the application or grant date of the patent and that of the other patents citing this patent.</a:t>
                      </a:r>
                    </a:p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dirty="0">
                          <a:effectLst/>
                        </a:rPr>
                        <a:t> </a:t>
                      </a:r>
                    </a:p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dirty="0">
                          <a:effectLst/>
                        </a:rPr>
                        <a:t>Takes on continuous values between 0 and 1.</a:t>
                      </a:r>
                      <a:endParaRPr lang="en-US" sz="8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700" marR="5700" marT="2850" marB="2850"/>
                </a:tc>
              </a:tr>
              <a:tr h="233544"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dirty="0">
                          <a:effectLst/>
                        </a:rPr>
                        <a:t>BCKGTLAG</a:t>
                      </a:r>
                      <a:endParaRPr lang="en-US" sz="8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700" marR="5700" marT="2850" marB="285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Numeric</a:t>
                      </a:r>
                    </a:p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Ratio</a:t>
                      </a:r>
                      <a:endParaRPr lang="en-US" sz="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700" marR="5700" marT="2850" marB="285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Mean Backward Citation Lag</a:t>
                      </a:r>
                      <a:endParaRPr lang="en-US" sz="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700" marR="5700" marT="2850" marB="285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dirty="0">
                          <a:effectLst/>
                        </a:rPr>
                        <a:t>The mean time difference between the application or grant date of the patent and that of the patents it cites.</a:t>
                      </a:r>
                    </a:p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dirty="0">
                          <a:effectLst/>
                        </a:rPr>
                        <a:t> </a:t>
                      </a:r>
                    </a:p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dirty="0">
                          <a:effectLst/>
                        </a:rPr>
                        <a:t>Takes on continuous values between 0 and 1.</a:t>
                      </a:r>
                      <a:endParaRPr lang="en-US" sz="8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700" marR="5700" marT="2850" marB="2850"/>
                </a:tc>
              </a:tr>
              <a:tr h="298644"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SELFCTUB</a:t>
                      </a:r>
                      <a:endParaRPr lang="en-US" sz="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700" marR="5700" marT="2850" marB="285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dirty="0">
                          <a:effectLst/>
                        </a:rPr>
                        <a:t>Numeric</a:t>
                      </a:r>
                    </a:p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dirty="0">
                          <a:effectLst/>
                        </a:rPr>
                        <a:t>Ratio</a:t>
                      </a:r>
                      <a:endParaRPr lang="en-US" sz="8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700" marR="5700" marT="2850" marB="285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Share of Self-Citations Made – Upper Bound</a:t>
                      </a:r>
                      <a:endParaRPr lang="en-US" sz="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700" marR="5700" marT="2850" marB="285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The number of citations made by the patent to other patents with the same assignee divided by the total number of citations made by all patents with assignee codes.</a:t>
                      </a:r>
                    </a:p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 </a:t>
                      </a:r>
                    </a:p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Takes on continuous values between 0 and 1.</a:t>
                      </a:r>
                      <a:endParaRPr lang="en-US" sz="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700" marR="5700" marT="2850" marB="2850"/>
                </a:tc>
              </a:tr>
              <a:tr h="298644"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SELFCTLB</a:t>
                      </a:r>
                      <a:endParaRPr lang="en-US" sz="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700" marR="5700" marT="2850" marB="285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Numeric</a:t>
                      </a:r>
                    </a:p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Ratio</a:t>
                      </a:r>
                      <a:endParaRPr lang="en-US" sz="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700" marR="5700" marT="2850" marB="285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Share of Self-Citations Made – Lower Bound</a:t>
                      </a:r>
                      <a:endParaRPr lang="en-US" sz="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700" marR="5700" marT="2850" marB="285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dirty="0">
                          <a:effectLst/>
                        </a:rPr>
                        <a:t>The number of citations made by the patent to other patents with the same assignee divided by the total number of citations made by all patents.</a:t>
                      </a:r>
                    </a:p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dirty="0">
                          <a:effectLst/>
                        </a:rPr>
                        <a:t> </a:t>
                      </a:r>
                    </a:p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dirty="0">
                          <a:effectLst/>
                        </a:rPr>
                        <a:t>Takes on continuous values between 0 and 1.</a:t>
                      </a:r>
                      <a:endParaRPr lang="en-US" sz="8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700" marR="5700" marT="2850" marB="2850"/>
                </a:tc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0" y="7136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Original Constructed Variables from Source Data (cont’d)</a:t>
            </a: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8239078"/>
              </p:ext>
            </p:extLst>
          </p:nvPr>
        </p:nvGraphicFramePr>
        <p:xfrm>
          <a:off x="4702969" y="457200"/>
          <a:ext cx="4389120" cy="221166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10299"/>
                <a:gridCol w="810299"/>
                <a:gridCol w="1350497"/>
                <a:gridCol w="1418025"/>
              </a:tblGrid>
              <a:tr h="69202"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dirty="0">
                          <a:effectLst/>
                        </a:rPr>
                        <a:t>Variable</a:t>
                      </a:r>
                      <a:endParaRPr lang="en-US" sz="8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700" marR="5700" marT="2850" marB="285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dirty="0">
                          <a:effectLst/>
                        </a:rPr>
                        <a:t>Variable Type</a:t>
                      </a:r>
                      <a:endParaRPr lang="en-US" sz="8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700" marR="5700" marT="2850" marB="285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Extended Name</a:t>
                      </a:r>
                      <a:endParaRPr lang="en-US" sz="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700" marR="5700" marT="2850" marB="285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Description</a:t>
                      </a:r>
                      <a:endParaRPr lang="en-US" sz="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700" marR="5700" marT="2850" marB="2850"/>
                </a:tc>
              </a:tr>
              <a:tr h="331193"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dirty="0">
                          <a:effectLst/>
                        </a:rPr>
                        <a:t>SECUPBD</a:t>
                      </a:r>
                      <a:endParaRPr lang="en-US" sz="8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700" marR="5700" marT="2850" marB="285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Numeric</a:t>
                      </a:r>
                    </a:p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Ratio</a:t>
                      </a:r>
                      <a:endParaRPr lang="en-US" sz="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700" marR="5700" marT="2850" marB="285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Share of Self-Citations Received – Upper Bound</a:t>
                      </a:r>
                      <a:endParaRPr lang="en-US" sz="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700" marR="5700" marT="2850" marB="285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The number of citations received by the patent from other patents with the same assignee divided by the total number of citations received by all patents with assignee codes.</a:t>
                      </a:r>
                    </a:p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 </a:t>
                      </a:r>
                    </a:p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Takes on continuous values between 0 and 1.</a:t>
                      </a:r>
                      <a:endParaRPr lang="en-US" sz="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700" marR="5700" marT="2850" marB="2850"/>
                </a:tc>
              </a:tr>
              <a:tr h="298644"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SECDLWBD</a:t>
                      </a:r>
                      <a:endParaRPr lang="en-US" sz="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700" marR="5700" marT="2850" marB="285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Numeric</a:t>
                      </a:r>
                    </a:p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Ratio</a:t>
                      </a:r>
                      <a:endParaRPr lang="en-US" sz="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700" marR="5700" marT="2850" marB="285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Share of Self-Citations Received – Lower Bound</a:t>
                      </a:r>
                      <a:endParaRPr lang="en-US" sz="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700" marR="5700" marT="2850" marB="285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dirty="0">
                          <a:effectLst/>
                        </a:rPr>
                        <a:t>The number of citations received by the patent from other patents with the same assignee divided by the total number of citations received by all patents.</a:t>
                      </a:r>
                    </a:p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dirty="0">
                          <a:effectLst/>
                        </a:rPr>
                        <a:t> </a:t>
                      </a:r>
                    </a:p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dirty="0">
                          <a:effectLst/>
                        </a:rPr>
                        <a:t>Takes on continuous values between 0 and 1.</a:t>
                      </a:r>
                      <a:endParaRPr lang="en-US" sz="8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700" marR="5700" marT="2850" marB="2850"/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0" y="4450277"/>
            <a:ext cx="9144000" cy="1154162"/>
          </a:xfrm>
          <a:prstGeom prst="rect">
            <a:avLst/>
          </a:prstGeom>
        </p:spPr>
        <p:txBody>
          <a:bodyPr>
            <a:spAutoFit/>
          </a:bodyPr>
          <a:lstStyle/>
          <a:p>
            <a:pPr marL="457200" lvl="0" indent="-457200">
              <a:spcAft>
                <a:spcPts val="600"/>
              </a:spcAft>
            </a:pPr>
            <a:r>
              <a:rPr lang="en-US" sz="1600" dirty="0">
                <a:solidFill>
                  <a:prstClr val="black"/>
                </a:solidFill>
                <a:latin typeface="Times New Roman"/>
                <a:ea typeface="Calibri"/>
                <a:cs typeface="Times New Roman"/>
              </a:rPr>
              <a:t>National Bureau of Economic Research. </a:t>
            </a:r>
            <a:r>
              <a:rPr lang="en-US" sz="1600" dirty="0" smtClean="0">
                <a:solidFill>
                  <a:prstClr val="black"/>
                </a:solidFill>
                <a:latin typeface="Times New Roman"/>
                <a:ea typeface="Calibri"/>
                <a:cs typeface="Times New Roman"/>
              </a:rPr>
              <a:t>(2018). </a:t>
            </a:r>
            <a:r>
              <a:rPr lang="en-US" sz="1600" dirty="0">
                <a:solidFill>
                  <a:prstClr val="black"/>
                </a:solidFill>
                <a:latin typeface="Times New Roman"/>
                <a:ea typeface="Calibri"/>
                <a:cs typeface="Times New Roman"/>
              </a:rPr>
              <a:t>Patent data, including constructed variables [data file]. Retrieved from http://www.nber.org/patents</a:t>
            </a:r>
            <a:r>
              <a:rPr lang="en-US" sz="1600" dirty="0" smtClean="0">
                <a:solidFill>
                  <a:prstClr val="black"/>
                </a:solidFill>
                <a:latin typeface="Times New Roman"/>
                <a:ea typeface="Calibri"/>
                <a:cs typeface="Times New Roman"/>
              </a:rPr>
              <a:t>/</a:t>
            </a:r>
          </a:p>
          <a:p>
            <a:pPr marL="457200" lvl="0" indent="-457200">
              <a:spcAft>
                <a:spcPts val="600"/>
              </a:spcAft>
            </a:pPr>
            <a:r>
              <a:rPr lang="en-US" sz="1600" dirty="0">
                <a:solidFill>
                  <a:prstClr val="black"/>
                </a:solidFill>
                <a:latin typeface="Times New Roman"/>
                <a:ea typeface="Calibri"/>
                <a:cs typeface="Times New Roman"/>
              </a:rPr>
              <a:t>Hall, B. H., Jaffe, A. B. and </a:t>
            </a:r>
            <a:r>
              <a:rPr lang="en-US" sz="1600" dirty="0" err="1">
                <a:solidFill>
                  <a:prstClr val="black"/>
                </a:solidFill>
                <a:latin typeface="Times New Roman"/>
                <a:ea typeface="Calibri"/>
                <a:cs typeface="Times New Roman"/>
              </a:rPr>
              <a:t>Trajtenberg</a:t>
            </a:r>
            <a:r>
              <a:rPr lang="en-US" sz="1600" dirty="0">
                <a:solidFill>
                  <a:prstClr val="black"/>
                </a:solidFill>
                <a:latin typeface="Times New Roman"/>
                <a:ea typeface="Calibri"/>
                <a:cs typeface="Times New Roman"/>
              </a:rPr>
              <a:t>, M. (2001). "The NBER Patent Citation Data File: Lessons, Insights and Methodological Tools." </a:t>
            </a:r>
            <a:r>
              <a:rPr lang="en-US" sz="1600" i="1" dirty="0">
                <a:solidFill>
                  <a:prstClr val="black"/>
                </a:solidFill>
                <a:latin typeface="Times New Roman"/>
                <a:ea typeface="Calibri"/>
                <a:cs typeface="Times New Roman"/>
              </a:rPr>
              <a:t>NBER Working Paper 8498</a:t>
            </a:r>
            <a:r>
              <a:rPr lang="en-US" sz="1600" dirty="0">
                <a:solidFill>
                  <a:prstClr val="black"/>
                </a:solidFill>
                <a:latin typeface="Times New Roman"/>
                <a:ea typeface="Calibri"/>
                <a:cs typeface="Times New Roman"/>
              </a:rPr>
              <a:t>. Retrieved from http://www.nber.org/patents</a:t>
            </a:r>
            <a:r>
              <a:rPr lang="en-US" sz="1600" dirty="0" smtClean="0">
                <a:solidFill>
                  <a:prstClr val="black"/>
                </a:solidFill>
                <a:latin typeface="Times New Roman"/>
                <a:ea typeface="Calibri"/>
                <a:cs typeface="Times New Roman"/>
              </a:rPr>
              <a:t>/</a:t>
            </a:r>
            <a:endParaRPr lang="en-US" sz="1400" dirty="0">
              <a:solidFill>
                <a:prstClr val="black"/>
              </a:solidFill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4111901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9144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/>
              <a:t>Methodology</a:t>
            </a: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28943767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0" y="9144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/>
              <a:t>Operationalization</a:t>
            </a:r>
            <a:endParaRPr lang="en-US" sz="2800" b="1" dirty="0"/>
          </a:p>
        </p:txBody>
      </p:sp>
      <p:graphicFrame>
        <p:nvGraphicFramePr>
          <p:cNvPr id="4" name="Diagram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36893647"/>
              </p:ext>
            </p:extLst>
          </p:nvPr>
        </p:nvGraphicFramePr>
        <p:xfrm>
          <a:off x="92014" y="816874"/>
          <a:ext cx="8961120" cy="19177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847323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9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062"/>
          <a:stretch/>
        </p:blipFill>
        <p:spPr bwMode="auto">
          <a:xfrm>
            <a:off x="3518530" y="83820"/>
            <a:ext cx="4087590" cy="2743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8530" y="2899410"/>
            <a:ext cx="4648209" cy="2743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478" y="800100"/>
            <a:ext cx="2343739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270596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192024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/>
              <a:t>Multiple Regression Analysis</a:t>
            </a: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3972091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71348"/>
            <a:ext cx="9144000" cy="1039708"/>
          </a:xfrm>
          <a:prstGeom prst="rect">
            <a:avLst/>
          </a:prstGeom>
        </p:spPr>
        <p:txBody>
          <a:bodyPr wrap="square" lIns="9144" rIns="9144">
            <a:spAutoFit/>
          </a:bodyPr>
          <a:lstStyle/>
          <a:p>
            <a:pPr marL="228600" marR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>
                <a:latin typeface="Courier New"/>
                <a:ea typeface="Calibri"/>
                <a:cs typeface="Times New Roman"/>
              </a:rPr>
              <a:t>CRECEIVE</a:t>
            </a:r>
            <a:r>
              <a:rPr lang="en-US" dirty="0">
                <a:latin typeface="Times New Roman"/>
                <a:ea typeface="Calibri"/>
                <a:cs typeface="Times New Roman"/>
              </a:rPr>
              <a:t>  </a:t>
            </a:r>
            <a:r>
              <a:rPr lang="en-US" dirty="0" smtClean="0">
                <a:latin typeface="Times New Roman"/>
                <a:ea typeface="Calibri"/>
                <a:cs typeface="Times New Roman"/>
              </a:rPr>
              <a:t> = 	β</a:t>
            </a:r>
            <a:r>
              <a:rPr lang="en-US" baseline="-25000" dirty="0" smtClean="0">
                <a:latin typeface="Times New Roman"/>
                <a:ea typeface="Calibri"/>
                <a:cs typeface="Times New Roman"/>
              </a:rPr>
              <a:t>0</a:t>
            </a:r>
            <a:r>
              <a:rPr lang="en-US" dirty="0" smtClean="0">
                <a:latin typeface="Times New Roman"/>
                <a:ea typeface="Calibri"/>
                <a:cs typeface="Times New Roman"/>
              </a:rPr>
              <a:t> </a:t>
            </a:r>
            <a:r>
              <a:rPr lang="en-US" dirty="0">
                <a:latin typeface="Times New Roman"/>
                <a:ea typeface="Calibri"/>
                <a:cs typeface="Times New Roman"/>
              </a:rPr>
              <a:t>+ </a:t>
            </a:r>
            <a:r>
              <a:rPr lang="en-US" dirty="0" smtClean="0">
                <a:latin typeface="Times New Roman"/>
                <a:ea typeface="Calibri"/>
                <a:cs typeface="Times New Roman"/>
              </a:rPr>
              <a:t>β</a:t>
            </a:r>
            <a:r>
              <a:rPr lang="en-US" baseline="-25000" dirty="0" smtClean="0">
                <a:latin typeface="Times New Roman"/>
                <a:ea typeface="Calibri"/>
                <a:cs typeface="Times New Roman"/>
              </a:rPr>
              <a:t>1</a:t>
            </a:r>
            <a:r>
              <a:rPr lang="en-US" dirty="0" smtClean="0">
                <a:latin typeface="Times New Roman"/>
                <a:ea typeface="Calibri"/>
                <a:cs typeface="Times New Roman"/>
              </a:rPr>
              <a:t>(</a:t>
            </a:r>
            <a:r>
              <a:rPr lang="en-US" dirty="0" smtClean="0">
                <a:latin typeface="Courier New"/>
                <a:ea typeface="Calibri"/>
                <a:cs typeface="Times New Roman"/>
              </a:rPr>
              <a:t>GYEAR</a:t>
            </a:r>
            <a:r>
              <a:rPr lang="en-US" dirty="0">
                <a:latin typeface="Courier New"/>
                <a:ea typeface="Calibri"/>
                <a:cs typeface="Times New Roman"/>
              </a:rPr>
              <a:t>)</a:t>
            </a:r>
            <a:r>
              <a:rPr lang="en-US" dirty="0">
                <a:latin typeface="Times New Roman"/>
                <a:ea typeface="Calibri"/>
                <a:cs typeface="Times New Roman"/>
              </a:rPr>
              <a:t> + β</a:t>
            </a:r>
            <a:r>
              <a:rPr lang="en-US" baseline="-25000" dirty="0">
                <a:latin typeface="Times New Roman"/>
                <a:ea typeface="Calibri"/>
                <a:cs typeface="Times New Roman"/>
              </a:rPr>
              <a:t>2</a:t>
            </a:r>
            <a:r>
              <a:rPr lang="en-US" dirty="0">
                <a:latin typeface="Courier New"/>
                <a:ea typeface="Calibri"/>
                <a:cs typeface="Times New Roman"/>
              </a:rPr>
              <a:t>(APPYEAR)</a:t>
            </a:r>
            <a:r>
              <a:rPr lang="en-US" dirty="0">
                <a:latin typeface="Times New Roman"/>
                <a:ea typeface="Calibri"/>
                <a:cs typeface="Times New Roman"/>
              </a:rPr>
              <a:t> + β</a:t>
            </a:r>
            <a:r>
              <a:rPr lang="en-US" baseline="-25000" dirty="0">
                <a:latin typeface="Times New Roman"/>
                <a:ea typeface="Calibri"/>
                <a:cs typeface="Times New Roman"/>
              </a:rPr>
              <a:t>3</a:t>
            </a:r>
            <a:r>
              <a:rPr lang="en-US" dirty="0">
                <a:latin typeface="Times New Roman"/>
                <a:ea typeface="Calibri"/>
                <a:cs typeface="Times New Roman"/>
              </a:rPr>
              <a:t>(</a:t>
            </a:r>
            <a:r>
              <a:rPr lang="en-US" dirty="0">
                <a:latin typeface="Courier New"/>
                <a:ea typeface="Calibri"/>
                <a:cs typeface="Times New Roman"/>
              </a:rPr>
              <a:t>CLAIMS)</a:t>
            </a:r>
            <a:r>
              <a:rPr lang="en-US" dirty="0">
                <a:latin typeface="Times New Roman"/>
                <a:ea typeface="Calibri"/>
                <a:cs typeface="Times New Roman"/>
              </a:rPr>
              <a:t> + β</a:t>
            </a:r>
            <a:r>
              <a:rPr lang="en-US" baseline="-25000" dirty="0">
                <a:latin typeface="Times New Roman"/>
                <a:ea typeface="Calibri"/>
                <a:cs typeface="Times New Roman"/>
              </a:rPr>
              <a:t>4</a:t>
            </a:r>
            <a:r>
              <a:rPr lang="en-US" dirty="0">
                <a:latin typeface="Times New Roman"/>
                <a:ea typeface="Calibri"/>
                <a:cs typeface="Times New Roman"/>
              </a:rPr>
              <a:t>(</a:t>
            </a:r>
            <a:r>
              <a:rPr lang="en-US" dirty="0">
                <a:latin typeface="Courier New"/>
                <a:ea typeface="Calibri"/>
                <a:cs typeface="Times New Roman"/>
              </a:rPr>
              <a:t>GENERAL)</a:t>
            </a:r>
            <a:r>
              <a:rPr lang="en-US" dirty="0">
                <a:latin typeface="Times New Roman"/>
                <a:ea typeface="Calibri"/>
                <a:cs typeface="Times New Roman"/>
              </a:rPr>
              <a:t> + </a:t>
            </a:r>
            <a:r>
              <a:rPr lang="en-US" dirty="0" smtClean="0">
                <a:latin typeface="Times New Roman"/>
                <a:ea typeface="Calibri"/>
                <a:cs typeface="Times New Roman"/>
              </a:rPr>
              <a:t>		β</a:t>
            </a:r>
            <a:r>
              <a:rPr lang="en-US" baseline="-25000" dirty="0" smtClean="0">
                <a:latin typeface="Times New Roman"/>
                <a:ea typeface="Calibri"/>
                <a:cs typeface="Times New Roman"/>
              </a:rPr>
              <a:t>5</a:t>
            </a:r>
            <a:r>
              <a:rPr lang="en-US" dirty="0" smtClean="0">
                <a:latin typeface="Times New Roman"/>
                <a:ea typeface="Calibri"/>
                <a:cs typeface="Times New Roman"/>
              </a:rPr>
              <a:t>(</a:t>
            </a:r>
            <a:r>
              <a:rPr lang="en-US" dirty="0" smtClean="0">
                <a:latin typeface="Courier New"/>
                <a:ea typeface="Calibri"/>
                <a:cs typeface="Times New Roman"/>
              </a:rPr>
              <a:t>ORIGINAL</a:t>
            </a:r>
            <a:r>
              <a:rPr lang="en-US" dirty="0">
                <a:latin typeface="Courier New"/>
                <a:ea typeface="Calibri"/>
                <a:cs typeface="Times New Roman"/>
              </a:rPr>
              <a:t>)</a:t>
            </a:r>
            <a:r>
              <a:rPr lang="en-US" dirty="0">
                <a:latin typeface="Times New Roman"/>
                <a:ea typeface="Calibri"/>
                <a:cs typeface="Times New Roman"/>
              </a:rPr>
              <a:t> + </a:t>
            </a:r>
            <a:r>
              <a:rPr lang="en-US" dirty="0" smtClean="0">
                <a:latin typeface="Times New Roman"/>
                <a:ea typeface="Calibri"/>
                <a:cs typeface="Times New Roman"/>
              </a:rPr>
              <a:t> β</a:t>
            </a:r>
            <a:r>
              <a:rPr lang="en-US" baseline="-25000" dirty="0">
                <a:latin typeface="Times New Roman"/>
                <a:ea typeface="Calibri"/>
                <a:cs typeface="Times New Roman"/>
              </a:rPr>
              <a:t>6</a:t>
            </a:r>
            <a:r>
              <a:rPr lang="en-US" dirty="0" smtClean="0">
                <a:latin typeface="Times New Roman"/>
                <a:ea typeface="Calibri"/>
                <a:cs typeface="Times New Roman"/>
              </a:rPr>
              <a:t>(</a:t>
            </a:r>
            <a:r>
              <a:rPr lang="en-US" dirty="0" smtClean="0">
                <a:latin typeface="Courier New"/>
                <a:ea typeface="Calibri"/>
                <a:cs typeface="Times New Roman"/>
              </a:rPr>
              <a:t>BCKGTLAG</a:t>
            </a:r>
            <a:r>
              <a:rPr lang="en-US" dirty="0">
                <a:latin typeface="Courier New"/>
                <a:ea typeface="Calibri"/>
                <a:cs typeface="Times New Roman"/>
              </a:rPr>
              <a:t>)</a:t>
            </a:r>
            <a:r>
              <a:rPr lang="en-US" dirty="0">
                <a:latin typeface="Times New Roman"/>
                <a:ea typeface="Calibri"/>
                <a:cs typeface="Times New Roman"/>
              </a:rPr>
              <a:t> + </a:t>
            </a:r>
            <a:r>
              <a:rPr lang="en-US" dirty="0" smtClean="0">
                <a:latin typeface="Times New Roman"/>
                <a:ea typeface="Calibri"/>
                <a:cs typeface="Times New Roman"/>
              </a:rPr>
              <a:t>	β</a:t>
            </a:r>
            <a:r>
              <a:rPr lang="en-US" baseline="-25000" dirty="0">
                <a:latin typeface="Times New Roman"/>
                <a:ea typeface="Calibri"/>
                <a:cs typeface="Times New Roman"/>
              </a:rPr>
              <a:t>7</a:t>
            </a:r>
            <a:r>
              <a:rPr lang="en-US" dirty="0" smtClean="0">
                <a:latin typeface="Times New Roman"/>
                <a:ea typeface="Calibri"/>
                <a:cs typeface="Times New Roman"/>
              </a:rPr>
              <a:t>(</a:t>
            </a:r>
            <a:r>
              <a:rPr lang="en-US" dirty="0" smtClean="0">
                <a:latin typeface="Courier New"/>
                <a:ea typeface="Calibri"/>
                <a:cs typeface="Times New Roman"/>
              </a:rPr>
              <a:t>FWDAPLAG</a:t>
            </a:r>
            <a:r>
              <a:rPr lang="en-US" dirty="0">
                <a:latin typeface="Courier New"/>
                <a:ea typeface="Calibri"/>
                <a:cs typeface="Times New Roman"/>
              </a:rPr>
              <a:t>)</a:t>
            </a:r>
            <a:r>
              <a:rPr lang="en-US" dirty="0">
                <a:latin typeface="Times New Roman"/>
                <a:ea typeface="Calibri"/>
                <a:cs typeface="Times New Roman"/>
              </a:rPr>
              <a:t> + </a:t>
            </a:r>
            <a:r>
              <a:rPr lang="en-US" dirty="0" smtClean="0">
                <a:latin typeface="Times New Roman"/>
                <a:ea typeface="Calibri"/>
                <a:cs typeface="Times New Roman"/>
              </a:rPr>
              <a:t>β</a:t>
            </a:r>
            <a:r>
              <a:rPr lang="en-US" baseline="-25000" dirty="0">
                <a:latin typeface="Times New Roman"/>
                <a:ea typeface="Calibri"/>
                <a:cs typeface="Times New Roman"/>
              </a:rPr>
              <a:t>8</a:t>
            </a:r>
            <a:r>
              <a:rPr lang="en-US" dirty="0" smtClean="0">
                <a:latin typeface="Times New Roman"/>
                <a:ea typeface="Calibri"/>
                <a:cs typeface="Times New Roman"/>
              </a:rPr>
              <a:t>(</a:t>
            </a:r>
            <a:r>
              <a:rPr lang="en-US" dirty="0" smtClean="0">
                <a:latin typeface="Courier New"/>
                <a:ea typeface="Calibri"/>
                <a:cs typeface="Times New Roman"/>
              </a:rPr>
              <a:t>SELFCTUB</a:t>
            </a:r>
            <a:r>
              <a:rPr lang="en-US" dirty="0">
                <a:latin typeface="Courier New"/>
                <a:ea typeface="Calibri"/>
                <a:cs typeface="Times New Roman"/>
              </a:rPr>
              <a:t>)</a:t>
            </a:r>
            <a:r>
              <a:rPr lang="en-US" dirty="0">
                <a:latin typeface="Times New Roman"/>
                <a:ea typeface="Calibri"/>
                <a:cs typeface="Times New Roman"/>
              </a:rPr>
              <a:t> + </a:t>
            </a:r>
            <a:r>
              <a:rPr lang="en-US" dirty="0" smtClean="0">
                <a:latin typeface="Times New Roman"/>
                <a:ea typeface="Calibri"/>
                <a:cs typeface="Times New Roman"/>
              </a:rPr>
              <a:t>		β</a:t>
            </a:r>
            <a:r>
              <a:rPr lang="en-US" baseline="-25000" dirty="0">
                <a:latin typeface="Times New Roman"/>
                <a:ea typeface="Calibri"/>
                <a:cs typeface="Times New Roman"/>
              </a:rPr>
              <a:t>9</a:t>
            </a:r>
            <a:r>
              <a:rPr lang="en-US" dirty="0" smtClean="0">
                <a:latin typeface="Times New Roman"/>
                <a:ea typeface="Calibri"/>
                <a:cs typeface="Times New Roman"/>
              </a:rPr>
              <a:t>(</a:t>
            </a:r>
            <a:r>
              <a:rPr lang="en-US" dirty="0" smtClean="0">
                <a:latin typeface="Courier New"/>
                <a:ea typeface="Calibri"/>
                <a:cs typeface="Times New Roman"/>
              </a:rPr>
              <a:t>SELFCTLB</a:t>
            </a:r>
            <a:r>
              <a:rPr lang="en-US" dirty="0">
                <a:latin typeface="Times New Roman"/>
                <a:ea typeface="Calibri"/>
                <a:cs typeface="Times New Roman"/>
              </a:rPr>
              <a:t>) + </a:t>
            </a:r>
            <a:r>
              <a:rPr lang="en-US" dirty="0" smtClean="0">
                <a:latin typeface="Times New Roman"/>
                <a:ea typeface="Calibri"/>
                <a:cs typeface="Times New Roman"/>
              </a:rPr>
              <a:t>β</a:t>
            </a:r>
            <a:r>
              <a:rPr lang="en-US" baseline="-25000" dirty="0" smtClean="0">
                <a:latin typeface="Times New Roman"/>
                <a:ea typeface="Calibri"/>
                <a:cs typeface="Times New Roman"/>
              </a:rPr>
              <a:t>10 </a:t>
            </a:r>
            <a:r>
              <a:rPr lang="en-US" dirty="0">
                <a:latin typeface="Times New Roman"/>
                <a:ea typeface="Calibri"/>
                <a:cs typeface="Times New Roman"/>
              </a:rPr>
              <a:t>(</a:t>
            </a:r>
            <a:r>
              <a:rPr lang="en-US" dirty="0">
                <a:latin typeface="Courier New"/>
                <a:ea typeface="Calibri"/>
                <a:cs typeface="Times New Roman"/>
              </a:rPr>
              <a:t>SECDLWBD)</a:t>
            </a:r>
            <a:r>
              <a:rPr lang="en-US" dirty="0">
                <a:latin typeface="Times New Roman"/>
                <a:ea typeface="Calibri"/>
                <a:cs typeface="Times New Roman"/>
              </a:rPr>
              <a:t> +  </a:t>
            </a:r>
            <a:r>
              <a:rPr lang="en-US" dirty="0" smtClean="0">
                <a:latin typeface="Times New Roman"/>
                <a:ea typeface="Calibri"/>
                <a:cs typeface="Times New Roman"/>
              </a:rPr>
              <a:t>β</a:t>
            </a:r>
            <a:r>
              <a:rPr lang="en-US" baseline="-25000" dirty="0" smtClean="0">
                <a:latin typeface="Times New Roman"/>
                <a:ea typeface="Calibri"/>
                <a:cs typeface="Times New Roman"/>
              </a:rPr>
              <a:t>11</a:t>
            </a:r>
            <a:r>
              <a:rPr lang="en-US" dirty="0" smtClean="0">
                <a:latin typeface="Courier New"/>
                <a:ea typeface="Calibri"/>
                <a:cs typeface="Times New Roman"/>
              </a:rPr>
              <a:t>(SECDUPBD</a:t>
            </a:r>
            <a:r>
              <a:rPr lang="en-US" dirty="0">
                <a:latin typeface="Courier New"/>
                <a:ea typeface="Calibri"/>
                <a:cs typeface="Times New Roman"/>
              </a:rPr>
              <a:t>)+ ε</a:t>
            </a:r>
            <a:r>
              <a:rPr lang="en-US" sz="1050" dirty="0">
                <a:ea typeface="Calibri"/>
                <a:cs typeface="Times New Roman"/>
              </a:rPr>
              <a:t> </a:t>
            </a:r>
            <a:r>
              <a:rPr lang="en-US" sz="1200" dirty="0" smtClean="0">
                <a:ea typeface="Calibri"/>
                <a:cs typeface="Times New Roman"/>
              </a:rPr>
              <a:t> </a:t>
            </a:r>
            <a:endParaRPr lang="en-US" sz="1200" dirty="0">
              <a:ea typeface="Calibri"/>
              <a:cs typeface="Times New Roman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26286" y="1446947"/>
            <a:ext cx="2343014" cy="40812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14000"/>
              </a:lnSpc>
            </a:pPr>
            <a:r>
              <a:rPr lang="en-US" dirty="0">
                <a:latin typeface="Times New Roman"/>
                <a:ea typeface="Calibri"/>
                <a:cs typeface="Times New Roman"/>
              </a:rPr>
              <a:t>H</a:t>
            </a:r>
            <a:r>
              <a:rPr lang="en-US" baseline="-25000" dirty="0">
                <a:latin typeface="Times New Roman"/>
                <a:ea typeface="Calibri"/>
                <a:cs typeface="Times New Roman"/>
              </a:rPr>
              <a:t>0</a:t>
            </a:r>
            <a:r>
              <a:rPr lang="en-US" dirty="0">
                <a:latin typeface="Times New Roman"/>
                <a:ea typeface="Calibri"/>
                <a:cs typeface="Times New Roman"/>
              </a:rPr>
              <a:t>: β</a:t>
            </a:r>
            <a:r>
              <a:rPr lang="en-US" baseline="-25000" dirty="0">
                <a:latin typeface="Times New Roman"/>
                <a:ea typeface="Calibri"/>
                <a:cs typeface="Times New Roman"/>
              </a:rPr>
              <a:t>1</a:t>
            </a:r>
            <a:r>
              <a:rPr lang="en-US" dirty="0">
                <a:latin typeface="Times New Roman"/>
                <a:ea typeface="Calibri"/>
                <a:cs typeface="Times New Roman"/>
              </a:rPr>
              <a:t> = β</a:t>
            </a:r>
            <a:r>
              <a:rPr lang="en-US" baseline="-25000" dirty="0">
                <a:latin typeface="Times New Roman"/>
                <a:ea typeface="Calibri"/>
                <a:cs typeface="Times New Roman"/>
              </a:rPr>
              <a:t>2</a:t>
            </a:r>
            <a:r>
              <a:rPr lang="en-US" dirty="0">
                <a:latin typeface="Times New Roman"/>
                <a:ea typeface="Calibri"/>
                <a:cs typeface="Times New Roman"/>
              </a:rPr>
              <a:t> … = </a:t>
            </a:r>
            <a:r>
              <a:rPr lang="en-US" dirty="0" smtClean="0">
                <a:latin typeface="Times New Roman"/>
                <a:ea typeface="Calibri"/>
                <a:cs typeface="Times New Roman"/>
              </a:rPr>
              <a:t>β</a:t>
            </a:r>
            <a:r>
              <a:rPr lang="en-US" baseline="-25000" dirty="0" smtClean="0">
                <a:latin typeface="Times New Roman"/>
                <a:ea typeface="Calibri"/>
                <a:cs typeface="Times New Roman"/>
              </a:rPr>
              <a:t>11</a:t>
            </a:r>
            <a:r>
              <a:rPr lang="en-US" dirty="0" smtClean="0">
                <a:latin typeface="Times New Roman"/>
                <a:ea typeface="Calibri"/>
                <a:cs typeface="Times New Roman"/>
              </a:rPr>
              <a:t> </a:t>
            </a:r>
            <a:r>
              <a:rPr lang="en-US" dirty="0">
                <a:latin typeface="Times New Roman"/>
                <a:ea typeface="Calibri"/>
                <a:cs typeface="Times New Roman"/>
              </a:rPr>
              <a:t>= 0</a:t>
            </a:r>
            <a:endParaRPr lang="en-US" sz="1600" dirty="0">
              <a:ea typeface="Calibri"/>
              <a:cs typeface="Times New Roman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152040" y="1446946"/>
            <a:ext cx="4469493" cy="38863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14000"/>
              </a:lnSpc>
            </a:pPr>
            <a:r>
              <a:rPr lang="en-US" dirty="0">
                <a:latin typeface="Times New Roman"/>
                <a:ea typeface="Calibri"/>
                <a:cs typeface="Times New Roman"/>
              </a:rPr>
              <a:t>H</a:t>
            </a:r>
            <a:r>
              <a:rPr lang="en-US" baseline="-25000" dirty="0">
                <a:latin typeface="Times New Roman"/>
                <a:ea typeface="Calibri"/>
                <a:cs typeface="Times New Roman"/>
              </a:rPr>
              <a:t>A</a:t>
            </a:r>
            <a:r>
              <a:rPr lang="en-US" dirty="0">
                <a:latin typeface="Times New Roman"/>
                <a:ea typeface="Calibri"/>
                <a:cs typeface="Times New Roman"/>
              </a:rPr>
              <a:t>: β ≠ 0 for at least one independent variable</a:t>
            </a:r>
            <a:endParaRPr lang="en-US" sz="1600" dirty="0">
              <a:ea typeface="Calibri"/>
              <a:cs typeface="Times New Roman"/>
            </a:endParaRP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" y="2163342"/>
            <a:ext cx="8961120" cy="18184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3113" y="3735705"/>
            <a:ext cx="5057775" cy="1933575"/>
          </a:xfrm>
          <a:prstGeom prst="snip2SameRect">
            <a:avLst>
              <a:gd name="adj1" fmla="val 30854"/>
              <a:gd name="adj2" fmla="val 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Rectangle 6"/>
          <p:cNvSpPr/>
          <p:nvPr/>
        </p:nvSpPr>
        <p:spPr>
          <a:xfrm>
            <a:off x="5772150" y="4417364"/>
            <a:ext cx="1280160" cy="229044"/>
          </a:xfrm>
          <a:prstGeom prst="rect">
            <a:avLst/>
          </a:prstGeom>
          <a:solidFill>
            <a:srgbClr val="FFFF0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311593" y="3093776"/>
            <a:ext cx="731520" cy="229044"/>
          </a:xfrm>
          <a:prstGeom prst="rect">
            <a:avLst/>
          </a:prstGeom>
          <a:solidFill>
            <a:srgbClr val="FFFF0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08100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958215"/>
            <a:ext cx="9144000" cy="3189956"/>
            <a:chOff x="0" y="958215"/>
            <a:chExt cx="9144000" cy="3189956"/>
          </a:xfrm>
        </p:grpSpPr>
        <p:pic>
          <p:nvPicPr>
            <p:cNvPr id="5124" name="Picture 4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958215"/>
              <a:ext cx="9144000" cy="31899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2" name="Rectangle 1"/>
            <p:cNvSpPr/>
            <p:nvPr/>
          </p:nvSpPr>
          <p:spPr>
            <a:xfrm>
              <a:off x="7898130" y="3177540"/>
              <a:ext cx="617220" cy="737235"/>
            </a:xfrm>
            <a:prstGeom prst="rect">
              <a:avLst/>
            </a:prstGeom>
            <a:solidFill>
              <a:srgbClr val="FFFF00">
                <a:alpha val="3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/>
            <p:cNvSpPr/>
            <p:nvPr/>
          </p:nvSpPr>
          <p:spPr>
            <a:xfrm>
              <a:off x="7898130" y="1924051"/>
              <a:ext cx="617220" cy="156210"/>
            </a:xfrm>
            <a:prstGeom prst="rect">
              <a:avLst/>
            </a:prstGeom>
            <a:solidFill>
              <a:srgbClr val="FFFF00">
                <a:alpha val="3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/>
            <p:cNvSpPr/>
            <p:nvPr/>
          </p:nvSpPr>
          <p:spPr>
            <a:xfrm>
              <a:off x="7898130" y="2461038"/>
              <a:ext cx="617220" cy="184309"/>
            </a:xfrm>
            <a:prstGeom prst="rect">
              <a:avLst/>
            </a:prstGeom>
            <a:solidFill>
              <a:srgbClr val="FFFF00">
                <a:alpha val="3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/>
            <p:cNvSpPr/>
            <p:nvPr/>
          </p:nvSpPr>
          <p:spPr>
            <a:xfrm>
              <a:off x="7898130" y="2820607"/>
              <a:ext cx="617220" cy="184309"/>
            </a:xfrm>
            <a:prstGeom prst="rect">
              <a:avLst/>
            </a:prstGeom>
            <a:solidFill>
              <a:srgbClr val="FFFF00">
                <a:alpha val="3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/>
            <p:cNvSpPr/>
            <p:nvPr/>
          </p:nvSpPr>
          <p:spPr>
            <a:xfrm>
              <a:off x="3989070" y="3177540"/>
              <a:ext cx="537210" cy="737235"/>
            </a:xfrm>
            <a:prstGeom prst="rect">
              <a:avLst/>
            </a:prstGeom>
            <a:solidFill>
              <a:srgbClr val="FFFF00">
                <a:alpha val="3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989070" y="2461038"/>
              <a:ext cx="548640" cy="184309"/>
            </a:xfrm>
            <a:prstGeom prst="rect">
              <a:avLst/>
            </a:prstGeom>
            <a:solidFill>
              <a:srgbClr val="FFFF00">
                <a:alpha val="3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989070" y="1909303"/>
              <a:ext cx="548640" cy="184309"/>
            </a:xfrm>
            <a:prstGeom prst="rect">
              <a:avLst/>
            </a:prstGeom>
            <a:solidFill>
              <a:srgbClr val="FFFF00">
                <a:alpha val="3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2" name="Picture 3" descr="C:\Users\townesm\Downloads\clipart886407.png"/>
          <p:cNvPicPr>
            <a:picLocks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072" y="2574297"/>
            <a:ext cx="548640" cy="274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3" descr="C:\Users\townesm\Downloads\clipart886407.png"/>
          <p:cNvPicPr>
            <a:picLocks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8424" y="2965862"/>
            <a:ext cx="548640" cy="274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3" descr="C:\Users\townesm\Downloads\clipart886407.png"/>
          <p:cNvPicPr>
            <a:picLocks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072" y="2204664"/>
            <a:ext cx="548640" cy="274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3" descr="C:\Users\townesm\Downloads\clipart886407.png"/>
          <p:cNvPicPr>
            <a:picLocks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0696" y="2767641"/>
            <a:ext cx="548640" cy="274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802086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192024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/>
              <a:t>Hierarchical Regression Analysis</a:t>
            </a: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10532295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5708938"/>
              </p:ext>
            </p:extLst>
          </p:nvPr>
        </p:nvGraphicFramePr>
        <p:xfrm>
          <a:off x="646710" y="110998"/>
          <a:ext cx="7605751" cy="4918194"/>
        </p:xfrm>
        <a:graphic>
          <a:graphicData uri="http://schemas.openxmlformats.org/drawingml/2006/table">
            <a:tbl>
              <a:tblPr firstRow="1" firstCol="1" bandRow="1"/>
              <a:tblGrid>
                <a:gridCol w="1972945"/>
                <a:gridCol w="1177430"/>
                <a:gridCol w="334782"/>
                <a:gridCol w="1042541"/>
                <a:gridCol w="334782"/>
                <a:gridCol w="1042541"/>
                <a:gridCol w="334782"/>
                <a:gridCol w="1042541"/>
                <a:gridCol w="323407"/>
              </a:tblGrid>
              <a:tr h="273233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 </a:t>
                      </a:r>
                      <a:endParaRPr lang="en-US" sz="1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16532" marB="16532">
                    <a:lnL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FFFFFF"/>
                          </a:solidFill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Unstandardized</a:t>
                      </a:r>
                      <a:endParaRPr lang="en-US" sz="1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16532" marB="16532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Standardized</a:t>
                      </a:r>
                      <a:endParaRPr lang="en-US" sz="1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16532" marB="16532">
                    <a:lnL>
                      <a:noFill/>
                    </a:lnL>
                    <a:lnR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273233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Variable</a:t>
                      </a:r>
                      <a:endParaRPr lang="en-US" sz="1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16532" marB="16532">
                    <a:lnL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Model 1</a:t>
                      </a:r>
                      <a:endParaRPr lang="en-US" sz="1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16532" marB="16532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 </a:t>
                      </a:r>
                      <a:endParaRPr lang="en-US" sz="1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16532" marB="16532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Model 2</a:t>
                      </a:r>
                      <a:endParaRPr lang="en-US" sz="1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16532" marB="16532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 </a:t>
                      </a:r>
                      <a:endParaRPr lang="en-US" sz="1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16532" marB="16532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Model 1</a:t>
                      </a:r>
                      <a:endParaRPr lang="en-US" sz="1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16532" marB="1653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 </a:t>
                      </a:r>
                      <a:endParaRPr lang="en-US" sz="1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16532" marB="16532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Model 2</a:t>
                      </a:r>
                      <a:endParaRPr lang="en-US" sz="1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16532" marB="16532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 </a:t>
                      </a:r>
                      <a:endParaRPr lang="en-US" sz="1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16532" marB="16532">
                    <a:lnL>
                      <a:noFill/>
                    </a:lnL>
                    <a:lnR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</a:tr>
              <a:tr h="273233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Constant</a:t>
                      </a:r>
                      <a:endParaRPr lang="en-US" sz="1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16532" marB="16532">
                    <a:lnL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330.669</a:t>
                      </a:r>
                      <a:endParaRPr lang="en-US" sz="1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16532" marB="16532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 smtClean="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***</a:t>
                      </a:r>
                      <a:endParaRPr lang="en-US" sz="1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16532" marB="16532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331.411</a:t>
                      </a:r>
                      <a:endParaRPr lang="en-US" sz="1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16532" marB="16532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 smtClean="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***</a:t>
                      </a:r>
                      <a:endParaRPr lang="en-US" sz="1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16532" marB="16532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0.000</a:t>
                      </a:r>
                      <a:endParaRPr lang="en-US" sz="1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16532" marB="1653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 smtClean="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***</a:t>
                      </a:r>
                      <a:endParaRPr lang="en-US" sz="1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16532" marB="16532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0.000</a:t>
                      </a:r>
                      <a:endParaRPr lang="en-US" sz="1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16532" marB="16532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 smtClean="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***</a:t>
                      </a:r>
                      <a:endParaRPr lang="en-US" sz="1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16532" marB="16532">
                    <a:lnL>
                      <a:noFill/>
                    </a:lnL>
                    <a:lnR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3233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CLAIMS</a:t>
                      </a:r>
                      <a:endParaRPr lang="en-US" sz="1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16532" marB="16532">
                    <a:lnL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0.005</a:t>
                      </a:r>
                      <a:endParaRPr lang="en-US" sz="1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16532" marB="16532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 smtClean="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***</a:t>
                      </a:r>
                      <a:endParaRPr lang="en-US" sz="1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16532" marB="16532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0.008</a:t>
                      </a:r>
                      <a:endParaRPr lang="en-US" sz="1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16532" marB="16532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 smtClean="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***</a:t>
                      </a:r>
                      <a:endParaRPr lang="en-US" sz="1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16532" marB="16532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0.077</a:t>
                      </a:r>
                      <a:endParaRPr lang="en-US" sz="1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16532" marB="1653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 smtClean="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***</a:t>
                      </a:r>
                      <a:endParaRPr lang="en-US" sz="1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16532" marB="16532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0.127</a:t>
                      </a:r>
                      <a:endParaRPr lang="en-US" sz="1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16532" marB="16532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 smtClean="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***</a:t>
                      </a:r>
                      <a:endParaRPr lang="en-US" sz="1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16532" marB="16532">
                    <a:lnL>
                      <a:noFill/>
                    </a:lnL>
                    <a:lnR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</a:tr>
              <a:tr h="273233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CMADE</a:t>
                      </a:r>
                      <a:endParaRPr lang="en-US" sz="1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16532" marB="16532">
                    <a:lnL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0.001</a:t>
                      </a:r>
                      <a:endParaRPr lang="en-US" sz="1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16532" marB="16532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 </a:t>
                      </a:r>
                      <a:endParaRPr lang="en-US" sz="1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16532" marB="16532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0.001</a:t>
                      </a:r>
                      <a:endParaRPr lang="en-US" sz="1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16532" marB="16532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 </a:t>
                      </a:r>
                      <a:endParaRPr lang="en-US" sz="1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16532" marB="16532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0.021</a:t>
                      </a:r>
                      <a:endParaRPr lang="en-US" sz="1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16532" marB="1653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 </a:t>
                      </a:r>
                      <a:endParaRPr lang="en-US" sz="1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16532" marB="16532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0.022</a:t>
                      </a:r>
                      <a:endParaRPr lang="en-US" sz="1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16532" marB="16532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 </a:t>
                      </a:r>
                      <a:endParaRPr lang="en-US" sz="1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16532" marB="16532">
                    <a:lnL>
                      <a:noFill/>
                    </a:lnL>
                    <a:lnR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3233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GENERAL</a:t>
                      </a:r>
                      <a:endParaRPr lang="en-US" sz="1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16532" marB="16532">
                    <a:lnL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1.744</a:t>
                      </a:r>
                      <a:endParaRPr lang="en-US" sz="1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16532" marB="16532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 smtClean="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***</a:t>
                      </a:r>
                      <a:endParaRPr lang="en-US" sz="1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16532" marB="16532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1.752</a:t>
                      </a:r>
                      <a:endParaRPr lang="en-US" sz="1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16532" marB="16532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 smtClean="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***</a:t>
                      </a:r>
                      <a:endParaRPr lang="en-US" sz="1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16532" marB="16532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0.569</a:t>
                      </a:r>
                      <a:endParaRPr lang="en-US" sz="1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16532" marB="1653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 smtClean="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***</a:t>
                      </a:r>
                      <a:endParaRPr lang="en-US" sz="1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16532" marB="16532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0.572</a:t>
                      </a:r>
                      <a:endParaRPr lang="en-US" sz="1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16532" marB="16532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 smtClean="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***</a:t>
                      </a:r>
                      <a:endParaRPr lang="en-US" sz="1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16532" marB="16532">
                    <a:lnL>
                      <a:noFill/>
                    </a:lnL>
                    <a:lnR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</a:tr>
              <a:tr h="273233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GYEAR</a:t>
                      </a:r>
                      <a:endParaRPr lang="en-US" sz="1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16532" marB="16532">
                    <a:lnL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-0.166</a:t>
                      </a:r>
                      <a:endParaRPr lang="en-US" sz="1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16532" marB="16532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 smtClean="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***</a:t>
                      </a:r>
                      <a:endParaRPr lang="en-US" sz="1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16532" marB="16532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-0.166</a:t>
                      </a:r>
                      <a:endParaRPr lang="en-US" sz="1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16532" marB="16532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 smtClean="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***</a:t>
                      </a:r>
                      <a:endParaRPr lang="en-US" sz="1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16532" marB="16532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-0.221</a:t>
                      </a:r>
                      <a:endParaRPr lang="en-US" sz="1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16532" marB="1653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 smtClean="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***</a:t>
                      </a:r>
                      <a:endParaRPr lang="en-US" sz="1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16532" marB="16532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-0.222</a:t>
                      </a:r>
                      <a:endParaRPr lang="en-US" sz="1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16532" marB="16532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 smtClean="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***</a:t>
                      </a:r>
                      <a:endParaRPr lang="en-US" sz="1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16532" marB="16532">
                    <a:lnL>
                      <a:noFill/>
                    </a:lnL>
                    <a:lnR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3233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ORIGINAL</a:t>
                      </a:r>
                      <a:endParaRPr lang="en-US" sz="1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16532" marB="16532">
                    <a:lnL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-0.301</a:t>
                      </a:r>
                      <a:endParaRPr lang="en-US" sz="1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16532" marB="16532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 smtClean="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***</a:t>
                      </a:r>
                      <a:endParaRPr lang="en-US" sz="1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16532" marB="16532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-0.195</a:t>
                      </a:r>
                      <a:endParaRPr lang="en-US" sz="1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16532" marB="16532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 smtClean="0">
                          <a:effectLst/>
                          <a:latin typeface="Calibri"/>
                          <a:ea typeface="Calibri"/>
                          <a:cs typeface="Times New Roman"/>
                        </a:rPr>
                        <a:t>*</a:t>
                      </a:r>
                      <a:endParaRPr lang="en-US" sz="1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16532" marB="16532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-0.104</a:t>
                      </a:r>
                      <a:endParaRPr lang="en-US" sz="1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16532" marB="1653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 smtClean="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***</a:t>
                      </a:r>
                      <a:endParaRPr lang="en-US" sz="1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16532" marB="16532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-0.067</a:t>
                      </a:r>
                      <a:endParaRPr lang="en-US" sz="1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16532" marB="16532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*</a:t>
                      </a:r>
                      <a:endParaRPr lang="en-US" sz="1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16532" marB="16532">
                    <a:lnL>
                      <a:noFill/>
                    </a:lnL>
                    <a:lnR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</a:tr>
              <a:tr h="273233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RATIOCIT</a:t>
                      </a:r>
                      <a:endParaRPr lang="en-US" sz="1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16532" marB="16532">
                    <a:lnL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0.555</a:t>
                      </a:r>
                      <a:endParaRPr lang="en-US" sz="1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16532" marB="16532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 smtClean="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***</a:t>
                      </a:r>
                      <a:endParaRPr lang="en-US" sz="1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16532" marB="16532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0.557</a:t>
                      </a:r>
                      <a:endParaRPr lang="en-US" sz="1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16532" marB="16532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 smtClean="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***</a:t>
                      </a:r>
                      <a:endParaRPr lang="en-US" sz="1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16532" marB="16532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0.081</a:t>
                      </a:r>
                      <a:endParaRPr lang="en-US" sz="1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16532" marB="1653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 smtClean="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***</a:t>
                      </a:r>
                      <a:endParaRPr lang="en-US" sz="1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16532" marB="16532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0.082</a:t>
                      </a:r>
                      <a:endParaRPr lang="en-US" sz="1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16532" marB="16532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 smtClean="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***</a:t>
                      </a:r>
                      <a:endParaRPr lang="en-US" sz="1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16532" marB="16532">
                    <a:lnL>
                      <a:noFill/>
                    </a:lnL>
                    <a:lnR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3233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SECDUPBD</a:t>
                      </a:r>
                      <a:endParaRPr lang="en-US" sz="1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16532" marB="16532">
                    <a:lnL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 </a:t>
                      </a:r>
                      <a:endParaRPr lang="en-US" sz="1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16532" marB="16532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 </a:t>
                      </a:r>
                      <a:endParaRPr lang="en-US" sz="1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16532" marB="16532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0.053</a:t>
                      </a:r>
                      <a:endParaRPr lang="en-US" sz="1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16532" marB="16532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 </a:t>
                      </a:r>
                      <a:endParaRPr lang="en-US" sz="1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16532" marB="16532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 </a:t>
                      </a:r>
                      <a:endParaRPr lang="en-US" sz="1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16532" marB="1653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 </a:t>
                      </a:r>
                      <a:endParaRPr lang="en-US" sz="1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16532" marB="16532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0.023</a:t>
                      </a:r>
                      <a:endParaRPr lang="en-US" sz="1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16532" marB="16532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 </a:t>
                      </a:r>
                      <a:endParaRPr lang="en-US" sz="1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16532" marB="16532">
                    <a:lnL>
                      <a:noFill/>
                    </a:lnL>
                    <a:lnR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</a:tr>
              <a:tr h="273233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SELFCTUB</a:t>
                      </a:r>
                      <a:endParaRPr lang="en-US" sz="1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16532" marB="16532">
                    <a:lnL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 </a:t>
                      </a:r>
                      <a:endParaRPr lang="en-US" sz="1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16532" marB="16532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 </a:t>
                      </a:r>
                      <a:endParaRPr lang="en-US" sz="1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16532" marB="16532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-0.033</a:t>
                      </a:r>
                      <a:endParaRPr lang="en-US" sz="1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16532" marB="16532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 </a:t>
                      </a:r>
                      <a:endParaRPr lang="en-US" sz="1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16532" marB="16532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 </a:t>
                      </a:r>
                      <a:endParaRPr lang="en-US" sz="1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16532" marB="1653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 </a:t>
                      </a:r>
                      <a:endParaRPr lang="en-US" sz="1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16532" marB="16532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-0.010</a:t>
                      </a:r>
                      <a:endParaRPr lang="en-US" sz="1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16532" marB="16532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 </a:t>
                      </a:r>
                      <a:endParaRPr lang="en-US" sz="1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16532" marB="16532">
                    <a:lnL>
                      <a:noFill/>
                    </a:lnL>
                    <a:lnR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3233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CLAIMSORIGINAL</a:t>
                      </a:r>
                      <a:endParaRPr lang="en-US" sz="1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16532" marB="16532">
                    <a:lnL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 </a:t>
                      </a:r>
                      <a:endParaRPr lang="en-US" sz="1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16532" marB="16532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 </a:t>
                      </a:r>
                      <a:endParaRPr lang="en-US" sz="1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16532" marB="16532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-0.007</a:t>
                      </a:r>
                      <a:endParaRPr lang="en-US" sz="1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16532" marB="16532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 </a:t>
                      </a:r>
                      <a:endParaRPr lang="en-US" sz="1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16532" marB="16532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 </a:t>
                      </a:r>
                      <a:endParaRPr lang="en-US" sz="1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16532" marB="1653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 </a:t>
                      </a:r>
                      <a:endParaRPr lang="en-US" sz="1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16532" marB="16532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-0.073</a:t>
                      </a:r>
                      <a:endParaRPr lang="en-US" sz="1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16532" marB="16532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 </a:t>
                      </a:r>
                      <a:endParaRPr lang="en-US" sz="1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16532" marB="16532">
                    <a:lnL>
                      <a:noFill/>
                    </a:lnL>
                    <a:lnR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</a:tr>
              <a:tr h="273233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 </a:t>
                      </a:r>
                      <a:endParaRPr lang="en-US" sz="1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16532" marB="16532">
                    <a:lnL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 </a:t>
                      </a:r>
                      <a:endParaRPr lang="en-US" sz="1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16532" marB="16532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 </a:t>
                      </a:r>
                      <a:endParaRPr lang="en-US" sz="1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16532" marB="16532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 </a:t>
                      </a:r>
                      <a:endParaRPr lang="en-US" sz="1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16532" marB="16532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 </a:t>
                      </a:r>
                      <a:endParaRPr lang="en-US" sz="1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16532" marB="16532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 </a:t>
                      </a:r>
                      <a:endParaRPr lang="en-US" sz="1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16532" marB="1653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 </a:t>
                      </a:r>
                      <a:endParaRPr lang="en-US" sz="1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16532" marB="16532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 </a:t>
                      </a:r>
                      <a:endParaRPr lang="en-US" sz="1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16532" marB="16532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 </a:t>
                      </a:r>
                      <a:endParaRPr lang="en-US" sz="1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16532" marB="16532">
                    <a:lnL>
                      <a:noFill/>
                    </a:lnL>
                    <a:lnR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3233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Adj. R</a:t>
                      </a:r>
                      <a:r>
                        <a:rPr lang="en-US" sz="1100" b="1" baseline="3000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2</a:t>
                      </a:r>
                      <a:endParaRPr lang="en-US" sz="1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16532" marB="16532">
                    <a:lnL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0.436</a:t>
                      </a:r>
                      <a:endParaRPr lang="en-US" sz="1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16532" marB="16532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 </a:t>
                      </a:r>
                      <a:endParaRPr lang="en-US" sz="1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16532" marB="16532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0.437</a:t>
                      </a:r>
                      <a:endParaRPr lang="en-US" sz="1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16532" marB="16532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 </a:t>
                      </a:r>
                      <a:endParaRPr lang="en-US" sz="1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16532" marB="16532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0.436</a:t>
                      </a:r>
                      <a:endParaRPr lang="en-US" sz="1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16532" marB="1653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 </a:t>
                      </a:r>
                      <a:endParaRPr lang="en-US" sz="1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16532" marB="16532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0.437</a:t>
                      </a:r>
                      <a:endParaRPr lang="en-US" sz="1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16532" marB="16532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 </a:t>
                      </a:r>
                      <a:endParaRPr lang="en-US" sz="1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16532" marB="16532">
                    <a:lnL>
                      <a:noFill/>
                    </a:lnL>
                    <a:lnR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</a:tr>
              <a:tr h="273233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Adj. R</a:t>
                      </a:r>
                      <a:r>
                        <a:rPr lang="en-US" sz="1100" b="1" baseline="3000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2</a:t>
                      </a:r>
                      <a:r>
                        <a:rPr lang="en-US" sz="1100" b="1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 change</a:t>
                      </a:r>
                      <a:endParaRPr lang="en-US" sz="1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16532" marB="16532">
                    <a:lnL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0.436</a:t>
                      </a:r>
                      <a:endParaRPr lang="en-US" sz="1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16532" marB="16532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 </a:t>
                      </a:r>
                      <a:endParaRPr lang="en-US" sz="1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16532" marB="16532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0.001</a:t>
                      </a:r>
                      <a:endParaRPr lang="en-US" sz="1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16532" marB="16532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 </a:t>
                      </a:r>
                      <a:endParaRPr lang="en-US" sz="1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16532" marB="16532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0.436</a:t>
                      </a:r>
                      <a:endParaRPr lang="en-US" sz="1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16532" marB="1653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 </a:t>
                      </a:r>
                      <a:endParaRPr lang="en-US" sz="1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16532" marB="16532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0.001</a:t>
                      </a:r>
                      <a:endParaRPr lang="en-US" sz="1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16532" marB="16532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 </a:t>
                      </a:r>
                      <a:endParaRPr lang="en-US" sz="1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16532" marB="16532">
                    <a:lnL>
                      <a:noFill/>
                    </a:lnL>
                    <a:lnR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3233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F</a:t>
                      </a:r>
                      <a:endParaRPr lang="en-US" sz="1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16532" marB="16532">
                    <a:lnL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215.741</a:t>
                      </a:r>
                      <a:endParaRPr lang="en-US" sz="1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16532" marB="16532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*</a:t>
                      </a:r>
                      <a:endParaRPr lang="en-US" sz="1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16532" marB="16532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144.442</a:t>
                      </a:r>
                      <a:endParaRPr lang="en-US" sz="1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16532" marB="16532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*</a:t>
                      </a:r>
                      <a:endParaRPr lang="en-US" sz="1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16532" marB="16532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215.741</a:t>
                      </a:r>
                      <a:endParaRPr lang="en-US" sz="1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16532" marB="1653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*</a:t>
                      </a:r>
                      <a:endParaRPr lang="en-US" sz="1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16532" marB="16532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144.442</a:t>
                      </a:r>
                      <a:endParaRPr lang="en-US" sz="1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16532" marB="16532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*</a:t>
                      </a:r>
                      <a:endParaRPr lang="en-US" sz="1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16532" marB="16532">
                    <a:lnL>
                      <a:noFill/>
                    </a:lnL>
                    <a:lnR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</a:tr>
              <a:tr h="273233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F change</a:t>
                      </a:r>
                      <a:endParaRPr lang="en-US" sz="1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16532" marB="16532">
                    <a:lnL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215.741</a:t>
                      </a:r>
                      <a:endParaRPr lang="en-US" sz="1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16532" marB="16532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*</a:t>
                      </a:r>
                      <a:endParaRPr lang="en-US" sz="1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16532" marB="16532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1.474</a:t>
                      </a:r>
                      <a:endParaRPr lang="en-US" sz="1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16532" marB="16532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 </a:t>
                      </a:r>
                      <a:endParaRPr lang="en-US" sz="1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16532" marB="16532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215.741</a:t>
                      </a:r>
                      <a:endParaRPr lang="en-US" sz="1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16532" marB="1653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*</a:t>
                      </a:r>
                      <a:endParaRPr lang="en-US" sz="1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16532" marB="16532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1.474</a:t>
                      </a:r>
                      <a:endParaRPr lang="en-US" sz="1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16532" marB="16532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 </a:t>
                      </a:r>
                      <a:endParaRPr lang="en-US" sz="1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16532" marB="16532">
                    <a:lnL>
                      <a:noFill/>
                    </a:lnL>
                    <a:lnR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3233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l-GR" sz="1100" b="1" dirty="0" smtClean="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Δ</a:t>
                      </a:r>
                      <a:r>
                        <a:rPr lang="en-US" sz="1100" b="1" dirty="0" smtClean="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 F</a:t>
                      </a:r>
                      <a:endParaRPr lang="en-US" sz="1100" b="1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0" marR="0" marT="16532" marB="16532">
                    <a:lnL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 smtClean="0">
                          <a:effectLst/>
                          <a:latin typeface="Calibri"/>
                          <a:ea typeface="Calibri"/>
                          <a:cs typeface="Times New Roman"/>
                        </a:rPr>
                        <a:t>215.741</a:t>
                      </a:r>
                      <a:endParaRPr lang="en-US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16532" marB="16532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16532" marB="16532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 smtClean="0">
                          <a:effectLst/>
                          <a:latin typeface="Calibri"/>
                          <a:ea typeface="Calibri"/>
                          <a:cs typeface="Times New Roman"/>
                        </a:rPr>
                        <a:t>71.299</a:t>
                      </a:r>
                      <a:endParaRPr lang="en-US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16532" marB="16532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16532" marB="16532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 smtClean="0">
                          <a:effectLst/>
                          <a:latin typeface="Calibri"/>
                          <a:ea typeface="Calibri"/>
                          <a:cs typeface="Times New Roman"/>
                        </a:rPr>
                        <a:t>215.741</a:t>
                      </a:r>
                      <a:endParaRPr lang="en-US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16532" marB="1653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16532" marB="16532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 smtClean="0">
                          <a:effectLst/>
                          <a:latin typeface="Calibri"/>
                          <a:ea typeface="Calibri"/>
                          <a:cs typeface="Times New Roman"/>
                        </a:rPr>
                        <a:t>71.299</a:t>
                      </a:r>
                      <a:endParaRPr lang="en-US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16532" marB="16532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16532" marB="16532">
                    <a:lnL>
                      <a:noFill/>
                    </a:lnL>
                    <a:lnR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3" name="Rectangle 2"/>
          <p:cNvSpPr/>
          <p:nvPr/>
        </p:nvSpPr>
        <p:spPr>
          <a:xfrm>
            <a:off x="620644" y="5084564"/>
            <a:ext cx="2531462" cy="49680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14000"/>
              </a:lnSpc>
            </a:pPr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Dependent variable: </a:t>
            </a:r>
            <a:r>
              <a:rPr lang="en-US" sz="1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logCRECEIVE</a:t>
            </a:r>
            <a:endParaRPr lang="en-US" sz="1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4000"/>
              </a:lnSpc>
            </a:pPr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*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&lt; 0.05; ** p &lt; 0.01; *** p &lt; 0.001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4" descr="C:\Users\townesm\Downloads\kisspng-close-up-font-underline-5b0c091aeb9c10.6365625315275154189651.png"/>
          <p:cNvPicPr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644" y="3299893"/>
            <a:ext cx="1554480" cy="1710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C:\Users\townesm\Downloads\kisspng-close-up-font-underline-5b0c091aeb9c10.6365625315275154189651.png"/>
          <p:cNvPicPr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644" y="2467380"/>
            <a:ext cx="1005840" cy="1710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 descr="C:\Users\townesm\Downloads\kisspng-close-up-font-underline-5b0c091aeb9c10.6365625315275154189651.png"/>
          <p:cNvPicPr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644" y="1361911"/>
            <a:ext cx="1097280" cy="1710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3" descr="C:\Users\townesm\Downloads\clipart886407.png"/>
          <p:cNvPicPr>
            <a:picLocks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2758" y="3610383"/>
            <a:ext cx="640080" cy="365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72966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192024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/>
              <a:t>Path Model</a:t>
            </a: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42251675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917" y="296193"/>
            <a:ext cx="8686800" cy="5126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18085" y="713818"/>
            <a:ext cx="3718566" cy="219456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090407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3704"/>
          <a:stretch/>
        </p:blipFill>
        <p:spPr bwMode="auto">
          <a:xfrm>
            <a:off x="-1" y="767889"/>
            <a:ext cx="5348258" cy="3657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12" r="21379"/>
          <a:stretch/>
        </p:blipFill>
        <p:spPr bwMode="auto">
          <a:xfrm>
            <a:off x="5473523" y="767888"/>
            <a:ext cx="3664953" cy="39319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083847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1179461"/>
            <a:ext cx="6858000" cy="3356078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/>
          <p:cNvSpPr txBox="1"/>
          <p:nvPr/>
        </p:nvSpPr>
        <p:spPr>
          <a:xfrm>
            <a:off x="3429000" y="546878"/>
            <a:ext cx="2286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Theoretical Model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81485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5802"/>
            <a:ext cx="4572000" cy="262646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634137"/>
            <a:ext cx="4572000" cy="259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" y="3564254"/>
            <a:ext cx="6858000" cy="2020035"/>
          </a:xfrm>
          <a:prstGeom prst="rect">
            <a:avLst/>
          </a:prstGeom>
        </p:spPr>
      </p:pic>
      <p:cxnSp>
        <p:nvCxnSpPr>
          <p:cNvPr id="6" name="Straight Connector 5"/>
          <p:cNvCxnSpPr/>
          <p:nvPr/>
        </p:nvCxnSpPr>
        <p:spPr>
          <a:xfrm>
            <a:off x="4537710" y="205740"/>
            <a:ext cx="0" cy="3086100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377315" y="32516"/>
            <a:ext cx="18173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Original Model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5949315" y="32516"/>
            <a:ext cx="18173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Revised Model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2460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192024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/>
              <a:t>Binary Logistic Regression</a:t>
            </a: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36483614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2286000" cy="5715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5669280" y="0"/>
            <a:ext cx="3474720" cy="24679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542" y="818366"/>
            <a:ext cx="2011680" cy="25172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542" y="3502152"/>
            <a:ext cx="2011680" cy="12070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44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3640" y="143827"/>
            <a:ext cx="2781300" cy="2324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45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8890" y="2604135"/>
            <a:ext cx="5372100" cy="301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46" name="Picture 6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42635" y="143827"/>
            <a:ext cx="3152775" cy="1190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47" name="Picture 7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7907" y="1478280"/>
            <a:ext cx="2600325" cy="771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-40944" y="4774709"/>
            <a:ext cx="239904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Dependent variable: CRECBINARY </a:t>
            </a:r>
          </a:p>
          <a:p>
            <a:r>
              <a:rPr lang="en-US" sz="110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= 2 or fewer citations</a:t>
            </a:r>
            <a:endParaRPr lang="en-US" sz="11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10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 = 3 or more citations</a:t>
            </a:r>
          </a:p>
        </p:txBody>
      </p:sp>
    </p:spTree>
    <p:extLst>
      <p:ext uri="{BB962C8B-B14F-4D97-AF65-F5344CB8AC3E}">
        <p14:creationId xmlns:p14="http://schemas.microsoft.com/office/powerpoint/2010/main" val="1715621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685800" y="376360"/>
            <a:ext cx="7772400" cy="2612992"/>
            <a:chOff x="685800" y="376360"/>
            <a:chExt cx="7772400" cy="2612992"/>
          </a:xfrm>
        </p:grpSpPr>
        <p:pic>
          <p:nvPicPr>
            <p:cNvPr id="11266" name="Picture 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5800" y="376360"/>
              <a:ext cx="7772400" cy="240196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3" name="TextBox 2"/>
            <p:cNvSpPr txBox="1"/>
            <p:nvPr/>
          </p:nvSpPr>
          <p:spPr>
            <a:xfrm>
              <a:off x="1062990" y="2727742"/>
              <a:ext cx="731520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smtClean="0">
                  <a:latin typeface="Arial" panose="020B0604020202020204" pitchFamily="34" charset="0"/>
                  <a:cs typeface="Arial" panose="020B0604020202020204" pitchFamily="34" charset="0"/>
                </a:rPr>
                <a:t>Dependent variable: CRECBINARY (1 = 2 or fewer citations; 2 = 3 or more citations)</a:t>
              </a:r>
            </a:p>
          </p:txBody>
        </p:sp>
        <p:pic>
          <p:nvPicPr>
            <p:cNvPr id="8" name="Picture 3" descr="C:\Users\townesm\Downloads\clipart886407.png"/>
            <p:cNvPicPr>
              <a:picLocks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42374" y="1689422"/>
              <a:ext cx="914400" cy="36576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/>
              <p:cNvSpPr/>
              <p:nvPr/>
            </p:nvSpPr>
            <p:spPr>
              <a:xfrm>
                <a:off x="640080" y="3772819"/>
                <a:ext cx="7863840" cy="544123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>
                            <a:latin typeface="Cambria Math"/>
                            <a:cs typeface="Times New Roman"/>
                          </a:rPr>
                        </m:ctrlPr>
                      </m:accPr>
                      <m:e>
                        <m:r>
                          <a:rPr lang="en-US" i="1">
                            <a:effectLst/>
                            <a:latin typeface="Cambria Math"/>
                            <a:ea typeface="Calibri"/>
                            <a:cs typeface="Times New Roman"/>
                          </a:rPr>
                          <m:t>𝑝</m:t>
                        </m:r>
                      </m:e>
                    </m:acc>
                  </m:oMath>
                </a14:m>
                <a:r>
                  <a:rPr lang="en-US" dirty="0">
                    <a:effectLst/>
                    <a:latin typeface="Times New Roman"/>
                    <a:ea typeface="Calibri"/>
                  </a:rPr>
                  <a:t> </a:t>
                </a:r>
                <a:r>
                  <a:rPr lang="fr-FR" dirty="0">
                    <a:effectLst/>
                    <a:latin typeface="Times New Roman"/>
                    <a:ea typeface="Calibri"/>
                  </a:rPr>
                  <a:t>= Logit</a:t>
                </a:r>
                <a:r>
                  <a:rPr lang="fr-FR" baseline="30000" dirty="0">
                    <a:effectLst/>
                    <a:latin typeface="Times New Roman"/>
                    <a:ea typeface="Calibri"/>
                  </a:rPr>
                  <a:t>-1</a:t>
                </a:r>
                <a:r>
                  <a:rPr lang="fr-FR" dirty="0">
                    <a:effectLst/>
                    <a:latin typeface="Times New Roman"/>
                    <a:ea typeface="Calibri"/>
                  </a:rPr>
                  <a:t>(</a:t>
                </a:r>
                <a14:m>
                  <m:oMath xmlns:m="http://schemas.openxmlformats.org/officeDocument/2006/math">
                    <m:r>
                      <a:rPr lang="en-US" i="1">
                        <a:effectLst/>
                        <a:latin typeface="Cambria Math"/>
                        <a:ea typeface="Calibri"/>
                        <a:cs typeface="Times New Roman"/>
                      </a:rPr>
                      <m:t>𝑝</m:t>
                    </m:r>
                  </m:oMath>
                </a14:m>
                <a:r>
                  <a:rPr lang="fr-FR" dirty="0">
                    <a:effectLst/>
                    <a:latin typeface="Times New Roman"/>
                    <a:ea typeface="Calibri"/>
                  </a:rPr>
                  <a:t>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effectLst/>
                            <a:latin typeface="Cambria Math"/>
                            <a:cs typeface="Times New Roman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i="1">
                                <a:effectLst/>
                                <a:latin typeface="Cambria Math"/>
                                <a:cs typeface="Times New Roman"/>
                              </a:rPr>
                            </m:ctrlPr>
                          </m:sSupPr>
                          <m:e>
                            <m:r>
                              <a:rPr lang="en-US" i="1">
                                <a:effectLst/>
                                <a:latin typeface="Cambria Math"/>
                                <a:ea typeface="Calibri"/>
                                <a:cs typeface="Times New Roman"/>
                              </a:rPr>
                              <m:t>𝑒</m:t>
                            </m:r>
                          </m:e>
                          <m:sup>
                            <m:r>
                              <a:rPr lang="fr-FR">
                                <a:effectLst/>
                                <a:latin typeface="Cambria Math"/>
                                <a:ea typeface="Calibri"/>
                                <a:cs typeface="Times New Roman"/>
                              </a:rPr>
                              <m:t>1054.771 + 0.015</m:t>
                            </m:r>
                            <m:d>
                              <m:dPr>
                                <m:ctrlPr>
                                  <a:rPr lang="en-US" i="1">
                                    <a:effectLst/>
                                    <a:latin typeface="Cambria Math"/>
                                    <a:cs typeface="Times New Roman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fr-FR">
                                    <a:effectLst/>
                                    <a:latin typeface="Cambria Math"/>
                                    <a:ea typeface="Calibri"/>
                                    <a:cs typeface="Courier New"/>
                                  </a:rPr>
                                  <m:t>CLAIMS</m:t>
                                </m:r>
                              </m:e>
                            </m:d>
                            <m:r>
                              <a:rPr lang="fr-FR">
                                <a:effectLst/>
                                <a:latin typeface="Cambria Math"/>
                                <a:ea typeface="Calibri"/>
                                <a:cs typeface="Times New Roman"/>
                              </a:rPr>
                              <m:t> – 0.529</m:t>
                            </m:r>
                            <m:d>
                              <m:dPr>
                                <m:ctrlPr>
                                  <a:rPr lang="en-US" i="1">
                                    <a:effectLst/>
                                    <a:latin typeface="Cambria Math"/>
                                    <a:cs typeface="Times New Roman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fr-FR">
                                    <a:effectLst/>
                                    <a:latin typeface="Cambria Math"/>
                                    <a:ea typeface="Calibri"/>
                                    <a:cs typeface="Courier New"/>
                                  </a:rPr>
                                  <m:t>GYEAR</m:t>
                                </m:r>
                              </m:e>
                            </m:d>
                            <m:r>
                              <a:rPr lang="fr-FR">
                                <a:effectLst/>
                                <a:latin typeface="Cambria Math"/>
                                <a:ea typeface="Calibri"/>
                                <a:cs typeface="Times New Roman"/>
                              </a:rPr>
                              <m:t> + 4.733(</m:t>
                            </m:r>
                            <m:r>
                              <m:rPr>
                                <m:sty m:val="p"/>
                              </m:rPr>
                              <a:rPr lang="fr-FR">
                                <a:effectLst/>
                                <a:latin typeface="Cambria Math"/>
                                <a:ea typeface="Calibri"/>
                                <a:cs typeface="Courier New"/>
                              </a:rPr>
                              <m:t>GENERAL</m:t>
                            </m:r>
                            <m:r>
                              <a:rPr lang="fr-FR">
                                <a:effectLst/>
                                <a:latin typeface="Cambria Math"/>
                                <a:ea typeface="Calibri"/>
                                <a:cs typeface="Times New Roman"/>
                              </a:rPr>
                              <m:t>) – 0.627(</m:t>
                            </m:r>
                            <m:r>
                              <m:rPr>
                                <m:sty m:val="p"/>
                              </m:rPr>
                              <a:rPr lang="fr-FR">
                                <a:effectLst/>
                                <a:latin typeface="Cambria Math"/>
                                <a:ea typeface="Calibri"/>
                                <a:cs typeface="Courier New"/>
                              </a:rPr>
                              <m:t>ORIGINAL</m:t>
                            </m:r>
                            <m:r>
                              <a:rPr lang="fr-FR">
                                <a:effectLst/>
                                <a:latin typeface="Cambria Math"/>
                                <a:ea typeface="Calibri"/>
                                <a:cs typeface="Times New Roman"/>
                              </a:rPr>
                              <m:t>)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i="1">
                                <a:effectLst/>
                                <a:latin typeface="Cambria Math"/>
                                <a:cs typeface="Times New Roman"/>
                              </a:rPr>
                            </m:ctrlPr>
                          </m:sSupPr>
                          <m:e>
                            <m:r>
                              <a:rPr lang="fr-FR" i="1">
                                <a:effectLst/>
                                <a:latin typeface="Cambria Math"/>
                                <a:ea typeface="Calibri"/>
                                <a:cs typeface="Times New Roman"/>
                              </a:rPr>
                              <m:t>1+ </m:t>
                            </m:r>
                            <m:r>
                              <a:rPr lang="en-US" i="1">
                                <a:effectLst/>
                                <a:latin typeface="Cambria Math"/>
                                <a:ea typeface="Calibri"/>
                                <a:cs typeface="Times New Roman"/>
                              </a:rPr>
                              <m:t>𝑒</m:t>
                            </m:r>
                          </m:e>
                          <m:sup>
                            <m:r>
                              <a:rPr lang="fr-FR">
                                <a:effectLst/>
                                <a:latin typeface="Cambria Math"/>
                                <a:ea typeface="Calibri"/>
                                <a:cs typeface="Times New Roman"/>
                              </a:rPr>
                              <m:t>1054.771 + 0.015</m:t>
                            </m:r>
                            <m:d>
                              <m:dPr>
                                <m:ctrlPr>
                                  <a:rPr lang="en-US" i="1">
                                    <a:effectLst/>
                                    <a:latin typeface="Cambria Math"/>
                                    <a:cs typeface="Times New Roman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fr-FR">
                                    <a:effectLst/>
                                    <a:latin typeface="Cambria Math"/>
                                    <a:ea typeface="Calibri"/>
                                    <a:cs typeface="Courier New"/>
                                  </a:rPr>
                                  <m:t>CLAIMS</m:t>
                                </m:r>
                              </m:e>
                            </m:d>
                            <m:r>
                              <a:rPr lang="fr-FR">
                                <a:effectLst/>
                                <a:latin typeface="Cambria Math"/>
                                <a:ea typeface="Calibri"/>
                                <a:cs typeface="Times New Roman"/>
                              </a:rPr>
                              <m:t> – 0.529</m:t>
                            </m:r>
                            <m:d>
                              <m:dPr>
                                <m:ctrlPr>
                                  <a:rPr lang="en-US" i="1">
                                    <a:effectLst/>
                                    <a:latin typeface="Cambria Math"/>
                                    <a:cs typeface="Times New Roman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fr-FR">
                                    <a:effectLst/>
                                    <a:latin typeface="Cambria Math"/>
                                    <a:ea typeface="Calibri"/>
                                    <a:cs typeface="Courier New"/>
                                  </a:rPr>
                                  <m:t>GYEAR</m:t>
                                </m:r>
                              </m:e>
                            </m:d>
                            <m:r>
                              <a:rPr lang="fr-FR">
                                <a:effectLst/>
                                <a:latin typeface="Cambria Math"/>
                                <a:ea typeface="Calibri"/>
                                <a:cs typeface="Times New Roman"/>
                              </a:rPr>
                              <m:t> + 4.733(</m:t>
                            </m:r>
                            <m:r>
                              <m:rPr>
                                <m:sty m:val="p"/>
                              </m:rPr>
                              <a:rPr lang="fr-FR">
                                <a:effectLst/>
                                <a:latin typeface="Cambria Math"/>
                                <a:ea typeface="Calibri"/>
                                <a:cs typeface="Courier New"/>
                              </a:rPr>
                              <m:t>GENERAL</m:t>
                            </m:r>
                            <m:r>
                              <a:rPr lang="fr-FR">
                                <a:effectLst/>
                                <a:latin typeface="Cambria Math"/>
                                <a:ea typeface="Calibri"/>
                                <a:cs typeface="Times New Roman"/>
                              </a:rPr>
                              <m:t>) – 0.627(</m:t>
                            </m:r>
                            <m:r>
                              <m:rPr>
                                <m:sty m:val="p"/>
                              </m:rPr>
                              <a:rPr lang="fr-FR">
                                <a:effectLst/>
                                <a:latin typeface="Cambria Math"/>
                                <a:ea typeface="Calibri"/>
                                <a:cs typeface="Courier New"/>
                              </a:rPr>
                              <m:t>ORIGINAL</m:t>
                            </m:r>
                            <m:r>
                              <a:rPr lang="fr-FR">
                                <a:effectLst/>
                                <a:latin typeface="Cambria Math"/>
                                <a:ea typeface="Calibri"/>
                                <a:cs typeface="Times New Roman"/>
                              </a:rPr>
                              <m:t>)</m:t>
                            </m:r>
                          </m:sup>
                        </m:sSup>
                      </m:den>
                    </m:f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80" y="3772819"/>
                <a:ext cx="7863840" cy="544123"/>
              </a:xfrm>
              <a:prstGeom prst="rect">
                <a:avLst/>
              </a:prstGeom>
              <a:blipFill rotWithShape="1">
                <a:blip r:embed="rId5"/>
                <a:stretch>
                  <a:fillRect b="-56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/>
          <p:cNvSpPr/>
          <p:nvPr/>
        </p:nvSpPr>
        <p:spPr>
          <a:xfrm>
            <a:off x="6137910" y="1748346"/>
            <a:ext cx="731520" cy="229044"/>
          </a:xfrm>
          <a:prstGeom prst="rect">
            <a:avLst/>
          </a:prstGeom>
          <a:solidFill>
            <a:srgbClr val="FFFF0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788670" y="3341132"/>
            <a:ext cx="74066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Probability that a patent receives more than 2 citations by other patents: </a:t>
            </a:r>
          </a:p>
        </p:txBody>
      </p:sp>
    </p:spTree>
    <p:extLst>
      <p:ext uri="{BB962C8B-B14F-4D97-AF65-F5344CB8AC3E}">
        <p14:creationId xmlns:p14="http://schemas.microsoft.com/office/powerpoint/2010/main" val="39257423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36576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/>
              <a:t>Limitations and Future Study</a:t>
            </a:r>
            <a:endParaRPr lang="en-US" sz="2800" b="1" dirty="0"/>
          </a:p>
        </p:txBody>
      </p:sp>
      <p:sp>
        <p:nvSpPr>
          <p:cNvPr id="3" name="TextBox 2"/>
          <p:cNvSpPr txBox="1"/>
          <p:nvPr/>
        </p:nvSpPr>
        <p:spPr>
          <a:xfrm>
            <a:off x="0" y="1097280"/>
            <a:ext cx="9144000" cy="3754874"/>
          </a:xfrm>
          <a:prstGeom prst="rect">
            <a:avLst/>
          </a:prstGeom>
          <a:noFill/>
        </p:spPr>
        <p:txBody>
          <a:bodyPr wrap="square" lIns="457200" rtlCol="0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Obtain more current data.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Buffer the sample data on the front and back time period to minimize truncation.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 smtClean="0"/>
              <a:t>Repeat </a:t>
            </a:r>
            <a:r>
              <a:rPr lang="en-US" dirty="0"/>
              <a:t>multiple regression and hierarchical </a:t>
            </a:r>
            <a:r>
              <a:rPr lang="en-US" dirty="0" smtClean="0"/>
              <a:t>regression analyses </a:t>
            </a:r>
            <a:r>
              <a:rPr lang="en-US" dirty="0"/>
              <a:t>using </a:t>
            </a:r>
            <a:r>
              <a:rPr lang="en-US" dirty="0" smtClean="0"/>
              <a:t>the </a:t>
            </a:r>
            <a:br>
              <a:rPr lang="en-US" dirty="0" smtClean="0"/>
            </a:br>
            <a:r>
              <a:rPr lang="en-US" dirty="0" smtClean="0"/>
              <a:t>natural </a:t>
            </a:r>
            <a:r>
              <a:rPr lang="en-US" dirty="0"/>
              <a:t>logarithm of </a:t>
            </a:r>
            <a:r>
              <a:rPr lang="en-US" dirty="0" smtClean="0"/>
              <a:t>the number of citations received </a:t>
            </a:r>
            <a:r>
              <a:rPr lang="en-US" dirty="0"/>
              <a:t>as dependent variable</a:t>
            </a:r>
            <a:r>
              <a:rPr lang="en-US" dirty="0" smtClean="0"/>
              <a:t>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 smtClean="0"/>
              <a:t>Repeat binary logistic regression using a mean split instead of median split.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 smtClean="0"/>
              <a:t>Modify path model using the measure of generality as the primary endogenous independent variable</a:t>
            </a:r>
            <a:r>
              <a:rPr lang="en-US" dirty="0"/>
              <a:t> </a:t>
            </a:r>
            <a:r>
              <a:rPr lang="en-US" dirty="0" smtClean="0"/>
              <a:t>instead of the number of claims.</a:t>
            </a:r>
            <a:endParaRPr lang="en-US" dirty="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Separate independent claims </a:t>
            </a:r>
            <a:r>
              <a:rPr lang="en-US" dirty="0" smtClean="0"/>
              <a:t>and dependent </a:t>
            </a:r>
            <a:r>
              <a:rPr lang="en-US" dirty="0"/>
              <a:t>claims </a:t>
            </a:r>
            <a:r>
              <a:rPr lang="en-US" dirty="0" smtClean="0"/>
              <a:t>as distinct variables.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 smtClean="0"/>
              <a:t>Include patent classifications and sub-classifications as an indicator of generality.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 smtClean="0"/>
              <a:t>Control for the patent categories.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 smtClean="0"/>
              <a:t>Consider the effects of technology readiness level (TRL).</a:t>
            </a:r>
          </a:p>
        </p:txBody>
      </p:sp>
    </p:spTree>
    <p:extLst>
      <p:ext uri="{BB962C8B-B14F-4D97-AF65-F5344CB8AC3E}">
        <p14:creationId xmlns:p14="http://schemas.microsoft.com/office/powerpoint/2010/main" val="32287807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36576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/>
              <a:t>Policy Implications</a:t>
            </a:r>
            <a:endParaRPr lang="en-US" sz="2800" b="1" dirty="0"/>
          </a:p>
        </p:txBody>
      </p:sp>
      <p:sp>
        <p:nvSpPr>
          <p:cNvPr id="3" name="TextBox 2"/>
          <p:cNvSpPr txBox="1"/>
          <p:nvPr/>
        </p:nvSpPr>
        <p:spPr>
          <a:xfrm>
            <a:off x="0" y="1097280"/>
            <a:ext cx="9144000" cy="2893100"/>
          </a:xfrm>
          <a:prstGeom prst="rect">
            <a:avLst/>
          </a:prstGeom>
          <a:noFill/>
        </p:spPr>
        <p:txBody>
          <a:bodyPr wrap="square" lIns="457200" rtlCol="0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P</a:t>
            </a:r>
            <a:r>
              <a:rPr lang="en-US" dirty="0" smtClean="0"/>
              <a:t>rovides </a:t>
            </a:r>
            <a:r>
              <a:rPr lang="en-US" dirty="0"/>
              <a:t>information to help both </a:t>
            </a:r>
            <a:r>
              <a:rPr lang="en-US" dirty="0" smtClean="0"/>
              <a:t>industry professionals and </a:t>
            </a:r>
            <a:r>
              <a:rPr lang="en-US" dirty="0"/>
              <a:t>policymakers better understand the drivers of the technology transfer </a:t>
            </a:r>
            <a:r>
              <a:rPr lang="en-US" dirty="0" smtClean="0"/>
              <a:t>outcomes.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 smtClean="0"/>
              <a:t>Identifies </a:t>
            </a:r>
            <a:r>
              <a:rPr lang="en-US" dirty="0"/>
              <a:t>possible factors that should be considered when forming public policy regarding technology transfer.  </a:t>
            </a:r>
            <a:endParaRPr lang="en-US" dirty="0" smtClean="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 smtClean="0"/>
              <a:t>Suggests that considering </a:t>
            </a:r>
            <a:r>
              <a:rPr lang="en-US" dirty="0"/>
              <a:t>non-transactional measures </a:t>
            </a:r>
            <a:r>
              <a:rPr lang="en-US"/>
              <a:t>of </a:t>
            </a:r>
            <a:r>
              <a:rPr lang="en-US" smtClean="0"/>
              <a:t>technology </a:t>
            </a:r>
            <a:r>
              <a:rPr lang="en-US" dirty="0"/>
              <a:t>transfer may be feasible.  </a:t>
            </a:r>
            <a:endParaRPr lang="en-US" dirty="0" smtClean="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 smtClean="0"/>
              <a:t>Affect </a:t>
            </a:r>
            <a:r>
              <a:rPr lang="en-US" dirty="0"/>
              <a:t>the objectives of policymakers with regard to technology transfer.  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 smtClean="0"/>
              <a:t>Influence </a:t>
            </a:r>
            <a:r>
              <a:rPr lang="en-US" dirty="0"/>
              <a:t>how policymakers think about technology transfer and how they formulate public policy to increase the transfer of federally-funded research to the private sector.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3521926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Questions and Answers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Open Discussion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98174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73844" y="489402"/>
            <a:ext cx="8686800" cy="4801314"/>
          </a:xfrm>
          <a:prstGeom prst="rect">
            <a:avLst/>
          </a:prstGeom>
        </p:spPr>
        <p:txBody>
          <a:bodyPr>
            <a:spAutoFit/>
          </a:bodyPr>
          <a:lstStyle/>
          <a:p>
            <a:pPr marL="457200" marR="0" indent="-457200">
              <a:spcBef>
                <a:spcPts val="0"/>
              </a:spcBef>
              <a:spcAft>
                <a:spcPts val="0"/>
              </a:spcAft>
            </a:pPr>
            <a:r>
              <a:rPr lang="en-US" dirty="0" err="1">
                <a:latin typeface="Times New Roman"/>
                <a:ea typeface="Calibri"/>
                <a:cs typeface="Times New Roman"/>
              </a:rPr>
              <a:t>Aldieri</a:t>
            </a:r>
            <a:r>
              <a:rPr lang="en-US" dirty="0">
                <a:latin typeface="Times New Roman"/>
                <a:ea typeface="Calibri"/>
                <a:cs typeface="Times New Roman"/>
              </a:rPr>
              <a:t>, L. ( 1 ), &amp; Vinci, C. P. ( 2 ). (</a:t>
            </a:r>
            <a:r>
              <a:rPr lang="en-US" dirty="0" err="1">
                <a:latin typeface="Times New Roman"/>
                <a:ea typeface="Calibri"/>
                <a:cs typeface="Times New Roman"/>
              </a:rPr>
              <a:t>n.d.</a:t>
            </a:r>
            <a:r>
              <a:rPr lang="en-US" dirty="0">
                <a:latin typeface="Times New Roman"/>
                <a:ea typeface="Calibri"/>
                <a:cs typeface="Times New Roman"/>
              </a:rPr>
              <a:t>). Technological Spillovers through a Patent Citation Analysis. </a:t>
            </a:r>
            <a:r>
              <a:rPr lang="en-US" i="1" dirty="0">
                <a:latin typeface="Times New Roman"/>
                <a:ea typeface="Calibri"/>
                <a:cs typeface="Times New Roman"/>
              </a:rPr>
              <a:t>International Journal of Innovation Management</a:t>
            </a:r>
            <a:r>
              <a:rPr lang="en-US" dirty="0">
                <a:latin typeface="Times New Roman"/>
                <a:ea typeface="Calibri"/>
                <a:cs typeface="Times New Roman"/>
              </a:rPr>
              <a:t>, 20(2). https://doi.org/10.1142/S1363919616500286</a:t>
            </a:r>
            <a:endParaRPr lang="en-US" sz="1600" dirty="0">
              <a:ea typeface="Calibri"/>
              <a:cs typeface="Times New Roman"/>
            </a:endParaRPr>
          </a:p>
          <a:p>
            <a:pPr marL="457200" marR="0" indent="-45720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latin typeface="Times New Roman"/>
                <a:ea typeface="Calibri"/>
                <a:cs typeface="Times New Roman"/>
              </a:rPr>
              <a:t>American Association for the Advancement of Science [AAAS]. (2018a). </a:t>
            </a:r>
            <a:r>
              <a:rPr lang="en-US" i="1" dirty="0">
                <a:latin typeface="Times New Roman"/>
                <a:ea typeface="Calibri"/>
                <a:cs typeface="Times New Roman"/>
              </a:rPr>
              <a:t>Defense, Nondefense, and Total R&amp;D, 1976-2018</a:t>
            </a:r>
            <a:r>
              <a:rPr lang="en-US" dirty="0">
                <a:latin typeface="Times New Roman"/>
                <a:ea typeface="Calibri"/>
                <a:cs typeface="Times New Roman"/>
              </a:rPr>
              <a:t> [Data file]. Retrieved from https://www.aaas.org/page/historical-trends-federal-rd</a:t>
            </a:r>
            <a:endParaRPr lang="en-US" sz="1600" dirty="0">
              <a:ea typeface="Calibri"/>
              <a:cs typeface="Times New Roman"/>
            </a:endParaRPr>
          </a:p>
          <a:p>
            <a:pPr marL="457200" marR="0" indent="-45720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latin typeface="Times New Roman"/>
                <a:ea typeface="Calibri"/>
                <a:cs typeface="Times New Roman"/>
              </a:rPr>
              <a:t>American Association for the Advancement of Science [AAAS]. (2018b). </a:t>
            </a:r>
            <a:r>
              <a:rPr lang="en-US" i="1" dirty="0">
                <a:latin typeface="Times New Roman"/>
                <a:ea typeface="Calibri"/>
                <a:cs typeface="Times New Roman"/>
              </a:rPr>
              <a:t>Federal Support for Universities by Agency, 1990-2016 (Obligations)</a:t>
            </a:r>
            <a:r>
              <a:rPr lang="en-US" dirty="0">
                <a:latin typeface="Times New Roman"/>
                <a:ea typeface="Calibri"/>
                <a:cs typeface="Times New Roman"/>
              </a:rPr>
              <a:t> [Data file]. Retrieved from https://www.aaas.org/page/rd-colleges-and-universities</a:t>
            </a:r>
            <a:endParaRPr lang="en-US" sz="1600" dirty="0">
              <a:ea typeface="Calibri"/>
              <a:cs typeface="Times New Roman"/>
            </a:endParaRPr>
          </a:p>
          <a:p>
            <a:pPr marL="457200" marR="0" indent="-457200">
              <a:spcBef>
                <a:spcPts val="0"/>
              </a:spcBef>
              <a:spcAft>
                <a:spcPts val="0"/>
              </a:spcAft>
            </a:pPr>
            <a:r>
              <a:rPr lang="fr-FR" dirty="0">
                <a:latin typeface="Times New Roman"/>
                <a:ea typeface="Calibri"/>
                <a:cs typeface="Times New Roman"/>
              </a:rPr>
              <a:t>Anderson, T. R., Daim, T. U., &amp; Lavoie, F. F. (2007). </a:t>
            </a:r>
            <a:r>
              <a:rPr lang="en-US" dirty="0">
                <a:latin typeface="Times New Roman"/>
                <a:ea typeface="Calibri"/>
                <a:cs typeface="Times New Roman"/>
              </a:rPr>
              <a:t>Measuring the efficiency of university technology transfer. </a:t>
            </a:r>
            <a:r>
              <a:rPr lang="en-US" i="1" dirty="0" err="1">
                <a:latin typeface="Times New Roman"/>
                <a:ea typeface="Calibri"/>
                <a:cs typeface="Times New Roman"/>
              </a:rPr>
              <a:t>Technovation</a:t>
            </a:r>
            <a:r>
              <a:rPr lang="en-US" dirty="0">
                <a:latin typeface="Times New Roman"/>
                <a:ea typeface="Calibri"/>
                <a:cs typeface="Times New Roman"/>
              </a:rPr>
              <a:t>, 27(5), 306-318. doi:10.1016/j.technovation.2006.10.003</a:t>
            </a:r>
            <a:endParaRPr lang="en-US" sz="1600" dirty="0">
              <a:ea typeface="Calibri"/>
              <a:cs typeface="Times New Roman"/>
            </a:endParaRPr>
          </a:p>
          <a:p>
            <a:pPr marL="457200" marR="0" indent="-457200">
              <a:spcBef>
                <a:spcPts val="0"/>
              </a:spcBef>
              <a:spcAft>
                <a:spcPts val="0"/>
              </a:spcAft>
            </a:pPr>
            <a:r>
              <a:rPr lang="es-MX" dirty="0" err="1">
                <a:latin typeface="Times New Roman"/>
                <a:ea typeface="Calibri"/>
                <a:cs typeface="Times New Roman"/>
              </a:rPr>
              <a:t>Appio</a:t>
            </a:r>
            <a:r>
              <a:rPr lang="es-MX" dirty="0">
                <a:latin typeface="Times New Roman"/>
                <a:ea typeface="Calibri"/>
                <a:cs typeface="Times New Roman"/>
              </a:rPr>
              <a:t>, F. P., Martini, A., &amp; </a:t>
            </a:r>
            <a:r>
              <a:rPr lang="es-MX" dirty="0" err="1">
                <a:latin typeface="Times New Roman"/>
                <a:ea typeface="Calibri"/>
                <a:cs typeface="Times New Roman"/>
              </a:rPr>
              <a:t>Fantoni</a:t>
            </a:r>
            <a:r>
              <a:rPr lang="es-MX" dirty="0">
                <a:latin typeface="Times New Roman"/>
                <a:ea typeface="Calibri"/>
                <a:cs typeface="Times New Roman"/>
              </a:rPr>
              <a:t>, G. (2017). </a:t>
            </a:r>
            <a:r>
              <a:rPr lang="en-US" dirty="0">
                <a:latin typeface="Times New Roman"/>
                <a:ea typeface="Calibri"/>
                <a:cs typeface="Times New Roman"/>
              </a:rPr>
              <a:t>The light and shade of knowledge recombination: Insights from a general-purpose technology. </a:t>
            </a:r>
            <a:r>
              <a:rPr lang="en-US" i="1" dirty="0">
                <a:latin typeface="Times New Roman"/>
                <a:ea typeface="Calibri"/>
                <a:cs typeface="Times New Roman"/>
              </a:rPr>
              <a:t>Technological Forecasting &amp; Social Change</a:t>
            </a:r>
            <a:r>
              <a:rPr lang="en-US" dirty="0">
                <a:latin typeface="Times New Roman"/>
                <a:ea typeface="Calibri"/>
                <a:cs typeface="Times New Roman"/>
              </a:rPr>
              <a:t>, </a:t>
            </a:r>
            <a:r>
              <a:rPr lang="en-US" i="1" dirty="0">
                <a:latin typeface="Times New Roman"/>
                <a:ea typeface="Calibri"/>
                <a:cs typeface="Times New Roman"/>
              </a:rPr>
              <a:t>125</a:t>
            </a:r>
            <a:r>
              <a:rPr lang="en-US" dirty="0">
                <a:latin typeface="Times New Roman"/>
                <a:ea typeface="Calibri"/>
                <a:cs typeface="Times New Roman"/>
              </a:rPr>
              <a:t>, 154–165. https://doi.org/10.1016/j.techfore.2017.07.018</a:t>
            </a:r>
            <a:endParaRPr lang="en-US" sz="1600" dirty="0">
              <a:ea typeface="Calibri"/>
              <a:cs typeface="Times New Roman"/>
            </a:endParaRPr>
          </a:p>
          <a:p>
            <a:pPr marL="457200" marR="0" indent="-457200">
              <a:spcBef>
                <a:spcPts val="0"/>
              </a:spcBef>
              <a:spcAft>
                <a:spcPts val="0"/>
              </a:spcAft>
            </a:pPr>
            <a:r>
              <a:rPr lang="en-US" dirty="0" smtClean="0">
                <a:latin typeface="Times New Roman"/>
                <a:ea typeface="Calibri"/>
                <a:cs typeface="Times New Roman"/>
              </a:rPr>
              <a:t>Bush</a:t>
            </a:r>
            <a:r>
              <a:rPr lang="en-US" dirty="0">
                <a:latin typeface="Times New Roman"/>
                <a:ea typeface="Calibri"/>
                <a:cs typeface="Times New Roman"/>
              </a:rPr>
              <a:t>, V. (1945). </a:t>
            </a:r>
            <a:r>
              <a:rPr lang="en-US" i="1" dirty="0">
                <a:latin typeface="Times New Roman"/>
                <a:ea typeface="Calibri"/>
                <a:cs typeface="Times New Roman"/>
              </a:rPr>
              <a:t>Science, the endless frontier</a:t>
            </a:r>
            <a:r>
              <a:rPr lang="en-US" dirty="0">
                <a:latin typeface="Times New Roman"/>
                <a:ea typeface="Calibri"/>
                <a:cs typeface="Times New Roman"/>
              </a:rPr>
              <a:t>. A report to the President: Washington, U.S. Government printing office, 1945</a:t>
            </a:r>
            <a:r>
              <a:rPr lang="en-US" dirty="0" smtClean="0">
                <a:latin typeface="Times New Roman"/>
                <a:ea typeface="Calibri"/>
                <a:cs typeface="Times New Roman"/>
              </a:rPr>
              <a:t>.</a:t>
            </a:r>
            <a:endParaRPr lang="en-US" sz="1600" dirty="0">
              <a:ea typeface="Calibri"/>
              <a:cs typeface="Times New Roman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7136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22890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73844" y="399249"/>
            <a:ext cx="8686800" cy="5078313"/>
          </a:xfrm>
          <a:prstGeom prst="rect">
            <a:avLst/>
          </a:prstGeom>
        </p:spPr>
        <p:txBody>
          <a:bodyPr>
            <a:spAutoFit/>
          </a:bodyPr>
          <a:lstStyle/>
          <a:p>
            <a:pPr marL="457200" lvl="0" indent="-457200"/>
            <a:r>
              <a:rPr lang="en-US" dirty="0" smtClean="0">
                <a:solidFill>
                  <a:prstClr val="black"/>
                </a:solidFill>
                <a:latin typeface="Times New Roman"/>
                <a:ea typeface="Calibri"/>
                <a:cs typeface="Times New Roman"/>
              </a:rPr>
              <a:t>Chávez</a:t>
            </a:r>
            <a:r>
              <a:rPr lang="en-US" dirty="0">
                <a:solidFill>
                  <a:prstClr val="black"/>
                </a:solidFill>
                <a:latin typeface="Times New Roman"/>
                <a:ea typeface="Calibri"/>
                <a:cs typeface="Times New Roman"/>
              </a:rPr>
              <a:t>, G. A. G., &amp; </a:t>
            </a:r>
            <a:r>
              <a:rPr lang="en-US" dirty="0" err="1">
                <a:solidFill>
                  <a:prstClr val="black"/>
                </a:solidFill>
                <a:latin typeface="Times New Roman"/>
                <a:ea typeface="Calibri"/>
                <a:cs typeface="Times New Roman"/>
              </a:rPr>
              <a:t>Víquez</a:t>
            </a:r>
            <a:r>
              <a:rPr lang="en-US" dirty="0">
                <a:solidFill>
                  <a:prstClr val="black"/>
                </a:solidFill>
                <a:latin typeface="Times New Roman"/>
                <a:ea typeface="Calibri"/>
                <a:cs typeface="Times New Roman"/>
              </a:rPr>
              <a:t>, H. G. (2015). Patterns of knowledge flow from industrialized to Latin American and Asian countries in the pharmaceutical industry: a patent citation analysis. </a:t>
            </a:r>
            <a:r>
              <a:rPr lang="en-US" i="1" dirty="0" err="1">
                <a:solidFill>
                  <a:prstClr val="black"/>
                </a:solidFill>
                <a:latin typeface="Times New Roman"/>
                <a:ea typeface="Calibri"/>
                <a:cs typeface="Times New Roman"/>
              </a:rPr>
              <a:t>Contaduría</a:t>
            </a:r>
            <a:r>
              <a:rPr lang="en-US" i="1" dirty="0">
                <a:solidFill>
                  <a:prstClr val="black"/>
                </a:solidFill>
                <a:latin typeface="Times New Roman"/>
                <a:ea typeface="Calibri"/>
                <a:cs typeface="Times New Roman"/>
              </a:rPr>
              <a:t> y </a:t>
            </a:r>
            <a:r>
              <a:rPr lang="en-US" i="1" dirty="0" err="1">
                <a:solidFill>
                  <a:prstClr val="black"/>
                </a:solidFill>
                <a:latin typeface="Times New Roman"/>
                <a:ea typeface="Calibri"/>
                <a:cs typeface="Times New Roman"/>
              </a:rPr>
              <a:t>Administración</a:t>
            </a:r>
            <a:r>
              <a:rPr lang="en-US" dirty="0">
                <a:solidFill>
                  <a:prstClr val="black"/>
                </a:solidFill>
                <a:latin typeface="Times New Roman"/>
                <a:ea typeface="Calibri"/>
                <a:cs typeface="Times New Roman"/>
              </a:rPr>
              <a:t>, 60 (Supplement 1), 31–56. https://doi.org/10.1016/j.cya.2015.08.008</a:t>
            </a:r>
            <a:endParaRPr lang="en-US" sz="1600" dirty="0">
              <a:solidFill>
                <a:prstClr val="black"/>
              </a:solidFill>
              <a:ea typeface="Calibri"/>
              <a:cs typeface="Times New Roman"/>
            </a:endParaRPr>
          </a:p>
          <a:p>
            <a:pPr marL="457200" lvl="0" indent="-457200"/>
            <a:r>
              <a:rPr lang="en-US" dirty="0">
                <a:solidFill>
                  <a:prstClr val="black"/>
                </a:solidFill>
                <a:latin typeface="Times New Roman"/>
                <a:ea typeface="Calibri"/>
                <a:cs typeface="Times New Roman"/>
              </a:rPr>
              <a:t>Choi, J., Jang, D., Jun, S., &amp; Park, S. (2015). A Predictive Model of Technology Transfer Using Patent Analysis. </a:t>
            </a:r>
            <a:r>
              <a:rPr lang="en-US" i="1" dirty="0">
                <a:solidFill>
                  <a:prstClr val="black"/>
                </a:solidFill>
                <a:latin typeface="Times New Roman"/>
                <a:ea typeface="Calibri"/>
                <a:cs typeface="Times New Roman"/>
              </a:rPr>
              <a:t>Sustainability</a:t>
            </a:r>
            <a:r>
              <a:rPr lang="en-US" dirty="0">
                <a:solidFill>
                  <a:prstClr val="black"/>
                </a:solidFill>
                <a:latin typeface="Times New Roman"/>
                <a:ea typeface="Calibri"/>
                <a:cs typeface="Times New Roman"/>
              </a:rPr>
              <a:t> (2071-1050), 7(12), 16175</a:t>
            </a:r>
            <a:endParaRPr lang="en-US" sz="1600" dirty="0">
              <a:solidFill>
                <a:prstClr val="black"/>
              </a:solidFill>
              <a:ea typeface="Calibri"/>
              <a:cs typeface="Times New Roman"/>
            </a:endParaRPr>
          </a:p>
          <a:p>
            <a:pPr marL="457200" marR="0" indent="-457200">
              <a:spcBef>
                <a:spcPts val="0"/>
              </a:spcBef>
              <a:spcAft>
                <a:spcPts val="0"/>
              </a:spcAft>
            </a:pPr>
            <a:r>
              <a:rPr lang="en-US" dirty="0" smtClean="0">
                <a:latin typeface="Times New Roman"/>
                <a:ea typeface="Calibri"/>
                <a:cs typeface="Times New Roman"/>
              </a:rPr>
              <a:t>Congressional </a:t>
            </a:r>
            <a:r>
              <a:rPr lang="en-US" dirty="0">
                <a:latin typeface="Times New Roman"/>
                <a:ea typeface="Calibri"/>
                <a:cs typeface="Times New Roman"/>
              </a:rPr>
              <a:t>Budget Office [CBO]. (2018). Historical Budget Data [Data file]. </a:t>
            </a:r>
            <a:r>
              <a:rPr lang="en-US" i="1" dirty="0">
                <a:latin typeface="Times New Roman"/>
                <a:ea typeface="Calibri"/>
                <a:cs typeface="Times New Roman"/>
              </a:rPr>
              <a:t>The Budget and Economic Outlook: 2018 to 2028</a:t>
            </a:r>
            <a:r>
              <a:rPr lang="en-US" dirty="0">
                <a:latin typeface="Times New Roman"/>
                <a:ea typeface="Calibri"/>
                <a:cs typeface="Times New Roman"/>
              </a:rPr>
              <a:t> Retrieved from https://www.cbo.gov/about/products/budget-economic-data#2</a:t>
            </a:r>
            <a:endParaRPr lang="en-US" sz="1600" dirty="0">
              <a:ea typeface="Calibri"/>
              <a:cs typeface="Times New Roman"/>
            </a:endParaRPr>
          </a:p>
          <a:p>
            <a:pPr marL="457200" marR="0" indent="-45720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latin typeface="Times New Roman"/>
                <a:ea typeface="Calibri"/>
                <a:cs typeface="Times New Roman"/>
              </a:rPr>
              <a:t>Hall, B. H., Jaffe, A. B. and </a:t>
            </a:r>
            <a:r>
              <a:rPr lang="en-US" dirty="0" err="1">
                <a:latin typeface="Times New Roman"/>
                <a:ea typeface="Calibri"/>
                <a:cs typeface="Times New Roman"/>
              </a:rPr>
              <a:t>Trajtenberg</a:t>
            </a:r>
            <a:r>
              <a:rPr lang="en-US" dirty="0">
                <a:latin typeface="Times New Roman"/>
                <a:ea typeface="Calibri"/>
                <a:cs typeface="Times New Roman"/>
              </a:rPr>
              <a:t>, M. (2001). "The NBER Patent Citation Data File: Lessons, Insights and Methodological Tools." </a:t>
            </a:r>
            <a:r>
              <a:rPr lang="en-US" i="1" dirty="0">
                <a:latin typeface="Times New Roman"/>
                <a:ea typeface="Calibri"/>
                <a:cs typeface="Times New Roman"/>
              </a:rPr>
              <a:t>NBER Working Paper 8498</a:t>
            </a:r>
            <a:r>
              <a:rPr lang="en-US" dirty="0">
                <a:latin typeface="Times New Roman"/>
                <a:ea typeface="Calibri"/>
                <a:cs typeface="Times New Roman"/>
              </a:rPr>
              <a:t>. Retrieved from http://www.nber.org/patents/</a:t>
            </a:r>
            <a:endParaRPr lang="en-US" sz="1600" dirty="0">
              <a:ea typeface="Calibri"/>
              <a:cs typeface="Times New Roman"/>
            </a:endParaRPr>
          </a:p>
          <a:p>
            <a:pPr marL="457200" marR="0" indent="-45720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latin typeface="Times New Roman"/>
                <a:ea typeface="Calibri"/>
                <a:cs typeface="Times New Roman"/>
              </a:rPr>
              <a:t>Ho, M. H. C., Liu, J. S., Huang, C. C., &amp; Lu, W. M. (2014). A new perspective to explore the technology transfer efficiencies in US universities. </a:t>
            </a:r>
            <a:r>
              <a:rPr lang="en-US" i="1" dirty="0">
                <a:latin typeface="Times New Roman"/>
                <a:ea typeface="Calibri"/>
                <a:cs typeface="Times New Roman"/>
              </a:rPr>
              <a:t>Journal of Technology Transfer</a:t>
            </a:r>
            <a:r>
              <a:rPr lang="en-US" dirty="0">
                <a:latin typeface="Times New Roman"/>
                <a:ea typeface="Calibri"/>
                <a:cs typeface="Times New Roman"/>
              </a:rPr>
              <a:t>, 39(2), 247-275. doi:10.1007/s10961-013-9298-7</a:t>
            </a:r>
            <a:endParaRPr lang="en-US" sz="1600" dirty="0">
              <a:ea typeface="Calibri"/>
              <a:cs typeface="Times New Roman"/>
            </a:endParaRPr>
          </a:p>
          <a:p>
            <a:pPr marL="457200" lvl="0" indent="-457200"/>
            <a:r>
              <a:rPr lang="en-US" dirty="0" smtClean="0">
                <a:solidFill>
                  <a:prstClr val="black"/>
                </a:solidFill>
                <a:latin typeface="Times New Roman"/>
                <a:ea typeface="Calibri"/>
                <a:cs typeface="Times New Roman"/>
              </a:rPr>
              <a:t>Ji</a:t>
            </a:r>
            <a:r>
              <a:rPr lang="en-US" dirty="0">
                <a:solidFill>
                  <a:prstClr val="black"/>
                </a:solidFill>
                <a:latin typeface="Times New Roman"/>
                <a:ea typeface="Calibri"/>
                <a:cs typeface="Times New Roman"/>
              </a:rPr>
              <a:t>, I., Lim, H., &amp; Park, T.-Y. (2016). Exploring Potential Users of Patents for Technology Transfer: Utilizing Patent Citation Data. </a:t>
            </a:r>
            <a:r>
              <a:rPr lang="en-US" i="1" dirty="0">
                <a:solidFill>
                  <a:prstClr val="black"/>
                </a:solidFill>
                <a:latin typeface="Times New Roman"/>
                <a:ea typeface="Calibri"/>
                <a:cs typeface="Times New Roman"/>
              </a:rPr>
              <a:t>Procedia Computer Science</a:t>
            </a:r>
            <a:r>
              <a:rPr lang="en-US" dirty="0">
                <a:solidFill>
                  <a:prstClr val="black"/>
                </a:solidFill>
                <a:latin typeface="Times New Roman"/>
                <a:ea typeface="Calibri"/>
                <a:cs typeface="Times New Roman"/>
              </a:rPr>
              <a:t>, 91, 211–220. https://</a:t>
            </a:r>
            <a:r>
              <a:rPr lang="en-US" dirty="0" smtClean="0">
                <a:solidFill>
                  <a:prstClr val="black"/>
                </a:solidFill>
                <a:latin typeface="Times New Roman"/>
                <a:ea typeface="Calibri"/>
                <a:cs typeface="Times New Roman"/>
              </a:rPr>
              <a:t>doi.org/10.1016/j.procs.2016.07.059</a:t>
            </a:r>
            <a:endParaRPr lang="en-US" sz="1600" dirty="0">
              <a:solidFill>
                <a:prstClr val="black"/>
              </a:solidFill>
              <a:ea typeface="Calibri"/>
              <a:cs typeface="Times New Roman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7136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8477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73844" y="399249"/>
            <a:ext cx="8686800" cy="4801314"/>
          </a:xfrm>
          <a:prstGeom prst="rect">
            <a:avLst/>
          </a:prstGeom>
        </p:spPr>
        <p:txBody>
          <a:bodyPr>
            <a:spAutoFit/>
          </a:bodyPr>
          <a:lstStyle/>
          <a:p>
            <a:pPr marL="457200" marR="0" indent="-457200">
              <a:spcBef>
                <a:spcPts val="0"/>
              </a:spcBef>
              <a:spcAft>
                <a:spcPts val="0"/>
              </a:spcAft>
            </a:pPr>
            <a:r>
              <a:rPr lang="en-US" dirty="0" err="1" smtClean="0">
                <a:latin typeface="Times New Roman"/>
                <a:ea typeface="Calibri"/>
                <a:cs typeface="Times New Roman"/>
              </a:rPr>
              <a:t>Kirkman</a:t>
            </a:r>
            <a:r>
              <a:rPr lang="en-US" dirty="0">
                <a:latin typeface="Times New Roman"/>
                <a:ea typeface="Calibri"/>
                <a:cs typeface="Times New Roman"/>
              </a:rPr>
              <a:t>, D. M. (2013). Selecting University Technology Transfer Modes: An Examination of Biotechnology Firms’ Entrepreneurial Orientation. </a:t>
            </a:r>
            <a:r>
              <a:rPr lang="en-US" i="1" dirty="0">
                <a:latin typeface="Times New Roman"/>
                <a:ea typeface="Calibri"/>
                <a:cs typeface="Times New Roman"/>
              </a:rPr>
              <a:t>Journal of Technology Management &amp; Innovation, Vol 8, </a:t>
            </a:r>
            <a:r>
              <a:rPr lang="en-US" i="1" dirty="0" err="1">
                <a:latin typeface="Times New Roman"/>
                <a:ea typeface="Calibri"/>
                <a:cs typeface="Times New Roman"/>
              </a:rPr>
              <a:t>Iss</a:t>
            </a:r>
            <a:r>
              <a:rPr lang="en-US" i="1" dirty="0">
                <a:latin typeface="Times New Roman"/>
                <a:ea typeface="Calibri"/>
                <a:cs typeface="Times New Roman"/>
              </a:rPr>
              <a:t> 2, Pp 189-208 (2013)</a:t>
            </a:r>
            <a:r>
              <a:rPr lang="en-US" dirty="0">
                <a:latin typeface="Times New Roman"/>
                <a:ea typeface="Calibri"/>
                <a:cs typeface="Times New Roman"/>
              </a:rPr>
              <a:t>, (2), 189. https://doi.org/10.4067/S0718-27242013000200016</a:t>
            </a:r>
            <a:endParaRPr lang="en-US" sz="1600" dirty="0">
              <a:ea typeface="Calibri"/>
              <a:cs typeface="Times New Roman"/>
            </a:endParaRPr>
          </a:p>
          <a:p>
            <a:pPr marL="457200" indent="-457200"/>
            <a:r>
              <a:rPr lang="en-US" dirty="0" err="1">
                <a:latin typeface="Times New Roman"/>
                <a:ea typeface="Calibri"/>
                <a:cs typeface="Times New Roman"/>
              </a:rPr>
              <a:t>Markman</a:t>
            </a:r>
            <a:r>
              <a:rPr lang="en-US" dirty="0">
                <a:latin typeface="Times New Roman"/>
                <a:ea typeface="Calibri"/>
                <a:cs typeface="Times New Roman"/>
              </a:rPr>
              <a:t>, G. D., </a:t>
            </a:r>
            <a:r>
              <a:rPr lang="en-US" dirty="0" err="1">
                <a:latin typeface="Times New Roman"/>
                <a:ea typeface="Calibri"/>
                <a:cs typeface="Times New Roman"/>
              </a:rPr>
              <a:t>Gianiodis</a:t>
            </a:r>
            <a:r>
              <a:rPr lang="en-US" dirty="0">
                <a:latin typeface="Times New Roman"/>
                <a:ea typeface="Calibri"/>
                <a:cs typeface="Times New Roman"/>
              </a:rPr>
              <a:t>, P. T., &amp; Phan, P. H. (2009). Supply-Side Innovation and Technology Commercialization. </a:t>
            </a:r>
            <a:r>
              <a:rPr lang="en-US" i="1" dirty="0">
                <a:latin typeface="Times New Roman"/>
                <a:ea typeface="Calibri"/>
                <a:cs typeface="Times New Roman"/>
              </a:rPr>
              <a:t>Journal of Management Studies</a:t>
            </a:r>
            <a:r>
              <a:rPr lang="en-US" dirty="0">
                <a:latin typeface="Times New Roman"/>
                <a:ea typeface="Calibri"/>
                <a:cs typeface="Times New Roman"/>
              </a:rPr>
              <a:t>, 46(4), 625-649. doi:10.1111/j.1467-6486.2009.00835.x</a:t>
            </a:r>
            <a:endParaRPr lang="en-US" sz="1600" dirty="0">
              <a:ea typeface="Calibri"/>
              <a:cs typeface="Times New Roman"/>
            </a:endParaRPr>
          </a:p>
          <a:p>
            <a:pPr marL="457200" marR="0" indent="-457200">
              <a:spcBef>
                <a:spcPts val="0"/>
              </a:spcBef>
              <a:spcAft>
                <a:spcPts val="0"/>
              </a:spcAft>
            </a:pPr>
            <a:r>
              <a:rPr lang="en-US" dirty="0" smtClean="0">
                <a:latin typeface="Times New Roman"/>
                <a:ea typeface="Calibri"/>
                <a:cs typeface="Times New Roman"/>
              </a:rPr>
              <a:t>National </a:t>
            </a:r>
            <a:r>
              <a:rPr lang="en-US" dirty="0">
                <a:latin typeface="Times New Roman"/>
                <a:ea typeface="Calibri"/>
                <a:cs typeface="Times New Roman"/>
              </a:rPr>
              <a:t>Bureau of Economic Research. (2018). Patent data, including constructed variables [data file]. Retrieved from http://www.nber.org/patents/</a:t>
            </a:r>
            <a:endParaRPr lang="en-US" sz="1600" dirty="0">
              <a:ea typeface="Calibri"/>
              <a:cs typeface="Times New Roman"/>
            </a:endParaRPr>
          </a:p>
          <a:p>
            <a:pPr marL="457200" marR="0" indent="-45720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latin typeface="Times New Roman"/>
                <a:ea typeface="Calibri"/>
                <a:cs typeface="Times New Roman"/>
              </a:rPr>
              <a:t>Office of Management and Budget [OMB]. (2002). </a:t>
            </a:r>
            <a:r>
              <a:rPr lang="en-US" i="1" dirty="0">
                <a:latin typeface="Times New Roman"/>
                <a:ea typeface="Calibri"/>
                <a:cs typeface="Times New Roman"/>
              </a:rPr>
              <a:t>The President's Management Agenda</a:t>
            </a:r>
            <a:r>
              <a:rPr lang="en-US" dirty="0">
                <a:latin typeface="Times New Roman"/>
                <a:ea typeface="Calibri"/>
                <a:cs typeface="Times New Roman"/>
              </a:rPr>
              <a:t>. Retrieved from http://www.dtic.mil/dtic/tr/fulltext/u2/a394421.pdf</a:t>
            </a:r>
            <a:endParaRPr lang="en-US" sz="1600" dirty="0">
              <a:ea typeface="Calibri"/>
              <a:cs typeface="Times New Roman"/>
            </a:endParaRPr>
          </a:p>
          <a:p>
            <a:pPr marL="457200" marR="0" indent="-45720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latin typeface="Times New Roman"/>
                <a:ea typeface="Calibri"/>
                <a:cs typeface="Times New Roman"/>
              </a:rPr>
              <a:t>Office of Management and Budget [OMB]. (2018). </a:t>
            </a:r>
            <a:r>
              <a:rPr lang="en-US" i="1" dirty="0">
                <a:latin typeface="Times New Roman"/>
                <a:ea typeface="Calibri"/>
                <a:cs typeface="Times New Roman"/>
              </a:rPr>
              <a:t>The President's Management Agenda</a:t>
            </a:r>
            <a:r>
              <a:rPr lang="en-US" dirty="0">
                <a:latin typeface="Times New Roman"/>
                <a:ea typeface="Calibri"/>
                <a:cs typeface="Times New Roman"/>
              </a:rPr>
              <a:t>. Retrieved from https://www.whitehouse.gov/wp-content/uploads/2018/03/Presidents-Management-Agenda.pdf</a:t>
            </a:r>
            <a:endParaRPr lang="en-US" sz="1600" dirty="0">
              <a:ea typeface="Calibri"/>
              <a:cs typeface="Times New Roman"/>
            </a:endParaRPr>
          </a:p>
          <a:p>
            <a:pPr marL="457200" marR="0" indent="-457200">
              <a:spcBef>
                <a:spcPts val="0"/>
              </a:spcBef>
              <a:spcAft>
                <a:spcPts val="0"/>
              </a:spcAft>
            </a:pPr>
            <a:r>
              <a:rPr lang="en-US" dirty="0" smtClean="0">
                <a:latin typeface="Times New Roman"/>
                <a:ea typeface="Calibri"/>
                <a:cs typeface="Times New Roman"/>
              </a:rPr>
              <a:t>Park</a:t>
            </a:r>
            <a:r>
              <a:rPr lang="en-US" dirty="0">
                <a:latin typeface="Times New Roman"/>
                <a:ea typeface="Calibri"/>
                <a:cs typeface="Times New Roman"/>
              </a:rPr>
              <a:t>, T.-Y., Lim, H., &amp; Ji, I. (</a:t>
            </a:r>
            <a:r>
              <a:rPr lang="en-US" dirty="0" err="1">
                <a:latin typeface="Times New Roman"/>
                <a:ea typeface="Calibri"/>
                <a:cs typeface="Times New Roman"/>
              </a:rPr>
              <a:t>n.d.</a:t>
            </a:r>
            <a:r>
              <a:rPr lang="en-US" dirty="0">
                <a:latin typeface="Times New Roman"/>
                <a:ea typeface="Calibri"/>
                <a:cs typeface="Times New Roman"/>
              </a:rPr>
              <a:t>). Identifying potential users of technology for technology transfer using patent citation analysis: a case analysis of a Korean research institute. </a:t>
            </a:r>
            <a:r>
              <a:rPr lang="en-US" i="1" dirty="0">
                <a:latin typeface="Times New Roman"/>
                <a:ea typeface="Calibri"/>
                <a:cs typeface="Times New Roman"/>
              </a:rPr>
              <a:t>SCIENTOMETRICS</a:t>
            </a:r>
            <a:r>
              <a:rPr lang="en-US" dirty="0">
                <a:latin typeface="Times New Roman"/>
                <a:ea typeface="Calibri"/>
                <a:cs typeface="Times New Roman"/>
              </a:rPr>
              <a:t>, 116(3), 1541–1558. https://</a:t>
            </a:r>
            <a:r>
              <a:rPr lang="en-US" dirty="0" smtClean="0">
                <a:latin typeface="Times New Roman"/>
                <a:ea typeface="Calibri"/>
                <a:cs typeface="Times New Roman"/>
              </a:rPr>
              <a:t>doi.org/10.1007/s11192-018-2792-9</a:t>
            </a:r>
            <a:endParaRPr lang="en-US" sz="1600" dirty="0">
              <a:ea typeface="Calibri"/>
              <a:cs typeface="Times New Roman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7136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46106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73844" y="399249"/>
            <a:ext cx="8686800" cy="4247317"/>
          </a:xfrm>
          <a:prstGeom prst="rect">
            <a:avLst/>
          </a:prstGeom>
        </p:spPr>
        <p:txBody>
          <a:bodyPr>
            <a:spAutoFit/>
          </a:bodyPr>
          <a:lstStyle/>
          <a:p>
            <a:pPr marL="457200" marR="0" indent="-457200">
              <a:spcBef>
                <a:spcPts val="0"/>
              </a:spcBef>
              <a:spcAft>
                <a:spcPts val="0"/>
              </a:spcAft>
            </a:pPr>
            <a:r>
              <a:rPr lang="en-US" dirty="0" err="1" smtClean="0">
                <a:latin typeface="Times New Roman"/>
                <a:ea typeface="Calibri"/>
                <a:cs typeface="Times New Roman"/>
              </a:rPr>
              <a:t>Raut</a:t>
            </a:r>
            <a:r>
              <a:rPr lang="en-US" dirty="0">
                <a:latin typeface="Times New Roman"/>
                <a:ea typeface="Calibri"/>
                <a:cs typeface="Times New Roman"/>
              </a:rPr>
              <a:t>, R. D., </a:t>
            </a:r>
            <a:r>
              <a:rPr lang="en-US" dirty="0" err="1">
                <a:latin typeface="Times New Roman"/>
                <a:ea typeface="Calibri"/>
                <a:cs typeface="Times New Roman"/>
              </a:rPr>
              <a:t>Priyadarshinee</a:t>
            </a:r>
            <a:r>
              <a:rPr lang="en-US" dirty="0">
                <a:latin typeface="Times New Roman"/>
                <a:ea typeface="Calibri"/>
                <a:cs typeface="Times New Roman"/>
              </a:rPr>
              <a:t>, P., </a:t>
            </a:r>
            <a:r>
              <a:rPr lang="en-US" dirty="0" err="1">
                <a:latin typeface="Times New Roman"/>
                <a:ea typeface="Calibri"/>
                <a:cs typeface="Times New Roman"/>
              </a:rPr>
              <a:t>Gardas</a:t>
            </a:r>
            <a:r>
              <a:rPr lang="en-US" dirty="0">
                <a:latin typeface="Times New Roman"/>
                <a:ea typeface="Calibri"/>
                <a:cs typeface="Times New Roman"/>
              </a:rPr>
              <a:t>, B. B., &amp; </a:t>
            </a:r>
            <a:r>
              <a:rPr lang="en-US" dirty="0" err="1">
                <a:latin typeface="Times New Roman"/>
                <a:ea typeface="Calibri"/>
                <a:cs typeface="Times New Roman"/>
              </a:rPr>
              <a:t>Jha</a:t>
            </a:r>
            <a:r>
              <a:rPr lang="en-US" dirty="0">
                <a:latin typeface="Times New Roman"/>
                <a:ea typeface="Calibri"/>
                <a:cs typeface="Times New Roman"/>
              </a:rPr>
              <a:t>, M. K. (2018). Analyzing the factors influencing cloud computing adoption using three stage hybrid SEM-ANN-ISM (SEANIS) approach. </a:t>
            </a:r>
            <a:r>
              <a:rPr lang="en-US" i="1" dirty="0">
                <a:latin typeface="Times New Roman"/>
                <a:ea typeface="Calibri"/>
                <a:cs typeface="Times New Roman"/>
              </a:rPr>
              <a:t>Technological Forecasting &amp; Social Change</a:t>
            </a:r>
            <a:r>
              <a:rPr lang="en-US" dirty="0">
                <a:latin typeface="Times New Roman"/>
                <a:ea typeface="Calibri"/>
                <a:cs typeface="Times New Roman"/>
              </a:rPr>
              <a:t>, 134, 98–123. https://doi.org/10.1016/j.techfore.2018.05.020</a:t>
            </a:r>
            <a:endParaRPr lang="en-US" sz="1600" dirty="0">
              <a:ea typeface="Calibri"/>
              <a:cs typeface="Times New Roman"/>
            </a:endParaRPr>
          </a:p>
          <a:p>
            <a:pPr marL="457200" marR="0" indent="-45720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latin typeface="Times New Roman"/>
                <a:ea typeface="Calibri"/>
                <a:cs typeface="Times New Roman"/>
              </a:rPr>
              <a:t>Sharma, P., &amp; </a:t>
            </a:r>
            <a:r>
              <a:rPr lang="en-US" dirty="0" err="1">
                <a:latin typeface="Times New Roman"/>
                <a:ea typeface="Calibri"/>
                <a:cs typeface="Times New Roman"/>
              </a:rPr>
              <a:t>Tripathi</a:t>
            </a:r>
            <a:r>
              <a:rPr lang="en-US" dirty="0">
                <a:latin typeface="Times New Roman"/>
                <a:ea typeface="Calibri"/>
                <a:cs typeface="Times New Roman"/>
              </a:rPr>
              <a:t>, R. C. (2017). Patent citation: A technique for measuring the knowledge flow of information and innovation. </a:t>
            </a:r>
            <a:r>
              <a:rPr lang="en-US" i="1" dirty="0">
                <a:latin typeface="Times New Roman"/>
                <a:ea typeface="Calibri"/>
                <a:cs typeface="Times New Roman"/>
              </a:rPr>
              <a:t>World Patent Information</a:t>
            </a:r>
            <a:r>
              <a:rPr lang="en-US" dirty="0">
                <a:latin typeface="Times New Roman"/>
                <a:ea typeface="Calibri"/>
                <a:cs typeface="Times New Roman"/>
              </a:rPr>
              <a:t>, 51, 31–42. https://</a:t>
            </a:r>
            <a:r>
              <a:rPr lang="en-US" dirty="0" smtClean="0">
                <a:latin typeface="Times New Roman"/>
                <a:ea typeface="Calibri"/>
                <a:cs typeface="Times New Roman"/>
              </a:rPr>
              <a:t>doi.org/10.1016/j.wpi.2017.11.002</a:t>
            </a:r>
          </a:p>
          <a:p>
            <a:pPr marL="457200" marR="0" indent="-45720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Tseng, A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Raudensky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M. (2014). Assessments of technology transfer activities of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U.S.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universities and associated impact of Bayh-Dole Act. 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Scientometrics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101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(3), 1851-1869. </a:t>
            </a:r>
            <a:endParaRPr lang="en-US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marL="457200" indent="-457200"/>
            <a:r>
              <a:rPr lang="en-US" dirty="0">
                <a:latin typeface="Times New Roman"/>
                <a:ea typeface="Calibri"/>
                <a:cs typeface="Times New Roman"/>
              </a:rPr>
              <a:t>United Nations. (2017). </a:t>
            </a:r>
            <a:r>
              <a:rPr lang="en-US" i="1" dirty="0">
                <a:latin typeface="Times New Roman"/>
                <a:ea typeface="Calibri"/>
                <a:cs typeface="Times New Roman"/>
              </a:rPr>
              <a:t>GDP and its breakdown at current prices in U.S. dollars</a:t>
            </a:r>
            <a:r>
              <a:rPr lang="en-US" dirty="0">
                <a:latin typeface="Times New Roman"/>
                <a:ea typeface="Calibri"/>
                <a:cs typeface="Times New Roman"/>
              </a:rPr>
              <a:t> [Data file]. Retrieved from http://unstats.un.org/unsd/snaama/dnltransfer.asp?fID=2</a:t>
            </a:r>
            <a:endParaRPr lang="en-US" sz="1600" dirty="0">
              <a:ea typeface="Calibri"/>
              <a:cs typeface="Times New Roman"/>
            </a:endParaRPr>
          </a:p>
          <a:p>
            <a:pPr marL="457200" marR="0" indent="-457200">
              <a:spcBef>
                <a:spcPts val="0"/>
              </a:spcBef>
              <a:spcAft>
                <a:spcPts val="0"/>
              </a:spcAft>
            </a:pPr>
            <a:r>
              <a:rPr lang="en-US" dirty="0" err="1" smtClean="0">
                <a:latin typeface="Times New Roman"/>
                <a:ea typeface="Calibri"/>
                <a:cs typeface="Times New Roman"/>
              </a:rPr>
              <a:t>Vagnani</a:t>
            </a:r>
            <a:r>
              <a:rPr lang="en-US" dirty="0">
                <a:latin typeface="Times New Roman"/>
                <a:ea typeface="Calibri"/>
                <a:cs typeface="Times New Roman"/>
              </a:rPr>
              <a:t>, G., &amp; Volpe, L. (2017). Innovation attributes and managers’ decisions about the adoption of innovations in organizations: A meta-analytical review. </a:t>
            </a:r>
            <a:r>
              <a:rPr lang="en-US" i="1" dirty="0">
                <a:latin typeface="Times New Roman"/>
                <a:ea typeface="Calibri"/>
                <a:cs typeface="Times New Roman"/>
              </a:rPr>
              <a:t>International Journal of Innovation Studies</a:t>
            </a:r>
            <a:r>
              <a:rPr lang="en-US" dirty="0">
                <a:latin typeface="Times New Roman"/>
                <a:ea typeface="Calibri"/>
                <a:cs typeface="Times New Roman"/>
              </a:rPr>
              <a:t>, 1, 107–133. https://</a:t>
            </a:r>
            <a:r>
              <a:rPr lang="en-US" dirty="0" smtClean="0">
                <a:latin typeface="Times New Roman"/>
                <a:ea typeface="Calibri"/>
                <a:cs typeface="Times New Roman"/>
              </a:rPr>
              <a:t>doi.org/10.1016/j.ijis.2017.10.001</a:t>
            </a:r>
            <a:endParaRPr lang="en-US" sz="1600" dirty="0" smtClean="0">
              <a:ea typeface="Calibri"/>
              <a:cs typeface="Times New Roman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7136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58660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73844" y="399249"/>
            <a:ext cx="8686800" cy="2031325"/>
          </a:xfrm>
          <a:prstGeom prst="rect">
            <a:avLst/>
          </a:prstGeom>
        </p:spPr>
        <p:txBody>
          <a:bodyPr>
            <a:spAutoFit/>
          </a:bodyPr>
          <a:lstStyle/>
          <a:p>
            <a:pPr marL="457200" marR="0" indent="-457200">
              <a:spcBef>
                <a:spcPts val="0"/>
              </a:spcBef>
              <a:spcAft>
                <a:spcPts val="0"/>
              </a:spcAft>
            </a:pPr>
            <a:r>
              <a:rPr lang="en-US" dirty="0" smtClean="0">
                <a:latin typeface="Times New Roman"/>
                <a:ea typeface="Calibri"/>
                <a:cs typeface="Times New Roman"/>
              </a:rPr>
              <a:t>Yan</a:t>
            </a:r>
            <a:r>
              <a:rPr lang="en-US" dirty="0">
                <a:latin typeface="Times New Roman"/>
                <a:ea typeface="Calibri"/>
                <a:cs typeface="Times New Roman"/>
              </a:rPr>
              <a:t>, E., &amp; Yu, Q. (2016). Using path-based approaches to examine the dynamic structure of discipline-level citation networks: 1997-2011. </a:t>
            </a:r>
            <a:r>
              <a:rPr lang="en-US" i="1" dirty="0">
                <a:latin typeface="Times New Roman"/>
                <a:ea typeface="Calibri"/>
                <a:cs typeface="Times New Roman"/>
              </a:rPr>
              <a:t>Journal of the Association for Information Science &amp; Technology</a:t>
            </a:r>
            <a:r>
              <a:rPr lang="en-US" dirty="0">
                <a:latin typeface="Times New Roman"/>
                <a:ea typeface="Calibri"/>
                <a:cs typeface="Times New Roman"/>
              </a:rPr>
              <a:t>, 67(8), 1943–1955. https://</a:t>
            </a:r>
            <a:r>
              <a:rPr lang="en-US" dirty="0" smtClean="0">
                <a:latin typeface="Times New Roman"/>
                <a:ea typeface="Calibri"/>
                <a:cs typeface="Times New Roman"/>
              </a:rPr>
              <a:t>doi.org/10.1002/asi.23516</a:t>
            </a:r>
          </a:p>
          <a:p>
            <a:pPr marL="457200" marR="0" indent="-457200">
              <a:spcBef>
                <a:spcPts val="0"/>
              </a:spcBef>
              <a:spcAft>
                <a:spcPts val="0"/>
              </a:spcAft>
            </a:pPr>
            <a:r>
              <a:rPr lang="en-US" dirty="0" err="1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Yoshikane</a:t>
            </a:r>
            <a:r>
              <a:rPr lang="en-US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, F. (2013). Multiple regression analysis of a patent’s citation frequency and quantitative characteristics: the case of Japanese patents. </a:t>
            </a:r>
            <a:r>
              <a:rPr lang="en-US" i="1" dirty="0" err="1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Scientometrics</a:t>
            </a:r>
            <a:r>
              <a:rPr lang="en-US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, </a:t>
            </a:r>
            <a:r>
              <a:rPr lang="en-US" i="1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96</a:t>
            </a:r>
            <a:r>
              <a:rPr lang="en-US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(1), 365–379. https://</a:t>
            </a:r>
            <a:r>
              <a:rPr lang="en-US" dirty="0" smtClean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doi.org/10.1007/s11192-013-0953-4</a:t>
            </a:r>
            <a:endParaRPr lang="en-US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7136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00901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788</TotalTime>
  <Words>3616</Words>
  <Application>Microsoft Office PowerPoint</Application>
  <PresentationFormat>On-screen Show (16:10)</PresentationFormat>
  <Paragraphs>559</Paragraphs>
  <Slides>35</Slides>
  <Notes>15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7" baseType="lpstr">
      <vt:lpstr>Office Theme</vt:lpstr>
      <vt:lpstr>Microsoft Excel 97-2003 Worksheet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Questions and Answers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Saint Louis University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Malcolm S. Townes</dc:creator>
  <cp:lastModifiedBy>Malcolm S. Townes</cp:lastModifiedBy>
  <cp:revision>153</cp:revision>
  <cp:lastPrinted>2018-11-28T15:13:03Z</cp:lastPrinted>
  <dcterms:created xsi:type="dcterms:W3CDTF">2018-11-26T20:29:52Z</dcterms:created>
  <dcterms:modified xsi:type="dcterms:W3CDTF">2019-04-10T20:34:47Z</dcterms:modified>
</cp:coreProperties>
</file>