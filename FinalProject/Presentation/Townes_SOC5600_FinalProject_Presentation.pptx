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handoutMasterIdLst>
    <p:handoutMasterId r:id="rId53"/>
  </p:handoutMasterIdLst>
  <p:sldIdLst>
    <p:sldId id="256" r:id="rId2"/>
    <p:sldId id="294" r:id="rId3"/>
    <p:sldId id="298" r:id="rId4"/>
    <p:sldId id="274" r:id="rId5"/>
    <p:sldId id="280" r:id="rId6"/>
    <p:sldId id="260" r:id="rId7"/>
    <p:sldId id="311" r:id="rId8"/>
    <p:sldId id="290" r:id="rId9"/>
    <p:sldId id="327" r:id="rId10"/>
    <p:sldId id="299" r:id="rId11"/>
    <p:sldId id="300" r:id="rId12"/>
    <p:sldId id="285" r:id="rId13"/>
    <p:sldId id="320" r:id="rId14"/>
    <p:sldId id="301" r:id="rId15"/>
    <p:sldId id="322" r:id="rId16"/>
    <p:sldId id="273" r:id="rId17"/>
    <p:sldId id="328" r:id="rId18"/>
    <p:sldId id="293" r:id="rId19"/>
    <p:sldId id="318" r:id="rId20"/>
    <p:sldId id="326" r:id="rId21"/>
    <p:sldId id="292" r:id="rId22"/>
    <p:sldId id="302" r:id="rId23"/>
    <p:sldId id="309" r:id="rId24"/>
    <p:sldId id="310" r:id="rId25"/>
    <p:sldId id="303" r:id="rId26"/>
    <p:sldId id="304" r:id="rId27"/>
    <p:sldId id="305" r:id="rId28"/>
    <p:sldId id="297" r:id="rId29"/>
    <p:sldId id="313" r:id="rId30"/>
    <p:sldId id="319" r:id="rId31"/>
    <p:sldId id="307" r:id="rId32"/>
    <p:sldId id="315" r:id="rId33"/>
    <p:sldId id="316" r:id="rId34"/>
    <p:sldId id="314" r:id="rId35"/>
    <p:sldId id="317" r:id="rId36"/>
    <p:sldId id="272" r:id="rId37"/>
    <p:sldId id="264" r:id="rId38"/>
    <p:sldId id="275" r:id="rId39"/>
    <p:sldId id="306" r:id="rId40"/>
    <p:sldId id="325" r:id="rId41"/>
    <p:sldId id="324" r:id="rId42"/>
    <p:sldId id="308" r:id="rId43"/>
    <p:sldId id="288" r:id="rId44"/>
    <p:sldId id="281" r:id="rId45"/>
    <p:sldId id="296" r:id="rId46"/>
    <p:sldId id="282" r:id="rId47"/>
    <p:sldId id="295" r:id="rId48"/>
    <p:sldId id="312" r:id="rId49"/>
    <p:sldId id="321" r:id="rId50"/>
    <p:sldId id="323" r:id="rId51"/>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82" d="100"/>
          <a:sy n="82" d="100"/>
        </p:scale>
        <p:origin x="-1020" y="-90"/>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Study Objectives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a:solidFill>
          <a:schemeClr val="accent3">
            <a:lumMod val="75000"/>
          </a:schemeClr>
        </a:solidFill>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a:solidFill>
          <a:schemeClr val="accent1"/>
        </a:solidFill>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a:solidFill>
          <a:schemeClr val="accent6">
            <a:lumMod val="75000"/>
          </a:schemeClr>
        </a:solidFill>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a:solidFill>
          <a:schemeClr val="accent2"/>
        </a:solidFill>
      </dgm:spPr>
      <dgm:t>
        <a:bodyPr/>
        <a:lstStyle/>
        <a:p>
          <a:pPr algn="l"/>
          <a:r>
            <a:rPr lang="en-US" dirty="0" smtClean="0"/>
            <a:t>Implications, Limitations, </a:t>
          </a:r>
          <a:r>
            <a:rPr lang="en-US" dirty="0"/>
            <a:t>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a:solidFill>
          <a:schemeClr val="accent3">
            <a:lumMod val="75000"/>
          </a:schemeClr>
        </a:solidFill>
      </dgm:spPr>
      <dgm:t>
        <a:bodyPr/>
        <a:lstStyle/>
        <a:p>
          <a:pPr algn="l"/>
          <a:r>
            <a:rPr lang="en-US" dirty="0" smtClean="0"/>
            <a:t>Questions and Suggestions</a:t>
          </a:r>
          <a:endParaRPr lang="en-US" dirty="0"/>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a:t>
          </a:r>
          <a:r>
            <a:rPr lang="en-US" sz="1800" dirty="0" smtClean="0"/>
            <a:t>the relation between institutional characteristics and technology transfer outcomes.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smtClean="0"/>
            <a:t>Peer-reviewed </a:t>
          </a:r>
          <a:r>
            <a:rPr lang="en-US" sz="1800" dirty="0"/>
            <a:t>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Study Objectives and Hypotheses</a:t>
          </a:r>
          <a:endParaRPr lang="en-US" sz="23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Implications, Limitations, </a:t>
          </a:r>
          <a:r>
            <a:rPr lang="en-US" sz="2300" kern="1200" dirty="0"/>
            <a:t>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Questions and Suggestions</a:t>
          </a:r>
          <a:endParaRPr lang="en-US" sz="2300" kern="1200" dirty="0"/>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a:t>
          </a:r>
          <a:r>
            <a:rPr lang="en-US" sz="1800" kern="1200" dirty="0" smtClean="0"/>
            <a:t>the relation between institutional characteristics and technology transfer outcomes.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smtClean="0"/>
            <a:t>Peer-reviewed </a:t>
          </a:r>
          <a:r>
            <a:rPr lang="en-US" sz="1800" kern="1200" dirty="0"/>
            <a:t>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6.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04/17/2019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04/17/2019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non-content slides (i.e.,</a:t>
            </a:r>
            <a:r>
              <a:rPr lang="en-US" baseline="0" dirty="0" smtClean="0"/>
              <a:t> title slides, acknowledgements</a:t>
            </a:r>
            <a:r>
              <a:rPr lang="en-US" baseline="0" smtClean="0"/>
              <a:t>, references)</a:t>
            </a:r>
            <a:endParaRPr lang="en-US"/>
          </a:p>
        </p:txBody>
      </p:sp>
      <p:sp>
        <p:nvSpPr>
          <p:cNvPr id="4" name="Slide Number Placeholder 3"/>
          <p:cNvSpPr>
            <a:spLocks noGrp="1"/>
          </p:cNvSpPr>
          <p:nvPr>
            <p:ph type="sldNum" sz="quarter" idx="10"/>
          </p:nvPr>
        </p:nvSpPr>
        <p:spPr/>
        <p:txBody>
          <a:bodyPr/>
          <a:lstStyle/>
          <a:p>
            <a:fld id="{76C7EBE9-FBA5-4606-B4BF-D5A892555425}" type="slidenum">
              <a:rPr lang="en-US" smtClean="0"/>
              <a:t>1</a:t>
            </a:fld>
            <a:endParaRPr lang="en-US"/>
          </a:p>
        </p:txBody>
      </p:sp>
    </p:spTree>
    <p:extLst>
      <p:ext uri="{BB962C8B-B14F-4D97-AF65-F5344CB8AC3E}">
        <p14:creationId xmlns:p14="http://schemas.microsoft.com/office/powerpoint/2010/main" val="746874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12</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35</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r>
              <a:rPr lang="en-US" dirty="0" smtClean="0"/>
              <a:t>.</a:t>
            </a:r>
          </a:p>
          <a:p>
            <a:r>
              <a:rPr lang="en-US" dirty="0" smtClean="0"/>
              <a:t>Concordant pairs</a:t>
            </a:r>
            <a:r>
              <a:rPr lang="en-US" baseline="0" dirty="0" smtClean="0"/>
              <a:t> are ranked the same.  </a:t>
            </a:r>
            <a:r>
              <a:rPr lang="en-US" baseline="0" smtClean="0"/>
              <a:t>Discordant </a:t>
            </a:r>
            <a:r>
              <a:rPr lang="en-US" baseline="0" dirty="0" smtClean="0"/>
              <a:t>pairs are ranked opposite.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38</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41</a:t>
            </a:fld>
            <a:endParaRPr lang="en-US"/>
          </a:p>
        </p:txBody>
      </p:sp>
    </p:spTree>
    <p:extLst>
      <p:ext uri="{BB962C8B-B14F-4D97-AF65-F5344CB8AC3E}">
        <p14:creationId xmlns:p14="http://schemas.microsoft.com/office/powerpoint/2010/main" val="17691361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 How do I establish validity and reliability for the </a:t>
            </a:r>
            <a:r>
              <a:rPr lang="en-US" smtClean="0"/>
              <a:t>TRL scale?</a:t>
            </a:r>
            <a:endParaRPr lang="en-US"/>
          </a:p>
        </p:txBody>
      </p:sp>
      <p:sp>
        <p:nvSpPr>
          <p:cNvPr id="4" name="Slide Number Placeholder 3"/>
          <p:cNvSpPr>
            <a:spLocks noGrp="1"/>
          </p:cNvSpPr>
          <p:nvPr>
            <p:ph type="sldNum" sz="quarter" idx="10"/>
          </p:nvPr>
        </p:nvSpPr>
        <p:spPr/>
        <p:txBody>
          <a:bodyPr/>
          <a:lstStyle/>
          <a:p>
            <a:fld id="{76C7EBE9-FBA5-4606-B4BF-D5A892555425}" type="slidenum">
              <a:rPr lang="en-US" smtClean="0"/>
              <a:t>46</a:t>
            </a:fld>
            <a:endParaRPr lang="en-US"/>
          </a:p>
        </p:txBody>
      </p:sp>
    </p:spTree>
    <p:extLst>
      <p:ext uri="{BB962C8B-B14F-4D97-AF65-F5344CB8AC3E}">
        <p14:creationId xmlns:p14="http://schemas.microsoft.com/office/powerpoint/2010/main" val="33448642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04/17/2019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04/17/2019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04/17/2019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04/17/2019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10.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4.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3.png"/><Relationship Id="rId7"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5" Type="http://schemas.openxmlformats.org/officeDocument/2006/relationships/image" Target="../media/image26.emf"/><Relationship Id="rId4" Type="http://schemas.openxmlformats.org/officeDocument/2006/relationships/package" Target="../embeddings/Microsoft_Excel_Worksheet1.xlsx"/></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2617809908"/>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smtClean="0">
                <a:solidFill>
                  <a:prstClr val="black"/>
                </a:solidFill>
              </a:rPr>
              <a:t>n.d</a:t>
            </a:r>
            <a:r>
              <a:rPr lang="en-US" sz="1600" dirty="0" err="1">
                <a:solidFill>
                  <a:prstClr val="black"/>
                </a:solidFill>
              </a:rPr>
              <a:t>.</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502"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2023745"/>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xmlns=""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462721660"/>
              </p:ext>
            </p:extLst>
          </p:nvPr>
        </p:nvGraphicFramePr>
        <p:xfrm>
          <a:off x="228600" y="914400"/>
          <a:ext cx="7359732" cy="3661093"/>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a:t>
                      </a:r>
                      <a:r>
                        <a:rPr lang="en-US" sz="1800" dirty="0" smtClean="0">
                          <a:solidFill>
                            <a:srgbClr val="000000"/>
                          </a:solidFill>
                          <a:effectLst/>
                          <a:latin typeface="+mn-lt"/>
                          <a:ea typeface="Calibri"/>
                          <a:cs typeface="Times New Roman"/>
                        </a:rPr>
                        <a:t>from </a:t>
                      </a:r>
                      <a:r>
                        <a:rPr lang="en-US" sz="1800" dirty="0">
                          <a:solidFill>
                            <a:srgbClr val="000000"/>
                          </a:solidFill>
                          <a:effectLst/>
                          <a:latin typeface="+mn-lt"/>
                          <a:ea typeface="Calibri"/>
                          <a:cs typeface="Times New Roman"/>
                        </a:rPr>
                        <a:t>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a16="http://schemas.microsoft.com/office/drawing/2014/main" xmlns=""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development</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stage </a:t>
                      </a:r>
                      <a:r>
                        <a:rPr lang="en-US" sz="1800" dirty="0">
                          <a:solidFill>
                            <a:srgbClr val="000000"/>
                          </a:solidFill>
                          <a:effectLst/>
                          <a:latin typeface="+mn-lt"/>
                          <a:ea typeface="Calibri"/>
                          <a:cs typeface="Times New Roman"/>
                        </a:rPr>
                        <a:t>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xmlns=""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from 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bl>
          </a:graphicData>
        </a:graphic>
      </p:graphicFrame>
      <p:sp>
        <p:nvSpPr>
          <p:cNvPr id="6" name="TextBox 5"/>
          <p:cNvSpPr txBox="1"/>
          <p:nvPr/>
        </p:nvSpPr>
        <p:spPr>
          <a:xfrm>
            <a:off x="7683335" y="11384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0823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674705"/>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7837909"/>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Study Objectives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a:t>
            </a:r>
            <a:r>
              <a:rPr lang="en-US" sz="2800" b="1" dirty="0" smtClean="0"/>
              <a:t>Objectives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2750811373"/>
              </p:ext>
            </p:extLst>
          </p:nvPr>
        </p:nvGraphicFramePr>
        <p:xfrm>
          <a:off x="228600" y="914400"/>
          <a:ext cx="8686800" cy="4521200"/>
        </p:xfrm>
        <a:graphic>
          <a:graphicData uri="http://schemas.openxmlformats.org/drawingml/2006/table">
            <a:tbl>
              <a:tblPr firstRow="1" firstCol="1" bandRow="1"/>
              <a:tblGrid>
                <a:gridCol w="1469571">
                  <a:extLst>
                    <a:ext uri="{9D8B030D-6E8A-4147-A177-3AD203B41FA5}">
                      <a16:colId xmlns:a16="http://schemas.microsoft.com/office/drawing/2014/main" xmlns="" val="20000"/>
                    </a:ext>
                  </a:extLst>
                </a:gridCol>
                <a:gridCol w="7217229">
                  <a:extLst>
                    <a:ext uri="{9D8B030D-6E8A-4147-A177-3AD203B41FA5}">
                      <a16:colId xmlns:a16="http://schemas.microsoft.com/office/drawing/2014/main" xmlns="" val="20001"/>
                    </a:ext>
                  </a:extLst>
                </a:gridCol>
              </a:tblGrid>
              <a:tr h="14224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public </a:t>
                      </a:r>
                      <a:r>
                        <a:rPr lang="en-US" sz="1800" dirty="0">
                          <a:solidFill>
                            <a:srgbClr val="000000"/>
                          </a:solidFill>
                          <a:effectLst/>
                          <a:latin typeface="+mn-lt"/>
                          <a:ea typeface="Calibri"/>
                          <a:cs typeface="Times New Roman"/>
                        </a:rPr>
                        <a:t>policy alternatives </a:t>
                      </a:r>
                      <a:r>
                        <a:rPr lang="en-US" sz="1800" dirty="0" smtClean="0">
                          <a:solidFill>
                            <a:srgbClr val="000000"/>
                          </a:solidFill>
                          <a:effectLst/>
                          <a:latin typeface="+mn-lt"/>
                          <a:ea typeface="Calibri"/>
                          <a:cs typeface="Times New Roman"/>
                        </a:rPr>
                        <a:t>for </a:t>
                      </a:r>
                      <a:r>
                        <a:rPr lang="en-US" sz="1800" dirty="0">
                          <a:solidFill>
                            <a:srgbClr val="000000"/>
                          </a:solidFill>
                          <a:effectLst/>
                          <a:latin typeface="+mn-lt"/>
                          <a:ea typeface="Calibri"/>
                          <a:cs typeface="Times New Roman"/>
                        </a:rPr>
                        <a:t>increasing the transfer of technologies derived from federally-funded research and development (R&amp;D) to the private sector taking into consideration the potential role of development stage and </a:t>
                      </a:r>
                      <a:r>
                        <a:rPr lang="en-US" sz="1800" dirty="0" smtClean="0">
                          <a:solidFill>
                            <a:srgbClr val="000000"/>
                          </a:solidFill>
                          <a:effectLst/>
                          <a:latin typeface="+mn-lt"/>
                          <a:ea typeface="Calibri"/>
                          <a:cs typeface="Times New Roman"/>
                        </a:rPr>
                        <a:t>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xmlns="" val="10000"/>
                  </a:ext>
                </a:extLst>
              </a:tr>
              <a:tr h="8128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2</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Describe current federal public policy regarding the transfer of technologies derived from federally-funded R&amp;D to the private sector.</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r h="747486">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3</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insight about the role of development</a:t>
                      </a:r>
                      <a:r>
                        <a:rPr lang="en-US" sz="1800" baseline="0" dirty="0" smtClean="0">
                          <a:solidFill>
                            <a:srgbClr val="000000"/>
                          </a:solidFill>
                          <a:effectLst/>
                          <a:latin typeface="+mn-lt"/>
                          <a:ea typeface="Calibri"/>
                          <a:cs typeface="Times New Roman"/>
                        </a:rPr>
                        <a:t> stage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noFill/>
                  </a:tcPr>
                </a:tc>
              </a:tr>
              <a:tr h="740229">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4</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role of geography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tr>
              <a:tr h="798285">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5</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relationship between development stage and geography.</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091398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3501075095"/>
              </p:ext>
            </p:extLst>
          </p:nvPr>
        </p:nvGraphicFramePr>
        <p:xfrm>
          <a:off x="228600" y="914400"/>
          <a:ext cx="8686800" cy="3753962"/>
        </p:xfrm>
        <a:graphic>
          <a:graphicData uri="http://schemas.openxmlformats.org/drawingml/2006/table">
            <a:tbl>
              <a:tblPr firstRow="1" firstCol="1" bandRow="1"/>
              <a:tblGrid>
                <a:gridCol w="502869">
                  <a:extLst>
                    <a:ext uri="{9D8B030D-6E8A-4147-A177-3AD203B41FA5}">
                      <a16:colId xmlns:a16="http://schemas.microsoft.com/office/drawing/2014/main" xmlns="" val="20000"/>
                    </a:ext>
                  </a:extLst>
                </a:gridCol>
                <a:gridCol w="8183931">
                  <a:extLst>
                    <a:ext uri="{9D8B030D-6E8A-4147-A177-3AD203B41FA5}">
                      <a16:colId xmlns:a16="http://schemas.microsoft.com/office/drawing/2014/main" xmlns=""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a16="http://schemas.microsoft.com/office/drawing/2014/main" xmlns=""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a16="http://schemas.microsoft.com/office/drawing/2014/main" xmlns=""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24146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619634" y="2212708"/>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619634" y="45051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619634" y="47744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6023295" y="34236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619634" y="50450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54500268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4"/>
                  </a:ext>
                </a:extLst>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0 = Technology was NOT transferred</a:t>
            </a:r>
          </a:p>
          <a:p>
            <a:r>
              <a:rPr lang="en-US" dirty="0" smtClean="0"/>
              <a:t>1 </a:t>
            </a:r>
            <a:r>
              <a:rPr lang="en-US" dirty="0"/>
              <a:t>= Technology was </a:t>
            </a:r>
            <a:r>
              <a:rPr lang="en-US" dirty="0" smtClean="0"/>
              <a:t>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Ln[</a:t>
                </a:r>
                <a:r>
                  <a:rPr lang="en-US" dirty="0" smtClean="0">
                    <a:latin typeface="Courier New"/>
                    <a:ea typeface="Calibri"/>
                    <a:cs typeface="Times New Roman"/>
                  </a:rPr>
                  <a:t>TRL</a:t>
                </a:r>
                <a14:m>
                  <m:oMath xmlns:m="http://schemas.openxmlformats.org/officeDocument/2006/math">
                    <m:r>
                      <a:rPr lang="en-US" i="1" dirty="0" smtClean="0">
                        <a:latin typeface="Cambria Math"/>
                        <a:ea typeface="Calibri"/>
                        <a:cs typeface="Times New Roman"/>
                      </a:rPr>
                      <m:t>&gt;</m:t>
                    </m:r>
                    <m:r>
                      <a:rPr lang="en-US" i="1" dirty="0" smtClean="0">
                        <a:latin typeface="Cambria Math"/>
                        <a:ea typeface="Calibri"/>
                        <a:cs typeface="Times New Roman"/>
                      </a:rPr>
                      <m:t>𝑖</m:t>
                    </m:r>
                  </m:oMath>
                </a14:m>
                <a:r>
                  <a:rPr lang="en-US" dirty="0" smtClean="0">
                    <a:ea typeface="Calibri"/>
                    <a:cs typeface="Times New Roman"/>
                  </a:rPr>
                  <a:t>/</a:t>
                </a:r>
                <a:r>
                  <a:rPr lang="en-US" dirty="0">
                    <a:solidFill>
                      <a:prstClr val="black"/>
                    </a:solidFill>
                    <a:latin typeface="Courier New"/>
                    <a:ea typeface="Calibri"/>
                    <a:cs typeface="Times New Roman"/>
                  </a:rPr>
                  <a:t>TRL</a:t>
                </a:r>
                <a14:m>
                  <m:oMath xmlns:m="http://schemas.openxmlformats.org/officeDocument/2006/math">
                    <m:r>
                      <a:rPr lang="en-US" i="1" dirty="0" smtClean="0">
                        <a:solidFill>
                          <a:prstClr val="black"/>
                        </a:solidFill>
                        <a:latin typeface="Cambria Math"/>
                        <a:ea typeface="Cambria Math"/>
                        <a:cs typeface="Times New Roman"/>
                      </a:rPr>
                      <m:t>≤</m:t>
                    </m:r>
                    <m:r>
                      <a:rPr lang="en-US" i="1" dirty="0" smtClean="0">
                        <a:solidFill>
                          <a:prstClr val="black"/>
                        </a:solidFill>
                        <a:latin typeface="Cambria Math"/>
                        <a:ea typeface="Calibri"/>
                        <a:cs typeface="Times New Roman"/>
                      </a:rPr>
                      <m:t>𝑖</m:t>
                    </m:r>
                  </m:oMath>
                </a14:m>
                <a:r>
                  <a:rPr lang="en-US" dirty="0" smtClean="0">
                    <a:ea typeface="Calibri"/>
                    <a:cs typeface="Times New Roman"/>
                  </a:rPr>
                  <a:t>] =  </a:t>
                </a:r>
                <a:r>
                  <a:rPr lang="el-GR" dirty="0" smtClean="0">
                    <a:latin typeface="Times New Roman"/>
                    <a:ea typeface="Calibri"/>
                    <a:cs typeface="Times New Roman"/>
                  </a:rPr>
                  <a:t>α</a:t>
                </a:r>
                <a:r>
                  <a:rPr lang="en-US" baseline="-25000" dirty="0" err="1" smtClean="0">
                    <a:latin typeface="Times New Roman"/>
                    <a:ea typeface="Calibri"/>
                    <a:cs typeface="Times New Roman"/>
                  </a:rPr>
                  <a:t>i</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i1</a:t>
                </a:r>
                <a:r>
                  <a:rPr lang="en-US" dirty="0" smtClean="0">
                    <a:ea typeface="Calibri"/>
                    <a:cs typeface="Times New Roman"/>
                  </a:rPr>
                  <a:t>(</a:t>
                </a:r>
                <a:r>
                  <a:rPr lang="en-US" dirty="0" smtClean="0">
                    <a:latin typeface="Courier New"/>
                    <a:ea typeface="Calibri"/>
                    <a:cs typeface="Times New Roman"/>
                  </a:rPr>
                  <a:t>Distance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i2</a:t>
                </a:r>
                <a:r>
                  <a:rPr lang="en-US" dirty="0" smtClean="0">
                    <a:ea typeface="Calibri"/>
                    <a:cs typeface="Times New Roman"/>
                  </a:rPr>
                  <a:t>(</a:t>
                </a:r>
                <a:r>
                  <a:rPr lang="en-US" dirty="0" err="1" smtClean="0">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i3</a:t>
                </a:r>
                <a:r>
                  <a:rPr lang="en-US" dirty="0" smtClean="0">
                    <a:ea typeface="Calibri"/>
                    <a:cs typeface="Times New Roman"/>
                  </a:rPr>
                  <a:t>(</a:t>
                </a:r>
                <a:r>
                  <a:rPr lang="en-US" dirty="0" err="1" smtClean="0">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i4</a:t>
                </a:r>
                <a:r>
                  <a:rPr lang="en-US" dirty="0" smtClean="0">
                    <a:ea typeface="Calibri"/>
                    <a:cs typeface="Times New Roman"/>
                  </a:rPr>
                  <a:t>(</a:t>
                </a:r>
                <a:r>
                  <a:rPr lang="en-US" dirty="0" err="1" smtClean="0">
                    <a:latin typeface="Courier New"/>
                    <a:ea typeface="Calibri"/>
                    <a:cs typeface="Times New Roman"/>
                  </a:rPr>
                  <a:t>AllowedPatent</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i5</a:t>
                </a:r>
                <a:r>
                  <a:rPr lang="en-US" dirty="0" smtClean="0">
                    <a:ea typeface="Calibri"/>
                    <a:cs typeface="Times New Roman"/>
                  </a:rPr>
                  <a:t>(</a:t>
                </a:r>
                <a:r>
                  <a:rPr lang="en-US" dirty="0" err="1" smtClean="0">
                    <a:latin typeface="Courier New"/>
                    <a:ea typeface="Calibri"/>
                    <a:cs typeface="Times New Roman"/>
                  </a:rPr>
                  <a:t>PatentApp</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i6</a:t>
                </a:r>
                <a:r>
                  <a:rPr lang="en-US" dirty="0" smtClean="0">
                    <a:ea typeface="Calibri"/>
                    <a:cs typeface="Times New Roman"/>
                  </a:rPr>
                  <a:t>(</a:t>
                </a:r>
                <a:r>
                  <a:rPr lang="en-US" dirty="0" smtClean="0">
                    <a:latin typeface="Courier New"/>
                    <a:ea typeface="Calibri"/>
                    <a:cs typeface="Times New Roman"/>
                  </a:rPr>
                  <a:t>Article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i7</a:t>
                </a:r>
                <a:r>
                  <a:rPr lang="en-US" dirty="0" smtClean="0">
                    <a:ea typeface="Calibri"/>
                    <a:cs typeface="Times New Roman"/>
                  </a:rPr>
                  <a:t>(</a:t>
                </a:r>
                <a:r>
                  <a:rPr lang="en-US" dirty="0" smtClean="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13" name="Rectangle 12"/>
              <p:cNvSpPr>
                <a:spLocks noRot="1" noChangeAspect="1" noMove="1" noResize="1" noEditPoints="1" noAdjustHandles="1" noChangeArrowheads="1" noChangeShapeType="1" noTextEdit="1"/>
              </p:cNvSpPr>
              <p:nvPr/>
            </p:nvSpPr>
            <p:spPr>
              <a:xfrm>
                <a:off x="0" y="3409466"/>
                <a:ext cx="9144000" cy="723916"/>
              </a:xfrm>
              <a:prstGeom prst="rect">
                <a:avLst/>
              </a:prstGeom>
              <a:blipFill rotWithShape="1">
                <a:blip r:embed="rId8"/>
                <a:stretch>
                  <a:fillRect t="-2521" b="-11765"/>
                </a:stretch>
              </a:blipFill>
            </p:spPr>
            <p:txBody>
              <a:bodyPr/>
              <a:lstStyle/>
              <a:p>
                <a:r>
                  <a:rPr lang="en-US">
                    <a:noFill/>
                  </a:rPr>
                  <a:t> </a:t>
                </a:r>
              </a:p>
            </p:txBody>
          </p:sp>
        </mc:Fallback>
      </mc:AlternateContent>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145492409"/>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a16="http://schemas.microsoft.com/office/drawing/2014/main" xmlns="" val="20000"/>
                    </a:ext>
                  </a:extLst>
                </a:gridCol>
                <a:gridCol w="1148487">
                  <a:extLst>
                    <a:ext uri="{9D8B030D-6E8A-4147-A177-3AD203B41FA5}">
                      <a16:colId xmlns:a16="http://schemas.microsoft.com/office/drawing/2014/main" xmlns="" val="20001"/>
                    </a:ext>
                  </a:extLst>
                </a:gridCol>
                <a:gridCol w="716889">
                  <a:extLst>
                    <a:ext uri="{9D8B030D-6E8A-4147-A177-3AD203B41FA5}">
                      <a16:colId xmlns:a16="http://schemas.microsoft.com/office/drawing/2014/main" xmlns="" val="20002"/>
                    </a:ext>
                  </a:extLst>
                </a:gridCol>
                <a:gridCol w="651458">
                  <a:extLst>
                    <a:ext uri="{9D8B030D-6E8A-4147-A177-3AD203B41FA5}">
                      <a16:colId xmlns:a16="http://schemas.microsoft.com/office/drawing/2014/main" xmlns="" val="20003"/>
                    </a:ext>
                  </a:extLst>
                </a:gridCol>
                <a:gridCol w="628702">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a:t>
                      </a:r>
                      <a:r>
                        <a:rPr lang="en-US" sz="1600" dirty="0" smtClean="0"/>
                        <a:t>n</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175841775"/>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a16="http://schemas.microsoft.com/office/drawing/2014/main" xmlns="" val="20000"/>
                    </a:ext>
                  </a:extLst>
                </a:gridCol>
                <a:gridCol w="1133856">
                  <a:extLst>
                    <a:ext uri="{9D8B030D-6E8A-4147-A177-3AD203B41FA5}">
                      <a16:colId xmlns:a16="http://schemas.microsoft.com/office/drawing/2014/main" xmlns="" val="20001"/>
                    </a:ext>
                  </a:extLst>
                </a:gridCol>
                <a:gridCol w="724205">
                  <a:extLst>
                    <a:ext uri="{9D8B030D-6E8A-4147-A177-3AD203B41FA5}">
                      <a16:colId xmlns:a16="http://schemas.microsoft.com/office/drawing/2014/main" xmlns="" val="20002"/>
                    </a:ext>
                  </a:extLst>
                </a:gridCol>
                <a:gridCol w="547104">
                  <a:extLst>
                    <a:ext uri="{9D8B030D-6E8A-4147-A177-3AD203B41FA5}">
                      <a16:colId xmlns:a16="http://schemas.microsoft.com/office/drawing/2014/main" xmlns="" val="20003"/>
                    </a:ext>
                  </a:extLst>
                </a:gridCol>
                <a:gridCol w="711111">
                  <a:extLst>
                    <a:ext uri="{9D8B030D-6E8A-4147-A177-3AD203B41FA5}">
                      <a16:colId xmlns:a16="http://schemas.microsoft.com/office/drawing/2014/main" xmlns=""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a:t>
                      </a:r>
                      <a:r>
                        <a:rPr lang="en-US" sz="1600" dirty="0" smtClean="0"/>
                        <a:t>n</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984098084"/>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a16="http://schemas.microsoft.com/office/drawing/2014/main" xmlns="" val="20000"/>
                    </a:ext>
                  </a:extLst>
                </a:gridCol>
                <a:gridCol w="786422">
                  <a:extLst>
                    <a:ext uri="{9D8B030D-6E8A-4147-A177-3AD203B41FA5}">
                      <a16:colId xmlns:a16="http://schemas.microsoft.com/office/drawing/2014/main" xmlns="" val="20001"/>
                    </a:ext>
                  </a:extLst>
                </a:gridCol>
                <a:gridCol w="1169121">
                  <a:extLst>
                    <a:ext uri="{9D8B030D-6E8A-4147-A177-3AD203B41FA5}">
                      <a16:colId xmlns:a16="http://schemas.microsoft.com/office/drawing/2014/main" xmlns="" val="20002"/>
                    </a:ext>
                  </a:extLst>
                </a:gridCol>
                <a:gridCol w="583121">
                  <a:extLst>
                    <a:ext uri="{9D8B030D-6E8A-4147-A177-3AD203B41FA5}">
                      <a16:colId xmlns:a16="http://schemas.microsoft.com/office/drawing/2014/main" xmlns="" val="20003"/>
                    </a:ext>
                  </a:extLst>
                </a:gridCol>
                <a:gridCol w="568136">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a:t>
                      </a:r>
                      <a:r>
                        <a:rPr lang="en-US" sz="1600" dirty="0" smtClean="0"/>
                        <a:t>n</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err="1"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err="1" smtClean="0">
                          <a:ln>
                            <a:noFill/>
                          </a:ln>
                          <a:solidFill>
                            <a:prstClr val="black"/>
                          </a:solidFill>
                          <a:effectLst/>
                          <a:uLnTx/>
                          <a:uFillTx/>
                          <a:latin typeface="+mn-lt"/>
                          <a:ea typeface="+mn-ea"/>
                          <a:cs typeface="+mn-cs"/>
                        </a:rPr>
                        <a:t>n</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4001059632"/>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a16="http://schemas.microsoft.com/office/drawing/2014/main" xmlns="" val="20000"/>
                    </a:ext>
                  </a:extLst>
                </a:gridCol>
                <a:gridCol w="8097784">
                  <a:extLst>
                    <a:ext uri="{9D8B030D-6E8A-4147-A177-3AD203B41FA5}">
                      <a16:colId xmlns:a16="http://schemas.microsoft.com/office/drawing/2014/main" xmlns=""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a:t>
                      </a:r>
                      <a:r>
                        <a:rPr lang="en-US" sz="1800" b="0" baseline="0" dirty="0" smtClean="0">
                          <a:effectLst/>
                        </a:rPr>
                        <a:t>probability </a:t>
                      </a:r>
                      <a:r>
                        <a:rPr lang="en-US" sz="1800" b="0" baseline="0" dirty="0">
                          <a:effectLst/>
                        </a:rPr>
                        <a:t>that </a:t>
                      </a:r>
                      <a:r>
                        <a:rPr lang="en-US" sz="1800" b="0" baseline="0" dirty="0" smtClean="0">
                          <a:effectLst/>
                        </a:rPr>
                        <a:t>technology </a:t>
                      </a:r>
                      <a:r>
                        <a:rPr lang="en-US" sz="1800" b="0" baseline="0" dirty="0">
                          <a:effectLst/>
                        </a:rPr>
                        <a:t>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a:t>
                      </a:r>
                      <a:r>
                        <a:rPr lang="en-US" sz="1800" dirty="0" smtClean="0">
                          <a:effectLst/>
                        </a:rPr>
                        <a:t>projects </a:t>
                      </a:r>
                      <a:r>
                        <a:rPr lang="en-US" sz="1800" dirty="0">
                          <a:effectLst/>
                        </a:rPr>
                        <a:t>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probability </a:t>
                      </a:r>
                      <a:r>
                        <a:rPr kumimoji="0" lang="en-US" sz="1800" b="0" i="0" u="none" strike="noStrike" kern="1200" cap="none" spc="0" normalizeH="0" baseline="0" noProof="0" dirty="0">
                          <a:ln>
                            <a:noFill/>
                          </a:ln>
                          <a:solidFill>
                            <a:prstClr val="black"/>
                          </a:solidFill>
                          <a:effectLst/>
                          <a:uLnTx/>
                          <a:uFillTx/>
                          <a:latin typeface="+mn-lt"/>
                          <a:ea typeface="+mn-ea"/>
                          <a:cs typeface="+mn-cs"/>
                        </a:rPr>
                        <a:t>that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technology </a:t>
                      </a:r>
                      <a:r>
                        <a:rPr kumimoji="0" lang="en-US" sz="1800" b="0" i="0" u="none" strike="noStrike" kern="1200" cap="none" spc="0" normalizeH="0" baseline="0" noProof="0" dirty="0">
                          <a:ln>
                            <a:noFill/>
                          </a:ln>
                          <a:solidFill>
                            <a:prstClr val="black"/>
                          </a:solidFill>
                          <a:effectLst/>
                          <a:uLnTx/>
                          <a:uFillTx/>
                          <a:latin typeface="+mn-lt"/>
                          <a:ea typeface="+mn-ea"/>
                          <a:cs typeface="+mn-cs"/>
                        </a:rPr>
                        <a:t>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1598657302"/>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94" name="Worksheet" r:id="rId4" imgW="8886833" imgH="4295700" progId="Excel.Sheet.12">
                  <p:embed/>
                </p:oleObj>
              </mc:Choice>
              <mc:Fallback>
                <p:oleObj name="Worksheet" r:id="rId4" imgW="8886833" imgH="4295700" progId="Excel.Sheet.12">
                  <p:embed/>
                  <p:pic>
                    <p:nvPicPr>
                      <p:cNvPr id="0" name=""/>
                      <p:cNvPicPr/>
                      <p:nvPr/>
                    </p:nvPicPr>
                    <p:blipFill>
                      <a:blip r:embed="rId5"/>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Implications</a:t>
            </a:r>
            <a:endParaRPr lang="en-US" sz="2800" b="1" dirty="0"/>
          </a:p>
        </p:txBody>
      </p:sp>
      <p:sp>
        <p:nvSpPr>
          <p:cNvPr id="3" name="TextBox 2"/>
          <p:cNvSpPr txBox="1"/>
          <p:nvPr/>
        </p:nvSpPr>
        <p:spPr>
          <a:xfrm>
            <a:off x="0" y="1097280"/>
            <a:ext cx="9144000" cy="3600986"/>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a:t>
            </a:r>
            <a:r>
              <a:rPr lang="en-US" dirty="0" smtClean="0"/>
              <a:t>possible covariates</a:t>
            </a:r>
            <a:r>
              <a:rPr lang="en-US" dirty="0"/>
              <a:t>.</a:t>
            </a:r>
          </a:p>
          <a:p>
            <a:pPr marL="285750" indent="-285750">
              <a:spcAft>
                <a:spcPts val="600"/>
              </a:spcAft>
              <a:buFont typeface="Arial" panose="020B0604020202020204" pitchFamily="34" charset="0"/>
              <a:buChar char="•"/>
            </a:pPr>
            <a:r>
              <a:rPr lang="en-US" dirty="0" smtClean="0"/>
              <a:t>Provides </a:t>
            </a:r>
            <a:r>
              <a:rPr lang="en-US" dirty="0"/>
              <a:t>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a:t>
            </a:r>
            <a:r>
              <a:rPr lang="en-US" dirty="0"/>
              <a:t>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technology</a:t>
            </a:r>
            <a:r>
              <a:rPr lang="en-US" dirty="0"/>
              <a:t>.</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3524042"/>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 </a:t>
            </a:r>
            <a:r>
              <a:rPr lang="en-US" dirty="0"/>
              <a:t>the final development stage attained by R&amp;D projects</a:t>
            </a:r>
            <a:r>
              <a:rPr lang="en-US" dirty="0" smtClean="0"/>
              <a:t>.</a:t>
            </a:r>
          </a:p>
          <a:p>
            <a:pPr marL="285750" lvl="0" indent="-285750">
              <a:spcAft>
                <a:spcPts val="600"/>
              </a:spcAft>
              <a:buFont typeface="Arial" panose="020B0604020202020204" pitchFamily="34" charset="0"/>
              <a:buChar char="•"/>
            </a:pPr>
            <a:r>
              <a:rPr lang="en-US" dirty="0" smtClean="0">
                <a:solidFill>
                  <a:prstClr val="black"/>
                </a:solidFill>
              </a:rPr>
              <a:t>Does not provide </a:t>
            </a:r>
            <a:r>
              <a:rPr lang="en-US" dirty="0">
                <a:solidFill>
                  <a:prstClr val="black"/>
                </a:solidFill>
              </a:rPr>
              <a:t>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endParaRPr lang="en-US" dirty="0" smtClean="0"/>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1833</TotalTime>
  <Words>3299</Words>
  <Application>Microsoft Office PowerPoint</Application>
  <PresentationFormat>On-screen Show (16:10)</PresentationFormat>
  <Paragraphs>510</Paragraphs>
  <Slides>50</Slides>
  <Notes>19</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52"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355</cp:revision>
  <cp:lastPrinted>2018-11-28T15:13:03Z</cp:lastPrinted>
  <dcterms:created xsi:type="dcterms:W3CDTF">2018-11-26T20:29:52Z</dcterms:created>
  <dcterms:modified xsi:type="dcterms:W3CDTF">2019-04-17T21:04:28Z</dcterms:modified>
</cp:coreProperties>
</file>