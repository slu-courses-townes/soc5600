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handoutMasterIdLst>
    <p:handoutMasterId r:id="rId51"/>
  </p:handoutMasterIdLst>
  <p:sldIdLst>
    <p:sldId id="256" r:id="rId2"/>
    <p:sldId id="294" r:id="rId3"/>
    <p:sldId id="298" r:id="rId4"/>
    <p:sldId id="274" r:id="rId5"/>
    <p:sldId id="280" r:id="rId6"/>
    <p:sldId id="260" r:id="rId7"/>
    <p:sldId id="311" r:id="rId8"/>
    <p:sldId id="299" r:id="rId9"/>
    <p:sldId id="300" r:id="rId10"/>
    <p:sldId id="285" r:id="rId11"/>
    <p:sldId id="320" r:id="rId12"/>
    <p:sldId id="301" r:id="rId13"/>
    <p:sldId id="322" r:id="rId14"/>
    <p:sldId id="273" r:id="rId15"/>
    <p:sldId id="290" r:id="rId16"/>
    <p:sldId id="293" r:id="rId17"/>
    <p:sldId id="318" r:id="rId18"/>
    <p:sldId id="291" r:id="rId19"/>
    <p:sldId id="292" r:id="rId20"/>
    <p:sldId id="302" r:id="rId21"/>
    <p:sldId id="309" r:id="rId22"/>
    <p:sldId id="310" r:id="rId23"/>
    <p:sldId id="303" r:id="rId24"/>
    <p:sldId id="304" r:id="rId25"/>
    <p:sldId id="305" r:id="rId26"/>
    <p:sldId id="297" r:id="rId27"/>
    <p:sldId id="313" r:id="rId28"/>
    <p:sldId id="319" r:id="rId29"/>
    <p:sldId id="307" r:id="rId30"/>
    <p:sldId id="315" r:id="rId31"/>
    <p:sldId id="316" r:id="rId32"/>
    <p:sldId id="314" r:id="rId33"/>
    <p:sldId id="317" r:id="rId34"/>
    <p:sldId id="272" r:id="rId35"/>
    <p:sldId id="264" r:id="rId36"/>
    <p:sldId id="275" r:id="rId37"/>
    <p:sldId id="306" r:id="rId38"/>
    <p:sldId id="325" r:id="rId39"/>
    <p:sldId id="324" r:id="rId40"/>
    <p:sldId id="308" r:id="rId41"/>
    <p:sldId id="281" r:id="rId42"/>
    <p:sldId id="288" r:id="rId43"/>
    <p:sldId id="296" r:id="rId44"/>
    <p:sldId id="282" r:id="rId45"/>
    <p:sldId id="295" r:id="rId46"/>
    <p:sldId id="312" r:id="rId47"/>
    <p:sldId id="321" r:id="rId48"/>
    <p:sldId id="323" r:id="rId49"/>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p:scale>
          <a:sx n="130" d="100"/>
          <a:sy n="130" d="100"/>
        </p:scale>
        <p:origin x="-438" y="-126"/>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25834EAF-E348-4D3A-A65E-46864A676B0E}" type="presOf" srcId="{7872EC56-464A-4AF7-A325-D8C04EC15CBC}" destId="{E74D4CFD-B51F-4EF3-BA49-144E2D33D50E}" srcOrd="0" destOrd="0" presId="urn:microsoft.com/office/officeart/2005/8/layout/vList3"/>
    <dgm:cxn modelId="{BC6251F1-B4B1-4418-8CC3-1C322C59228C}" srcId="{E8371B40-932D-4D58-B0FA-03B0822BBA63}" destId="{9B4EC237-8822-4BBB-8CEA-053275063984}" srcOrd="6" destOrd="0" parTransId="{0E4DD1AD-A666-4612-8D23-B5D80390E8FE}" sibTransId="{39D612C0-AB2B-428F-B37B-99B621CBC2B2}"/>
    <dgm:cxn modelId="{9EF1AF8A-F47F-45CD-AF66-B006ADA4B6C5}" type="presOf" srcId="{73451015-89A9-4506-B6A1-A52EDA752F1D}" destId="{9A83C161-7CE7-4FBE-A65B-AA864FAF26B5}"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62ABA70E-5B6E-4069-B47A-DC65F48F48CB}" srcId="{E8371B40-932D-4D58-B0FA-03B0822BBA63}" destId="{73451015-89A9-4506-B6A1-A52EDA752F1D}" srcOrd="2" destOrd="0" parTransId="{F1BE5A06-786B-4A3F-8FD7-B37CEC279176}" sibTransId="{5627F2F0-4B45-4A01-AE4E-B1CB295E781E}"/>
    <dgm:cxn modelId="{0EABE6AF-14E9-449F-BD30-1DCC078B80CF}" type="presOf" srcId="{A62087BD-95E8-425C-AA08-2E3F5CB6E8F1}" destId="{6AA00FE8-242B-4888-A53F-D09E1E67898D}"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A9053817-889B-467E-BDFD-D479F2C8510D}" srcId="{E8371B40-932D-4D58-B0FA-03B0822BBA63}" destId="{7872EC56-464A-4AF7-A325-D8C04EC15CBC}" srcOrd="4" destOrd="0" parTransId="{5223AF15-77CC-4833-A5B1-731787DEF8BC}" sibTransId="{39CAC057-C6C0-41D1-853D-7DBCF402493A}"/>
    <dgm:cxn modelId="{845A299F-67BC-4E60-B130-BF1B0872FEC9}" srcId="{E8371B40-932D-4D58-B0FA-03B0822BBA63}" destId="{EC7309A0-CF9B-44BE-B725-DF03D6D7BBC7}" srcOrd="3" destOrd="0" parTransId="{EC92C729-8B65-4284-846A-6BE2199EB0BA}" sibTransId="{F6BD6611-2AFA-4626-9432-28F22D51E3A2}"/>
    <dgm:cxn modelId="{D718B188-BD93-4199-BC4E-FB01E2F269C8}" srcId="{E8371B40-932D-4D58-B0FA-03B0822BBA63}" destId="{75099817-D799-4D08-8D69-0234AF84D1FF}" srcOrd="1" destOrd="0" parTransId="{C02AD437-CFD9-4E1A-B813-673FA16D4FF3}" sibTransId="{170E5D74-100F-43DA-95A7-8BA8367E1240}"/>
    <dgm:cxn modelId="{B2D42D45-5E15-49C7-AE4A-85505E72454B}" srcId="{E8371B40-932D-4D58-B0FA-03B0822BBA63}" destId="{B0F4FFAA-AA80-445E-9016-4F8EF966E383}" srcOrd="0" destOrd="0" parTransId="{161FD2C6-F8FE-472D-9C6C-A8F193FE86F0}" sibTransId="{FAE80C6E-058E-4391-B0E3-CA25846C12CF}"/>
    <dgm:cxn modelId="{55505B2C-A05F-4FD6-9BD6-E6EDC81C0CC7}" type="presOf" srcId="{B0F4FFAA-AA80-445E-9016-4F8EF966E383}" destId="{90DF574F-C00C-419E-B294-5B62392995ED}"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smtClean="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pPr>
            <a:spcBef>
              <a:spcPct val="0"/>
            </a:spcBef>
            <a:spcAft>
              <a:spcPct val="15000"/>
            </a:spcAft>
          </a:pPr>
          <a:r>
            <a:rPr lang="en-US" sz="1400" dirty="0" smtClean="0"/>
            <a:t>Dai, Popp &amp; </a:t>
          </a:r>
          <a:r>
            <a:rPr lang="en-US" sz="1400" dirty="0" err="1" smtClean="0"/>
            <a:t>Bretschneider</a:t>
          </a:r>
          <a:r>
            <a:rPr lang="en-US" sz="1400" dirty="0" smtClean="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smtClean="0"/>
            <a:t>Mostly focused on </a:t>
          </a:r>
          <a:r>
            <a:rPr lang="en-US" sz="1800" dirty="0" smtClean="0"/>
            <a:t>the Bayh-Dole Act of 1980 and the SBIR program</a:t>
          </a:r>
          <a:r>
            <a:rPr lang="en-US" sz="1800" dirty="0" smtClean="0"/>
            <a:t>.</a:t>
          </a:r>
        </a:p>
        <a:p>
          <a:r>
            <a:rPr lang="en-US" sz="1800" dirty="0" smtClean="0"/>
            <a:t>Many evaluation studies of the SBIR program.</a:t>
          </a:r>
        </a:p>
        <a:p>
          <a:r>
            <a:rPr lang="en-US" sz="1800" dirty="0" smtClean="0"/>
            <a:t>Limited and fragment view of technology transfer policy. </a:t>
          </a:r>
          <a:endParaRPr lang="en-US" sz="1800" dirty="0" smtClean="0"/>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smtClean="0"/>
            <a:t>Few recent studies on policy.</a:t>
          </a:r>
          <a:endParaRPr lang="en-US" sz="1800" dirty="0"/>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8991BA4A-2F3E-42D3-8B99-BCDFA0BDD3E7}">
      <dgm:prSet phldrT="[Text]" custT="1"/>
      <dgm:spPr/>
      <dgm:t>
        <a:bodyPr/>
        <a:lstStyle/>
        <a:p>
          <a:pPr>
            <a:spcBef>
              <a:spcPct val="0"/>
            </a:spcBef>
            <a:spcAft>
              <a:spcPts val="0"/>
            </a:spcAft>
          </a:pPr>
          <a:r>
            <a:rPr lang="en-US" sz="1800" dirty="0" smtClean="0"/>
            <a:t>Studies of the SBIR program</a:t>
          </a:r>
        </a:p>
      </dgm:t>
    </dgm:pt>
    <dgm:pt modelId="{E7596637-F052-4ABF-A854-69BA244C60E4}" type="parTrans" cxnId="{70632021-CCAC-475F-847B-33412C108413}">
      <dgm:prSet/>
      <dgm:spPr/>
      <dgm:t>
        <a:bodyPr/>
        <a:lstStyle/>
        <a:p>
          <a:endParaRPr lang="en-US"/>
        </a:p>
      </dgm:t>
    </dgm:pt>
    <dgm:pt modelId="{0EE95D68-7A6E-4523-9E32-BE80241F048A}" type="sibTrans" cxnId="{70632021-CCAC-475F-847B-33412C108413}">
      <dgm:prSet/>
      <dgm:spPr/>
      <dgm:t>
        <a:bodyPr/>
        <a:lstStyle/>
        <a:p>
          <a:endParaRPr lang="en-US"/>
        </a:p>
      </dgm:t>
    </dgm:pt>
    <dgm:pt modelId="{1B658359-2C06-4959-ACFA-FE1C6F542A4C}">
      <dgm:prSet phldrT="[Text]" custT="1"/>
      <dgm:spPr/>
      <dgm:t>
        <a:bodyPr/>
        <a:lstStyle/>
        <a:p>
          <a:pPr>
            <a:spcBef>
              <a:spcPct val="0"/>
            </a:spcBef>
            <a:spcAft>
              <a:spcPct val="15000"/>
            </a:spcAft>
          </a:pPr>
          <a:r>
            <a:rPr lang="en-US" sz="1400" dirty="0" smtClean="0"/>
            <a:t>Joshi, Inouye &amp; Robinson (</a:t>
          </a:r>
          <a:r>
            <a:rPr lang="en-US" sz="1400" dirty="0" err="1" smtClean="0"/>
            <a:t>n.d.</a:t>
          </a:r>
          <a:r>
            <a:rPr lang="en-US" sz="1400" dirty="0" smtClean="0"/>
            <a:t>)</a:t>
          </a:r>
        </a:p>
      </dgm:t>
    </dgm:pt>
    <dgm:pt modelId="{D7EAFD01-062B-40D6-BF73-FED35A868A23}" type="parTrans" cxnId="{6F8D0440-6659-4CA2-B950-76EC95083270}">
      <dgm:prSet/>
      <dgm:spPr/>
      <dgm:t>
        <a:bodyPr/>
        <a:lstStyle/>
        <a:p>
          <a:endParaRPr lang="en-US"/>
        </a:p>
      </dgm:t>
    </dgm:pt>
    <dgm:pt modelId="{F7FFCAFF-AD37-4B07-BA2F-44A4A887303F}" type="sibTrans" cxnId="{6F8D0440-6659-4CA2-B950-76EC95083270}">
      <dgm:prSet/>
      <dgm:spPr/>
      <dgm:t>
        <a:bodyPr/>
        <a:lstStyle/>
        <a:p>
          <a:endParaRPr lang="en-US"/>
        </a:p>
      </dgm:t>
    </dgm:pt>
    <dgm:pt modelId="{C96093A5-2007-4070-BAE2-12F6DEFE31CF}">
      <dgm:prSet phldrT="[Text]" custT="1"/>
      <dgm:spPr/>
      <dgm:t>
        <a:bodyPr/>
        <a:lstStyle/>
        <a:p>
          <a:pPr>
            <a:spcBef>
              <a:spcPct val="0"/>
            </a:spcBef>
            <a:spcAft>
              <a:spcPct val="15000"/>
            </a:spcAft>
          </a:pPr>
          <a:r>
            <a:rPr lang="en-US" sz="1400" dirty="0" smtClean="0"/>
            <a:t>Andersen, Bray &amp; Link (2017)</a:t>
          </a:r>
        </a:p>
      </dgm:t>
    </dgm:pt>
    <dgm:pt modelId="{A93431EA-64F7-4504-89F3-B8A04B2DB964}" type="parTrans" cxnId="{46762F97-09D4-4CE7-9388-492FA092C50C}">
      <dgm:prSet/>
      <dgm:spPr/>
      <dgm:t>
        <a:bodyPr/>
        <a:lstStyle/>
        <a:p>
          <a:endParaRPr lang="en-US"/>
        </a:p>
      </dgm:t>
    </dgm:pt>
    <dgm:pt modelId="{68B913D6-51C0-4F18-92E6-C2A1E06B86DC}" type="sibTrans" cxnId="{46762F97-09D4-4CE7-9388-492FA092C50C}">
      <dgm:prSet/>
      <dgm:spPr/>
      <dgm:t>
        <a:bodyPr/>
        <a:lstStyle/>
        <a:p>
          <a:endParaRPr lang="en-US"/>
        </a:p>
      </dgm:t>
    </dgm:pt>
    <dgm:pt modelId="{E06B764D-BC71-49D2-8B67-E60CEBB218ED}">
      <dgm:prSet phldrT="[Text]" custT="1"/>
      <dgm:spPr/>
      <dgm:t>
        <a:bodyPr/>
        <a:lstStyle/>
        <a:p>
          <a:pPr>
            <a:spcBef>
              <a:spcPct val="0"/>
            </a:spcBef>
            <a:spcAft>
              <a:spcPct val="15000"/>
            </a:spcAft>
          </a:pPr>
          <a:r>
            <a:rPr lang="en-US" sz="1400" dirty="0" smtClean="0"/>
            <a:t>Link &amp; Scott (2010)</a:t>
          </a:r>
        </a:p>
      </dgm:t>
    </dgm:pt>
    <dgm:pt modelId="{0D6ED01A-4A13-463F-B050-390626DC5395}" type="parTrans" cxnId="{F5171554-D7E4-47E7-9A00-190CFCC733B4}">
      <dgm:prSet/>
      <dgm:spPr/>
      <dgm:t>
        <a:bodyPr/>
        <a:lstStyle/>
        <a:p>
          <a:endParaRPr lang="en-US"/>
        </a:p>
      </dgm:t>
    </dgm:pt>
    <dgm:pt modelId="{60B10233-1B50-4744-8D62-F2C31CF326E1}" type="sibTrans" cxnId="{F5171554-D7E4-47E7-9A00-190CFCC733B4}">
      <dgm:prSet/>
      <dgm:spPr/>
      <dgm:t>
        <a:bodyPr/>
        <a:lstStyle/>
        <a:p>
          <a:endParaRPr lang="en-US"/>
        </a:p>
      </dgm:t>
    </dgm:pt>
    <dgm:pt modelId="{E59BA82B-BC46-46DF-A083-AD27D0585BA1}">
      <dgm:prSet phldrT="[Text]" custT="1"/>
      <dgm:spPr/>
      <dgm:t>
        <a:bodyPr/>
        <a:lstStyle/>
        <a:p>
          <a:pPr>
            <a:spcBef>
              <a:spcPts val="0"/>
            </a:spcBef>
            <a:spcAft>
              <a:spcPts val="0"/>
            </a:spcAft>
          </a:pPr>
          <a:r>
            <a:rPr lang="en-US" sz="1800" dirty="0" smtClean="0"/>
            <a:t>Innovation Policy</a:t>
          </a:r>
        </a:p>
      </dgm:t>
    </dgm:pt>
    <dgm:pt modelId="{E99FB7DE-9E90-4675-B14E-8080F8223A2F}" type="parTrans" cxnId="{2B87EAED-1CB1-4202-9184-9079E7096ACB}">
      <dgm:prSet/>
      <dgm:spPr/>
      <dgm:t>
        <a:bodyPr/>
        <a:lstStyle/>
        <a:p>
          <a:endParaRPr lang="en-US"/>
        </a:p>
      </dgm:t>
    </dgm:pt>
    <dgm:pt modelId="{D7E93C80-6DE3-4307-B894-C189EF8936B9}" type="sibTrans" cxnId="{2B87EAED-1CB1-4202-9184-9079E7096ACB}">
      <dgm:prSet/>
      <dgm:spPr/>
      <dgm:t>
        <a:bodyPr/>
        <a:lstStyle/>
        <a:p>
          <a:endParaRPr lang="en-US"/>
        </a:p>
      </dgm:t>
    </dgm:pt>
    <dgm:pt modelId="{10E145AF-1A51-4F0F-A808-162BD579AE8B}">
      <dgm:prSet phldrT="[Text]" custT="1"/>
      <dgm:spPr/>
      <dgm:t>
        <a:bodyPr/>
        <a:lstStyle/>
        <a:p>
          <a:pPr>
            <a:spcBef>
              <a:spcPct val="0"/>
            </a:spcBef>
            <a:spcAft>
              <a:spcPct val="15000"/>
            </a:spcAft>
          </a:pPr>
          <a:r>
            <a:rPr lang="en-US" sz="1400" dirty="0" err="1" smtClean="0"/>
            <a:t>Hemel</a:t>
          </a:r>
          <a:r>
            <a:rPr lang="en-US" sz="1400" dirty="0" smtClean="0"/>
            <a:t>, </a:t>
          </a:r>
          <a:r>
            <a:rPr lang="en-US" sz="1400" dirty="0" err="1" smtClean="0"/>
            <a:t>Ouellett</a:t>
          </a:r>
          <a:r>
            <a:rPr lang="en-US" sz="1400" dirty="0" smtClean="0"/>
            <a:t> &amp; Larrimore (2019)</a:t>
          </a:r>
        </a:p>
      </dgm:t>
    </dgm:pt>
    <dgm:pt modelId="{F3E0FDD7-C2B9-44D9-9155-9B2012CF3391}" type="parTrans" cxnId="{CAB489D9-A94A-4FB7-A80F-99BD4DEDDF01}">
      <dgm:prSet/>
      <dgm:spPr/>
      <dgm:t>
        <a:bodyPr/>
        <a:lstStyle/>
        <a:p>
          <a:endParaRPr lang="en-US"/>
        </a:p>
      </dgm:t>
    </dgm:pt>
    <dgm:pt modelId="{9ED38D4F-0528-49F4-A672-CDFAC78CBDC3}" type="sibTrans" cxnId="{CAB489D9-A94A-4FB7-A80F-99BD4DEDDF01}">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46762F97-09D4-4CE7-9388-492FA092C50C}" srcId="{8991BA4A-2F3E-42D3-8B99-BCDFA0BDD3E7}" destId="{C96093A5-2007-4070-BAE2-12F6DEFE31CF}" srcOrd="0" destOrd="0" parTransId="{A93431EA-64F7-4504-89F3-B8A04B2DB964}" sibTransId="{68B913D6-51C0-4F18-92E6-C2A1E06B86DC}"/>
    <dgm:cxn modelId="{07E749A8-6878-48F2-8857-B2C2B74D4CAD}" type="presOf" srcId="{10E145AF-1A51-4F0F-A808-162BD579AE8B}" destId="{7C1FE252-E5CE-40AF-AE08-799A5F741FEE}" srcOrd="0" destOrd="7"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C5F869C1-8FEF-4035-9EC3-FDF0092FF2C9}" srcId="{56D25664-E470-4423-B8A9-9B6E4F3E9501}" destId="{F754AD28-8B54-47D9-83F1-8D45F35B4A81}" srcOrd="0" destOrd="0" parTransId="{26AD8160-5FF5-41BE-AFAF-E29D66F0469B}" sibTransId="{BE9BECBC-F94F-4E2F-BDB2-93E8BAEBEFE7}"/>
    <dgm:cxn modelId="{76696772-2554-4E2D-8639-34A91E715C32}" type="presOf" srcId="{56D25664-E470-4423-B8A9-9B6E4F3E9501}" destId="{5EE1D2E5-E13B-4FA3-A68E-FA18C8AD1A1A}" srcOrd="0" destOrd="0" presId="urn:microsoft.com/office/officeart/2005/8/layout/hProcess7"/>
    <dgm:cxn modelId="{464D6169-0418-4699-820B-C50B038C5CB9}" type="presOf" srcId="{95A718DB-BBB4-46AA-BDBB-89DD317FC1FE}" destId="{4428B23C-049C-4D7B-92D7-DD65A1003E4E}" srcOrd="0" destOrd="0" presId="urn:microsoft.com/office/officeart/2005/8/layout/hProcess7"/>
    <dgm:cxn modelId="{0C798256-5A86-478B-A5F7-71A8BB652059}" type="presOf" srcId="{C96093A5-2007-4070-BAE2-12F6DEFE31CF}" destId="{7C1FE252-E5CE-40AF-AE08-799A5F741FEE}" srcOrd="0" destOrd="3"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8D2101F9-CF87-42F9-B094-55D43C34B39E}" type="presOf" srcId="{07C75C8E-0DEA-4DDA-B70D-DFD3E44B3AE9}" destId="{7C1FE252-E5CE-40AF-AE08-799A5F741FEE}" srcOrd="0" destOrd="1" presId="urn:microsoft.com/office/officeart/2005/8/layout/hProcess7"/>
    <dgm:cxn modelId="{1376C00F-D2BE-4C3D-965E-81FB671F3B53}"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87BF63E-91D9-4AD4-9115-9177A60F5A29}" type="presOf" srcId="{E59BA82B-BC46-46DF-A083-AD27D0585BA1}" destId="{7C1FE252-E5CE-40AF-AE08-799A5F741FEE}" srcOrd="0" destOrd="6"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403EF11F-788A-4983-B12C-053482AAB8FD}" type="presOf" srcId="{1B658359-2C06-4959-ACFA-FE1C6F542A4C}" destId="{7C1FE252-E5CE-40AF-AE08-799A5F741FEE}" srcOrd="0" destOrd="4"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6F8D0440-6659-4CA2-B950-76EC95083270}" srcId="{8991BA4A-2F3E-42D3-8B99-BCDFA0BDD3E7}" destId="{1B658359-2C06-4959-ACFA-FE1C6F542A4C}" srcOrd="1" destOrd="0" parTransId="{D7EAFD01-062B-40D6-BF73-FED35A868A23}" sibTransId="{F7FFCAFF-AD37-4B07-BA2F-44A4A887303F}"/>
    <dgm:cxn modelId="{0760B2AC-086D-43C3-B6DC-F21DD00EE472}" type="presOf" srcId="{8991BA4A-2F3E-42D3-8B99-BCDFA0BDD3E7}" destId="{7C1FE252-E5CE-40AF-AE08-799A5F741FEE}" srcOrd="0" destOrd="2" presId="urn:microsoft.com/office/officeart/2005/8/layout/hProcess7"/>
    <dgm:cxn modelId="{CAB489D9-A94A-4FB7-A80F-99BD4DEDDF01}" srcId="{E59BA82B-BC46-46DF-A083-AD27D0585BA1}" destId="{10E145AF-1A51-4F0F-A808-162BD579AE8B}" srcOrd="0" destOrd="0" parTransId="{F3E0FDD7-C2B9-44D9-9155-9B2012CF3391}" sibTransId="{9ED38D4F-0528-49F4-A672-CDFAC78CBDC3}"/>
    <dgm:cxn modelId="{5ED53018-804C-4B6E-8C96-35B9E163BB2B}" type="presOf" srcId="{275823A6-DA31-4015-971F-013EA967541C}" destId="{752682F3-57CE-4B43-B292-A62B3D508EDD}" srcOrd="1" destOrd="0" presId="urn:microsoft.com/office/officeart/2005/8/layout/hProcess7"/>
    <dgm:cxn modelId="{2B87EAED-1CB1-4202-9184-9079E7096ACB}" srcId="{275823A6-DA31-4015-971F-013EA967541C}" destId="{E59BA82B-BC46-46DF-A083-AD27D0585BA1}" srcOrd="2" destOrd="0" parTransId="{E99FB7DE-9E90-4675-B14E-8080F8223A2F}" sibTransId="{D7E93C80-6DE3-4307-B894-C189EF8936B9}"/>
    <dgm:cxn modelId="{874CAB56-E993-4BA7-B073-DD6F211AB452}" srcId="{E12051B9-F660-41FB-9BFB-187ECABCD821}" destId="{56D25664-E470-4423-B8A9-9B6E4F3E9501}" srcOrd="0" destOrd="0" parTransId="{AE225F17-CB4A-4698-895E-495209A24EDD}" sibTransId="{0513D618-905F-43E6-8DF3-0764A99732D8}"/>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70632021-CCAC-475F-847B-33412C108413}" srcId="{275823A6-DA31-4015-971F-013EA967541C}" destId="{8991BA4A-2F3E-42D3-8B99-BCDFA0BDD3E7}" srcOrd="1" destOrd="0" parTransId="{E7596637-F052-4ABF-A854-69BA244C60E4}" sibTransId="{0EE95D68-7A6E-4523-9E32-BE80241F048A}"/>
    <dgm:cxn modelId="{57824522-8F28-49A9-B1BA-92C8570C9820}" srcId="{2645AA64-F59A-4567-9741-8E504AE7F8ED}" destId="{D4C8B335-3CDB-4410-8398-ADA4B6D707D0}" srcOrd="1" destOrd="0" parTransId="{6731F8F5-E23D-44FE-B5E9-470480E8C490}" sibTransId="{8F87DA33-748F-4E07-B160-1008D5AD6E87}"/>
    <dgm:cxn modelId="{F5171554-D7E4-47E7-9A00-190CFCC733B4}" srcId="{8991BA4A-2F3E-42D3-8B99-BCDFA0BDD3E7}" destId="{E06B764D-BC71-49D2-8B67-E60CEBB218ED}" srcOrd="2" destOrd="0" parTransId="{0D6ED01A-4A13-463F-B050-390626DC5395}" sibTransId="{60B10233-1B50-4744-8D62-F2C31CF326E1}"/>
    <dgm:cxn modelId="{8BE4AC12-40F3-4F0D-917E-1DE0D831E752}" type="presOf" srcId="{56D25664-E470-4423-B8A9-9B6E4F3E9501}" destId="{1F2FC209-C6F9-4BD8-BE18-C50B50281548}" srcOrd="1"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62E60EE8-063F-4C0A-8FDD-046B87B79BFA}" type="presOf" srcId="{E06B764D-BC71-49D2-8B67-E60CEBB218ED}" destId="{7C1FE252-E5CE-40AF-AE08-799A5F741FEE}" srcOrd="0" destOrd="5"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smtClean="0"/>
            <a:t>Patent rights to an invention</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Not explicitly defined.</a:t>
          </a:r>
        </a:p>
        <a:p>
          <a:r>
            <a:rPr lang="en-US" sz="1800" dirty="0" smtClean="0"/>
            <a:t>No universal definition.</a:t>
          </a:r>
        </a:p>
        <a:p>
          <a:r>
            <a:rPr lang="en-US" sz="1800" dirty="0" smtClean="0"/>
            <a:t>Not </a:t>
          </a:r>
          <a:r>
            <a:rPr lang="en-US" sz="1800" dirty="0" smtClean="0"/>
            <a:t>all technology is patentable.</a:t>
          </a:r>
        </a:p>
        <a:p>
          <a:r>
            <a:rPr lang="en-US" sz="1800" dirty="0" smtClean="0"/>
            <a:t>Academic </a:t>
          </a:r>
          <a:r>
            <a:rPr lang="en-US" sz="1800" dirty="0" smtClean="0"/>
            <a:t>knowledge and technology are not synonymous.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pPr>
            <a:spcAft>
              <a:spcPct val="15000"/>
            </a:spcAft>
          </a:pPr>
          <a:r>
            <a:rPr lang="en-US" sz="1400" dirty="0" err="1" smtClean="0"/>
            <a:t>Markman</a:t>
          </a:r>
          <a:r>
            <a:rPr lang="en-US" sz="1400" dirty="0" smtClean="0"/>
            <a:t>, </a:t>
          </a:r>
          <a:r>
            <a:rPr lang="en-US" sz="1400" dirty="0" err="1" smtClean="0"/>
            <a:t>Gianiodis</a:t>
          </a:r>
          <a:r>
            <a:rPr lang="en-US" sz="1400" dirty="0" smtClean="0"/>
            <a:t> &amp; Phan (</a:t>
          </a:r>
          <a:r>
            <a:rPr lang="en-US" sz="1400" dirty="0" smtClean="0"/>
            <a:t>2009</a:t>
          </a:r>
          <a:r>
            <a:rPr lang="en-US" sz="1400" dirty="0" smtClean="0"/>
            <a:t>)</a:t>
          </a:r>
          <a:endParaRPr lang="en-US" sz="1400" dirty="0"/>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pPr>
            <a:spcAft>
              <a:spcPts val="0"/>
            </a:spcAft>
          </a:pPr>
          <a:r>
            <a:rPr lang="en-US" sz="1800" dirty="0" smtClean="0"/>
            <a:t>Academic knowledge</a:t>
          </a:r>
          <a:endParaRPr lang="en-US" sz="1800" dirty="0"/>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pPr>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smtClean="0"/>
            <a:t>Licensing, new venture formation, research collaborations, faculty consulting</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Not explicitly defined.</a:t>
          </a:r>
        </a:p>
        <a:p>
          <a:r>
            <a:rPr lang="en-US" sz="1800" dirty="0" smtClean="0"/>
            <a:t>No universal definition.</a:t>
          </a:r>
        </a:p>
        <a:p>
          <a:r>
            <a:rPr lang="en-US" sz="1800" dirty="0" smtClean="0"/>
            <a:t>Conflates </a:t>
          </a:r>
          <a:r>
            <a:rPr lang="en-US" sz="1800" dirty="0" smtClean="0"/>
            <a:t>the concept of technology transfer with the mechanisms for achieving </a:t>
          </a:r>
          <a:r>
            <a:rPr lang="en-US" sz="1800" dirty="0" smtClean="0"/>
            <a:t>it.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pPr>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pPr>
            <a:spcAft>
              <a:spcPct val="15000"/>
            </a:spcAft>
          </a:pPr>
          <a:r>
            <a:rPr lang="en-US" sz="1400" dirty="0" smtClean="0"/>
            <a:t>Hallam, Wurth &amp; Mancha (2014)</a:t>
          </a:r>
          <a:endParaRPr lang="en-US" sz="1400" dirty="0"/>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E58B5A47-C138-41FD-A589-C231A97834C5}">
      <dgm:prSet custT="1"/>
      <dgm:spPr/>
      <dgm:t>
        <a:bodyPr/>
        <a:lstStyle/>
        <a:p>
          <a:pPr>
            <a:spcAft>
              <a:spcPct val="15000"/>
            </a:spcAft>
          </a:pPr>
          <a:r>
            <a:rPr lang="en-US" sz="1400" dirty="0" err="1" smtClean="0"/>
            <a:t>Markman</a:t>
          </a:r>
          <a:r>
            <a:rPr lang="en-US" sz="1400" dirty="0" smtClean="0"/>
            <a:t>, </a:t>
          </a:r>
          <a:r>
            <a:rPr lang="en-US" sz="1400" dirty="0" err="1" smtClean="0"/>
            <a:t>Gianiodis</a:t>
          </a:r>
          <a:r>
            <a:rPr lang="en-US" sz="1400" dirty="0" smtClean="0"/>
            <a:t> &amp; Phan (2009)</a:t>
          </a:r>
          <a:endParaRPr lang="en-US" sz="1400" dirty="0"/>
        </a:p>
      </dgm:t>
    </dgm:pt>
    <dgm:pt modelId="{70DB7790-7630-418A-9A65-6A4FEF1A794E}" type="parTrans" cxnId="{37612963-5248-4487-8C1E-7601F02403F2}">
      <dgm:prSet/>
      <dgm:spPr/>
      <dgm:t>
        <a:bodyPr/>
        <a:lstStyle/>
        <a:p>
          <a:endParaRPr lang="en-US"/>
        </a:p>
      </dgm:t>
    </dgm:pt>
    <dgm:pt modelId="{6EA0B891-21D5-4EDF-9819-C1B330792A2D}" type="sibTrans" cxnId="{37612963-5248-4487-8C1E-7601F02403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EE855B06-5CCC-4C53-AF4C-575A8770D0D5}" type="presOf" srcId="{2645AA64-F59A-4567-9741-8E504AE7F8ED}" destId="{BBE81636-BCDD-48A0-B978-839FA7B950F8}" srcOrd="0" destOrd="0" presId="urn:microsoft.com/office/officeart/2005/8/layout/hProcess7"/>
    <dgm:cxn modelId="{37612963-5248-4487-8C1E-7601F02403F2}" srcId="{E7E09A88-A855-416A-B17D-5608BAB5F968}" destId="{E58B5A47-C138-41FD-A589-C231A97834C5}" srcOrd="2" destOrd="0" parTransId="{70DB7790-7630-418A-9A65-6A4FEF1A794E}" sibTransId="{6EA0B891-21D5-4EDF-9819-C1B330792A2D}"/>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31724960-6B7E-46B6-9E51-4822305409CC}" type="presOf" srcId="{E58B5A47-C138-41FD-A589-C231A97834C5}" destId="{7C1FE252-E5CE-40AF-AE08-799A5F741FEE}" srcOrd="0" destOrd="3" presId="urn:microsoft.com/office/officeart/2005/8/layout/hProcess7"/>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smtClean="0"/>
            <a:t>Executed patent license, established new business entity, executed sponsored research agreement</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A patent license is often a requirement for forming a university spinout company.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pPr>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smtClean="0"/>
            <a:t>Sponsored research may not be related to technology previously developed at the university</a:t>
          </a:r>
          <a:r>
            <a:rPr lang="en-US" sz="1800" dirty="0" smtClean="0"/>
            <a:t>.</a:t>
          </a:r>
        </a:p>
        <a:p>
          <a:r>
            <a:rPr lang="en-US" sz="1800" dirty="0" smtClean="0"/>
            <a:t>Don’t accommodate instances that are not transactional in nature.</a:t>
          </a:r>
          <a:endParaRPr lang="en-US" sz="1800" dirty="0"/>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pPr>
            <a:spcAft>
              <a:spcPct val="15000"/>
            </a:spcAft>
          </a:pPr>
          <a:r>
            <a:rPr lang="en-US" sz="1400" dirty="0" err="1" smtClean="0"/>
            <a:t>Markman</a:t>
          </a:r>
          <a:r>
            <a:rPr lang="en-US" sz="1400" dirty="0" smtClean="0"/>
            <a:t>, </a:t>
          </a:r>
          <a:r>
            <a:rPr lang="en-US" sz="1400" dirty="0" err="1" smtClean="0"/>
            <a:t>Gioniodis</a:t>
          </a:r>
          <a:r>
            <a:rPr lang="en-US" sz="1400" dirty="0" smtClean="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pPr>
            <a:spcAft>
              <a:spcPct val="15000"/>
            </a:spcAft>
          </a:pPr>
          <a:r>
            <a:rPr lang="en-US" sz="1400" dirty="0" smtClean="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9468C67F-56C6-4890-A41B-446E0BAD8B20}" type="presOf" srcId="{E12051B9-F660-41FB-9BFB-187ECABCD821}" destId="{4413368B-ACCA-469B-9D0E-1FEFC4075FB0}" srcOrd="0" destOrd="0" presId="urn:microsoft.com/office/officeart/2005/8/layout/hProcess7"/>
    <dgm:cxn modelId="{3C46EFEB-025A-4B4A-B32B-4DD9200ACF32}" type="presOf" srcId="{56D25664-E470-4423-B8A9-9B6E4F3E9501}" destId="{1F2FC209-C6F9-4BD8-BE18-C50B50281548}" srcOrd="1" destOrd="0" presId="urn:microsoft.com/office/officeart/2005/8/layout/hProcess7"/>
    <dgm:cxn modelId="{345E8502-C9FB-4C14-B93F-0E7CC17AC776}" type="presOf" srcId="{2645AA64-F59A-4567-9741-8E504AE7F8ED}" destId="{BBE81636-BCDD-48A0-B978-839FA7B950F8}" srcOrd="0" destOrd="0" presId="urn:microsoft.com/office/officeart/2005/8/layout/hProcess7"/>
    <dgm:cxn modelId="{0F565921-269C-4039-B027-DE123B2EA6D3}" type="presOf" srcId="{B66FEDCD-05F5-486C-8CAE-52A8E512E89C}" destId="{7C1FE252-E5CE-40AF-AE08-799A5F741FE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A26EACB-9B9A-4CC5-8B01-DAE18BDBFC90}" type="presOf" srcId="{2645AA64-F59A-4567-9741-8E504AE7F8ED}" destId="{5002EEF7-AB5F-41AC-BBA4-49DC2C142864}" srcOrd="1" destOrd="0" presId="urn:microsoft.com/office/officeart/2005/8/layout/hProcess7"/>
    <dgm:cxn modelId="{A6C9FB56-CA4C-4D3D-9DF3-0FDA5A40B058}" type="presOf" srcId="{5E26D614-F864-488A-B521-ECFB18615A67}" destId="{4428B23C-049C-4D7B-92D7-DD65A1003E4E}" srcOrd="0" destOrd="1" presId="urn:microsoft.com/office/officeart/2005/8/layout/hProcess7"/>
    <dgm:cxn modelId="{7CD9E12C-6453-4DCD-8B09-3F2C537EAB52}" type="presOf" srcId="{275823A6-DA31-4015-971F-013EA967541C}" destId="{752682F3-57CE-4B43-B292-A62B3D508EDD}" srcOrd="1" destOrd="0" presId="urn:microsoft.com/office/officeart/2005/8/layout/hProcess7"/>
    <dgm:cxn modelId="{80B9EB3B-2B60-488D-89E7-F3CADBBD236B}" type="presOf" srcId="{E7E09A88-A855-416A-B17D-5608BAB5F968}" destId="{7C1FE252-E5CE-40AF-AE08-799A5F741FEE}" srcOrd="0" destOrd="0" presId="urn:microsoft.com/office/officeart/2005/8/layout/hProcess7"/>
    <dgm:cxn modelId="{F4EA48C2-FC9A-4F54-B786-EACA5C6FA5F9}" type="presOf" srcId="{D264B8C8-0C74-4047-BC3D-D328ABB04B07}" destId="{4428B23C-049C-4D7B-92D7-DD65A1003E4E}" srcOrd="0" destOrd="0" presId="urn:microsoft.com/office/officeart/2005/8/layout/hProcess7"/>
    <dgm:cxn modelId="{B8DBEC51-D664-4B9F-A8C1-5048D857CDD2}" type="presOf" srcId="{A63F54FD-8B74-4C7D-8473-B344FD749CC5}" destId="{7C1FE252-E5CE-40AF-AE08-799A5F741FEE}" srcOrd="0" destOrd="1"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93B1179C-1A4F-4322-B7F5-7EDD3B10E174}" type="presOf" srcId="{F754AD28-8B54-47D9-83F1-8D45F35B4A81}" destId="{0F07502A-98A4-4880-9779-27EA2BEB6F02}"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A7F7B04-6A39-45A4-AF0B-D1A9094F072C}" type="presOf" srcId="{DEA16A63-FA9D-4192-A529-0359124F8856}" destId="{7C1FE252-E5CE-40AF-AE08-799A5F741FEE}" srcOrd="0" destOrd="3" presId="urn:microsoft.com/office/officeart/2005/8/layout/hProcess7"/>
    <dgm:cxn modelId="{06715221-C8AF-419C-820D-7BBF0648749C}"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6D9E101D-8C9B-45AD-8944-D23E0555CF3C}"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A119129-BFC5-426B-ADBE-A12AEE62A7F2}" srcId="{E7E09A88-A855-416A-B17D-5608BAB5F968}" destId="{DEA16A63-FA9D-4192-A529-0359124F8856}" srcOrd="2" destOrd="0" parTransId="{50241EA1-ACEB-4859-BDF5-8C00490A77F8}" sibTransId="{BD6B7C49-70A8-4A58-9FF0-D04F58C7049C}"/>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F59C226B-A15A-41DE-A46B-E19633E3B53E}" type="presParOf" srcId="{4413368B-ACCA-469B-9D0E-1FEFC4075FB0}" destId="{8E1BCC0E-B989-4435-8915-645304C71A64}" srcOrd="0" destOrd="0" presId="urn:microsoft.com/office/officeart/2005/8/layout/hProcess7"/>
    <dgm:cxn modelId="{81AA18A2-EEF4-41D9-8515-193C6D376E11}" type="presParOf" srcId="{8E1BCC0E-B989-4435-8915-645304C71A64}" destId="{5EE1D2E5-E13B-4FA3-A68E-FA18C8AD1A1A}" srcOrd="0" destOrd="0" presId="urn:microsoft.com/office/officeart/2005/8/layout/hProcess7"/>
    <dgm:cxn modelId="{67755E0C-3EB2-4F04-9926-B901F62740E7}" type="presParOf" srcId="{8E1BCC0E-B989-4435-8915-645304C71A64}" destId="{1F2FC209-C6F9-4BD8-BE18-C50B50281548}" srcOrd="1" destOrd="0" presId="urn:microsoft.com/office/officeart/2005/8/layout/hProcess7"/>
    <dgm:cxn modelId="{2DE8C1BA-2800-4A5C-9538-023957D25802}" type="presParOf" srcId="{8E1BCC0E-B989-4435-8915-645304C71A64}" destId="{0F07502A-98A4-4880-9779-27EA2BEB6F02}" srcOrd="2" destOrd="0" presId="urn:microsoft.com/office/officeart/2005/8/layout/hProcess7"/>
    <dgm:cxn modelId="{452C37CD-0E4F-49ED-82F0-7161CD27D444}" type="presParOf" srcId="{4413368B-ACCA-469B-9D0E-1FEFC4075FB0}" destId="{13ACBB4E-2F0C-4773-92A7-F091255EA962}" srcOrd="1" destOrd="0" presId="urn:microsoft.com/office/officeart/2005/8/layout/hProcess7"/>
    <dgm:cxn modelId="{3B37A81D-BD9F-454D-92C9-00202A1B0C81}" type="presParOf" srcId="{4413368B-ACCA-469B-9D0E-1FEFC4075FB0}" destId="{BAD87237-2D53-4DFC-BA2E-02EC39493885}" srcOrd="2" destOrd="0" presId="urn:microsoft.com/office/officeart/2005/8/layout/hProcess7"/>
    <dgm:cxn modelId="{62B2966E-0BDB-45BC-A343-81FAC7FC9272}" type="presParOf" srcId="{BAD87237-2D53-4DFC-BA2E-02EC39493885}" destId="{221F174E-2568-4C2B-B98A-B21C733FC119}" srcOrd="0" destOrd="0" presId="urn:microsoft.com/office/officeart/2005/8/layout/hProcess7"/>
    <dgm:cxn modelId="{00F02121-8BB1-43D7-8D75-78D8DDD1ADDC}" type="presParOf" srcId="{BAD87237-2D53-4DFC-BA2E-02EC39493885}" destId="{45668240-D897-4FC1-8421-6DD785B65040}" srcOrd="1" destOrd="0" presId="urn:microsoft.com/office/officeart/2005/8/layout/hProcess7"/>
    <dgm:cxn modelId="{14C43528-8F0F-4FDA-BD96-A2E978D685C3}" type="presParOf" srcId="{BAD87237-2D53-4DFC-BA2E-02EC39493885}" destId="{50ECFA14-9F36-4C35-911C-A780FF037D2C}" srcOrd="2" destOrd="0" presId="urn:microsoft.com/office/officeart/2005/8/layout/hProcess7"/>
    <dgm:cxn modelId="{13051E0E-AE32-467C-BF6E-7927A838178D}" type="presParOf" srcId="{4413368B-ACCA-469B-9D0E-1FEFC4075FB0}" destId="{B0CEB5DD-B27E-454F-A39C-A559A187214D}" srcOrd="3" destOrd="0" presId="urn:microsoft.com/office/officeart/2005/8/layout/hProcess7"/>
    <dgm:cxn modelId="{BC78F96B-3277-459D-9C06-9863575AD802}" type="presParOf" srcId="{4413368B-ACCA-469B-9D0E-1FEFC4075FB0}" destId="{4C92115F-DFB0-4372-AF66-CF11B70A8EFD}" srcOrd="4" destOrd="0" presId="urn:microsoft.com/office/officeart/2005/8/layout/hProcess7"/>
    <dgm:cxn modelId="{1C6BB721-6B6B-4151-BECE-A5C2C70E19D5}" type="presParOf" srcId="{4C92115F-DFB0-4372-AF66-CF11B70A8EFD}" destId="{CB5EA34A-627A-4C1F-96E3-4088D2A98FDD}" srcOrd="0" destOrd="0" presId="urn:microsoft.com/office/officeart/2005/8/layout/hProcess7"/>
    <dgm:cxn modelId="{BD9243CB-84DD-425D-9296-A9E1A32AEF7B}" type="presParOf" srcId="{4C92115F-DFB0-4372-AF66-CF11B70A8EFD}" destId="{752682F3-57CE-4B43-B292-A62B3D508EDD}" srcOrd="1" destOrd="0" presId="urn:microsoft.com/office/officeart/2005/8/layout/hProcess7"/>
    <dgm:cxn modelId="{C9A2C7A7-EAA5-45AF-9EE4-5C0875F9ED54}" type="presParOf" srcId="{4C92115F-DFB0-4372-AF66-CF11B70A8EFD}" destId="{7C1FE252-E5CE-40AF-AE08-799A5F741FEE}" srcOrd="2" destOrd="0" presId="urn:microsoft.com/office/officeart/2005/8/layout/hProcess7"/>
    <dgm:cxn modelId="{BFA08AFA-F67C-4AD8-90E7-31181FAE4024}" type="presParOf" srcId="{4413368B-ACCA-469B-9D0E-1FEFC4075FB0}" destId="{E94DD569-30C2-4DB5-BFE9-2EA1C054A099}" srcOrd="5" destOrd="0" presId="urn:microsoft.com/office/officeart/2005/8/layout/hProcess7"/>
    <dgm:cxn modelId="{27E5F088-1141-4A27-9D04-09CBCA5AC72F}" type="presParOf" srcId="{4413368B-ACCA-469B-9D0E-1FEFC4075FB0}" destId="{D0762C22-9124-4CFC-9FEF-33DB241A1B75}" srcOrd="6" destOrd="0" presId="urn:microsoft.com/office/officeart/2005/8/layout/hProcess7"/>
    <dgm:cxn modelId="{539DEB61-29D3-4DA4-9500-6BAEC737177F}" type="presParOf" srcId="{D0762C22-9124-4CFC-9FEF-33DB241A1B75}" destId="{C8DF72E1-70D1-4214-8DAD-40E18FF824F5}" srcOrd="0" destOrd="0" presId="urn:microsoft.com/office/officeart/2005/8/layout/hProcess7"/>
    <dgm:cxn modelId="{D4551D62-ED6D-4C48-AC7C-FCDB8101044F}" type="presParOf" srcId="{D0762C22-9124-4CFC-9FEF-33DB241A1B75}" destId="{BAC8B8B3-49A2-4BE7-B498-654C601FE809}" srcOrd="1" destOrd="0" presId="urn:microsoft.com/office/officeart/2005/8/layout/hProcess7"/>
    <dgm:cxn modelId="{767501BF-6768-4F1A-8563-4FF2FCCA1AC4}" type="presParOf" srcId="{D0762C22-9124-4CFC-9FEF-33DB241A1B75}" destId="{4A5065A5-7398-4E75-9460-0F7770025FB9}" srcOrd="2" destOrd="0" presId="urn:microsoft.com/office/officeart/2005/8/layout/hProcess7"/>
    <dgm:cxn modelId="{EBC81E12-9F8A-4DCA-A632-F268FFABA313}" type="presParOf" srcId="{4413368B-ACCA-469B-9D0E-1FEFC4075FB0}" destId="{2AE61FAA-6DD0-4F7B-8C42-F1DA0A887180}" srcOrd="7" destOrd="0" presId="urn:microsoft.com/office/officeart/2005/8/layout/hProcess7"/>
    <dgm:cxn modelId="{5CAA01F2-2200-4CE9-8390-FF866CDD39C5}" type="presParOf" srcId="{4413368B-ACCA-469B-9D0E-1FEFC4075FB0}" destId="{72B73D94-A19D-488F-A34B-978C721C47B4}" srcOrd="8" destOrd="0" presId="urn:microsoft.com/office/officeart/2005/8/layout/hProcess7"/>
    <dgm:cxn modelId="{7199D922-2022-422D-B8B5-ECED05CF392E}" type="presParOf" srcId="{72B73D94-A19D-488F-A34B-978C721C47B4}" destId="{BBE81636-BCDD-48A0-B978-839FA7B950F8}" srcOrd="0" destOrd="0" presId="urn:microsoft.com/office/officeart/2005/8/layout/hProcess7"/>
    <dgm:cxn modelId="{307F422D-D574-4890-AD7D-FFF46241F23F}" type="presParOf" srcId="{72B73D94-A19D-488F-A34B-978C721C47B4}" destId="{5002EEF7-AB5F-41AC-BBA4-49DC2C142864}" srcOrd="1" destOrd="0" presId="urn:microsoft.com/office/officeart/2005/8/layout/hProcess7"/>
    <dgm:cxn modelId="{E92420BD-73DE-47FB-81F8-431DB6AAE277}"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smtClean="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Studies have mostly focused on factors exogenous to the research and development process.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pPr>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pPr>
            <a:spcAft>
              <a:spcPct val="15000"/>
            </a:spcAft>
          </a:pPr>
          <a:r>
            <a:rPr lang="en-US" sz="1400" dirty="0" err="1" smtClean="0"/>
            <a:t>Markman</a:t>
          </a:r>
          <a:r>
            <a:rPr lang="en-US" sz="1400" dirty="0" smtClean="0"/>
            <a:t>, </a:t>
          </a:r>
          <a:r>
            <a:rPr lang="en-US" sz="1400" dirty="0" err="1" smtClean="0"/>
            <a:t>Gioniodis</a:t>
          </a:r>
          <a:r>
            <a:rPr lang="en-US" sz="1400" dirty="0" smtClean="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smtClean="0"/>
            <a:t>Construct</a:t>
          </a:r>
          <a:endParaRPr lang="en-US" sz="20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smtClean="0"/>
            <a:t>Literature</a:t>
          </a:r>
          <a:endParaRPr lang="en-US" sz="2000" b="1" u="sng"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smtClean="0"/>
            <a:t>Development stage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smtClean="0"/>
            <a:t>Observations</a:t>
          </a:r>
          <a:endParaRPr lang="en-US" sz="2000" b="1" u="sng"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Few studies that consider development </a:t>
          </a:r>
          <a:r>
            <a:rPr lang="en-US" sz="1800" dirty="0" smtClean="0"/>
            <a:t>stage as an independent variable.</a:t>
          </a:r>
          <a:endParaRPr lang="en-US" sz="1800" dirty="0" smtClean="0"/>
        </a:p>
        <a:p>
          <a:r>
            <a:rPr lang="en-US" sz="1800" dirty="0" smtClean="0"/>
            <a:t>Studies have investigated specific geographic factors such as venture capital</a:t>
          </a:r>
        </a:p>
        <a:p>
          <a:r>
            <a:rPr lang="en-US" sz="1800" dirty="0" smtClean="0"/>
            <a:t>Studies </a:t>
          </a:r>
          <a:r>
            <a:rPr lang="en-US" sz="1800" dirty="0" smtClean="0"/>
            <a:t>have </a:t>
          </a:r>
          <a:r>
            <a:rPr lang="en-US" sz="1800" dirty="0" smtClean="0"/>
            <a:t>explored  </a:t>
          </a:r>
          <a:r>
            <a:rPr lang="en-US" sz="1800" dirty="0" smtClean="0"/>
            <a:t>the association between cities and innovation.</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pPr>
            <a:spcBef>
              <a:spcPct val="0"/>
            </a:spcBef>
            <a:spcAft>
              <a:spcPct val="15000"/>
            </a:spcAft>
          </a:pPr>
          <a:r>
            <a:rPr lang="en-US" sz="1400" dirty="0" smtClean="0"/>
            <a:t>Gonzalez-</a:t>
          </a:r>
          <a:r>
            <a:rPr lang="en-US" sz="1400" dirty="0" err="1" smtClean="0"/>
            <a:t>Pernia</a:t>
          </a:r>
          <a:r>
            <a:rPr lang="en-US" sz="1400" dirty="0" smtClean="0"/>
            <a:t>, </a:t>
          </a:r>
          <a:r>
            <a:rPr lang="en-US" sz="1400" dirty="0" err="1" smtClean="0"/>
            <a:t>Kuechle</a:t>
          </a:r>
          <a:r>
            <a:rPr lang="en-US" sz="1400" dirty="0" smtClean="0"/>
            <a:t> &amp; Pena-</a:t>
          </a:r>
          <a:r>
            <a:rPr lang="en-US" sz="1400" dirty="0" err="1" smtClean="0"/>
            <a:t>Legazkue</a:t>
          </a:r>
          <a:r>
            <a:rPr lang="en-US" sz="1400" dirty="0" smtClean="0"/>
            <a:t> (2013)</a:t>
          </a:r>
          <a:endParaRPr lang="en-US" sz="1400" dirty="0"/>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B1FFFC36-A8D3-451D-9C3A-93B8EDFBC6B5}">
      <dgm:prSet phldrT="[Text]" custT="1"/>
      <dgm:spPr/>
      <dgm:t>
        <a:bodyPr/>
        <a:lstStyle/>
        <a:p>
          <a:pPr>
            <a:spcBef>
              <a:spcPts val="0"/>
            </a:spcBef>
            <a:spcAft>
              <a:spcPts val="0"/>
            </a:spcAft>
          </a:pPr>
          <a:r>
            <a:rPr lang="en-US" sz="1800" dirty="0" smtClean="0"/>
            <a:t>Association between cities and innovation</a:t>
          </a:r>
          <a:endParaRPr lang="en-US" sz="1800" dirty="0"/>
        </a:p>
      </dgm:t>
    </dgm:pt>
    <dgm:pt modelId="{A4168942-A87C-4279-8340-8FA8F4842A1C}" type="parTrans" cxnId="{3CC74B7C-BBAA-404B-B061-C3CF70BA6C52}">
      <dgm:prSet/>
      <dgm:spPr/>
      <dgm:t>
        <a:bodyPr/>
        <a:lstStyle/>
        <a:p>
          <a:endParaRPr lang="en-US"/>
        </a:p>
      </dgm:t>
    </dgm:pt>
    <dgm:pt modelId="{A4E9E1FE-B794-4427-9318-EF5C2483C10F}" type="sibTrans" cxnId="{3CC74B7C-BBAA-404B-B061-C3CF70BA6C52}">
      <dgm:prSet/>
      <dgm:spPr/>
      <dgm:t>
        <a:bodyPr/>
        <a:lstStyle/>
        <a:p>
          <a:endParaRPr lang="en-US"/>
        </a:p>
      </dgm:t>
    </dgm:pt>
    <dgm:pt modelId="{3E7C4519-64CD-4235-907C-0A2B2EBDDB2B}">
      <dgm:prSet phldrT="[Text]" custT="1"/>
      <dgm:spPr/>
      <dgm:t>
        <a:bodyPr/>
        <a:lstStyle/>
        <a:p>
          <a:pPr>
            <a:spcBef>
              <a:spcPct val="0"/>
            </a:spcBef>
            <a:spcAft>
              <a:spcPct val="15000"/>
            </a:spcAft>
          </a:pPr>
          <a:r>
            <a:rPr lang="en-US" sz="1400" dirty="0" smtClean="0"/>
            <a:t>Florida, Alder &amp; </a:t>
          </a:r>
          <a:r>
            <a:rPr lang="en-US" sz="1400" dirty="0" err="1" smtClean="0"/>
            <a:t>Mellander</a:t>
          </a:r>
          <a:r>
            <a:rPr lang="en-US" sz="1400" dirty="0" smtClean="0"/>
            <a:t> (2017)</a:t>
          </a:r>
          <a:endParaRPr lang="en-US" sz="1400" dirty="0"/>
        </a:p>
      </dgm:t>
    </dgm:pt>
    <dgm:pt modelId="{049A2AB5-51A6-492C-92DA-5C229F22C240}" type="parTrans" cxnId="{8E8CA84A-5BBC-4D26-9512-14543001D4AE}">
      <dgm:prSet/>
      <dgm:spPr/>
      <dgm:t>
        <a:bodyPr/>
        <a:lstStyle/>
        <a:p>
          <a:endParaRPr lang="en-US"/>
        </a:p>
      </dgm:t>
    </dgm:pt>
    <dgm:pt modelId="{29C0C1B3-D692-4EC8-A9C8-6D22145F5DB1}" type="sibTrans" cxnId="{8E8CA84A-5BBC-4D26-9512-14543001D4AE}">
      <dgm:prSet/>
      <dgm:spPr/>
      <dgm:t>
        <a:bodyPr/>
        <a:lstStyle/>
        <a:p>
          <a:endParaRPr lang="en-US"/>
        </a:p>
      </dgm:t>
    </dgm:pt>
    <dgm:pt modelId="{B1DCE110-24AB-4236-B3C6-4FE160C4D2B8}">
      <dgm:prSet phldrT="[Text]" custT="1"/>
      <dgm:spPr/>
      <dgm:t>
        <a:bodyPr/>
        <a:lstStyle/>
        <a:p>
          <a:pPr>
            <a:spcBef>
              <a:spcPct val="0"/>
            </a:spcBef>
            <a:spcAft>
              <a:spcPct val="15000"/>
            </a:spcAft>
          </a:pPr>
          <a:r>
            <a:rPr lang="en-US" sz="1400" dirty="0" smtClean="0"/>
            <a:t>Florida &amp; </a:t>
          </a:r>
          <a:r>
            <a:rPr lang="en-US" sz="1400" dirty="0" err="1" smtClean="0"/>
            <a:t>Lellander</a:t>
          </a:r>
          <a:r>
            <a:rPr lang="en-US" sz="1400" dirty="0" smtClean="0"/>
            <a:t> (2016)</a:t>
          </a:r>
          <a:endParaRPr lang="en-US" sz="1400" dirty="0"/>
        </a:p>
      </dgm:t>
    </dgm:pt>
    <dgm:pt modelId="{68D62A61-2FFC-404A-A6AB-3574AFB40C80}" type="parTrans" cxnId="{606D77F8-F89D-4D3D-A6E8-822491591595}">
      <dgm:prSet/>
      <dgm:spPr/>
      <dgm:t>
        <a:bodyPr/>
        <a:lstStyle/>
        <a:p>
          <a:endParaRPr lang="en-US"/>
        </a:p>
      </dgm:t>
    </dgm:pt>
    <dgm:pt modelId="{CB665FF9-7446-4441-B264-9E225251D9FD}" type="sibTrans" cxnId="{606D77F8-F89D-4D3D-A6E8-822491591595}">
      <dgm:prSet/>
      <dgm:spPr/>
      <dgm:t>
        <a:bodyPr/>
        <a:lstStyle/>
        <a:p>
          <a:endParaRPr lang="en-US"/>
        </a:p>
      </dgm:t>
    </dgm:pt>
    <dgm:pt modelId="{B788EC3F-15F2-4F7D-B8B7-6CD1B0127EA5}">
      <dgm:prSet phldrT="[Text]" custT="1"/>
      <dgm:spPr/>
      <dgm:t>
        <a:bodyPr/>
        <a:lstStyle/>
        <a:p>
          <a:pPr>
            <a:spcBef>
              <a:spcPct val="0"/>
            </a:spcBef>
            <a:spcAft>
              <a:spcPct val="15000"/>
            </a:spcAft>
          </a:pPr>
          <a:r>
            <a:rPr lang="en-US" sz="1400" dirty="0" err="1" smtClean="0"/>
            <a:t>Reuer</a:t>
          </a:r>
          <a:r>
            <a:rPr lang="en-US" sz="1400" dirty="0" smtClean="0"/>
            <a:t> &amp; </a:t>
          </a:r>
          <a:r>
            <a:rPr lang="en-US" sz="1400" dirty="0" err="1" smtClean="0"/>
            <a:t>Lahiri</a:t>
          </a:r>
          <a:r>
            <a:rPr lang="en-US" sz="1400" dirty="0" smtClean="0"/>
            <a:t> (2014)</a:t>
          </a:r>
          <a:endParaRPr lang="en-US" sz="1400" dirty="0"/>
        </a:p>
      </dgm:t>
    </dgm:pt>
    <dgm:pt modelId="{8E27B5BB-0CCE-4AD9-BBD9-2720B14048D1}" type="parTrans" cxnId="{3454834B-05D9-49C0-B367-ABD37A9248C4}">
      <dgm:prSet/>
      <dgm:spPr/>
      <dgm:t>
        <a:bodyPr/>
        <a:lstStyle/>
        <a:p>
          <a:endParaRPr lang="en-US"/>
        </a:p>
      </dgm:t>
    </dgm:pt>
    <dgm:pt modelId="{F3590E07-8170-4762-9ED1-243BC06CDA59}" type="sibTrans" cxnId="{3454834B-05D9-49C0-B367-ABD37A9248C4}">
      <dgm:prSet/>
      <dgm:spPr/>
      <dgm:t>
        <a:bodyPr/>
        <a:lstStyle/>
        <a:p>
          <a:endParaRPr lang="en-US"/>
        </a:p>
      </dgm:t>
    </dgm:pt>
    <dgm:pt modelId="{03FDD481-2C2D-4504-B65C-774E995BF815}">
      <dgm:prSet phldrT="[Text]" custT="1"/>
      <dgm:spPr/>
      <dgm:t>
        <a:bodyPr/>
        <a:lstStyle/>
        <a:p>
          <a:pPr>
            <a:spcBef>
              <a:spcPct val="0"/>
            </a:spcBef>
            <a:spcAft>
              <a:spcPts val="0"/>
            </a:spcAft>
          </a:pPr>
          <a:r>
            <a:rPr lang="en-US" sz="1800" dirty="0" smtClean="0"/>
            <a:t>Geographic considerations</a:t>
          </a:r>
          <a:endParaRPr lang="en-US" sz="1800" dirty="0"/>
        </a:p>
      </dgm:t>
    </dgm:pt>
    <dgm:pt modelId="{5AB09CFD-D26F-4473-BD7C-269085681305}" type="parTrans" cxnId="{07D87A2A-9AAA-4B59-B7ED-01AF7D2660FE}">
      <dgm:prSet/>
      <dgm:spPr/>
      <dgm:t>
        <a:bodyPr/>
        <a:lstStyle/>
        <a:p>
          <a:endParaRPr lang="en-US"/>
        </a:p>
      </dgm:t>
    </dgm:pt>
    <dgm:pt modelId="{D92C8B2D-E05C-41B0-98F7-AEFB0C95D5C1}" type="sibTrans" cxnId="{07D87A2A-9AAA-4B59-B7ED-01AF7D2660FE}">
      <dgm:prSet/>
      <dgm:spPr/>
      <dgm:t>
        <a:bodyPr/>
        <a:lstStyle/>
        <a:p>
          <a:endParaRPr lang="en-US"/>
        </a:p>
      </dgm:t>
    </dgm:pt>
    <dgm:pt modelId="{78928CAB-7A7E-4B76-80D9-1D90FF416781}">
      <dgm:prSet phldrT="[Text]" custT="1"/>
      <dgm:spPr/>
      <dgm:t>
        <a:bodyPr/>
        <a:lstStyle/>
        <a:p>
          <a:pPr>
            <a:spcBef>
              <a:spcPct val="0"/>
            </a:spcBef>
            <a:spcAft>
              <a:spcPct val="15000"/>
            </a:spcAft>
          </a:pPr>
          <a:r>
            <a:rPr lang="en-US" sz="1400" dirty="0" smtClean="0"/>
            <a:t>Wang, Mohammed, Wu &amp; Xiang (2016)</a:t>
          </a:r>
        </a:p>
      </dgm:t>
    </dgm:pt>
    <dgm:pt modelId="{473E318F-7A63-4E2F-8965-6B2DDC1BC9D0}" type="parTrans" cxnId="{BB6B251A-C418-4794-941E-2B7DA6116EE8}">
      <dgm:prSet/>
      <dgm:spPr/>
      <dgm:t>
        <a:bodyPr/>
        <a:lstStyle/>
        <a:p>
          <a:endParaRPr lang="en-US"/>
        </a:p>
      </dgm:t>
    </dgm:pt>
    <dgm:pt modelId="{A668CB96-A093-4B02-B67C-014EDA5BCAC4}" type="sibTrans" cxnId="{BB6B251A-C418-4794-941E-2B7DA6116EE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06DD160-2314-4045-A876-E6FDD8A0453F}" type="presOf" srcId="{F754AD28-8B54-47D9-83F1-8D45F35B4A81}" destId="{0F07502A-98A4-4880-9779-27EA2BEB6F02}" srcOrd="0" destOrd="0" presId="urn:microsoft.com/office/officeart/2005/8/layout/hProcess7"/>
    <dgm:cxn modelId="{7EB85659-85B5-4A58-A8B7-F9970CF28E2D}" type="presOf" srcId="{AFF6176D-85DE-40AE-90C6-893C51B32EB3}" destId="{7C1FE252-E5CE-40AF-AE08-799A5F741FEE}" srcOrd="0" destOrd="3" presId="urn:microsoft.com/office/officeart/2005/8/layout/hProcess7"/>
    <dgm:cxn modelId="{7A13500A-B45F-405A-B00A-D6FCF1566289}" type="presOf" srcId="{56D25664-E470-4423-B8A9-9B6E4F3E9501}" destId="{5EE1D2E5-E13B-4FA3-A68E-FA18C8AD1A1A}" srcOrd="0" destOrd="0" presId="urn:microsoft.com/office/officeart/2005/8/layout/hProcess7"/>
    <dgm:cxn modelId="{BB6B251A-C418-4794-941E-2B7DA6116EE8}" srcId="{E7E09A88-A855-416A-B17D-5608BAB5F968}" destId="{78928CAB-7A7E-4B76-80D9-1D90FF416781}" srcOrd="0" destOrd="0" parTransId="{473E318F-7A63-4E2F-8965-6B2DDC1BC9D0}" sibTransId="{A668CB96-A093-4B02-B67C-014EDA5BCAC4}"/>
    <dgm:cxn modelId="{E5132081-1B00-40AB-A777-3A64234F67B3}" type="presOf" srcId="{56D25664-E470-4423-B8A9-9B6E4F3E9501}" destId="{1F2FC209-C6F9-4BD8-BE18-C50B50281548}" srcOrd="1" destOrd="0" presId="urn:microsoft.com/office/officeart/2005/8/layout/hProcess7"/>
    <dgm:cxn modelId="{50819095-06B6-45C1-A479-EA0B90A43613}" type="presOf" srcId="{B1DCE110-24AB-4236-B3C6-4FE160C4D2B8}" destId="{7C1FE252-E5CE-40AF-AE08-799A5F741FEE}" srcOrd="0" destOrd="7" presId="urn:microsoft.com/office/officeart/2005/8/layout/hProcess7"/>
    <dgm:cxn modelId="{B09E5938-AD3D-4EA9-970C-82C6FFA86BE2}" srcId="{03FDD481-2C2D-4504-B65C-774E995BF815}" destId="{AFF6176D-85DE-40AE-90C6-893C51B32EB3}" srcOrd="0" destOrd="0" parTransId="{8EE3A1E5-0B44-40B7-9B59-F6DA84D9F6A6}" sibTransId="{056A0E8C-03A8-4EA7-806A-DA6A878AA1E7}"/>
    <dgm:cxn modelId="{874CAB56-E993-4BA7-B073-DD6F211AB452}" srcId="{E12051B9-F660-41FB-9BFB-187ECABCD821}" destId="{56D25664-E470-4423-B8A9-9B6E4F3E9501}" srcOrd="0" destOrd="0" parTransId="{AE225F17-CB4A-4698-895E-495209A24EDD}" sibTransId="{0513D618-905F-43E6-8DF3-0764A99732D8}"/>
    <dgm:cxn modelId="{07D87A2A-9AAA-4B59-B7ED-01AF7D2660FE}" srcId="{275823A6-DA31-4015-971F-013EA967541C}" destId="{03FDD481-2C2D-4504-B65C-774E995BF815}" srcOrd="1" destOrd="0" parTransId="{5AB09CFD-D26F-4473-BD7C-269085681305}" sibTransId="{D92C8B2D-E05C-41B0-98F7-AEFB0C95D5C1}"/>
    <dgm:cxn modelId="{FE42EE8A-FA87-4B31-AAC6-6F4CBBB89FD6}" type="presOf" srcId="{E7E09A88-A855-416A-B17D-5608BAB5F968}" destId="{7C1FE252-E5CE-40AF-AE08-799A5F741FEE}" srcOrd="0" destOrd="0" presId="urn:microsoft.com/office/officeart/2005/8/layout/hProcess7"/>
    <dgm:cxn modelId="{E5E1C217-925E-4DA4-8EC0-0257A5A45A25}" type="presOf" srcId="{275823A6-DA31-4015-971F-013EA967541C}" destId="{752682F3-57CE-4B43-B292-A62B3D508EDD}" srcOrd="1" destOrd="0" presId="urn:microsoft.com/office/officeart/2005/8/layout/hProcess7"/>
    <dgm:cxn modelId="{3454834B-05D9-49C0-B367-ABD37A9248C4}" srcId="{03FDD481-2C2D-4504-B65C-774E995BF815}" destId="{B788EC3F-15F2-4F7D-B8B7-6CD1B0127EA5}" srcOrd="1" destOrd="0" parTransId="{8E27B5BB-0CCE-4AD9-BBD9-2720B14048D1}" sibTransId="{F3590E07-8170-4762-9ED1-243BC06CDA59}"/>
    <dgm:cxn modelId="{8F0C14D9-5A3A-4887-B964-34015863AD29}" type="presOf" srcId="{03FDD481-2C2D-4504-B65C-774E995BF815}" destId="{7C1FE252-E5CE-40AF-AE08-799A5F741FEE}" srcOrd="0" destOrd="2" presId="urn:microsoft.com/office/officeart/2005/8/layout/hProcess7"/>
    <dgm:cxn modelId="{B2E83F0D-9DEC-4AE4-A36C-A30E492706DE}" type="presOf" srcId="{78928CAB-7A7E-4B76-80D9-1D90FF416781}" destId="{7C1FE252-E5CE-40AF-AE08-799A5F741FEE}" srcOrd="0" destOrd="1" presId="urn:microsoft.com/office/officeart/2005/8/layout/hProcess7"/>
    <dgm:cxn modelId="{3CC74B7C-BBAA-404B-B061-C3CF70BA6C52}" srcId="{275823A6-DA31-4015-971F-013EA967541C}" destId="{B1FFFC36-A8D3-451D-9C3A-93B8EDFBC6B5}" srcOrd="2" destOrd="0" parTransId="{A4168942-A87C-4279-8340-8FA8F4842A1C}" sibTransId="{A4E9E1FE-B794-4427-9318-EF5C2483C10F}"/>
    <dgm:cxn modelId="{606D77F8-F89D-4D3D-A6E8-822491591595}" srcId="{B1FFFC36-A8D3-451D-9C3A-93B8EDFBC6B5}" destId="{B1DCE110-24AB-4236-B3C6-4FE160C4D2B8}" srcOrd="1" destOrd="0" parTransId="{68D62A61-2FFC-404A-A6AB-3574AFB40C80}" sibTransId="{CB665FF9-7446-4441-B264-9E225251D9FD}"/>
    <dgm:cxn modelId="{00DB9597-5167-4897-A9DB-D76E30B99361}" type="presOf" srcId="{B1FFFC36-A8D3-451D-9C3A-93B8EDFBC6B5}" destId="{7C1FE252-E5CE-40AF-AE08-799A5F741FEE}" srcOrd="0" destOrd="5" presId="urn:microsoft.com/office/officeart/2005/8/layout/hProcess7"/>
    <dgm:cxn modelId="{556EF31B-1BA2-40A1-BAF1-F6AE6BEA4DC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FE42BD-3B3A-4EAB-A8EF-B79141435591}" type="presOf" srcId="{275823A6-DA31-4015-971F-013EA967541C}" destId="{CB5EA34A-627A-4C1F-96E3-4088D2A98FDD}"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7642EC-04E3-4135-9AFC-1AE6D6D8ED9D}" type="presOf" srcId="{2645AA64-F59A-4567-9741-8E504AE7F8ED}" destId="{5002EEF7-AB5F-41AC-BBA4-49DC2C142864}" srcOrd="1" destOrd="0" presId="urn:microsoft.com/office/officeart/2005/8/layout/hProcess7"/>
    <dgm:cxn modelId="{8E8CA84A-5BBC-4D26-9512-14543001D4AE}" srcId="{B1FFFC36-A8D3-451D-9C3A-93B8EDFBC6B5}" destId="{3E7C4519-64CD-4235-907C-0A2B2EBDDB2B}" srcOrd="0" destOrd="0" parTransId="{049A2AB5-51A6-492C-92DA-5C229F22C240}" sibTransId="{29C0C1B3-D692-4EC8-A9C8-6D22145F5DB1}"/>
    <dgm:cxn modelId="{C5F869C1-8FEF-4035-9EC3-FDF0092FF2C9}" srcId="{56D25664-E470-4423-B8A9-9B6E4F3E9501}" destId="{F754AD28-8B54-47D9-83F1-8D45F35B4A81}" srcOrd="0" destOrd="0" parTransId="{26AD8160-5FF5-41BE-AFAF-E29D66F0469B}" sibTransId="{BE9BECBC-F94F-4E2F-BDB2-93E8BAEBEFE7}"/>
    <dgm:cxn modelId="{7FA1F9F4-02C3-4D71-B747-BDCC5EA23190}" type="presOf" srcId="{3E7C4519-64CD-4235-907C-0A2B2EBDDB2B}" destId="{7C1FE252-E5CE-40AF-AE08-799A5F741FEE}" srcOrd="0" destOrd="6" presId="urn:microsoft.com/office/officeart/2005/8/layout/hProcess7"/>
    <dgm:cxn modelId="{0D7BCF77-58EC-4840-994D-4621B5109003}" type="presOf" srcId="{2645AA64-F59A-4567-9741-8E504AE7F8ED}" destId="{BBE81636-BCDD-48A0-B978-839FA7B950F8}"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FE4CA62F-532D-4C05-8FAB-5EE4F17A315F}" type="presOf" srcId="{B788EC3F-15F2-4F7D-B8B7-6CD1B0127EA5}" destId="{7C1FE252-E5CE-40AF-AE08-799A5F741FEE}" srcOrd="0" destOrd="4"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B244AD41-D368-4D9D-84DD-9C821786F4F1}" type="presOf" srcId="{E12051B9-F660-41FB-9BFB-187ECABCD821}" destId="{4413368B-ACCA-469B-9D0E-1FEFC4075FB0}" srcOrd="0" destOrd="0" presId="urn:microsoft.com/office/officeart/2005/8/layout/hProcess7"/>
    <dgm:cxn modelId="{9FEDD45D-976B-47E8-98B6-DCA0D4F55630}" type="presParOf" srcId="{4413368B-ACCA-469B-9D0E-1FEFC4075FB0}" destId="{8E1BCC0E-B989-4435-8915-645304C71A64}" srcOrd="0" destOrd="0" presId="urn:microsoft.com/office/officeart/2005/8/layout/hProcess7"/>
    <dgm:cxn modelId="{EB063C6E-5CD1-46D8-A268-8ABFC9CB9D8B}" type="presParOf" srcId="{8E1BCC0E-B989-4435-8915-645304C71A64}" destId="{5EE1D2E5-E13B-4FA3-A68E-FA18C8AD1A1A}" srcOrd="0" destOrd="0" presId="urn:microsoft.com/office/officeart/2005/8/layout/hProcess7"/>
    <dgm:cxn modelId="{48B55F1B-9080-4D1B-9524-EA548E403F64}" type="presParOf" srcId="{8E1BCC0E-B989-4435-8915-645304C71A64}" destId="{1F2FC209-C6F9-4BD8-BE18-C50B50281548}" srcOrd="1" destOrd="0" presId="urn:microsoft.com/office/officeart/2005/8/layout/hProcess7"/>
    <dgm:cxn modelId="{68848A51-E014-4A0B-AAA3-BBA0E04760F3}" type="presParOf" srcId="{8E1BCC0E-B989-4435-8915-645304C71A64}" destId="{0F07502A-98A4-4880-9779-27EA2BEB6F02}" srcOrd="2" destOrd="0" presId="urn:microsoft.com/office/officeart/2005/8/layout/hProcess7"/>
    <dgm:cxn modelId="{02685089-F0DB-42D0-AF09-A91FBD3115DD}" type="presParOf" srcId="{4413368B-ACCA-469B-9D0E-1FEFC4075FB0}" destId="{13ACBB4E-2F0C-4773-92A7-F091255EA962}" srcOrd="1" destOrd="0" presId="urn:microsoft.com/office/officeart/2005/8/layout/hProcess7"/>
    <dgm:cxn modelId="{7790BDA0-BC85-4489-94F9-B3827F057819}" type="presParOf" srcId="{4413368B-ACCA-469B-9D0E-1FEFC4075FB0}" destId="{BAD87237-2D53-4DFC-BA2E-02EC39493885}" srcOrd="2" destOrd="0" presId="urn:microsoft.com/office/officeart/2005/8/layout/hProcess7"/>
    <dgm:cxn modelId="{F6143860-0F5D-4193-8E7F-C418239F116C}" type="presParOf" srcId="{BAD87237-2D53-4DFC-BA2E-02EC39493885}" destId="{221F174E-2568-4C2B-B98A-B21C733FC119}" srcOrd="0" destOrd="0" presId="urn:microsoft.com/office/officeart/2005/8/layout/hProcess7"/>
    <dgm:cxn modelId="{38C02795-6DCF-4404-99C1-9B62E818511C}" type="presParOf" srcId="{BAD87237-2D53-4DFC-BA2E-02EC39493885}" destId="{45668240-D897-4FC1-8421-6DD785B65040}" srcOrd="1" destOrd="0" presId="urn:microsoft.com/office/officeart/2005/8/layout/hProcess7"/>
    <dgm:cxn modelId="{6A9B5117-E7AD-4D25-A0F2-96D2C7C9C666}" type="presParOf" srcId="{BAD87237-2D53-4DFC-BA2E-02EC39493885}" destId="{50ECFA14-9F36-4C35-911C-A780FF037D2C}" srcOrd="2" destOrd="0" presId="urn:microsoft.com/office/officeart/2005/8/layout/hProcess7"/>
    <dgm:cxn modelId="{65D4CA32-001E-4818-87DD-77F0E68C3869}" type="presParOf" srcId="{4413368B-ACCA-469B-9D0E-1FEFC4075FB0}" destId="{B0CEB5DD-B27E-454F-A39C-A559A187214D}" srcOrd="3" destOrd="0" presId="urn:microsoft.com/office/officeart/2005/8/layout/hProcess7"/>
    <dgm:cxn modelId="{6E14A71C-D387-4B02-8A66-2EFAAF555972}" type="presParOf" srcId="{4413368B-ACCA-469B-9D0E-1FEFC4075FB0}" destId="{4C92115F-DFB0-4372-AF66-CF11B70A8EFD}" srcOrd="4" destOrd="0" presId="urn:microsoft.com/office/officeart/2005/8/layout/hProcess7"/>
    <dgm:cxn modelId="{DC9AAC00-49E1-4987-AD86-0F2D7612EE88}" type="presParOf" srcId="{4C92115F-DFB0-4372-AF66-CF11B70A8EFD}" destId="{CB5EA34A-627A-4C1F-96E3-4088D2A98FDD}" srcOrd="0" destOrd="0" presId="urn:microsoft.com/office/officeart/2005/8/layout/hProcess7"/>
    <dgm:cxn modelId="{B306D1A9-7385-4375-ACB4-F5E9905C3751}" type="presParOf" srcId="{4C92115F-DFB0-4372-AF66-CF11B70A8EFD}" destId="{752682F3-57CE-4B43-B292-A62B3D508EDD}" srcOrd="1" destOrd="0" presId="urn:microsoft.com/office/officeart/2005/8/layout/hProcess7"/>
    <dgm:cxn modelId="{E62D79E0-5406-4C40-9BC1-EE6AB76A20C6}" type="presParOf" srcId="{4C92115F-DFB0-4372-AF66-CF11B70A8EFD}" destId="{7C1FE252-E5CE-40AF-AE08-799A5F741FEE}" srcOrd="2" destOrd="0" presId="urn:microsoft.com/office/officeart/2005/8/layout/hProcess7"/>
    <dgm:cxn modelId="{C021903C-0B26-4D8C-850F-2BDA94EAA2F8}" type="presParOf" srcId="{4413368B-ACCA-469B-9D0E-1FEFC4075FB0}" destId="{E94DD569-30C2-4DB5-BFE9-2EA1C054A099}" srcOrd="5" destOrd="0" presId="urn:microsoft.com/office/officeart/2005/8/layout/hProcess7"/>
    <dgm:cxn modelId="{7B236253-6290-4366-A7F7-E81FD954296B}" type="presParOf" srcId="{4413368B-ACCA-469B-9D0E-1FEFC4075FB0}" destId="{D0762C22-9124-4CFC-9FEF-33DB241A1B75}" srcOrd="6" destOrd="0" presId="urn:microsoft.com/office/officeart/2005/8/layout/hProcess7"/>
    <dgm:cxn modelId="{39C9F88B-C59D-4297-A7AD-8CF6AA135529}" type="presParOf" srcId="{D0762C22-9124-4CFC-9FEF-33DB241A1B75}" destId="{C8DF72E1-70D1-4214-8DAD-40E18FF824F5}" srcOrd="0" destOrd="0" presId="urn:microsoft.com/office/officeart/2005/8/layout/hProcess7"/>
    <dgm:cxn modelId="{A5C542D1-B425-4763-AD6C-DC576B367751}" type="presParOf" srcId="{D0762C22-9124-4CFC-9FEF-33DB241A1B75}" destId="{BAC8B8B3-49A2-4BE7-B498-654C601FE809}" srcOrd="1" destOrd="0" presId="urn:microsoft.com/office/officeart/2005/8/layout/hProcess7"/>
    <dgm:cxn modelId="{34077FEC-A180-4E69-94FB-7875199FC14A}" type="presParOf" srcId="{D0762C22-9124-4CFC-9FEF-33DB241A1B75}" destId="{4A5065A5-7398-4E75-9460-0F7770025FB9}" srcOrd="2" destOrd="0" presId="urn:microsoft.com/office/officeart/2005/8/layout/hProcess7"/>
    <dgm:cxn modelId="{92F7E2FC-81EA-4BF4-902D-0A6848FCF001}" type="presParOf" srcId="{4413368B-ACCA-469B-9D0E-1FEFC4075FB0}" destId="{2AE61FAA-6DD0-4F7B-8C42-F1DA0A887180}" srcOrd="7" destOrd="0" presId="urn:microsoft.com/office/officeart/2005/8/layout/hProcess7"/>
    <dgm:cxn modelId="{2AEB1E2E-E46D-4EC5-B23E-6C2D2D73113B}" type="presParOf" srcId="{4413368B-ACCA-469B-9D0E-1FEFC4075FB0}" destId="{72B73D94-A19D-488F-A34B-978C721C47B4}" srcOrd="8" destOrd="0" presId="urn:microsoft.com/office/officeart/2005/8/layout/hProcess7"/>
    <dgm:cxn modelId="{BE6F47D7-336E-444E-87C6-7D6AF161A845}" type="presParOf" srcId="{72B73D94-A19D-488F-A34B-978C721C47B4}" destId="{BBE81636-BCDD-48A0-B978-839FA7B950F8}" srcOrd="0" destOrd="0" presId="urn:microsoft.com/office/officeart/2005/8/layout/hProcess7"/>
    <dgm:cxn modelId="{826533EB-D4AF-4D4E-B523-DA767F938781}" type="presParOf" srcId="{72B73D94-A19D-488F-A34B-978C721C47B4}" destId="{5002EEF7-AB5F-41AC-BBA4-49DC2C142864}" srcOrd="1" destOrd="0" presId="urn:microsoft.com/office/officeart/2005/8/layout/hProcess7"/>
    <dgm:cxn modelId="{931374DC-6542-44C0-A847-64D5A821AC0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simple1" qsCatId="simple" csTypeId="urn:microsoft.com/office/officeart/2005/8/colors/colorful5"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t>
          </a:r>
          <a:r>
            <a:rPr lang="en-US" sz="1800" dirty="0" smtClean="0"/>
            <a:t>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Regression analyses</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a:t>
          </a:r>
          <a:r>
            <a:rPr lang="en-US" sz="1800" dirty="0" smtClean="0"/>
            <a:t>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a:t>
          </a:r>
          <a:r>
            <a:rPr lang="en-US" sz="1800" dirty="0" smtClean="0"/>
            <a:t>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t>
        <a:bodyPr/>
        <a:lstStyle/>
        <a:p>
          <a:endParaRPr lang="en-US"/>
        </a:p>
      </dgm:t>
    </dgm:pt>
    <dgm:pt modelId="{943BE74F-1EDA-4FD9-9D78-4015F7B7F494}" type="pres">
      <dgm:prSet presAssocID="{000E87EB-6BC1-4467-8911-3A6D4307DC52}" presName="noGeometry" presStyleCnt="0"/>
      <dgm:spPr/>
      <dgm:t>
        <a:bodyPr/>
        <a:lstStyle/>
        <a:p>
          <a:endParaRPr lang="en-US"/>
        </a:p>
      </dgm:t>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t>
        <a:bodyPr/>
        <a:lstStyle/>
        <a:p>
          <a:endParaRPr lang="en-US"/>
        </a:p>
      </dgm:t>
    </dgm:pt>
    <dgm:pt modelId="{80B7E9A7-6843-447F-8AA5-519F4C5B44D1}" type="pres">
      <dgm:prSet presAssocID="{D299AA71-1BEF-44A0-AF96-5BEF7421E37A}" presName="compNode" presStyleCnt="0"/>
      <dgm:spPr/>
      <dgm:t>
        <a:bodyPr/>
        <a:lstStyle/>
        <a:p>
          <a:endParaRPr lang="en-US"/>
        </a:p>
      </dgm:t>
    </dgm:pt>
    <dgm:pt modelId="{1DCB60A7-274A-480C-A23B-AC5D76C24606}" type="pres">
      <dgm:prSet presAssocID="{D299AA71-1BEF-44A0-AF96-5BEF7421E37A}" presName="noGeometry" presStyleCnt="0"/>
      <dgm:spPr/>
      <dgm:t>
        <a:bodyPr/>
        <a:lstStyle/>
        <a:p>
          <a:endParaRPr lang="en-US"/>
        </a:p>
      </dgm:t>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t>
        <a:bodyPr/>
        <a:lstStyle/>
        <a:p>
          <a:endParaRPr lang="en-US"/>
        </a:p>
      </dgm:t>
    </dgm:pt>
    <dgm:pt modelId="{3CFA8F38-D795-4145-8454-76B04FF505EF}" type="pres">
      <dgm:prSet presAssocID="{DAD13305-C33C-4D5D-8E70-FA8D16F7D6E7}" presName="compNode" presStyleCnt="0"/>
      <dgm:spPr/>
      <dgm:t>
        <a:bodyPr/>
        <a:lstStyle/>
        <a:p>
          <a:endParaRPr lang="en-US"/>
        </a:p>
      </dgm:t>
    </dgm:pt>
    <dgm:pt modelId="{7ED1D09B-3D6E-429F-B238-55746FCC46D5}" type="pres">
      <dgm:prSet presAssocID="{DAD13305-C33C-4D5D-8E70-FA8D16F7D6E7}" presName="noGeometry" presStyleCnt="0"/>
      <dgm:spPr/>
      <dgm:t>
        <a:bodyPr/>
        <a:lstStyle/>
        <a:p>
          <a:endParaRPr lang="en-US"/>
        </a:p>
      </dgm:t>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362BDEBC-B5FE-4F3A-993A-4856B29172C3}" srcId="{DAD13305-C33C-4D5D-8E70-FA8D16F7D6E7}" destId="{27E0F1EB-E191-4957-A96C-74E644B233D2}" srcOrd="0" destOrd="0" parTransId="{060AD8E2-FB38-4136-87CF-9997C41B9785}" sibTransId="{E9D2AB2E-23B4-4871-B87D-9DAF9AC1EBCD}"/>
    <dgm:cxn modelId="{6197A7CE-367B-4E60-AE38-2C1A0C287CAE}" type="presOf" srcId="{F6C3F25A-41C4-4A47-9E66-774E1516154B}" destId="{C7B07B6A-2913-4481-A94E-4F0876271F1C}" srcOrd="0" destOrd="1"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B7AF42C-D02F-468C-8259-9CAC7295960F}" type="presOf" srcId="{1D821791-7814-455A-9399-EDDBA6237C3A}" destId="{712DED06-2F47-4A50-B22C-7F91F1296605}" srcOrd="0"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F620DB35-B0F2-47D2-B395-7F1AB80C23E3}" type="presOf" srcId="{EECED6DC-7595-4B84-BF9E-4F3A80443BF1}" destId="{762703CE-4815-4B8A-B298-2820EF25E80C}" srcOrd="0" destOrd="1"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732D3501-A355-4810-88FA-925004F762BE}" srcId="{1D821791-7814-455A-9399-EDDBA6237C3A}" destId="{000E87EB-6BC1-4467-8911-3A6D4307DC52}" srcOrd="0" destOrd="0" parTransId="{3D21AF0B-E8B7-4657-B29B-FBDA3FC0E89D}" sibTransId="{B2C799AB-29BE-4ECA-B81A-3E5512C86A1C}"/>
    <dgm:cxn modelId="{EB0538B6-3D10-43C6-906C-83914CFD5BD0}" srcId="{D299AA71-1BEF-44A0-AF96-5BEF7421E37A}" destId="{5755E862-5F30-47F4-BE53-0D0D635BC754}" srcOrd="0" destOrd="0" parTransId="{87CB2BA6-54FD-4F34-89FD-1AD541CFAFC8}" sibTransId="{08E4A303-1A13-4BC8-9CEB-5DC28C3306FC}"/>
    <dgm:cxn modelId="{FA71FCB1-B573-4FB5-B3B6-57D3F32E4D1F}" srcId="{D299AA71-1BEF-44A0-AF96-5BEF7421E37A}" destId="{F6C3F25A-41C4-4A47-9E66-774E1516154B}" srcOrd="1" destOrd="0" parTransId="{43B2CA58-0A31-4CC4-A311-9DEE4460CA23}" sibTransId="{A1974F1B-6B2B-4DA2-A7C4-A54C625FE935}"/>
    <dgm:cxn modelId="{635620E7-9896-499B-901B-79342BB036E6}" srcId="{1D821791-7814-455A-9399-EDDBA6237C3A}" destId="{D299AA71-1BEF-44A0-AF96-5BEF7421E37A}" srcOrd="1" destOrd="0" parTransId="{7473B43F-9657-45AB-95F6-883C898FD0BD}" sibTransId="{34CE16CB-D278-4EDD-9B9E-8516387F3D42}"/>
    <dgm:cxn modelId="{C3D4BBCC-8D08-4B5F-84C2-4CE7664D711F}" srcId="{DAD13305-C33C-4D5D-8E70-FA8D16F7D6E7}" destId="{EECED6DC-7595-4B84-BF9E-4F3A80443BF1}" srcOrd="1" destOrd="0" parTransId="{D9A4142C-920B-4638-BD88-2B5B989E713A}" sibTransId="{B5DB54B2-2209-4C5C-8EC9-188180D016F7}"/>
    <dgm:cxn modelId="{CA3902FC-7CC5-4AEE-B3C3-AA06AC8EBD00}" type="presOf" srcId="{5755E862-5F30-47F4-BE53-0D0D635BC754}" destId="{661E9B89-062D-4CF5-BDE6-95F3A25DA3F7}" srcOrd="1" destOrd="0"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FB2F7463-3294-4EE1-9311-73BCBB21ED0A}" type="presOf" srcId="{5755E862-5F30-47F4-BE53-0D0D635BC754}" destId="{C7B07B6A-2913-4481-A94E-4F0876271F1C}" srcOrd="0" destOrd="0" presId="urn:microsoft.com/office/officeart/2005/8/layout/hProcess6"/>
    <dgm:cxn modelId="{FA0CA7A2-FAB4-4C7D-A76B-1C39674AAF9A}" type="presOf" srcId="{4D8913DF-90C6-421D-BEAA-AE7CC581B4C5}" destId="{49908BEB-6F47-45A2-8B4B-490BBC29E29A}" srcOrd="1"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EB4FC363-D95D-4D05-BF9A-8EDD91F98E01}" type="presOf" srcId="{52206868-3460-4CAE-B5C9-26C67358723C}" destId="{CF065CDD-DFD7-4D33-9DBE-0AD4241E5EB9}" srcOrd="0" destOrd="0"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CA049A63-684E-4D92-BF5C-DFDDC4D5F6CA}" type="presOf" srcId="{4D8913DF-90C6-421D-BEAA-AE7CC581B4C5}" destId="{CF065CDD-DFD7-4D33-9DBE-0AD4241E5EB9}" srcOrd="0" destOrd="1" presId="urn:microsoft.com/office/officeart/2005/8/layout/hProcess6"/>
    <dgm:cxn modelId="{ED1AFEC0-0858-44B2-91D2-88C6166BA726}" type="presOf" srcId="{52206868-3460-4CAE-B5C9-26C67358723C}" destId="{49908BEB-6F47-45A2-8B4B-490BBC29E29A}" srcOrd="1" destOrd="0"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Knowledge or methods that enable the performance of previously </a:t>
          </a:r>
          <a:r>
            <a:rPr lang="en-US" sz="1800" dirty="0" smtClean="0"/>
            <a:t>incapable </a:t>
          </a:r>
          <a:r>
            <a:rPr lang="en-US" sz="1800" dirty="0" smtClean="0"/>
            <a:t>tasks or reduce the units of input per units of output needed to  perform tasks.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smtClean="0"/>
            <a:t>Published peer-reviewed academic journal articles</a:t>
          </a:r>
          <a:endParaRPr lang="en-US" sz="1800" dirty="0"/>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smtClean="0"/>
            <a:t>Allowed U.S. patents</a:t>
          </a:r>
          <a:endParaRPr lang="en-US" sz="1800" dirty="0"/>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smtClean="0"/>
            <a:t>Disallowed U.S. patent applications</a:t>
          </a:r>
          <a:endParaRPr lang="en-US" sz="1800" dirty="0"/>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When </a:t>
          </a:r>
          <a:r>
            <a:rPr lang="en-US" sz="1800" dirty="0" smtClean="0"/>
            <a:t>an actor </a:t>
          </a:r>
          <a:r>
            <a:rPr lang="en-US" sz="1800" dirty="0" smtClean="0"/>
            <a:t>that controls a technology  </a:t>
          </a:r>
          <a:r>
            <a:rPr lang="en-US" sz="1800" dirty="0" smtClean="0"/>
            <a:t>enables others to use the technology.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License agreements</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smtClean="0"/>
            <a:t>Published peer-reviewed journal articles not associated with an allowed U.S. patent or active patent application</a:t>
          </a:r>
          <a:endParaRPr lang="en-US" dirty="0"/>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state of progress of an R&amp;D project as described by a modified technology readiness level (TRL) scale.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abstracts</a:t>
          </a:r>
        </a:p>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smtClean="0"/>
            <a:t>A metropolitan statistical area (MSA) with a total absolute population of 1 million people and total normalized population of at least 110 people per square mile</a:t>
          </a:r>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2017 estimates from the U.S. Census Bureau</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smtClean="0"/>
            <a:t>OMB definitions of MSAs</a:t>
          </a:r>
          <a:endParaRPr lang="en-US"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Spatial Distance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distance from the institution that received the federal funding award for the R&amp;D project to the centroid of the nearest MSA that meets the study requirements.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Category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predominant context of likely intended applications for any technologies derived from the federally-funded R&amp;D project.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smtClean="0"/>
            <a:t>R&amp;D project abstracts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smtClean="0"/>
            <a:t>U.S. patents</a:t>
          </a:r>
        </a:p>
        <a:p>
          <a:r>
            <a:rPr lang="en-US" sz="1800" dirty="0" smtClean="0"/>
            <a:t>Disallowed U.S. patent applications</a:t>
          </a:r>
        </a:p>
        <a:p>
          <a:r>
            <a:rPr lang="en-US" sz="1800" dirty="0" smtClean="0"/>
            <a:t>Published peer-reviewed journal articles</a:t>
          </a:r>
          <a:endParaRPr lang="en-US" sz="1800" dirty="0"/>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Embodiment</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tangible forms that document the details of the technology and enable its use.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smtClean="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smtClean="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dgm:t>
        <a:bodyPr/>
        <a:lstStyle/>
        <a:p>
          <a:r>
            <a:rPr lang="en-US" sz="1800" b="1" u="sng" dirty="0" smtClean="0"/>
            <a:t>Construct</a:t>
          </a:r>
          <a:endParaRPr lang="en-US" sz="1800" b="1" u="sng"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Institution Size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u="sng" dirty="0" smtClean="0"/>
            <a:t>Operationalization</a:t>
          </a:r>
          <a:endParaRPr lang="en-US" sz="1800" b="1" u="sng"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total amount of R&amp;D expenditures in calendar year 2010 for the institution listed as the primary award recipient.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u="sng" dirty="0" smtClean="0"/>
            <a:t>Indicators</a:t>
          </a:r>
          <a:endParaRPr lang="en-US" sz="18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smtClean="0"/>
            <a:t>NSF rankings by total R&amp;D expenditures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t>
        <a:bodyPr/>
        <a:lstStyle/>
        <a:p>
          <a:endParaRPr lang="en-US"/>
        </a:p>
      </dgm:t>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t>
        <a:bodyPr/>
        <a:lstStyle/>
        <a:p>
          <a:endParaRPr lang="en-US"/>
        </a:p>
      </dgm:t>
    </dgm:pt>
    <dgm:pt modelId="{BAD87237-2D53-4DFC-BA2E-02EC39493885}" type="pres">
      <dgm:prSet presAssocID="{0513D618-905F-43E6-8DF3-0764A99732D8}" presName="vProcSp" presStyleCnt="0"/>
      <dgm:spPr/>
      <dgm:t>
        <a:bodyPr/>
        <a:lstStyle/>
        <a:p>
          <a:endParaRPr lang="en-US"/>
        </a:p>
      </dgm:t>
    </dgm:pt>
    <dgm:pt modelId="{221F174E-2568-4C2B-B98A-B21C733FC119}" type="pres">
      <dgm:prSet presAssocID="{0513D618-905F-43E6-8DF3-0764A99732D8}" presName="vSp1" presStyleCnt="0"/>
      <dgm:spPr/>
      <dgm:t>
        <a:bodyPr/>
        <a:lstStyle/>
        <a:p>
          <a:endParaRPr lang="en-US"/>
        </a:p>
      </dgm:t>
    </dgm:pt>
    <dgm:pt modelId="{45668240-D897-4FC1-8421-6DD785B65040}" type="pres">
      <dgm:prSet presAssocID="{0513D618-905F-43E6-8DF3-0764A99732D8}" presName="simulatedConn" presStyleLbl="solidFgAcc1" presStyleIdx="0" presStyleCnt="2"/>
      <dgm:spPr/>
      <dgm:t>
        <a:bodyPr/>
        <a:lstStyle/>
        <a:p>
          <a:endParaRPr lang="en-US"/>
        </a:p>
      </dgm:t>
    </dgm:pt>
    <dgm:pt modelId="{50ECFA14-9F36-4C35-911C-A780FF037D2C}" type="pres">
      <dgm:prSet presAssocID="{0513D618-905F-43E6-8DF3-0764A99732D8}" presName="vSp2" presStyleCnt="0"/>
      <dgm:spPr/>
      <dgm:t>
        <a:bodyPr/>
        <a:lstStyle/>
        <a:p>
          <a:endParaRPr lang="en-US"/>
        </a:p>
      </dgm:t>
    </dgm:pt>
    <dgm:pt modelId="{B0CEB5DD-B27E-454F-A39C-A559A187214D}" type="pres">
      <dgm:prSet presAssocID="{0513D618-905F-43E6-8DF3-0764A99732D8}" presName="sibTrans" presStyleCnt="0"/>
      <dgm:spPr/>
      <dgm:t>
        <a:bodyPr/>
        <a:lstStyle/>
        <a:p>
          <a:endParaRPr lang="en-US"/>
        </a:p>
      </dgm:t>
    </dgm:pt>
    <dgm:pt modelId="{4BB7D377-EFD6-4B5D-AFC7-E199B4378248}" type="pres">
      <dgm:prSet presAssocID="{E7E09A88-A855-416A-B17D-5608BAB5F968}" presName="compositeNode" presStyleCnt="0">
        <dgm:presLayoutVars>
          <dgm:bulletEnabled val="1"/>
        </dgm:presLayoutVars>
      </dgm:prSet>
      <dgm:spPr/>
      <dgm:t>
        <a:bodyPr/>
        <a:lstStyle/>
        <a:p>
          <a:endParaRPr lang="en-US"/>
        </a:p>
      </dgm:t>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t>
        <a:bodyPr/>
        <a:lstStyle/>
        <a:p>
          <a:endParaRPr lang="en-US"/>
        </a:p>
      </dgm:t>
    </dgm:pt>
    <dgm:pt modelId="{20A68127-C095-4D4D-B36C-96BA54B85DB0}" type="pres">
      <dgm:prSet presAssocID="{C2A5DE0A-7824-4E35-BB27-47DBE8541DB5}" presName="vProcSp" presStyleCnt="0"/>
      <dgm:spPr/>
      <dgm:t>
        <a:bodyPr/>
        <a:lstStyle/>
        <a:p>
          <a:endParaRPr lang="en-US"/>
        </a:p>
      </dgm:t>
    </dgm:pt>
    <dgm:pt modelId="{00D4E5B4-15FE-4223-8CF1-EADD9A7F1E52}" type="pres">
      <dgm:prSet presAssocID="{C2A5DE0A-7824-4E35-BB27-47DBE8541DB5}" presName="vSp1" presStyleCnt="0"/>
      <dgm:spPr/>
      <dgm:t>
        <a:bodyPr/>
        <a:lstStyle/>
        <a:p>
          <a:endParaRPr lang="en-US"/>
        </a:p>
      </dgm:t>
    </dgm:pt>
    <dgm:pt modelId="{0B1D8E78-2B68-4C5D-9329-AB01D008FC04}" type="pres">
      <dgm:prSet presAssocID="{C2A5DE0A-7824-4E35-BB27-47DBE8541DB5}" presName="simulatedConn" presStyleLbl="solidFgAcc1" presStyleIdx="1" presStyleCnt="2"/>
      <dgm:spPr/>
      <dgm:t>
        <a:bodyPr/>
        <a:lstStyle/>
        <a:p>
          <a:endParaRPr lang="en-US"/>
        </a:p>
      </dgm:t>
    </dgm:pt>
    <dgm:pt modelId="{E447F79B-3147-4AFA-97C4-CCAE6DBFF058}" type="pres">
      <dgm:prSet presAssocID="{C2A5DE0A-7824-4E35-BB27-47DBE8541DB5}" presName="vSp2" presStyleCnt="0"/>
      <dgm:spPr/>
      <dgm:t>
        <a:bodyPr/>
        <a:lstStyle/>
        <a:p>
          <a:endParaRPr lang="en-US"/>
        </a:p>
      </dgm:t>
    </dgm:pt>
    <dgm:pt modelId="{EAB02694-BB77-4688-815D-9FF6A75A2E23}" type="pres">
      <dgm:prSet presAssocID="{C2A5DE0A-7824-4E35-BB27-47DBE8541DB5}" presName="sibTrans" presStyleCnt="0"/>
      <dgm:spPr/>
      <dgm:t>
        <a:bodyPr/>
        <a:lstStyle/>
        <a:p>
          <a:endParaRPr lang="en-US"/>
        </a:p>
      </dgm:t>
    </dgm:pt>
    <dgm:pt modelId="{897A3698-2D97-4DDC-95D9-A0BDC45706A4}" type="pres">
      <dgm:prSet presAssocID="{38988576-B0AA-4C1A-9619-43A386D2A929}" presName="compositeNode" presStyleCnt="0">
        <dgm:presLayoutVars>
          <dgm:bulletEnabled val="1"/>
        </dgm:presLayoutVars>
      </dgm:prSet>
      <dgm:spPr/>
      <dgm:t>
        <a:bodyPr/>
        <a:lstStyle/>
        <a:p>
          <a:endParaRPr lang="en-US"/>
        </a:p>
      </dgm:t>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8211"/>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1143369" y="1152259"/>
        <a:ext cx="2871793" cy="583697"/>
      </dsp:txXfrm>
    </dsp:sp>
    <dsp:sp modelId="{0F07502A-98A4-4880-9779-27EA2BEB6F02}">
      <dsp:nvSpPr>
        <dsp:cNvPr id="0" name=""/>
        <dsp:cNvSpPr/>
      </dsp:nvSpPr>
      <dsp:spPr>
        <a:xfrm>
          <a:off x="584376"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8211"/>
        <a:ext cx="2174274" cy="3502187"/>
      </dsp:txXfrm>
    </dsp:sp>
    <dsp:sp modelId="{CB5EA34A-627A-4C1F-96E3-4088D2A98FDD}">
      <dsp:nvSpPr>
        <dsp:cNvPr id="0" name=""/>
        <dsp:cNvSpPr/>
      </dsp:nvSpPr>
      <dsp:spPr>
        <a:xfrm>
          <a:off x="3021315" y="8211"/>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1877267" y="1152259"/>
        <a:ext cx="2871793" cy="583697"/>
      </dsp:txXfrm>
    </dsp:sp>
    <dsp:sp modelId="{45668240-D897-4FC1-8421-6DD785B65040}">
      <dsp:nvSpPr>
        <dsp:cNvPr id="0" name=""/>
        <dsp:cNvSpPr/>
      </dsp:nvSpPr>
      <dsp:spPr>
        <a:xfrm rot="5400000">
          <a:off x="2778575" y="2791532"/>
          <a:ext cx="51466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The effects of the Bayh-Dole Act of 1980</a:t>
          </a:r>
        </a:p>
        <a:p>
          <a:pPr marL="114300" lvl="1" indent="-114300" algn="l" defTabSz="622300">
            <a:lnSpc>
              <a:spcPct val="90000"/>
            </a:lnSpc>
            <a:spcBef>
              <a:spcPct val="0"/>
            </a:spcBef>
            <a:spcAft>
              <a:spcPct val="15000"/>
            </a:spcAft>
            <a:buChar char="••"/>
          </a:pPr>
          <a:r>
            <a:rPr lang="en-US" sz="1400" kern="1200" dirty="0" smtClean="0"/>
            <a:t>Dai, Popp &amp; </a:t>
          </a:r>
          <a:r>
            <a:rPr lang="en-US" sz="1400" kern="1200" dirty="0" err="1" smtClean="0"/>
            <a:t>Bretschneider</a:t>
          </a:r>
          <a:r>
            <a:rPr lang="en-US" sz="1400" kern="1200" dirty="0" smtClean="0"/>
            <a:t> (2005)</a:t>
          </a:r>
        </a:p>
        <a:p>
          <a:pPr lvl="0" algn="l" defTabSz="800100">
            <a:lnSpc>
              <a:spcPct val="90000"/>
            </a:lnSpc>
            <a:spcBef>
              <a:spcPct val="0"/>
            </a:spcBef>
            <a:spcAft>
              <a:spcPts val="0"/>
            </a:spcAft>
          </a:pPr>
          <a:r>
            <a:rPr lang="en-US" sz="1800" kern="1200" dirty="0" smtClean="0"/>
            <a:t>Studies of the SBIR program</a:t>
          </a:r>
        </a:p>
        <a:p>
          <a:pPr marL="114300" lvl="1" indent="-114300" algn="l" defTabSz="622300">
            <a:lnSpc>
              <a:spcPct val="90000"/>
            </a:lnSpc>
            <a:spcBef>
              <a:spcPct val="0"/>
            </a:spcBef>
            <a:spcAft>
              <a:spcPct val="15000"/>
            </a:spcAft>
            <a:buChar char="••"/>
          </a:pPr>
          <a:r>
            <a:rPr lang="en-US" sz="1400" kern="1200" dirty="0" smtClean="0"/>
            <a:t>Andersen, Bray &amp; Link (2017)</a:t>
          </a:r>
        </a:p>
        <a:p>
          <a:pPr marL="114300" lvl="1" indent="-114300" algn="l" defTabSz="622300">
            <a:lnSpc>
              <a:spcPct val="90000"/>
            </a:lnSpc>
            <a:spcBef>
              <a:spcPct val="0"/>
            </a:spcBef>
            <a:spcAft>
              <a:spcPct val="15000"/>
            </a:spcAft>
            <a:buChar char="••"/>
          </a:pPr>
          <a:r>
            <a:rPr lang="en-US" sz="1400" kern="1200" dirty="0" smtClean="0"/>
            <a:t>Joshi, Inouye &amp; Robinson (</a:t>
          </a:r>
          <a:r>
            <a:rPr lang="en-US" sz="1400" kern="1200" dirty="0" err="1" smtClean="0"/>
            <a:t>n.d.</a:t>
          </a:r>
          <a:r>
            <a:rPr lang="en-US" sz="1400" kern="1200" dirty="0" smtClean="0"/>
            <a:t>)</a:t>
          </a:r>
        </a:p>
        <a:p>
          <a:pPr marL="114300" lvl="1" indent="-114300" algn="l" defTabSz="622300">
            <a:lnSpc>
              <a:spcPct val="90000"/>
            </a:lnSpc>
            <a:spcBef>
              <a:spcPct val="0"/>
            </a:spcBef>
            <a:spcAft>
              <a:spcPct val="15000"/>
            </a:spcAft>
            <a:buChar char="••"/>
          </a:pPr>
          <a:r>
            <a:rPr lang="en-US" sz="1400" kern="1200" dirty="0" smtClean="0"/>
            <a:t>Link &amp; Scott (2010)</a:t>
          </a:r>
        </a:p>
        <a:p>
          <a:pPr lvl="0" algn="l" defTabSz="800100">
            <a:lnSpc>
              <a:spcPct val="90000"/>
            </a:lnSpc>
            <a:spcBef>
              <a:spcPct val="0"/>
            </a:spcBef>
            <a:spcAft>
              <a:spcPts val="0"/>
            </a:spcAft>
          </a:pPr>
          <a:r>
            <a:rPr lang="en-US" sz="1800" kern="1200" dirty="0" smtClean="0"/>
            <a:t>Innovation Policy</a:t>
          </a:r>
        </a:p>
        <a:p>
          <a:pPr marL="114300" lvl="1" indent="-114300" algn="l" defTabSz="622300">
            <a:lnSpc>
              <a:spcPct val="90000"/>
            </a:lnSpc>
            <a:spcBef>
              <a:spcPct val="0"/>
            </a:spcBef>
            <a:spcAft>
              <a:spcPct val="15000"/>
            </a:spcAft>
            <a:buChar char="••"/>
          </a:pPr>
          <a:r>
            <a:rPr lang="en-US" sz="1400" kern="1200" dirty="0" err="1" smtClean="0"/>
            <a:t>Hemel</a:t>
          </a:r>
          <a:r>
            <a:rPr lang="en-US" sz="1400" kern="1200" dirty="0" smtClean="0"/>
            <a:t>, </a:t>
          </a:r>
          <a:r>
            <a:rPr lang="en-US" sz="1400" kern="1200" dirty="0" err="1" smtClean="0"/>
            <a:t>Ouellett</a:t>
          </a:r>
          <a:r>
            <a:rPr lang="en-US" sz="1400" kern="1200" dirty="0" smtClean="0"/>
            <a:t> &amp; Larrimore (2019)</a:t>
          </a:r>
        </a:p>
      </dsp:txBody>
      <dsp:txXfrm>
        <a:off x="3605013" y="8211"/>
        <a:ext cx="2174274" cy="3502187"/>
      </dsp:txXfrm>
    </dsp:sp>
    <dsp:sp modelId="{BBE81636-BCDD-48A0-B978-839FA7B950F8}">
      <dsp:nvSpPr>
        <dsp:cNvPr id="0" name=""/>
        <dsp:cNvSpPr/>
      </dsp:nvSpPr>
      <dsp:spPr>
        <a:xfrm>
          <a:off x="6041952" y="8211"/>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4897904" y="1152259"/>
        <a:ext cx="2871793" cy="583697"/>
      </dsp:txXfrm>
    </dsp:sp>
    <dsp:sp modelId="{BAC8B8B3-49A2-4BE7-B498-654C601FE809}">
      <dsp:nvSpPr>
        <dsp:cNvPr id="0" name=""/>
        <dsp:cNvSpPr/>
      </dsp:nvSpPr>
      <dsp:spPr>
        <a:xfrm rot="5400000">
          <a:off x="5799212" y="2791532"/>
          <a:ext cx="51466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Few recent studies on policy.</a:t>
          </a:r>
          <a:endParaRPr lang="en-US" sz="1800" kern="1200" dirty="0"/>
        </a:p>
        <a:p>
          <a:pPr lvl="0" algn="l" defTabSz="800100">
            <a:lnSpc>
              <a:spcPct val="90000"/>
            </a:lnSpc>
            <a:spcBef>
              <a:spcPct val="0"/>
            </a:spcBef>
            <a:spcAft>
              <a:spcPct val="35000"/>
            </a:spcAft>
          </a:pPr>
          <a:r>
            <a:rPr lang="en-US" sz="1800" kern="1200" dirty="0" smtClean="0"/>
            <a:t>Mostly focused on </a:t>
          </a:r>
          <a:r>
            <a:rPr lang="en-US" sz="1800" kern="1200" dirty="0" smtClean="0"/>
            <a:t>the Bayh-Dole Act of 1980 and the SBIR program</a:t>
          </a:r>
          <a:r>
            <a:rPr lang="en-US" sz="1800" kern="1200" dirty="0" smtClean="0"/>
            <a:t>.</a:t>
          </a:r>
        </a:p>
        <a:p>
          <a:pPr lvl="0" algn="l" defTabSz="800100">
            <a:lnSpc>
              <a:spcPct val="90000"/>
            </a:lnSpc>
            <a:spcBef>
              <a:spcPct val="0"/>
            </a:spcBef>
            <a:spcAft>
              <a:spcPct val="35000"/>
            </a:spcAft>
          </a:pPr>
          <a:r>
            <a:rPr lang="en-US" sz="1800" kern="1200" dirty="0" smtClean="0"/>
            <a:t>Many evaluation studies of the SBIR program.</a:t>
          </a:r>
        </a:p>
        <a:p>
          <a:pPr lvl="0" algn="l" defTabSz="800100">
            <a:lnSpc>
              <a:spcPct val="90000"/>
            </a:lnSpc>
            <a:spcBef>
              <a:spcPct val="0"/>
            </a:spcBef>
            <a:spcAft>
              <a:spcPct val="35000"/>
            </a:spcAft>
          </a:pPr>
          <a:r>
            <a:rPr lang="en-US" sz="1800" kern="1200" dirty="0" smtClean="0"/>
            <a:t>Limited and fragment view of technology transfer policy. </a:t>
          </a:r>
          <a:endParaRPr lang="en-US" sz="1800" kern="1200" dirty="0" smtClean="0"/>
        </a:p>
      </dsp:txBody>
      <dsp:txXfrm>
        <a:off x="6625649" y="8211"/>
        <a:ext cx="2174274" cy="35021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a:t>
          </a:r>
          <a:endParaRPr lang="en-US" sz="3600" kern="1200" dirty="0"/>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Patent rights to an invention</a:t>
          </a:r>
          <a:endParaRPr lang="en-US" sz="1800" kern="1200" dirty="0"/>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Gianiodis</a:t>
          </a:r>
          <a:r>
            <a:rPr lang="en-US" sz="1400" kern="1200" dirty="0" smtClean="0"/>
            <a:t> &amp; Phan (</a:t>
          </a:r>
          <a:r>
            <a:rPr lang="en-US" sz="1400" kern="1200" dirty="0" smtClean="0"/>
            <a:t>2009</a:t>
          </a:r>
          <a:r>
            <a:rPr lang="en-US" sz="1400" kern="1200" dirty="0" smtClean="0"/>
            <a:t>)</a:t>
          </a:r>
          <a:endParaRPr lang="en-US" sz="1400" kern="1200" dirty="0"/>
        </a:p>
        <a:p>
          <a:pPr lvl="0" algn="l" defTabSz="800100">
            <a:lnSpc>
              <a:spcPct val="90000"/>
            </a:lnSpc>
            <a:spcBef>
              <a:spcPct val="0"/>
            </a:spcBef>
            <a:spcAft>
              <a:spcPts val="0"/>
            </a:spcAft>
          </a:pPr>
          <a:r>
            <a:rPr lang="en-US" sz="1800" kern="1200" dirty="0" smtClean="0"/>
            <a:t>Academic knowledge</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Not explicitly defined.</a:t>
          </a:r>
        </a:p>
        <a:p>
          <a:pPr lvl="0" algn="l" defTabSz="800100">
            <a:lnSpc>
              <a:spcPct val="90000"/>
            </a:lnSpc>
            <a:spcBef>
              <a:spcPct val="0"/>
            </a:spcBef>
            <a:spcAft>
              <a:spcPct val="35000"/>
            </a:spcAft>
          </a:pPr>
          <a:r>
            <a:rPr lang="en-US" sz="1800" kern="1200" dirty="0" smtClean="0"/>
            <a:t>No universal definition.</a:t>
          </a:r>
        </a:p>
        <a:p>
          <a:pPr lvl="0" algn="l" defTabSz="800100">
            <a:lnSpc>
              <a:spcPct val="90000"/>
            </a:lnSpc>
            <a:spcBef>
              <a:spcPct val="0"/>
            </a:spcBef>
            <a:spcAft>
              <a:spcPct val="35000"/>
            </a:spcAft>
          </a:pPr>
          <a:r>
            <a:rPr lang="en-US" sz="1800" kern="1200" dirty="0" smtClean="0"/>
            <a:t>Not </a:t>
          </a:r>
          <a:r>
            <a:rPr lang="en-US" sz="1800" kern="1200" dirty="0" smtClean="0"/>
            <a:t>all technology is patentable.</a:t>
          </a:r>
        </a:p>
        <a:p>
          <a:pPr lvl="0" algn="l" defTabSz="800100">
            <a:lnSpc>
              <a:spcPct val="90000"/>
            </a:lnSpc>
            <a:spcBef>
              <a:spcPct val="0"/>
            </a:spcBef>
            <a:spcAft>
              <a:spcPct val="35000"/>
            </a:spcAft>
          </a:pPr>
          <a:r>
            <a:rPr lang="en-US" sz="1800" kern="1200" dirty="0" smtClean="0"/>
            <a:t>Academic </a:t>
          </a:r>
          <a:r>
            <a:rPr lang="en-US" sz="1800" kern="1200" dirty="0" smtClean="0"/>
            <a:t>knowledge and technology are not synonymous.</a:t>
          </a:r>
          <a:endParaRPr lang="en-US" sz="1800" kern="1200" dirty="0"/>
        </a:p>
      </dsp:txBody>
      <dsp:txXfrm>
        <a:off x="6625649" y="0"/>
        <a:ext cx="2174274" cy="2167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637129"/>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788695" y="789373"/>
        <a:ext cx="2162445" cy="583697"/>
      </dsp:txXfrm>
    </dsp:sp>
    <dsp:sp modelId="{0F07502A-98A4-4880-9779-27EA2BEB6F02}">
      <dsp:nvSpPr>
        <dsp:cNvPr id="0" name=""/>
        <dsp:cNvSpPr/>
      </dsp:nvSpPr>
      <dsp:spPr>
        <a:xfrm>
          <a:off x="584376"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2637129"/>
      </dsp:txXfrm>
    </dsp:sp>
    <dsp:sp modelId="{CB5EA34A-627A-4C1F-96E3-4088D2A98FDD}">
      <dsp:nvSpPr>
        <dsp:cNvPr id="0" name=""/>
        <dsp:cNvSpPr/>
      </dsp:nvSpPr>
      <dsp:spPr>
        <a:xfrm>
          <a:off x="3021315" y="0"/>
          <a:ext cx="2918489" cy="2637129"/>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231941" y="789373"/>
        <a:ext cx="2162445" cy="583697"/>
      </dsp:txXfrm>
    </dsp:sp>
    <dsp:sp modelId="{45668240-D897-4FC1-8421-6DD785B65040}">
      <dsp:nvSpPr>
        <dsp:cNvPr id="0" name=""/>
        <dsp:cNvSpPr/>
      </dsp:nvSpPr>
      <dsp:spPr>
        <a:xfrm rot="5400000">
          <a:off x="2842289" y="2039989"/>
          <a:ext cx="387235"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Licensing, new venture formation, research collaborations, faculty consulting</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a:p>
          <a:pPr marL="114300" lvl="1" indent="-114300" algn="l" defTabSz="622300">
            <a:lnSpc>
              <a:spcPct val="90000"/>
            </a:lnSpc>
            <a:spcBef>
              <a:spcPct val="0"/>
            </a:spcBef>
            <a:spcAft>
              <a:spcPct val="15000"/>
            </a:spcAft>
            <a:buChar char="••"/>
          </a:pPr>
          <a:r>
            <a:rPr lang="en-US" sz="1400" kern="1200" dirty="0" smtClean="0"/>
            <a:t>Hallam, Wurth &amp; Mancha (2014)</a:t>
          </a:r>
          <a:endParaRPr lang="en-US" sz="1400" kern="1200" dirty="0"/>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Gianiodis</a:t>
          </a:r>
          <a:r>
            <a:rPr lang="en-US" sz="1400" kern="1200" dirty="0" smtClean="0"/>
            <a:t> &amp; Phan (2009)</a:t>
          </a:r>
          <a:endParaRPr lang="en-US" sz="1400" kern="1200" dirty="0"/>
        </a:p>
      </dsp:txBody>
      <dsp:txXfrm>
        <a:off x="3605013" y="0"/>
        <a:ext cx="2174274" cy="2637129"/>
      </dsp:txXfrm>
    </dsp:sp>
    <dsp:sp modelId="{BBE81636-BCDD-48A0-B978-839FA7B950F8}">
      <dsp:nvSpPr>
        <dsp:cNvPr id="0" name=""/>
        <dsp:cNvSpPr/>
      </dsp:nvSpPr>
      <dsp:spPr>
        <a:xfrm>
          <a:off x="6041952" y="0"/>
          <a:ext cx="2918489" cy="2637129"/>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252578" y="789373"/>
        <a:ext cx="2162445" cy="583697"/>
      </dsp:txXfrm>
    </dsp:sp>
    <dsp:sp modelId="{BAC8B8B3-49A2-4BE7-B498-654C601FE809}">
      <dsp:nvSpPr>
        <dsp:cNvPr id="0" name=""/>
        <dsp:cNvSpPr/>
      </dsp:nvSpPr>
      <dsp:spPr>
        <a:xfrm rot="5400000">
          <a:off x="5862926" y="2039989"/>
          <a:ext cx="387235"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Not explicitly defined.</a:t>
          </a:r>
        </a:p>
        <a:p>
          <a:pPr lvl="0" algn="l" defTabSz="800100">
            <a:lnSpc>
              <a:spcPct val="90000"/>
            </a:lnSpc>
            <a:spcBef>
              <a:spcPct val="0"/>
            </a:spcBef>
            <a:spcAft>
              <a:spcPct val="35000"/>
            </a:spcAft>
          </a:pPr>
          <a:r>
            <a:rPr lang="en-US" sz="1800" kern="1200" dirty="0" smtClean="0"/>
            <a:t>No universal definition.</a:t>
          </a:r>
        </a:p>
        <a:p>
          <a:pPr lvl="0" algn="l" defTabSz="800100">
            <a:lnSpc>
              <a:spcPct val="90000"/>
            </a:lnSpc>
            <a:spcBef>
              <a:spcPct val="0"/>
            </a:spcBef>
            <a:spcAft>
              <a:spcPct val="35000"/>
            </a:spcAft>
          </a:pPr>
          <a:r>
            <a:rPr lang="en-US" sz="1800" kern="1200" dirty="0" smtClean="0"/>
            <a:t>Conflates </a:t>
          </a:r>
          <a:r>
            <a:rPr lang="en-US" sz="1800" kern="1200" dirty="0" smtClean="0"/>
            <a:t>the concept of technology transfer with the mechanisms for achieving </a:t>
          </a:r>
          <a:r>
            <a:rPr lang="en-US" sz="1800" kern="1200" dirty="0" smtClean="0"/>
            <a:t>it.</a:t>
          </a:r>
          <a:endParaRPr lang="en-US" sz="1800" kern="1200" dirty="0"/>
        </a:p>
      </dsp:txBody>
      <dsp:txXfrm>
        <a:off x="6625649" y="0"/>
        <a:ext cx="2174274" cy="263712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11869"/>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1143369" y="1155917"/>
        <a:ext cx="2871793" cy="583697"/>
      </dsp:txXfrm>
    </dsp:sp>
    <dsp:sp modelId="{0F07502A-98A4-4880-9779-27EA2BEB6F02}">
      <dsp:nvSpPr>
        <dsp:cNvPr id="0" name=""/>
        <dsp:cNvSpPr/>
      </dsp:nvSpPr>
      <dsp:spPr>
        <a:xfrm>
          <a:off x="584376"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11869"/>
        <a:ext cx="2174274" cy="3502187"/>
      </dsp:txXfrm>
    </dsp:sp>
    <dsp:sp modelId="{CB5EA34A-627A-4C1F-96E3-4088D2A98FDD}">
      <dsp:nvSpPr>
        <dsp:cNvPr id="0" name=""/>
        <dsp:cNvSpPr/>
      </dsp:nvSpPr>
      <dsp:spPr>
        <a:xfrm>
          <a:off x="3021315" y="11869"/>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1877267" y="1155917"/>
        <a:ext cx="2871793" cy="583697"/>
      </dsp:txXfrm>
    </dsp:sp>
    <dsp:sp modelId="{45668240-D897-4FC1-8421-6DD785B65040}">
      <dsp:nvSpPr>
        <dsp:cNvPr id="0" name=""/>
        <dsp:cNvSpPr/>
      </dsp:nvSpPr>
      <dsp:spPr>
        <a:xfrm rot="5400000">
          <a:off x="2778428" y="2796903"/>
          <a:ext cx="51495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Executed patent license, established new business entity, executed sponsored research agreement</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Gioniodis</a:t>
          </a:r>
          <a:r>
            <a:rPr lang="en-US" sz="1400" kern="1200" dirty="0" smtClean="0"/>
            <a:t> &amp; Phan (2009)</a:t>
          </a:r>
        </a:p>
        <a:p>
          <a:pPr marL="114300" lvl="1" indent="-114300" algn="l" defTabSz="622300">
            <a:lnSpc>
              <a:spcPct val="90000"/>
            </a:lnSpc>
            <a:spcBef>
              <a:spcPct val="0"/>
            </a:spcBef>
            <a:spcAft>
              <a:spcPct val="15000"/>
            </a:spcAft>
            <a:buChar char="••"/>
          </a:pPr>
          <a:r>
            <a:rPr lang="en-US" sz="1400" kern="1200" dirty="0" smtClean="0"/>
            <a:t>Hallam, Wurth &amp; Mancha (2014)</a:t>
          </a:r>
        </a:p>
      </dsp:txBody>
      <dsp:txXfrm>
        <a:off x="3605013" y="11869"/>
        <a:ext cx="2174274" cy="3502187"/>
      </dsp:txXfrm>
    </dsp:sp>
    <dsp:sp modelId="{BBE81636-BCDD-48A0-B978-839FA7B950F8}">
      <dsp:nvSpPr>
        <dsp:cNvPr id="0" name=""/>
        <dsp:cNvSpPr/>
      </dsp:nvSpPr>
      <dsp:spPr>
        <a:xfrm>
          <a:off x="6041952" y="11869"/>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4897904" y="1155917"/>
        <a:ext cx="2871793" cy="583697"/>
      </dsp:txXfrm>
    </dsp:sp>
    <dsp:sp modelId="{BAC8B8B3-49A2-4BE7-B498-654C601FE809}">
      <dsp:nvSpPr>
        <dsp:cNvPr id="0" name=""/>
        <dsp:cNvSpPr/>
      </dsp:nvSpPr>
      <dsp:spPr>
        <a:xfrm rot="5400000">
          <a:off x="5799065" y="2796903"/>
          <a:ext cx="51495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patent license is often a requirement for forming a university spinout company.</a:t>
          </a:r>
          <a:endParaRPr lang="en-US" sz="1800" kern="1200" dirty="0"/>
        </a:p>
        <a:p>
          <a:pPr lvl="0" algn="l" defTabSz="800100">
            <a:lnSpc>
              <a:spcPct val="90000"/>
            </a:lnSpc>
            <a:spcBef>
              <a:spcPct val="0"/>
            </a:spcBef>
            <a:spcAft>
              <a:spcPct val="35000"/>
            </a:spcAft>
          </a:pPr>
          <a:r>
            <a:rPr lang="en-US" sz="1800" kern="1200" dirty="0" smtClean="0"/>
            <a:t>Sponsored research may not be related to technology previously developed at the university</a:t>
          </a:r>
          <a:r>
            <a:rPr lang="en-US" sz="1800" kern="1200" dirty="0" smtClean="0"/>
            <a:t>.</a:t>
          </a:r>
        </a:p>
        <a:p>
          <a:pPr lvl="0" algn="l" defTabSz="800100">
            <a:lnSpc>
              <a:spcPct val="90000"/>
            </a:lnSpc>
            <a:spcBef>
              <a:spcPct val="0"/>
            </a:spcBef>
            <a:spcAft>
              <a:spcPct val="35000"/>
            </a:spcAft>
          </a:pPr>
          <a:r>
            <a:rPr lang="en-US" sz="1800" kern="1200" dirty="0" smtClean="0"/>
            <a:t>Don’t accommodate instances that are not transactional in nature.</a:t>
          </a:r>
          <a:endParaRPr lang="en-US" sz="1800" kern="1200" dirty="0"/>
        </a:p>
      </dsp:txBody>
      <dsp:txXfrm>
        <a:off x="6625649" y="11869"/>
        <a:ext cx="2174274" cy="35021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p>
        <a:p>
          <a:pPr marL="114300" lvl="1" indent="-114300" algn="l" defTabSz="622300">
            <a:lnSpc>
              <a:spcPct val="90000"/>
            </a:lnSpc>
            <a:spcBef>
              <a:spcPct val="0"/>
            </a:spcBef>
            <a:spcAft>
              <a:spcPct val="15000"/>
            </a:spcAft>
            <a:buChar char="••"/>
          </a:pPr>
          <a:r>
            <a:rPr lang="en-US" sz="1400" kern="1200" dirty="0" err="1" smtClean="0"/>
            <a:t>Markman</a:t>
          </a:r>
          <a:r>
            <a:rPr lang="en-US" sz="1400" kern="1200" dirty="0" smtClean="0"/>
            <a:t>, </a:t>
          </a:r>
          <a:r>
            <a:rPr lang="en-US" sz="1400" kern="1200" dirty="0" err="1" smtClean="0"/>
            <a:t>Gioniodis</a:t>
          </a:r>
          <a:r>
            <a:rPr lang="en-US" sz="1400" kern="1200" dirty="0" smtClean="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Studies have mostly focused on factors exogenous to the research and development process.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4554"/>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Construct</a:t>
          </a:r>
          <a:endParaRPr lang="en-US" sz="2000" b="1" u="sng" kern="1200" dirty="0"/>
        </a:p>
      </dsp:txBody>
      <dsp:txXfrm rot="16200000">
        <a:off x="-1143369" y="1148602"/>
        <a:ext cx="2871793" cy="583697"/>
      </dsp:txXfrm>
    </dsp:sp>
    <dsp:sp modelId="{0F07502A-98A4-4880-9779-27EA2BEB6F02}">
      <dsp:nvSpPr>
        <dsp:cNvPr id="0" name=""/>
        <dsp:cNvSpPr/>
      </dsp:nvSpPr>
      <dsp:spPr>
        <a:xfrm>
          <a:off x="584376"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4554"/>
        <a:ext cx="2174274" cy="3502187"/>
      </dsp:txXfrm>
    </dsp:sp>
    <dsp:sp modelId="{CB5EA34A-627A-4C1F-96E3-4088D2A98FDD}">
      <dsp:nvSpPr>
        <dsp:cNvPr id="0" name=""/>
        <dsp:cNvSpPr/>
      </dsp:nvSpPr>
      <dsp:spPr>
        <a:xfrm>
          <a:off x="3021315" y="4554"/>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Literature</a:t>
          </a:r>
          <a:endParaRPr lang="en-US" sz="2000" b="1" u="sng" kern="1200" dirty="0"/>
        </a:p>
      </dsp:txBody>
      <dsp:txXfrm rot="16200000">
        <a:off x="1877267" y="1148602"/>
        <a:ext cx="2871793" cy="583697"/>
      </dsp:txXfrm>
    </dsp:sp>
    <dsp:sp modelId="{45668240-D897-4FC1-8421-6DD785B65040}">
      <dsp:nvSpPr>
        <dsp:cNvPr id="0" name=""/>
        <dsp:cNvSpPr/>
      </dsp:nvSpPr>
      <dsp:spPr>
        <a:xfrm rot="5400000">
          <a:off x="2778472" y="2789072"/>
          <a:ext cx="51486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smtClean="0"/>
            <a:t>Development stage</a:t>
          </a:r>
        </a:p>
        <a:p>
          <a:pPr marL="114300" lvl="1" indent="-114300" algn="l" defTabSz="622300">
            <a:lnSpc>
              <a:spcPct val="90000"/>
            </a:lnSpc>
            <a:spcBef>
              <a:spcPct val="0"/>
            </a:spcBef>
            <a:spcAft>
              <a:spcPct val="15000"/>
            </a:spcAft>
            <a:buChar char="••"/>
          </a:pPr>
          <a:r>
            <a:rPr lang="en-US" sz="1400" kern="1200" dirty="0" smtClean="0"/>
            <a:t>Wang, Mohammed, Wu &amp; Xiang (2016)</a:t>
          </a:r>
        </a:p>
        <a:p>
          <a:pPr lvl="0" algn="l" defTabSz="800100">
            <a:lnSpc>
              <a:spcPct val="90000"/>
            </a:lnSpc>
            <a:spcBef>
              <a:spcPct val="0"/>
            </a:spcBef>
            <a:spcAft>
              <a:spcPts val="0"/>
            </a:spcAft>
          </a:pPr>
          <a:r>
            <a:rPr lang="en-US" sz="1800" kern="1200" dirty="0" smtClean="0"/>
            <a:t>Geographic considerations</a:t>
          </a:r>
          <a:endParaRPr lang="en-US" sz="1800" kern="1200" dirty="0"/>
        </a:p>
        <a:p>
          <a:pPr marL="114300" lvl="1" indent="-114300" algn="l" defTabSz="622300">
            <a:lnSpc>
              <a:spcPct val="90000"/>
            </a:lnSpc>
            <a:spcBef>
              <a:spcPct val="0"/>
            </a:spcBef>
            <a:spcAft>
              <a:spcPct val="15000"/>
            </a:spcAft>
            <a:buChar char="••"/>
          </a:pPr>
          <a:r>
            <a:rPr lang="en-US" sz="1400" kern="1200" dirty="0" smtClean="0"/>
            <a:t>Gonzalez-</a:t>
          </a:r>
          <a:r>
            <a:rPr lang="en-US" sz="1400" kern="1200" dirty="0" err="1" smtClean="0"/>
            <a:t>Pernia</a:t>
          </a:r>
          <a:r>
            <a:rPr lang="en-US" sz="1400" kern="1200" dirty="0" smtClean="0"/>
            <a:t>, </a:t>
          </a:r>
          <a:r>
            <a:rPr lang="en-US" sz="1400" kern="1200" dirty="0" err="1" smtClean="0"/>
            <a:t>Kuechle</a:t>
          </a:r>
          <a:r>
            <a:rPr lang="en-US" sz="1400" kern="1200" dirty="0" smtClean="0"/>
            <a:t> &amp; Pena-</a:t>
          </a:r>
          <a:r>
            <a:rPr lang="en-US" sz="1400" kern="1200" dirty="0" err="1" smtClean="0"/>
            <a:t>Legazkue</a:t>
          </a:r>
          <a:r>
            <a:rPr lang="en-US" sz="1400" kern="1200" dirty="0" smtClean="0"/>
            <a:t> (2013)</a:t>
          </a:r>
          <a:endParaRPr lang="en-US" sz="1400" kern="1200" dirty="0"/>
        </a:p>
        <a:p>
          <a:pPr marL="114300" lvl="1" indent="-114300" algn="l" defTabSz="622300">
            <a:lnSpc>
              <a:spcPct val="90000"/>
            </a:lnSpc>
            <a:spcBef>
              <a:spcPct val="0"/>
            </a:spcBef>
            <a:spcAft>
              <a:spcPct val="15000"/>
            </a:spcAft>
            <a:buChar char="••"/>
          </a:pPr>
          <a:r>
            <a:rPr lang="en-US" sz="1400" kern="1200" dirty="0" err="1" smtClean="0"/>
            <a:t>Reuer</a:t>
          </a:r>
          <a:r>
            <a:rPr lang="en-US" sz="1400" kern="1200" dirty="0" smtClean="0"/>
            <a:t> &amp; </a:t>
          </a:r>
          <a:r>
            <a:rPr lang="en-US" sz="1400" kern="1200" dirty="0" err="1" smtClean="0"/>
            <a:t>Lahiri</a:t>
          </a:r>
          <a:r>
            <a:rPr lang="en-US" sz="1400" kern="1200" dirty="0" smtClean="0"/>
            <a:t> (2014)</a:t>
          </a:r>
          <a:endParaRPr lang="en-US" sz="1400" kern="1200" dirty="0"/>
        </a:p>
        <a:p>
          <a:pPr lvl="0" algn="l" defTabSz="800100">
            <a:lnSpc>
              <a:spcPct val="90000"/>
            </a:lnSpc>
            <a:spcBef>
              <a:spcPct val="0"/>
            </a:spcBef>
            <a:spcAft>
              <a:spcPts val="0"/>
            </a:spcAft>
          </a:pPr>
          <a:r>
            <a:rPr lang="en-US" sz="1800" kern="1200" dirty="0" smtClean="0"/>
            <a:t>Association between cities and innovation</a:t>
          </a:r>
          <a:endParaRPr lang="en-US" sz="1800" kern="1200" dirty="0"/>
        </a:p>
        <a:p>
          <a:pPr marL="114300" lvl="1" indent="-114300" algn="l" defTabSz="622300">
            <a:lnSpc>
              <a:spcPct val="90000"/>
            </a:lnSpc>
            <a:spcBef>
              <a:spcPct val="0"/>
            </a:spcBef>
            <a:spcAft>
              <a:spcPct val="15000"/>
            </a:spcAft>
            <a:buChar char="••"/>
          </a:pPr>
          <a:r>
            <a:rPr lang="en-US" sz="1400" kern="1200" dirty="0" smtClean="0"/>
            <a:t>Florida, Alder &amp; </a:t>
          </a:r>
          <a:r>
            <a:rPr lang="en-US" sz="1400" kern="1200" dirty="0" err="1" smtClean="0"/>
            <a:t>Mellander</a:t>
          </a:r>
          <a:r>
            <a:rPr lang="en-US" sz="1400" kern="1200" dirty="0" smtClean="0"/>
            <a:t> (2017)</a:t>
          </a:r>
          <a:endParaRPr lang="en-US" sz="1400" kern="1200" dirty="0"/>
        </a:p>
        <a:p>
          <a:pPr marL="114300" lvl="1" indent="-114300" algn="l" defTabSz="622300">
            <a:lnSpc>
              <a:spcPct val="90000"/>
            </a:lnSpc>
            <a:spcBef>
              <a:spcPct val="0"/>
            </a:spcBef>
            <a:spcAft>
              <a:spcPct val="15000"/>
            </a:spcAft>
            <a:buChar char="••"/>
          </a:pPr>
          <a:r>
            <a:rPr lang="en-US" sz="1400" kern="1200" dirty="0" smtClean="0"/>
            <a:t>Florida &amp; </a:t>
          </a:r>
          <a:r>
            <a:rPr lang="en-US" sz="1400" kern="1200" dirty="0" err="1" smtClean="0"/>
            <a:t>Lellander</a:t>
          </a:r>
          <a:r>
            <a:rPr lang="en-US" sz="1400" kern="1200" dirty="0" smtClean="0"/>
            <a:t> (2016)</a:t>
          </a:r>
          <a:endParaRPr lang="en-US" sz="1400" kern="1200" dirty="0"/>
        </a:p>
      </dsp:txBody>
      <dsp:txXfrm>
        <a:off x="3605013" y="4554"/>
        <a:ext cx="2174274" cy="3502187"/>
      </dsp:txXfrm>
    </dsp:sp>
    <dsp:sp modelId="{BBE81636-BCDD-48A0-B978-839FA7B950F8}">
      <dsp:nvSpPr>
        <dsp:cNvPr id="0" name=""/>
        <dsp:cNvSpPr/>
      </dsp:nvSpPr>
      <dsp:spPr>
        <a:xfrm>
          <a:off x="6041952" y="4554"/>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smtClean="0"/>
            <a:t>Observations</a:t>
          </a:r>
          <a:endParaRPr lang="en-US" sz="2000" b="1" u="sng" kern="1200" dirty="0"/>
        </a:p>
      </dsp:txBody>
      <dsp:txXfrm rot="16200000">
        <a:off x="4897904" y="1148602"/>
        <a:ext cx="2871793" cy="583697"/>
      </dsp:txXfrm>
    </dsp:sp>
    <dsp:sp modelId="{BAC8B8B3-49A2-4BE7-B498-654C601FE809}">
      <dsp:nvSpPr>
        <dsp:cNvPr id="0" name=""/>
        <dsp:cNvSpPr/>
      </dsp:nvSpPr>
      <dsp:spPr>
        <a:xfrm rot="5400000">
          <a:off x="5799109" y="2789072"/>
          <a:ext cx="51486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Few studies that consider development </a:t>
          </a:r>
          <a:r>
            <a:rPr lang="en-US" sz="1800" kern="1200" dirty="0" smtClean="0"/>
            <a:t>stage as an independent variable.</a:t>
          </a:r>
          <a:endParaRPr lang="en-US" sz="1800" kern="1200" dirty="0" smtClean="0"/>
        </a:p>
        <a:p>
          <a:pPr lvl="0" algn="l" defTabSz="800100">
            <a:lnSpc>
              <a:spcPct val="90000"/>
            </a:lnSpc>
            <a:spcBef>
              <a:spcPct val="0"/>
            </a:spcBef>
            <a:spcAft>
              <a:spcPct val="35000"/>
            </a:spcAft>
          </a:pPr>
          <a:r>
            <a:rPr lang="en-US" sz="1800" kern="1200" dirty="0" smtClean="0"/>
            <a:t>Studies have investigated specific geographic factors such as venture capital</a:t>
          </a:r>
        </a:p>
        <a:p>
          <a:pPr lvl="0" algn="l" defTabSz="800100">
            <a:lnSpc>
              <a:spcPct val="90000"/>
            </a:lnSpc>
            <a:spcBef>
              <a:spcPct val="0"/>
            </a:spcBef>
            <a:spcAft>
              <a:spcPct val="35000"/>
            </a:spcAft>
          </a:pPr>
          <a:r>
            <a:rPr lang="en-US" sz="1800" kern="1200" dirty="0" smtClean="0"/>
            <a:t>Studies </a:t>
          </a:r>
          <a:r>
            <a:rPr lang="en-US" sz="1800" kern="1200" dirty="0" smtClean="0"/>
            <a:t>have </a:t>
          </a:r>
          <a:r>
            <a:rPr lang="en-US" sz="1800" kern="1200" dirty="0" smtClean="0"/>
            <a:t>explored  </a:t>
          </a:r>
          <a:r>
            <a:rPr lang="en-US" sz="1800" kern="1200" dirty="0" smtClean="0"/>
            <a:t>the association between cities and innovation.</a:t>
          </a:r>
          <a:endParaRPr lang="en-US" sz="1800" kern="1200" dirty="0"/>
        </a:p>
      </dsp:txBody>
      <dsp:txXfrm>
        <a:off x="6625649" y="4554"/>
        <a:ext cx="2174274" cy="35021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5">
            <a:tint val="40000"/>
            <a:alpha val="90000"/>
            <a:hueOff val="0"/>
            <a:satOff val="0"/>
            <a:lumOff val="0"/>
            <a:alphaOff val="0"/>
          </a:schemeClr>
        </a:solidFill>
        <a:ln w="25400" cap="flat" cmpd="sng" algn="ctr">
          <a:solidFill>
            <a:schemeClr val="accent5">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Regression analyses</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5">
            <a:tint val="40000"/>
            <a:alpha val="90000"/>
            <a:hueOff val="-5370241"/>
            <a:satOff val="24126"/>
            <a:lumOff val="1658"/>
            <a:alphaOff val="0"/>
          </a:schemeClr>
        </a:solidFill>
        <a:ln w="25400" cap="flat" cmpd="sng" algn="ctr">
          <a:solidFill>
            <a:schemeClr val="accent5">
              <a:tint val="40000"/>
              <a:alpha val="90000"/>
              <a:hueOff val="-5370241"/>
              <a:satOff val="24126"/>
              <a:lumOff val="165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t>
          </a:r>
          <a:r>
            <a:rPr lang="en-US" sz="1800" kern="1200" dirty="0" smtClean="0"/>
            <a:t>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a:t>
          </a:r>
          <a:r>
            <a:rPr lang="en-US" sz="1800" kern="1200" dirty="0" smtClean="0"/>
            <a:t>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5">
            <a:tint val="40000"/>
            <a:alpha val="90000"/>
            <a:hueOff val="-10740482"/>
            <a:satOff val="48253"/>
            <a:lumOff val="3317"/>
            <a:alphaOff val="0"/>
          </a:schemeClr>
        </a:solidFill>
        <a:ln w="25400" cap="flat" cmpd="sng" algn="ctr">
          <a:solidFill>
            <a:schemeClr val="accent5">
              <a:tint val="40000"/>
              <a:alpha val="90000"/>
              <a:hueOff val="-10740482"/>
              <a:satOff val="48253"/>
              <a:lumOff val="3317"/>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a:t>
          </a:r>
          <a:r>
            <a:rPr lang="en-US" sz="1800" kern="1200" dirty="0" smtClean="0"/>
            <a:t>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Knowledge or methods that enable the performance of previously </a:t>
          </a:r>
          <a:r>
            <a:rPr lang="en-US" sz="1800" kern="1200" dirty="0" smtClean="0"/>
            <a:t>incapable </a:t>
          </a:r>
          <a:r>
            <a:rPr lang="en-US" sz="1800" kern="1200" dirty="0" smtClean="0"/>
            <a:t>tasks or reduce the units of input per units of output needed to  perform tasks.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Published peer-reviewed academic journal articles</a:t>
          </a:r>
          <a:endParaRPr lang="en-US" sz="1800" kern="1200" dirty="0"/>
        </a:p>
        <a:p>
          <a:pPr lvl="0" algn="l" defTabSz="800100">
            <a:lnSpc>
              <a:spcPct val="90000"/>
            </a:lnSpc>
            <a:spcBef>
              <a:spcPct val="0"/>
            </a:spcBef>
            <a:spcAft>
              <a:spcPct val="35000"/>
            </a:spcAft>
          </a:pPr>
          <a:r>
            <a:rPr lang="en-US" sz="1800" kern="1200" dirty="0" smtClean="0"/>
            <a:t>Allowed U.S. patents</a:t>
          </a:r>
          <a:endParaRPr lang="en-US" sz="1800" kern="1200" dirty="0"/>
        </a:p>
        <a:p>
          <a:pPr lvl="0" algn="l" defTabSz="800100">
            <a:lnSpc>
              <a:spcPct val="90000"/>
            </a:lnSpc>
            <a:spcBef>
              <a:spcPct val="0"/>
            </a:spcBef>
            <a:spcAft>
              <a:spcPct val="35000"/>
            </a:spcAft>
          </a:pPr>
          <a:r>
            <a:rPr lang="en-US" sz="1800" kern="1200" dirty="0" smtClean="0"/>
            <a:t>Disallowed U.S. patent applications</a:t>
          </a:r>
          <a:endParaRPr lang="en-US" sz="18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When </a:t>
          </a:r>
          <a:r>
            <a:rPr lang="en-US" sz="1800" kern="1200" dirty="0" smtClean="0"/>
            <a:t>an actor </a:t>
          </a:r>
          <a:r>
            <a:rPr lang="en-US" sz="1800" kern="1200" dirty="0" smtClean="0"/>
            <a:t>that controls a technology  </a:t>
          </a:r>
          <a:r>
            <a:rPr lang="en-US" sz="1800" kern="1200" dirty="0" smtClean="0"/>
            <a:t>enables others to use the technology.</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License agreements</a:t>
          </a:r>
          <a:endParaRPr lang="en-US" sz="1800" kern="1200" dirty="0"/>
        </a:p>
        <a:p>
          <a:pPr lvl="0" algn="l" defTabSz="800100">
            <a:lnSpc>
              <a:spcPct val="90000"/>
            </a:lnSpc>
            <a:spcBef>
              <a:spcPct val="0"/>
            </a:spcBef>
            <a:spcAft>
              <a:spcPct val="35000"/>
            </a:spcAft>
          </a:pPr>
          <a:r>
            <a:rPr lang="en-US" sz="1800" kern="1200" dirty="0" smtClean="0"/>
            <a:t>Published peer-reviewed journal articles not associated with an allowed U.S. patent or active patent application</a:t>
          </a:r>
          <a:endParaRPr lang="en-US" sz="18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state of progress of an R&amp;D project as described by a modified technology readiness level (TRL) scale.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p>
        <a:p>
          <a:pPr lvl="0" algn="l" defTabSz="800100">
            <a:lnSpc>
              <a:spcPct val="90000"/>
            </a:lnSpc>
            <a:spcBef>
              <a:spcPct val="0"/>
            </a:spcBef>
            <a:spcAft>
              <a:spcPct val="35000"/>
            </a:spcAft>
          </a:pPr>
          <a:r>
            <a:rPr lang="en-US" sz="1800" kern="1200" dirty="0" smtClean="0"/>
            <a:t>R&amp;D project reports</a:t>
          </a:r>
          <a:endParaRPr lang="en-US" sz="18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metropolitan statistical area (MSA) with a total absolute population of 1 million people and total normalized population of at least 110 people per square mile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OMB definitions of MSAs</a:t>
          </a:r>
          <a:endParaRPr lang="en-US" sz="1800" kern="1200" dirty="0"/>
        </a:p>
        <a:p>
          <a:pPr lvl="0" algn="l" defTabSz="800100">
            <a:lnSpc>
              <a:spcPct val="90000"/>
            </a:lnSpc>
            <a:spcBef>
              <a:spcPct val="0"/>
            </a:spcBef>
            <a:spcAft>
              <a:spcPct val="35000"/>
            </a:spcAft>
          </a:pPr>
          <a:r>
            <a:rPr lang="en-US" sz="1800" kern="1200" dirty="0" smtClean="0"/>
            <a:t>2017 estimates from the U.S. Census Bureau</a:t>
          </a:r>
          <a:endParaRPr lang="en-US" sz="1800" kern="1200" dirty="0"/>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Spatial Distance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distance from the institution that received the federal funding award for the R&amp;D project to the centroid of the nearest MSA that meets the study requirements.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Location coordinates in longitude and latitude</a:t>
          </a:r>
        </a:p>
        <a:p>
          <a:pPr lvl="0" algn="l" defTabSz="800100">
            <a:lnSpc>
              <a:spcPct val="90000"/>
            </a:lnSpc>
            <a:spcBef>
              <a:spcPct val="0"/>
            </a:spcBef>
            <a:spcAft>
              <a:spcPct val="35000"/>
            </a:spcAft>
          </a:pPr>
          <a:r>
            <a:rPr lang="en-US" sz="1800" kern="1200" dirty="0" smtClean="0"/>
            <a:t>Absolute distance measured in miles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Category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predominant context of likely intended applications for any technologies derived from the federally-funded R&amp;D project.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endParaRPr lang="en-US" sz="1800" kern="1200" dirty="0"/>
        </a:p>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U.S. patents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Published peer-reviewed journal articles</a:t>
          </a:r>
          <a:endParaRPr lang="en-US" sz="1800" kern="1200" dirty="0"/>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Embodiment</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tangible forms that document the details of the technology and enable its use.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p>
        <a:p>
          <a:pPr lvl="0" algn="l" defTabSz="800100">
            <a:lnSpc>
              <a:spcPct val="90000"/>
            </a:lnSpc>
            <a:spcBef>
              <a:spcPct val="0"/>
            </a:spcBef>
            <a:spcAft>
              <a:spcPct val="35000"/>
            </a:spcAft>
          </a:pPr>
          <a:r>
            <a:rPr lang="en-US" sz="1800" kern="1200" dirty="0" smtClean="0"/>
            <a:t>Published peer-reviewed journal articles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Allowed U.S. patents</a:t>
          </a:r>
        </a:p>
      </dsp:txBody>
      <dsp:txXfrm>
        <a:off x="6625649" y="0"/>
        <a:ext cx="2174274" cy="22588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Construct</a:t>
          </a:r>
          <a:endParaRPr lang="en-US" sz="1800" b="1" u="sng"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Institution Size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5">
            <a:hueOff val="-4966938"/>
            <a:satOff val="19906"/>
            <a:lumOff val="4314"/>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Operationalization</a:t>
          </a:r>
          <a:endParaRPr lang="en-US" sz="1800" b="1" u="sng"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total amount of R&amp;D expenditures in calendar year 2010 for the institution listed as the primary award recipient.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smtClean="0"/>
            <a:t>Indicators</a:t>
          </a:r>
          <a:endParaRPr lang="en-US" sz="18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NSF rankings by total R&amp;D expenditures</a:t>
          </a:r>
          <a:endParaRPr lang="en-US" sz="18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8.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04/16/2019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04/16/2019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10</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Sample</a:t>
            </a:r>
            <a:r>
              <a:rPr lang="en-US" baseline="0" dirty="0" smtClean="0"/>
              <a:t> frame is NSF research funding awards by the Civil, Mechanical and Manufacturing Innovation (CMMI) division from January 1, 2010 through December 31, 2010.  Source of </a:t>
            </a:r>
            <a:r>
              <a:rPr lang="en-US" baseline="0" smtClean="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a:t>
            </a:r>
            <a:r>
              <a:rPr lang="en-US" baseline="0" dirty="0" smtClean="0"/>
              <a:t> p</a:t>
            </a:r>
            <a:r>
              <a:rPr lang="en-US" dirty="0" smtClean="0"/>
              <a:t>roject</a:t>
            </a:r>
            <a:r>
              <a:rPr lang="en-US" baseline="0" dirty="0" smtClean="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a:t>
            </a:r>
            <a:r>
              <a:rPr lang="en-US" dirty="0" smtClean="0"/>
              <a:t>nnouncements of license agreements.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allowed patents without license agreements.</a:t>
            </a:r>
          </a:p>
          <a:p>
            <a:r>
              <a:rPr lang="en-US" baseline="0" dirty="0" smtClean="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published peer-review</a:t>
            </a:r>
            <a:r>
              <a:rPr lang="en-US" baseline="0" dirty="0" smtClean="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a:t>
            </a:r>
            <a:r>
              <a:rPr lang="en-US" baseline="0" dirty="0" smtClean="0"/>
              <a:t>technology transfer public policy </a:t>
            </a:r>
            <a:r>
              <a:rPr lang="en-US" dirty="0" smtClean="0"/>
              <a:t>documentation</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technology transfer public</a:t>
            </a:r>
            <a:r>
              <a:rPr lang="en-US" baseline="0" dirty="0" smtClean="0"/>
              <a:t> policy </a:t>
            </a:r>
            <a:r>
              <a:rPr lang="en-US" dirty="0" smtClean="0"/>
              <a:t>documentation </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35</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36</a:t>
            </a:fld>
            <a:endParaRPr lang="en-US"/>
          </a:p>
        </p:txBody>
      </p:sp>
    </p:spTree>
    <p:extLst>
      <p:ext uri="{BB962C8B-B14F-4D97-AF65-F5344CB8AC3E}">
        <p14:creationId xmlns:p14="http://schemas.microsoft.com/office/powerpoint/2010/main" val="10769529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Establish</a:t>
            </a:r>
            <a:r>
              <a:rPr lang="en-US" baseline="0" dirty="0" smtClean="0"/>
              <a:t> reference points for each indicator at 20 year increments from 1900 to 2000 based on publicly available data.</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38</a:t>
            </a:fld>
            <a:endParaRPr lang="en-US"/>
          </a:p>
        </p:txBody>
      </p:sp>
    </p:spTree>
    <p:extLst>
      <p:ext uri="{BB962C8B-B14F-4D97-AF65-F5344CB8AC3E}">
        <p14:creationId xmlns:p14="http://schemas.microsoft.com/office/powerpoint/2010/main" val="19890033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Panel of at least 30 participants.</a:t>
            </a:r>
          </a:p>
          <a:p>
            <a:r>
              <a:rPr lang="en-US" dirty="0" smtClean="0"/>
              <a:t>Panel members drawn from among university technology transfer professionals, university research administrators, university faculty, industry research and development executives, industry product managers, experienced entrepreneurs, and venture capitalists. </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39</a:t>
            </a:fld>
            <a:endParaRPr lang="en-US"/>
          </a:p>
        </p:txBody>
      </p:sp>
    </p:spTree>
    <p:extLst>
      <p:ext uri="{BB962C8B-B14F-4D97-AF65-F5344CB8AC3E}">
        <p14:creationId xmlns:p14="http://schemas.microsoft.com/office/powerpoint/2010/main" val="17691361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04/16/2019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04/16/2019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04/16/2019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04/16/2019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04/16/2019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04/16/2019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21.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16.xml"/><Relationship Id="rId3" Type="http://schemas.openxmlformats.org/officeDocument/2006/relationships/diagramLayout" Target="../diagrams/layout15.xml"/><Relationship Id="rId7" Type="http://schemas.openxmlformats.org/officeDocument/2006/relationships/diagramData" Target="../diagrams/data16.xml"/><Relationship Id="rId2" Type="http://schemas.openxmlformats.org/officeDocument/2006/relationships/diagramData" Target="../diagrams/data15.xml"/><Relationship Id="rId1" Type="http://schemas.openxmlformats.org/officeDocument/2006/relationships/slideLayout" Target="../slideLayouts/slideLayout7.xml"/><Relationship Id="rId6" Type="http://schemas.microsoft.com/office/2007/relationships/diagramDrawing" Target="../diagrams/drawing15.xml"/><Relationship Id="rId11" Type="http://schemas.microsoft.com/office/2007/relationships/diagramDrawing" Target="../diagrams/drawing16.xml"/><Relationship Id="rId5" Type="http://schemas.openxmlformats.org/officeDocument/2006/relationships/diagramColors" Target="../diagrams/colors15.xml"/><Relationship Id="rId10" Type="http://schemas.openxmlformats.org/officeDocument/2006/relationships/diagramColors" Target="../diagrams/colors16.xml"/><Relationship Id="rId4" Type="http://schemas.openxmlformats.org/officeDocument/2006/relationships/diagramQuickStyle" Target="../diagrams/quickStyle15.xml"/><Relationship Id="rId9" Type="http://schemas.openxmlformats.org/officeDocument/2006/relationships/diagramQuickStyle" Target="../diagrams/quickStyl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18.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441"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79462"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4542755" y="724991"/>
            <a:ext cx="4381804" cy="1935081"/>
          </a:xfrm>
          <a:prstGeom prst="wedgeRoundRectCallout">
            <a:avLst>
              <a:gd name="adj1" fmla="val -57071"/>
              <a:gd name="adj2" fmla="val 748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From 1909 to 1949, increased productivity driven by technological change accounted </a:t>
            </a:r>
            <a:r>
              <a:rPr lang="en-US" dirty="0" smtClean="0"/>
              <a:t>for </a:t>
            </a:r>
            <a:r>
              <a:rPr lang="en-US" dirty="0" smtClean="0"/>
              <a:t>roughly 80 </a:t>
            </a:r>
            <a:r>
              <a:rPr lang="en-US" dirty="0" smtClean="0"/>
              <a:t>percent of </a:t>
            </a:r>
            <a:r>
              <a:rPr lang="en-US" dirty="0" smtClean="0"/>
              <a:t>the increase in </a:t>
            </a:r>
            <a:r>
              <a:rPr lang="en-US" dirty="0" smtClean="0"/>
              <a:t>U.S. </a:t>
            </a:r>
            <a:r>
              <a:rPr lang="en-US" i="1" dirty="0" smtClean="0"/>
              <a:t>per capita </a:t>
            </a:r>
            <a:r>
              <a:rPr lang="en-US" dirty="0" smtClean="0"/>
              <a:t>Gross National Product.</a:t>
            </a:r>
          </a:p>
          <a:p>
            <a:endParaRPr lang="en-US" dirty="0"/>
          </a:p>
          <a:p>
            <a:pPr algn="r"/>
            <a:r>
              <a:rPr lang="en-US" sz="1600" dirty="0" smtClean="0"/>
              <a:t>Source: Solow, 1957</a:t>
            </a:r>
            <a:endParaRPr lang="en-US" sz="1600" dirty="0"/>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950471915"/>
              </p:ext>
            </p:extLst>
          </p:nvPr>
        </p:nvGraphicFramePr>
        <p:xfrm>
          <a:off x="91440" y="731521"/>
          <a:ext cx="8961120" cy="35186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1343878907"/>
              </p:ext>
            </p:extLst>
          </p:nvPr>
        </p:nvGraphicFramePr>
        <p:xfrm>
          <a:off x="92014" y="731520"/>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1023840037"/>
              </p:ext>
            </p:extLst>
          </p:nvPr>
        </p:nvGraphicFramePr>
        <p:xfrm>
          <a:off x="91440" y="2944369"/>
          <a:ext cx="8961120" cy="263712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364858466"/>
              </p:ext>
            </p:extLst>
          </p:nvPr>
        </p:nvGraphicFramePr>
        <p:xfrm>
          <a:off x="91440" y="731521"/>
          <a:ext cx="8961120" cy="3525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12770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647947255"/>
              </p:ext>
            </p:extLst>
          </p:nvPr>
        </p:nvGraphicFramePr>
        <p:xfrm>
          <a:off x="91440" y="731520"/>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2811013673"/>
              </p:ext>
            </p:extLst>
          </p:nvPr>
        </p:nvGraphicFramePr>
        <p:xfrm>
          <a:off x="91440" y="731520"/>
          <a:ext cx="8961120" cy="35112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16964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508468723"/>
              </p:ext>
            </p:extLst>
          </p:nvPr>
        </p:nvGraphicFramePr>
        <p:xfrm>
          <a:off x="228600" y="569880"/>
          <a:ext cx="7359732" cy="46837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00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t>
                      </a:r>
                      <a:r>
                        <a:rPr lang="en-US" sz="1800" dirty="0" smtClean="0">
                          <a:solidFill>
                            <a:srgbClr val="000000"/>
                          </a:solidFill>
                          <a:effectLst/>
                          <a:latin typeface="+mn-lt"/>
                          <a:ea typeface="Calibri"/>
                          <a:cs typeface="Times New Roman"/>
                        </a:rPr>
                        <a:t>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00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a:t>
                      </a:r>
                      <a:r>
                        <a:rPr lang="en-US" sz="1800" dirty="0" smtClean="0">
                          <a:solidFill>
                            <a:srgbClr val="000000"/>
                          </a:solidFill>
                          <a:effectLst/>
                          <a:latin typeface="+mn-lt"/>
                          <a:ea typeface="Calibri"/>
                          <a:cs typeface="Times New Roman"/>
                        </a:rPr>
                        <a:t>between the successful transfer to the private sector of technology derived from a federally-funded R&amp;D projects and the development stage attained</a:t>
                      </a:r>
                      <a:r>
                        <a:rPr lang="en-US" sz="1800" baseline="0" dirty="0" smtClean="0">
                          <a:solidFill>
                            <a:srgbClr val="000000"/>
                          </a:solidFill>
                          <a:effectLst/>
                          <a:latin typeface="+mn-lt"/>
                          <a:ea typeface="Calibri"/>
                          <a:cs typeface="Times New Roman"/>
                        </a:rPr>
                        <a:t> by</a:t>
                      </a:r>
                      <a:r>
                        <a:rPr lang="en-US" sz="1800" dirty="0" smtClean="0">
                          <a:solidFill>
                            <a:srgbClr val="000000"/>
                          </a:solidFill>
                          <a:effectLst/>
                          <a:latin typeface="+mn-lt"/>
                          <a:ea typeface="Calibri"/>
                          <a:cs typeface="Times New Roman"/>
                        </a:rPr>
                        <a:t> the R&amp;D projects?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00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a:t>
                      </a:r>
                      <a:r>
                        <a:rPr lang="en-US" sz="1800" dirty="0" smtClean="0">
                          <a:solidFill>
                            <a:srgbClr val="000000"/>
                          </a:solidFill>
                          <a:effectLst/>
                          <a:latin typeface="+mn-lt"/>
                          <a:ea typeface="Calibri"/>
                          <a:cs typeface="Times New Roman"/>
                        </a:rPr>
                        <a:t>the developed stage attained</a:t>
                      </a:r>
                      <a:r>
                        <a:rPr lang="en-US" sz="1800" baseline="0" dirty="0" smtClean="0">
                          <a:solidFill>
                            <a:srgbClr val="000000"/>
                          </a:solidFill>
                          <a:effectLst/>
                          <a:latin typeface="+mn-lt"/>
                          <a:ea typeface="Calibri"/>
                          <a:cs typeface="Times New Roman"/>
                        </a:rPr>
                        <a:t> by </a:t>
                      </a:r>
                      <a:r>
                        <a:rPr lang="en-US" sz="1800" dirty="0" smtClean="0">
                          <a:solidFill>
                            <a:srgbClr val="000000"/>
                          </a:solidFill>
                          <a:effectLst/>
                          <a:latin typeface="+mn-lt"/>
                          <a:ea typeface="Calibri"/>
                          <a:cs typeface="Times New Roman"/>
                        </a:rPr>
                        <a:t>federally-funded </a:t>
                      </a:r>
                      <a:r>
                        <a:rPr lang="en-US" sz="1800" dirty="0">
                          <a:solidFill>
                            <a:srgbClr val="000000"/>
                          </a:solidFill>
                          <a:effectLst/>
                          <a:latin typeface="+mn-lt"/>
                          <a:ea typeface="Calibri"/>
                          <a:cs typeface="Times New Roman"/>
                        </a:rPr>
                        <a:t>R&amp;D </a:t>
                      </a:r>
                      <a:r>
                        <a:rPr lang="en-US" sz="1800" dirty="0" smtClean="0">
                          <a:solidFill>
                            <a:srgbClr val="000000"/>
                          </a:solidFill>
                          <a:effectLst/>
                          <a:latin typeface="+mn-lt"/>
                          <a:ea typeface="Calibri"/>
                          <a:cs typeface="Times New Roman"/>
                        </a:rPr>
                        <a:t>projects and </a:t>
                      </a:r>
                      <a:r>
                        <a:rPr lang="en-US" sz="1800" dirty="0">
                          <a:solidFill>
                            <a:srgbClr val="000000"/>
                          </a:solidFill>
                          <a:effectLst/>
                          <a:latin typeface="+mn-lt"/>
                          <a:ea typeface="Calibri"/>
                          <a:cs typeface="Times New Roman"/>
                        </a:rPr>
                        <a:t>the spatial distance between where the R&amp;D </a:t>
                      </a:r>
                      <a:r>
                        <a:rPr lang="en-US" sz="1800" dirty="0" smtClean="0">
                          <a:solidFill>
                            <a:srgbClr val="000000"/>
                          </a:solidFill>
                          <a:effectLst/>
                          <a:latin typeface="+mn-lt"/>
                          <a:ea typeface="Calibri"/>
                          <a:cs typeface="Times New Roman"/>
                        </a:rPr>
                        <a:t>projects are conducted </a:t>
                      </a:r>
                      <a:r>
                        <a:rPr lang="en-US" sz="1800" dirty="0">
                          <a:solidFill>
                            <a:srgbClr val="000000"/>
                          </a:solidFill>
                          <a:effectLst/>
                          <a:latin typeface="+mn-lt"/>
                          <a:ea typeface="Calibri"/>
                          <a:cs typeface="Times New Roman"/>
                        </a:rPr>
                        <a:t>and the nearest </a:t>
                      </a:r>
                      <a:r>
                        <a:rPr lang="en-US" sz="1800" dirty="0" smtClean="0">
                          <a:solidFill>
                            <a:srgbClr val="000000"/>
                          </a:solidFill>
                          <a:effectLst/>
                          <a:latin typeface="+mn-lt"/>
                          <a:ea typeface="Calibri"/>
                          <a:cs typeface="Times New Roman"/>
                        </a:rPr>
                        <a:t>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00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successful </a:t>
                      </a:r>
                      <a:r>
                        <a:rPr lang="en-US" sz="1800" dirty="0">
                          <a:solidFill>
                            <a:srgbClr val="000000"/>
                          </a:solidFill>
                          <a:effectLst/>
                          <a:latin typeface="+mn-lt"/>
                          <a:ea typeface="Calibri"/>
                          <a:cs typeface="Times New Roman"/>
                        </a:rPr>
                        <a:t>transfer to the private sector of technology derived from federally-funded R&amp;D projects and the spatial distance between where the R&amp;D </a:t>
                      </a:r>
                      <a:r>
                        <a:rPr lang="en-US" sz="1800" dirty="0" smtClean="0">
                          <a:solidFill>
                            <a:srgbClr val="000000"/>
                          </a:solidFill>
                          <a:effectLst/>
                          <a:latin typeface="+mn-lt"/>
                          <a:ea typeface="Calibri"/>
                          <a:cs typeface="Times New Roman"/>
                        </a:rPr>
                        <a:t>projects are conducted </a:t>
                      </a:r>
                      <a:r>
                        <a:rPr lang="en-US" sz="1800" dirty="0">
                          <a:solidFill>
                            <a:srgbClr val="000000"/>
                          </a:solidFill>
                          <a:effectLst/>
                          <a:latin typeface="+mn-lt"/>
                          <a:ea typeface="Calibri"/>
                          <a:cs typeface="Times New Roman"/>
                        </a:rPr>
                        <a:t>and the nearest </a:t>
                      </a:r>
                      <a:r>
                        <a:rPr lang="en-US" sz="1800" dirty="0" smtClean="0">
                          <a:solidFill>
                            <a:srgbClr val="000000"/>
                          </a:solidFill>
                          <a:effectLst/>
                          <a:latin typeface="+mn-lt"/>
                          <a:ea typeface="Calibri"/>
                          <a:cs typeface="Times New Roman"/>
                        </a:rPr>
                        <a:t>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195510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032830"/>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437730"/>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292324932"/>
              </p:ext>
            </p:extLst>
          </p:nvPr>
        </p:nvGraphicFramePr>
        <p:xfrm>
          <a:off x="274320" y="691114"/>
          <a:ext cx="8595360" cy="3753962"/>
        </p:xfrm>
        <a:graphic>
          <a:graphicData uri="http://schemas.openxmlformats.org/drawingml/2006/table">
            <a:tbl>
              <a:tblPr firstRow="1" firstCol="1" bandRow="1"/>
              <a:tblGrid>
                <a:gridCol w="497576"/>
                <a:gridCol w="8097784"/>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 probability</a:t>
                      </a:r>
                      <a:r>
                        <a:rPr lang="en-US" sz="1800" baseline="0" dirty="0" smtClean="0">
                          <a:solidFill>
                            <a:srgbClr val="000000"/>
                          </a:solidFill>
                          <a:effectLst/>
                          <a:latin typeface="+mn-lt"/>
                          <a:ea typeface="Calibri"/>
                          <a:cs typeface="Times New Roman"/>
                        </a:rPr>
                        <a:t> that a technology </a:t>
                      </a:r>
                      <a:r>
                        <a:rPr lang="en-US" sz="1800" dirty="0" smtClean="0">
                          <a:solidFill>
                            <a:srgbClr val="000000"/>
                          </a:solidFill>
                          <a:effectLst/>
                          <a:latin typeface="+mn-lt"/>
                          <a:ea typeface="Calibri"/>
                          <a:cs typeface="Times New Roman"/>
                        </a:rPr>
                        <a:t>derived </a:t>
                      </a:r>
                      <a:r>
                        <a:rPr lang="en-US" sz="1800" dirty="0">
                          <a:solidFill>
                            <a:srgbClr val="000000"/>
                          </a:solidFill>
                          <a:effectLst/>
                          <a:latin typeface="+mn-lt"/>
                          <a:ea typeface="Calibri"/>
                          <a:cs typeface="Times New Roman"/>
                        </a:rPr>
                        <a:t>from </a:t>
                      </a:r>
                      <a:r>
                        <a:rPr lang="en-US" sz="1800" dirty="0" smtClean="0">
                          <a:solidFill>
                            <a:srgbClr val="000000"/>
                          </a:solidFill>
                          <a:effectLst/>
                          <a:latin typeface="+mn-lt"/>
                          <a:ea typeface="Calibri"/>
                          <a:cs typeface="Times New Roman"/>
                        </a:rPr>
                        <a:t>a federally-funded </a:t>
                      </a:r>
                      <a:r>
                        <a:rPr lang="en-US" sz="1800" dirty="0">
                          <a:solidFill>
                            <a:srgbClr val="000000"/>
                          </a:solidFill>
                          <a:effectLst/>
                          <a:latin typeface="+mn-lt"/>
                          <a:ea typeface="Calibri"/>
                          <a:cs typeface="Times New Roman"/>
                        </a:rPr>
                        <a:t>R&amp;D </a:t>
                      </a:r>
                      <a:r>
                        <a:rPr lang="en-US" sz="1800" dirty="0" smtClean="0">
                          <a:solidFill>
                            <a:srgbClr val="000000"/>
                          </a:solidFill>
                          <a:effectLst/>
                          <a:latin typeface="+mn-lt"/>
                          <a:ea typeface="Calibri"/>
                          <a:cs typeface="Times New Roman"/>
                        </a:rPr>
                        <a:t>project is transferred to the private sector is associated with the final development stage attained by the R&amp;D project</a:t>
                      </a:r>
                      <a:r>
                        <a:rPr lang="en-US" sz="1800" baseline="0" dirty="0" smtClean="0">
                          <a:solidFill>
                            <a:srgbClr val="000000"/>
                          </a:solidFill>
                          <a:effectLst/>
                          <a:latin typeface="+mn-lt"/>
                          <a:ea typeface="Calibri"/>
                          <a:cs typeface="Times New Roman"/>
                        </a:rPr>
                        <a:t>. </a:t>
                      </a:r>
                      <a:endParaRPr lang="en-US" sz="1800" dirty="0" smtClean="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 final development stage attained by </a:t>
                      </a:r>
                      <a:r>
                        <a:rPr lang="en-US" sz="1800" dirty="0" smtClean="0">
                          <a:solidFill>
                            <a:srgbClr val="000000"/>
                          </a:solidFill>
                          <a:effectLst/>
                          <a:latin typeface="+mn-lt"/>
                          <a:ea typeface="Calibri"/>
                          <a:cs typeface="Times New Roman"/>
                        </a:rPr>
                        <a:t>a </a:t>
                      </a:r>
                      <a:r>
                        <a:rPr lang="en-US" sz="1800" dirty="0" smtClean="0">
                          <a:solidFill>
                            <a:srgbClr val="000000"/>
                          </a:solidFill>
                          <a:effectLst/>
                          <a:latin typeface="+mn-lt"/>
                          <a:ea typeface="Calibri"/>
                          <a:cs typeface="Times New Roman"/>
                        </a:rPr>
                        <a:t>federally-funded R&amp;D project is associated with the spatial distance between where the R&amp;D project is conducted</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smtClean="0">
                          <a:solidFill>
                            <a:srgbClr val="000000"/>
                          </a:solidFill>
                          <a:effectLst/>
                          <a:latin typeface="+mn-lt"/>
                          <a:ea typeface="Calibri"/>
                          <a:cs typeface="Times New Roman"/>
                        </a:rPr>
                        <a:t>The probability that a technology derived</a:t>
                      </a:r>
                      <a:r>
                        <a:rPr lang="en-US" sz="1800" baseline="0" dirty="0" smtClean="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317664218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2486179879"/>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423375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2603466307"/>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4080744306"/>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134106740"/>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38825968"/>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2802689420"/>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483759542"/>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Collection</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4220" y="4330598"/>
            <a:ext cx="1690771" cy="585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79567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7356" y="2078710"/>
            <a:ext cx="1097280" cy="12077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2476" y="1755622"/>
            <a:ext cx="1097280" cy="120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a:t>
                </a:r>
                <a:r>
                  <a:rPr lang="en-US" dirty="0" smtClean="0">
                    <a:ea typeface="Calibri"/>
                    <a:cs typeface="Times New Roman" panose="02020603050405020304" pitchFamily="18" charset="0"/>
                  </a:rPr>
                  <a:t>0</a:t>
                </a:r>
                <a:endParaRPr lang="en-US" dirty="0">
                  <a:ea typeface="Calibri"/>
                  <a:cs typeface="Times New Roman" panose="02020603050405020304" pitchFamily="18" charset="0"/>
                </a:endParaRP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Regression Analyses</a:t>
            </a:r>
            <a:endParaRPr lang="en-US" sz="2800" b="1" dirty="0"/>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smtClean="0">
                    <a:ea typeface="Calibri"/>
                    <a:cs typeface="Times New Roman"/>
                  </a:rPr>
                  <a:t> 0</a:t>
                </a:r>
                <a:endParaRPr lang="en-US" dirty="0">
                  <a:ea typeface="Calibri"/>
                  <a:cs typeface="Times New Roman"/>
                </a:endParaRP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61076017"/>
              </p:ext>
            </p:extLst>
          </p:nvPr>
        </p:nvGraphicFramePr>
        <p:xfrm>
          <a:off x="82068" y="570018"/>
          <a:ext cx="4321682" cy="2506600"/>
        </p:xfrm>
        <a:graphic>
          <a:graphicData uri="http://schemas.openxmlformats.org/drawingml/2006/table">
            <a:tbl>
              <a:tblPr firstRow="1" bandRow="1">
                <a:tableStyleId>{5C22544A-7EE6-4342-B048-85BDC9FD1C3A}</a:tableStyleId>
              </a:tblPr>
              <a:tblGrid>
                <a:gridCol w="1176146"/>
                <a:gridCol w="1148487"/>
                <a:gridCol w="716889"/>
                <a:gridCol w="651458"/>
                <a:gridCol w="628702"/>
              </a:tblGrid>
              <a:tr h="1080660">
                <a:tc>
                  <a:txBody>
                    <a:bodyPr/>
                    <a:lstStyle/>
                    <a:p>
                      <a:r>
                        <a:rPr lang="en-US" sz="1600" dirty="0" smtClean="0"/>
                        <a:t>R&amp;D Project</a:t>
                      </a:r>
                      <a:endParaRPr lang="en-US" sz="1600" dirty="0"/>
                    </a:p>
                  </a:txBody>
                  <a:tcPr anchor="b"/>
                </a:tc>
                <a:tc>
                  <a:txBody>
                    <a:bodyPr/>
                    <a:lstStyle/>
                    <a:p>
                      <a:r>
                        <a:rPr lang="en-US" sz="1600" dirty="0" err="1" smtClean="0"/>
                        <a:t>TechTran</a:t>
                      </a:r>
                      <a:endParaRPr lang="en-US" sz="1600" dirty="0" smtClean="0"/>
                    </a:p>
                    <a:p>
                      <a:r>
                        <a:rPr lang="en-US" sz="1600" dirty="0" smtClean="0"/>
                        <a:t>ranked</a:t>
                      </a:r>
                      <a:endParaRPr lang="en-US" sz="1600" dirty="0"/>
                    </a:p>
                  </a:txBody>
                  <a:tcPr anchor="b"/>
                </a:tc>
                <a:tc>
                  <a:txBody>
                    <a:bodyPr/>
                    <a:lstStyle/>
                    <a:p>
                      <a:r>
                        <a:rPr lang="en-US" sz="1600" dirty="0" smtClean="0"/>
                        <a:t>TRL</a:t>
                      </a:r>
                      <a:endParaRPr lang="en-US" sz="1600" dirty="0" smtClean="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224813904"/>
              </p:ext>
            </p:extLst>
          </p:nvPr>
        </p:nvGraphicFramePr>
        <p:xfrm>
          <a:off x="4670205" y="570019"/>
          <a:ext cx="4276285" cy="2506597"/>
        </p:xfrm>
        <a:graphic>
          <a:graphicData uri="http://schemas.openxmlformats.org/drawingml/2006/table">
            <a:tbl>
              <a:tblPr firstRow="1" bandRow="1">
                <a:tableStyleId>{5C22544A-7EE6-4342-B048-85BDC9FD1C3A}</a:tableStyleId>
              </a:tblPr>
              <a:tblGrid>
                <a:gridCol w="1160009"/>
                <a:gridCol w="1133856"/>
                <a:gridCol w="724205"/>
                <a:gridCol w="547104"/>
                <a:gridCol w="711111"/>
              </a:tblGrid>
              <a:tr h="1080657">
                <a:tc>
                  <a:txBody>
                    <a:bodyPr/>
                    <a:lstStyle/>
                    <a:p>
                      <a:r>
                        <a:rPr lang="en-US" sz="1600" dirty="0" smtClean="0"/>
                        <a:t>R&amp;D Project</a:t>
                      </a:r>
                      <a:endParaRPr lang="en-US" sz="1600" dirty="0"/>
                    </a:p>
                  </a:txBody>
                  <a:tcPr anchor="b"/>
                </a:tc>
                <a:tc>
                  <a:txBody>
                    <a:bodyPr/>
                    <a:lstStyle/>
                    <a:p>
                      <a:r>
                        <a:rPr lang="en-US" sz="1600" dirty="0" err="1" smtClean="0"/>
                        <a:t>TechTran</a:t>
                      </a:r>
                      <a:endParaRPr lang="en-US" sz="1600" dirty="0" smtClean="0"/>
                    </a:p>
                    <a:p>
                      <a:r>
                        <a:rPr lang="en-US" sz="1600" dirty="0" smtClean="0"/>
                        <a:t>ranked</a:t>
                      </a:r>
                      <a:endParaRPr lang="en-US" sz="1600" dirty="0"/>
                    </a:p>
                  </a:txBody>
                  <a:tcPr anchor="b"/>
                </a:tc>
                <a:tc>
                  <a:txBody>
                    <a:bodyPr/>
                    <a:lstStyle/>
                    <a:p>
                      <a:pPr algn="l"/>
                      <a:r>
                        <a:rPr lang="en-US" sz="1600" dirty="0" smtClean="0"/>
                        <a:t>Distance</a:t>
                      </a:r>
                      <a:endParaRPr lang="en-US" sz="1600" dirty="0" smtClean="0"/>
                    </a:p>
                  </a:txBody>
                  <a:tcPr vert="vert270" anchor="ctr"/>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graphicFrame>
        <p:nvGraphicFramePr>
          <p:cNvPr id="3" name="Table 2"/>
          <p:cNvGraphicFramePr>
            <a:graphicFrameLocks noGrp="1"/>
          </p:cNvGraphicFramePr>
          <p:nvPr>
            <p:extLst>
              <p:ext uri="{D42A27DB-BD31-4B8C-83A1-F6EECF244321}">
                <p14:modId xmlns:p14="http://schemas.microsoft.com/office/powerpoint/2010/main" val="1311115074"/>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gridCol w="8097784"/>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smtClean="0">
                          <a:effectLst/>
                        </a:rPr>
                        <a:t>The probably that a technology derived from federally-funded R&amp;D projects will be transferred to the private sector will increase with each unit increase in the final development stage attained by the federally-funded R&amp;D projects.</a:t>
                      </a:r>
                      <a:endParaRPr lang="en-US" sz="1600" b="0" dirty="0">
                        <a:solidFill>
                          <a:srgbClr val="000000"/>
                        </a:solidFill>
                        <a:effectLst/>
                        <a:latin typeface="+mn-lt"/>
                        <a:ea typeface="Calibri"/>
                        <a:cs typeface="Times New Roman"/>
                      </a:endParaRPr>
                    </a:p>
                  </a:txBody>
                  <a:tcPr marL="59258" marR="59258" marT="29887" marB="29887"/>
                </a:tc>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final development stage</a:t>
                      </a:r>
                      <a:r>
                        <a:rPr lang="en-US" sz="1800" baseline="0" dirty="0" smtClean="0">
                          <a:effectLst/>
                        </a:rPr>
                        <a:t> attained by federally-funded R&amp;D projects will be negatively associated with t</a:t>
                      </a:r>
                      <a:r>
                        <a:rPr lang="en-US" sz="1800" dirty="0" smtClean="0">
                          <a:effectLst/>
                        </a:rPr>
                        <a:t>he </a:t>
                      </a:r>
                      <a:r>
                        <a:rPr lang="en-US" sz="1800" dirty="0">
                          <a:effectLst/>
                        </a:rPr>
                        <a:t>spatial distance between </a:t>
                      </a:r>
                      <a:r>
                        <a:rPr lang="en-US" sz="1800" dirty="0" smtClean="0">
                          <a:effectLst/>
                        </a:rPr>
                        <a:t>where </a:t>
                      </a:r>
                      <a:r>
                        <a:rPr lang="en-US" sz="1800" dirty="0">
                          <a:effectLst/>
                        </a:rPr>
                        <a:t>R&amp;D project </a:t>
                      </a:r>
                      <a:r>
                        <a:rPr lang="en-US" sz="1800" dirty="0" smtClean="0">
                          <a:effectLst/>
                        </a:rPr>
                        <a:t>are </a:t>
                      </a:r>
                      <a:r>
                        <a:rPr lang="en-US" sz="1800" dirty="0">
                          <a:effectLst/>
                        </a:rPr>
                        <a:t>conducted and the nearest </a:t>
                      </a:r>
                      <a:r>
                        <a:rPr lang="en-US" sz="1800" dirty="0" smtClean="0">
                          <a:effectLst/>
                        </a:rPr>
                        <a:t>city.</a:t>
                      </a:r>
                      <a:endParaRPr lang="en-US" sz="1600" dirty="0">
                        <a:solidFill>
                          <a:srgbClr val="000000"/>
                        </a:solidFill>
                        <a:effectLst/>
                        <a:latin typeface="+mn-lt"/>
                        <a:ea typeface="Calibri"/>
                        <a:cs typeface="Times New Roman"/>
                      </a:endParaRPr>
                    </a:p>
                  </a:txBody>
                  <a:tcPr marL="59258" marR="59258" marT="29887" marB="29887"/>
                </a:tc>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smtClean="0">
                          <a:ln>
                            <a:noFill/>
                          </a:ln>
                          <a:solidFill>
                            <a:prstClr val="black"/>
                          </a:solidFill>
                          <a:effectLst/>
                          <a:uLnTx/>
                          <a:uFillTx/>
                          <a:latin typeface="+mn-lt"/>
                          <a:ea typeface="+mn-ea"/>
                          <a:cs typeface="+mn-cs"/>
                        </a:rPr>
                        <a:t>The probably that a technology derived from federally-funded R&amp;D projects will be transferred to the private sector will increase with each unit decrease in t</a:t>
                      </a:r>
                      <a:r>
                        <a:rPr lang="en-US" sz="1800" dirty="0" smtClean="0">
                          <a:effectLst/>
                        </a:rPr>
                        <a:t>he spatial distance</a:t>
                      </a:r>
                      <a:r>
                        <a:rPr lang="en-US" sz="1800" baseline="0" dirty="0" smtClean="0">
                          <a:effectLst/>
                        </a:rPr>
                        <a:t> between where R&amp;D projects are conducted and the nearest city.</a:t>
                      </a:r>
                      <a:endParaRPr lang="en-US" sz="1800" dirty="0" smtClean="0">
                        <a:solidFill>
                          <a:srgbClr val="000000"/>
                        </a:solidFill>
                        <a:effectLst/>
                        <a:latin typeface="+mn-lt"/>
                        <a:ea typeface="Calibri"/>
                        <a:cs typeface="Times New Roman"/>
                      </a:endParaRPr>
                    </a:p>
                  </a:txBody>
                  <a:tcPr marL="59258" marR="59258" marT="29887" marB="29887"/>
                </a:tc>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File:Logic Model OER.pd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14287"/>
            <a:ext cx="7620000" cy="470535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0662" y="5018233"/>
            <a:ext cx="8873338" cy="523220"/>
          </a:xfrm>
          <a:prstGeom prst="rect">
            <a:avLst/>
          </a:prstGeom>
          <a:noFill/>
        </p:spPr>
        <p:txBody>
          <a:bodyPr wrap="square" rtlCol="0">
            <a:spAutoFit/>
          </a:bodyPr>
          <a:lstStyle/>
          <a:p>
            <a:pPr indent="-457200"/>
            <a:r>
              <a:rPr lang="en-US" sz="1400" dirty="0" smtClean="0"/>
              <a:t>Source: </a:t>
            </a:r>
            <a:r>
              <a:rPr lang="en-US" sz="1400" dirty="0" err="1" smtClean="0"/>
              <a:t>Ainali</a:t>
            </a:r>
            <a:r>
              <a:rPr lang="en-US" sz="1400" dirty="0" smtClean="0"/>
              <a:t>, J. (2014). Wikimedia Commons</a:t>
            </a:r>
            <a:r>
              <a:rPr lang="en-US" sz="1400" dirty="0"/>
              <a:t>. </a:t>
            </a:r>
            <a:r>
              <a:rPr lang="en-US" sz="1400" dirty="0" smtClean="0"/>
              <a:t>CC-BY-SA-3.0 [http</a:t>
            </a:r>
            <a:r>
              <a:rPr lang="en-US" sz="1400" dirty="0"/>
              <a:t>://creativecommons.org/licenses/by-sa/3.0</a:t>
            </a:r>
            <a:r>
              <a:rPr lang="en-US" sz="1400" dirty="0" smtClean="0"/>
              <a:t>/]. No changes made. </a:t>
            </a:r>
            <a:r>
              <a:rPr lang="en-US" sz="1400" dirty="0"/>
              <a:t>Retrieved from https://commons.wikimedia.org/wiki/File:Logic_Model_OER.pdf</a:t>
            </a:r>
          </a:p>
        </p:txBody>
      </p:sp>
      <p:sp>
        <p:nvSpPr>
          <p:cNvPr id="2" name="TextBox 1"/>
          <p:cNvSpPr txBox="1"/>
          <p:nvPr/>
        </p:nvSpPr>
        <p:spPr>
          <a:xfrm rot="20241623">
            <a:off x="449887" y="2238883"/>
            <a:ext cx="8002828" cy="1015663"/>
          </a:xfrm>
          <a:prstGeom prst="rect">
            <a:avLst/>
          </a:prstGeom>
          <a:noFill/>
          <a:ln>
            <a:noFill/>
          </a:ln>
        </p:spPr>
        <p:txBody>
          <a:bodyPr wrap="square" rtlCol="0">
            <a:spAutoFit/>
          </a:bodyPr>
          <a:lstStyle/>
          <a:p>
            <a:pPr algn="ctr"/>
            <a:r>
              <a:rPr lang="en-US" sz="6000" b="1" dirty="0" smtClean="0">
                <a:solidFill>
                  <a:schemeClr val="accent2">
                    <a:lumMod val="60000"/>
                    <a:lumOff val="40000"/>
                  </a:schemeClr>
                </a:solidFill>
              </a:rPr>
              <a:t>Sample Logic Model</a:t>
            </a:r>
            <a:endParaRPr lang="en-US" sz="6000" b="1" dirty="0">
              <a:solidFill>
                <a:schemeClr val="accent2">
                  <a:lumMod val="60000"/>
                  <a:lumOff val="40000"/>
                </a:schemeClr>
              </a:solidFill>
            </a:endParaRPr>
          </a:p>
        </p:txBody>
      </p:sp>
    </p:spTree>
    <p:extLst>
      <p:ext uri="{BB962C8B-B14F-4D97-AF65-F5344CB8AC3E}">
        <p14:creationId xmlns:p14="http://schemas.microsoft.com/office/powerpoint/2010/main" val="37936938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townesm\AppData\Local\Temp\DELPHIS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012471"/>
            <a:ext cx="5486400" cy="42181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91440"/>
            <a:ext cx="9144000" cy="954107"/>
          </a:xfrm>
          <a:prstGeom prst="rect">
            <a:avLst/>
          </a:prstGeom>
          <a:noFill/>
        </p:spPr>
        <p:txBody>
          <a:bodyPr wrap="square" lIns="182880" rIns="182880" rtlCol="0">
            <a:spAutoFit/>
          </a:bodyPr>
          <a:lstStyle/>
          <a:p>
            <a:r>
              <a:rPr lang="en-US" sz="2800" b="1" dirty="0" smtClean="0"/>
              <a:t>Generate </a:t>
            </a:r>
            <a:r>
              <a:rPr lang="en-US" sz="2800" b="1" dirty="0"/>
              <a:t>policy </a:t>
            </a:r>
            <a:r>
              <a:rPr lang="en-US" sz="2800" b="1" dirty="0" smtClean="0"/>
              <a:t>alternatives by conducting </a:t>
            </a:r>
            <a:r>
              <a:rPr lang="en-US" sz="2800" b="1" dirty="0" smtClean="0"/>
              <a:t>a participatory policy analysis (PPA) using the Delphi method.</a:t>
            </a:r>
            <a:endParaRPr lang="en-US" sz="2800" b="1" dirty="0"/>
          </a:p>
        </p:txBody>
      </p:sp>
      <p:sp>
        <p:nvSpPr>
          <p:cNvPr id="2" name="TextBox 1"/>
          <p:cNvSpPr txBox="1"/>
          <p:nvPr/>
        </p:nvSpPr>
        <p:spPr>
          <a:xfrm>
            <a:off x="270662" y="5018233"/>
            <a:ext cx="8873338" cy="523220"/>
          </a:xfrm>
          <a:prstGeom prst="rect">
            <a:avLst/>
          </a:prstGeom>
          <a:noFill/>
        </p:spPr>
        <p:txBody>
          <a:bodyPr wrap="square" rtlCol="0">
            <a:spAutoFit/>
          </a:bodyPr>
          <a:lstStyle/>
          <a:p>
            <a:pPr indent="-457200"/>
            <a:r>
              <a:rPr lang="en-US" sz="1400" dirty="0" smtClean="0"/>
              <a:t>Source: User: </a:t>
            </a:r>
            <a:r>
              <a:rPr lang="en-US" sz="1400" dirty="0" err="1" smtClean="0"/>
              <a:t>Czkssa</a:t>
            </a:r>
            <a:r>
              <a:rPr lang="en-US" sz="1400" dirty="0" smtClean="0"/>
              <a:t>. (2001). Wikimedia Commons</a:t>
            </a:r>
            <a:r>
              <a:rPr lang="en-US" sz="1400" dirty="0"/>
              <a:t>. </a:t>
            </a:r>
            <a:r>
              <a:rPr lang="en-US" sz="1400" dirty="0" smtClean="0"/>
              <a:t>CC-BY-SA-3.0 [http</a:t>
            </a:r>
            <a:r>
              <a:rPr lang="en-US" sz="1400" dirty="0"/>
              <a:t>://creativecommons.org/licenses/by-sa/3.0</a:t>
            </a:r>
            <a:r>
              <a:rPr lang="en-US" sz="1400" dirty="0" smtClean="0"/>
              <a:t>/]. No changes made. Retrieved </a:t>
            </a:r>
            <a:r>
              <a:rPr lang="en-US" sz="1400" dirty="0"/>
              <a:t>from https://</a:t>
            </a:r>
            <a:r>
              <a:rPr lang="en-US" sz="1400" dirty="0" smtClean="0"/>
              <a:t>commons.wikimedia.org/wiki/File:DELPHIST.png</a:t>
            </a:r>
            <a:endParaRPr lang="en-US" sz="1400" dirty="0"/>
          </a:p>
        </p:txBody>
      </p:sp>
    </p:spTree>
    <p:extLst>
      <p:ext uri="{BB962C8B-B14F-4D97-AF65-F5344CB8AC3E}">
        <p14:creationId xmlns:p14="http://schemas.microsoft.com/office/powerpoint/2010/main" val="37278883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999702629"/>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233"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4231928"/>
          </a:xfrm>
          <a:prstGeom prst="rect">
            <a:avLst/>
          </a:prstGeom>
          <a:noFill/>
        </p:spPr>
        <p:txBody>
          <a:bodyPr wrap="square" lIns="457200" rIns="457200" rtlCol="0">
            <a:spAutoFit/>
          </a:bodyPr>
          <a:lstStyle/>
          <a:p>
            <a:pPr marL="285750" indent="-285750">
              <a:spcAft>
                <a:spcPts val="600"/>
              </a:spcAft>
              <a:buFont typeface="Arial" panose="020B0604020202020204" pitchFamily="34" charset="0"/>
              <a:buChar char="•"/>
            </a:pPr>
            <a:r>
              <a:rPr lang="en-US" dirty="0" smtClean="0"/>
              <a:t>Provides a more holistic understanding </a:t>
            </a:r>
            <a:r>
              <a:rPr lang="en-US" dirty="0" smtClean="0"/>
              <a:t>of federal </a:t>
            </a:r>
            <a:r>
              <a:rPr lang="en-US" dirty="0" smtClean="0"/>
              <a:t>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technology transfer public policy.  </a:t>
            </a:r>
          </a:p>
          <a:p>
            <a:pPr marL="285750" indent="-285750">
              <a:spcAft>
                <a:spcPts val="600"/>
              </a:spcAft>
              <a:buFont typeface="Arial" panose="020B0604020202020204" pitchFamily="34" charset="0"/>
              <a:buChar char="•"/>
            </a:pPr>
            <a:r>
              <a:rPr lang="en-US" dirty="0" smtClean="0"/>
              <a:t>Provides policy alternatives for policymakers to consider. </a:t>
            </a:r>
          </a:p>
          <a:p>
            <a:pPr marL="285750" indent="-285750">
              <a:spcAft>
                <a:spcPts val="600"/>
              </a:spcAft>
              <a:buFont typeface="Arial" panose="020B0604020202020204" pitchFamily="34" charset="0"/>
              <a:buChar char="•"/>
            </a:pPr>
            <a:r>
              <a:rPr lang="en-US" dirty="0" smtClean="0"/>
              <a:t>Demonstrates alternative methods for measuring technology transfer </a:t>
            </a:r>
            <a:r>
              <a:rPr lang="en-US" dirty="0" smtClean="0"/>
              <a:t>outcomes and covariates.</a:t>
            </a:r>
          </a:p>
          <a:p>
            <a:pPr marL="285750" indent="-285750">
              <a:spcAft>
                <a:spcPts val="600"/>
              </a:spcAft>
              <a:buFont typeface="Arial" panose="020B0604020202020204" pitchFamily="34" charset="0"/>
              <a:buChar char="•"/>
            </a:pPr>
            <a:r>
              <a:rPr lang="en-US" dirty="0" smtClean="0"/>
              <a:t>Provides baseline data to facilitate future formative and summative evaluations of federal technology transfer policy as a whole.</a:t>
            </a:r>
          </a:p>
          <a:p>
            <a:pPr marL="285750" indent="-285750">
              <a:spcAft>
                <a:spcPts val="600"/>
              </a:spcAft>
              <a:buFont typeface="Arial" panose="020B0604020202020204" pitchFamily="34" charset="0"/>
              <a:buChar char="•"/>
            </a:pPr>
            <a:r>
              <a:rPr lang="en-US" dirty="0" smtClean="0"/>
              <a:t>Provides data that other researchers can use for studies not yet envisioned.</a:t>
            </a:r>
            <a:endParaRPr lang="en-US" dirty="0"/>
          </a:p>
          <a:p>
            <a:pPr marL="285750" indent="-285750">
              <a:spcAft>
                <a:spcPts val="600"/>
              </a:spcAft>
              <a:buFont typeface="Arial" panose="020B0604020202020204" pitchFamily="34" charset="0"/>
              <a:buChar char="•"/>
            </a:pPr>
            <a:r>
              <a:rPr lang="en-US" dirty="0" smtClean="0"/>
              <a:t>Demonstrates an approach to achieve increased levels of </a:t>
            </a:r>
            <a:r>
              <a:rPr lang="en-US" dirty="0" smtClean="0"/>
              <a:t>construct validity with regard to technology </a:t>
            </a:r>
            <a:r>
              <a:rPr lang="en-US" dirty="0" smtClean="0"/>
              <a:t>transfer.</a:t>
            </a:r>
          </a:p>
          <a:p>
            <a:pPr marL="285750" indent="-285750">
              <a:spcAft>
                <a:spcPts val="600"/>
              </a:spcAft>
              <a:buFont typeface="Arial" panose="020B0604020202020204" pitchFamily="34" charset="0"/>
              <a:buChar char="•"/>
            </a:pPr>
            <a:r>
              <a:rPr lang="en-US" dirty="0" smtClean="0"/>
              <a:t>Demonstrates an approach to achieve increased levels of </a:t>
            </a:r>
            <a:r>
              <a:rPr lang="en-US" dirty="0" smtClean="0"/>
              <a:t>construct validity with regard to </a:t>
            </a:r>
            <a:r>
              <a:rPr lang="en-US" dirty="0" smtClean="0"/>
              <a:t>technology.</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a:t>Andersen, M. S., Bray, J. W., &amp; Link, A. N. (</a:t>
            </a:r>
            <a:r>
              <a:rPr lang="en-US" dirty="0" err="1"/>
              <a:t>n.d.</a:t>
            </a:r>
            <a:r>
              <a:rPr lang="en-US" dirty="0"/>
              <a:t>). On the failure of scientific research: an analysis of SBIR projects funded by the US National Institutes of Health. </a:t>
            </a:r>
            <a:r>
              <a:rPr lang="en-US" i="1" dirty="0"/>
              <a:t>SCIENTOMETRICS</a:t>
            </a:r>
            <a:r>
              <a:rPr lang="en-US" dirty="0"/>
              <a:t>, 112(1), 431–442. https://doi.org/10.1007/s11192-017-2353-7</a:t>
            </a:r>
            <a:endParaRPr lang="en-US" dirty="0" smtClean="0"/>
          </a:p>
          <a:p>
            <a:endParaRPr lang="en-US" dirty="0"/>
          </a:p>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a:solidFill>
                  <a:prstClr val="black"/>
                </a:solidFill>
              </a:rPr>
              <a:t>Dai, Y., Popp, D. and </a:t>
            </a:r>
            <a:r>
              <a:rPr lang="en-US" dirty="0" err="1">
                <a:solidFill>
                  <a:prstClr val="black"/>
                </a:solidFill>
              </a:rPr>
              <a:t>Bretschneider</a:t>
            </a:r>
            <a:r>
              <a:rPr lang="en-US" dirty="0">
                <a:solidFill>
                  <a:prstClr val="black"/>
                </a:solidFill>
              </a:rPr>
              <a:t>, S. (2005). Institutions and intellectual property: The influence of institutional forces on university patenting. Journal of Policy Analysis and Management 24(3).  Available from https://onlinelibrary.wiley.com</a:t>
            </a:r>
          </a:p>
          <a:p>
            <a:pPr lvl="0"/>
            <a:endParaRPr lang="en-US" dirty="0" smtClean="0">
              <a:solidFill>
                <a:prstClr val="black"/>
              </a:solidFill>
            </a:endParaRPr>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smtClean="0">
              <a:solidFill>
                <a:prstClr val="black"/>
              </a:solidFill>
            </a:endParaRPr>
          </a:p>
        </p:txBody>
      </p:sp>
    </p:spTree>
    <p:extLst>
      <p:ext uri="{BB962C8B-B14F-4D97-AF65-F5344CB8AC3E}">
        <p14:creationId xmlns:p14="http://schemas.microsoft.com/office/powerpoint/2010/main" val="1159741052"/>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solidFill>
                  <a:prstClr val="black"/>
                </a:solidFill>
              </a:rPr>
              <a:t>“Economic growth.” (2019). Wikipedia. Retrieved April 12, 2019, from https://en.wikipedia.org/wiki/Economic_growth</a:t>
            </a:r>
          </a:p>
          <a:p>
            <a:pPr lvl="0"/>
            <a:endParaRPr lang="en-US" dirty="0" smtClean="0"/>
          </a:p>
          <a:p>
            <a:r>
              <a:rPr lang="en-US" dirty="0"/>
              <a:t>Florida, R., Adler, P., &amp; </a:t>
            </a:r>
            <a:r>
              <a:rPr lang="en-US" dirty="0" err="1"/>
              <a:t>Mellander</a:t>
            </a:r>
            <a:r>
              <a:rPr lang="en-US" dirty="0"/>
              <a:t>, C. (2017). The city as innovation machine. </a:t>
            </a:r>
            <a:r>
              <a:rPr lang="en-US" i="1" dirty="0"/>
              <a:t>Regional Studies, 51</a:t>
            </a:r>
            <a:r>
              <a:rPr lang="en-US" dirty="0"/>
              <a:t>(1), 86-96. </a:t>
            </a:r>
            <a:r>
              <a:rPr lang="en-US" dirty="0" err="1"/>
              <a:t>doi</a:t>
            </a:r>
            <a:r>
              <a:rPr lang="en-US" dirty="0"/>
              <a:t>: http://dx.doi.org/10.1080/00343404.2016.1255324</a:t>
            </a:r>
          </a:p>
          <a:p>
            <a:pPr lvl="0"/>
            <a:endParaRPr lang="en-US" dirty="0" smtClean="0"/>
          </a:p>
          <a:p>
            <a:pPr lvl="0"/>
            <a:r>
              <a:rPr lang="en-US" dirty="0"/>
              <a:t>Florida, R., &amp; </a:t>
            </a:r>
            <a:r>
              <a:rPr lang="en-US" dirty="0" err="1"/>
              <a:t>Mellander</a:t>
            </a:r>
            <a:r>
              <a:rPr lang="en-US" dirty="0"/>
              <a:t>, C. (2016). Rise of the startup city: the changing geography of the venture capital financed innovation. </a:t>
            </a:r>
            <a:r>
              <a:rPr lang="en-US" i="1" dirty="0"/>
              <a:t>California Management Review</a:t>
            </a:r>
            <a:r>
              <a:rPr lang="en-US" dirty="0"/>
              <a:t>, (1). Retrieved from http://search.ebscohost.com/login.aspx?direct=true&amp;db=edsbig&amp;AN=edsbig.A482290258&amp;site=eds-live</a:t>
            </a:r>
          </a:p>
          <a:p>
            <a:pPr lvl="0"/>
            <a:endParaRPr lang="en-US" dirty="0" smtClean="0"/>
          </a:p>
          <a:p>
            <a:pPr lvl="0"/>
            <a:r>
              <a:rPr lang="en-US" dirty="0" err="1"/>
              <a:t>Hemel</a:t>
            </a:r>
            <a:r>
              <a:rPr lang="en-US" dirty="0"/>
              <a:t>, D. J., &amp; Ouellette, L. L. (2019). Innovation Policy Pluralism. </a:t>
            </a:r>
            <a:r>
              <a:rPr lang="en-US" i="1" dirty="0"/>
              <a:t>Yale Law Journal</a:t>
            </a:r>
            <a:r>
              <a:rPr lang="en-US" dirty="0"/>
              <a:t>, (3). Retrieved from http://search.ebscohost.com/login.aspx?direct=true&amp;db=edsbig&amp;AN=edsbig.A576378943&amp;site=eds-live</a:t>
            </a:r>
            <a:endParaRPr lang="en-US" dirty="0" smtClean="0"/>
          </a:p>
          <a:p>
            <a:pPr lvl="0"/>
            <a:endParaRPr lang="en-US" dirty="0"/>
          </a:p>
        </p:txBody>
      </p:sp>
    </p:spTree>
    <p:extLst>
      <p:ext uri="{BB962C8B-B14F-4D97-AF65-F5344CB8AC3E}">
        <p14:creationId xmlns:p14="http://schemas.microsoft.com/office/powerpoint/2010/main" val="75752809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smtClean="0"/>
              <a:t>Joshi</a:t>
            </a:r>
            <a:r>
              <a:rPr lang="en-US" dirty="0"/>
              <a:t>, A. M., Inouye, T. M., &amp; Robinson, J. A. (</a:t>
            </a:r>
            <a:r>
              <a:rPr lang="en-US" dirty="0" err="1"/>
              <a:t>n.d.</a:t>
            </a:r>
            <a:r>
              <a:rPr lang="en-US" dirty="0"/>
              <a:t>). How does agency workforce diversity influence Federal R&amp;D funding of minority and women technology entrepreneurs? An analysis of the SBIR and STTR programs, 2001-2011. </a:t>
            </a:r>
            <a:r>
              <a:rPr lang="en-US" i="1" dirty="0"/>
              <a:t>SMALL BUSINESS ECONOMICS</a:t>
            </a:r>
            <a:r>
              <a:rPr lang="en-US" dirty="0"/>
              <a:t>, </a:t>
            </a:r>
            <a:r>
              <a:rPr lang="en-US" i="1" dirty="0"/>
              <a:t>50</a:t>
            </a:r>
            <a:r>
              <a:rPr lang="en-US" dirty="0"/>
              <a:t>(3), 499–519. https://doi.org/10.1007/s11187-017-9882-6</a:t>
            </a:r>
            <a:endParaRPr lang="en-US" dirty="0" smtClean="0">
              <a:solidFill>
                <a:prstClr val="black"/>
              </a:solidFill>
            </a:endParaRPr>
          </a:p>
          <a:p>
            <a:pPr lvl="0"/>
            <a:endParaRPr lang="en-US" dirty="0" smtClean="0">
              <a:solidFill>
                <a:prstClr val="black"/>
              </a:solidFill>
            </a:endParaRPr>
          </a:p>
          <a:p>
            <a:pPr lvl="0"/>
            <a:r>
              <a:rPr lang="en-US" dirty="0" smtClean="0">
                <a:solidFill>
                  <a:prstClr val="black"/>
                </a:solidFill>
              </a:rPr>
              <a:t>Office </a:t>
            </a:r>
            <a:r>
              <a:rPr lang="en-US" dirty="0">
                <a:solidFill>
                  <a:prstClr val="black"/>
                </a:solidFill>
              </a:rPr>
              <a:t>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endParaRPr lang="en-US" dirty="0" smtClean="0"/>
          </a:p>
          <a:p>
            <a:pPr lvl="0"/>
            <a:endParaRPr lang="en-US" dirty="0" smtClean="0"/>
          </a:p>
          <a:p>
            <a:pPr lvl="0"/>
            <a:r>
              <a:rPr lang="en-US" dirty="0" err="1"/>
              <a:t>Reuer</a:t>
            </a:r>
            <a:r>
              <a:rPr lang="en-US" dirty="0"/>
              <a:t>, J. J., &amp; </a:t>
            </a:r>
            <a:r>
              <a:rPr lang="en-US" dirty="0" err="1"/>
              <a:t>Lahiri</a:t>
            </a:r>
            <a:r>
              <a:rPr lang="en-US" dirty="0"/>
              <a:t>, N. (2014). Searching for alliance partners: effects of geographic distance on the formation of </a:t>
            </a:r>
            <a:r>
              <a:rPr lang="en-US" dirty="0" err="1"/>
              <a:t>r&amp;d</a:t>
            </a:r>
            <a:r>
              <a:rPr lang="en-US" dirty="0"/>
              <a:t> collaborations. </a:t>
            </a:r>
            <a:r>
              <a:rPr lang="en-US" i="1" dirty="0"/>
              <a:t>Organization Science</a:t>
            </a:r>
            <a:r>
              <a:rPr lang="en-US" dirty="0"/>
              <a:t>, (1). Retrieved from http://search.ebscohost.com/login.aspx?direct=true&amp;db=edsbig&amp;AN=edsbig.A365471788&amp;site=eds-live</a:t>
            </a:r>
          </a:p>
          <a:p>
            <a:pPr lvl="0"/>
            <a:endParaRPr lang="en-US" dirty="0" smtClean="0"/>
          </a:p>
          <a:p>
            <a:pPr lvl="0"/>
            <a:r>
              <a:rPr lang="en-US" dirty="0" smtClean="0"/>
              <a:t>Solow</a:t>
            </a:r>
            <a:r>
              <a:rPr lang="en-US" dirty="0"/>
              <a:t>, R. M. (1957). Technical change and the aggregate production function. </a:t>
            </a:r>
            <a:r>
              <a:rPr lang="en-US" i="1" dirty="0"/>
              <a:t>The review of Economics and Statistics, 39</a:t>
            </a:r>
            <a:r>
              <a:rPr lang="en-US" dirty="0"/>
              <a:t>(3), 312-320. </a:t>
            </a:r>
            <a:endParaRPr lang="en-US" dirty="0" smtClean="0">
              <a:solidFill>
                <a:prstClr val="black"/>
              </a:solidFill>
            </a:endParaRPr>
          </a:p>
        </p:txBody>
      </p:sp>
    </p:spTree>
    <p:extLst>
      <p:ext uri="{BB962C8B-B14F-4D97-AF65-F5344CB8AC3E}">
        <p14:creationId xmlns:p14="http://schemas.microsoft.com/office/powerpoint/2010/main" val="413186811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p>
          <a:p>
            <a:pPr lvl="0"/>
            <a:endParaRPr lang="en-US" dirty="0" smtClean="0">
              <a:solidFill>
                <a:prstClr val="black"/>
              </a:solidFill>
            </a:endParaRPr>
          </a:p>
          <a:p>
            <a:pPr lvl="0"/>
            <a:r>
              <a:rPr lang="en-US" dirty="0" err="1" smtClean="0"/>
              <a:t>Jianling</a:t>
            </a:r>
            <a:r>
              <a:rPr lang="en-US" dirty="0" smtClean="0"/>
              <a:t> </a:t>
            </a:r>
            <a:r>
              <a:rPr lang="en-US" dirty="0"/>
              <a:t>Wang, </a:t>
            </a:r>
            <a:r>
              <a:rPr lang="en-US" dirty="0" err="1"/>
              <a:t>Eltayyar</a:t>
            </a:r>
            <a:r>
              <a:rPr lang="en-US" dirty="0"/>
              <a:t>, M. E. S. S., </a:t>
            </a:r>
            <a:r>
              <a:rPr lang="en-US" dirty="0" err="1"/>
              <a:t>Junyan</a:t>
            </a:r>
            <a:r>
              <a:rPr lang="en-US" dirty="0"/>
              <a:t> Wu, &amp; Lei Xiang. (2016). The Grey Correlation Analysis between Technology Readiness Level and Performance in Civil Aircraft. </a:t>
            </a:r>
            <a:r>
              <a:rPr lang="en-US" i="1" dirty="0"/>
              <a:t>Journal of Grey System</a:t>
            </a:r>
            <a:r>
              <a:rPr lang="en-US" dirty="0"/>
              <a:t>, </a:t>
            </a:r>
            <a:r>
              <a:rPr lang="en-US" i="1" dirty="0"/>
              <a:t>28</a:t>
            </a:r>
            <a:r>
              <a:rPr lang="en-US" dirty="0"/>
              <a:t>(1), 109–117. Retrieved from http://</a:t>
            </a:r>
            <a:r>
              <a:rPr lang="en-US" dirty="0" smtClean="0"/>
              <a:t>search.ebscohost.com/login.aspx?direct=true&amp;db=a9h&amp;AN=112989107&amp;site=eds-live</a:t>
            </a:r>
            <a:endParaRPr lang="en-US" dirty="0" smtClean="0">
              <a:solidFill>
                <a:prstClr val="black"/>
              </a:solidFill>
            </a:endParaRPr>
          </a:p>
        </p:txBody>
      </p:sp>
    </p:spTree>
    <p:extLst>
      <p:ext uri="{BB962C8B-B14F-4D97-AF65-F5344CB8AC3E}">
        <p14:creationId xmlns:p14="http://schemas.microsoft.com/office/powerpoint/2010/main" val="941616588"/>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1656</TotalTime>
  <Words>3103</Words>
  <Application>Microsoft Office PowerPoint</Application>
  <PresentationFormat>On-screen Show (16:10)</PresentationFormat>
  <Paragraphs>490</Paragraphs>
  <Slides>48</Slides>
  <Notes>17</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48</vt:i4>
      </vt:variant>
    </vt:vector>
  </HeadingPairs>
  <TitlesOfParts>
    <vt:vector size="50"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310</cp:revision>
  <cp:lastPrinted>2018-11-28T15:13:03Z</cp:lastPrinted>
  <dcterms:created xsi:type="dcterms:W3CDTF">2018-11-26T20:29:52Z</dcterms:created>
  <dcterms:modified xsi:type="dcterms:W3CDTF">2019-04-16T19:57:59Z</dcterms:modified>
</cp:coreProperties>
</file>