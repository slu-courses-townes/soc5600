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handoutMasterIdLst>
    <p:handoutMasterId r:id="rId51"/>
  </p:handoutMasterIdLst>
  <p:sldIdLst>
    <p:sldId id="256" r:id="rId2"/>
    <p:sldId id="294" r:id="rId3"/>
    <p:sldId id="298" r:id="rId4"/>
    <p:sldId id="274" r:id="rId5"/>
    <p:sldId id="280" r:id="rId6"/>
    <p:sldId id="260" r:id="rId7"/>
    <p:sldId id="311" r:id="rId8"/>
    <p:sldId id="299" r:id="rId9"/>
    <p:sldId id="300" r:id="rId10"/>
    <p:sldId id="285" r:id="rId11"/>
    <p:sldId id="320" r:id="rId12"/>
    <p:sldId id="301" r:id="rId13"/>
    <p:sldId id="322" r:id="rId14"/>
    <p:sldId id="273" r:id="rId15"/>
    <p:sldId id="290" r:id="rId16"/>
    <p:sldId id="293" r:id="rId17"/>
    <p:sldId id="318" r:id="rId18"/>
    <p:sldId id="291" r:id="rId19"/>
    <p:sldId id="292" r:id="rId20"/>
    <p:sldId id="302" r:id="rId21"/>
    <p:sldId id="309" r:id="rId22"/>
    <p:sldId id="310" r:id="rId23"/>
    <p:sldId id="303" r:id="rId24"/>
    <p:sldId id="304" r:id="rId25"/>
    <p:sldId id="305" r:id="rId26"/>
    <p:sldId id="297" r:id="rId27"/>
    <p:sldId id="313" r:id="rId28"/>
    <p:sldId id="319" r:id="rId29"/>
    <p:sldId id="307" r:id="rId30"/>
    <p:sldId id="315" r:id="rId31"/>
    <p:sldId id="316" r:id="rId32"/>
    <p:sldId id="314" r:id="rId33"/>
    <p:sldId id="317" r:id="rId34"/>
    <p:sldId id="272" r:id="rId35"/>
    <p:sldId id="264" r:id="rId36"/>
    <p:sldId id="275" r:id="rId37"/>
    <p:sldId id="306" r:id="rId38"/>
    <p:sldId id="325" r:id="rId39"/>
    <p:sldId id="324" r:id="rId40"/>
    <p:sldId id="308" r:id="rId41"/>
    <p:sldId id="281" r:id="rId42"/>
    <p:sldId id="288" r:id="rId43"/>
    <p:sldId id="296" r:id="rId44"/>
    <p:sldId id="282" r:id="rId45"/>
    <p:sldId id="295" r:id="rId46"/>
    <p:sldId id="312" r:id="rId47"/>
    <p:sldId id="321" r:id="rId48"/>
    <p:sldId id="323" r:id="rId49"/>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p:scale>
          <a:sx n="130" d="100"/>
          <a:sy n="130" d="100"/>
        </p:scale>
        <p:origin x="-438" y="-126"/>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smtClean="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smtClean="0"/>
            <a:t>Dai, Popp &amp; </a:t>
          </a:r>
          <a:r>
            <a:rPr lang="en-US" sz="1400" dirty="0" err="1" smtClean="0"/>
            <a:t>Bretschneider</a:t>
          </a:r>
          <a:r>
            <a:rPr lang="en-US" sz="1400" dirty="0" smtClean="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smtClean="0"/>
            <a:t>Mostly focused on the Bayh-Dole Act of 1980 and the SBIR program.</a:t>
          </a:r>
        </a:p>
        <a:p>
          <a:r>
            <a:rPr lang="en-US" sz="1800" dirty="0" smtClean="0"/>
            <a:t>Many evaluation studies of the SBIR program.</a:t>
          </a:r>
        </a:p>
        <a:p>
          <a:r>
            <a:rPr lang="en-US" sz="1800" dirty="0" smtClean="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smtClean="0"/>
            <a:t>Few recent studies on policy.</a:t>
          </a:r>
          <a:endParaRPr lang="en-US" sz="1800" dirty="0"/>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smtClean="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smtClean="0"/>
            <a:t>Joshi, Inouye &amp; Robinson (</a:t>
          </a:r>
          <a:r>
            <a:rPr lang="en-US" sz="1400" dirty="0" err="1" smtClean="0"/>
            <a:t>n.d.</a:t>
          </a:r>
          <a:r>
            <a:rPr lang="en-US" sz="1400" dirty="0" smtClean="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smtClean="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smtClean="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smtClean="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smtClean="0"/>
            <a:t>Hemel</a:t>
          </a:r>
          <a:r>
            <a:rPr lang="en-US" sz="1400" dirty="0" smtClean="0"/>
            <a:t>, </a:t>
          </a:r>
          <a:r>
            <a:rPr lang="en-US" sz="1400" dirty="0" err="1" smtClean="0"/>
            <a:t>Ouellett</a:t>
          </a:r>
          <a:r>
            <a:rPr lang="en-US" sz="1400" dirty="0" smtClean="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Patent rights to an invention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explicitly defined.</a:t>
          </a:r>
        </a:p>
        <a:p>
          <a:r>
            <a:rPr lang="en-US" sz="1800" dirty="0" smtClean="0"/>
            <a:t>No universal definition.</a:t>
          </a:r>
        </a:p>
        <a:p>
          <a:r>
            <a:rPr lang="en-US" sz="1800" dirty="0" smtClean="0"/>
            <a:t>Not all technology is patentable.</a:t>
          </a:r>
        </a:p>
        <a:p>
          <a:r>
            <a:rPr lang="en-US" sz="1800" dirty="0" smtClean="0"/>
            <a:t>Academic knowledge and technology are not synonymous.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smtClean="0"/>
            <a:t>Markman</a:t>
          </a:r>
          <a:r>
            <a:rPr lang="en-US" sz="1400" dirty="0" smtClean="0"/>
            <a:t>, </a:t>
          </a:r>
          <a:r>
            <a:rPr lang="en-US" sz="1400" dirty="0" err="1" smtClean="0"/>
            <a:t>Gianiodis</a:t>
          </a:r>
          <a:r>
            <a:rPr lang="en-US" sz="1400" dirty="0" smtClean="0"/>
            <a:t> &amp; Phan (2009)</a:t>
          </a:r>
          <a:endParaRPr lang="en-US" sz="1400" dirty="0"/>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smtClean="0"/>
            <a:t>Academic knowledge</a:t>
          </a:r>
          <a:endParaRPr lang="en-US" sz="1800" dirty="0"/>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Licensing, new venture formation, research collaborations, faculty consulting</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explicitly defined.</a:t>
          </a:r>
        </a:p>
        <a:p>
          <a:r>
            <a:rPr lang="en-US" sz="1800" dirty="0" smtClean="0"/>
            <a:t>No universal definition.</a:t>
          </a:r>
        </a:p>
        <a:p>
          <a:r>
            <a:rPr lang="en-US" sz="1800" dirty="0" smtClean="0"/>
            <a:t>Conflates the concept of technology transfer with the mechanisms for achieving it.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smtClean="0"/>
            <a:t>Hallam, Wurth &amp; Mancha (2014)</a:t>
          </a:r>
          <a:endParaRPr lang="en-US" sz="1400" dirty="0"/>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smtClean="0"/>
            <a:t>Markman</a:t>
          </a:r>
          <a:r>
            <a:rPr lang="en-US" sz="1400" dirty="0" smtClean="0"/>
            <a:t>, </a:t>
          </a:r>
          <a:r>
            <a:rPr lang="en-US" sz="1400" dirty="0" err="1" smtClean="0"/>
            <a:t>Gianiodis</a:t>
          </a:r>
          <a:r>
            <a:rPr lang="en-US" sz="1400" dirty="0" smtClean="0"/>
            <a:t> &amp; Phan (2009)</a:t>
          </a:r>
          <a:endParaRPr lang="en-US" sz="1400" dirty="0"/>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Executed patent license, established new business entity, executed sponsored research agreement</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A patent license is often a requirement for forming a university spinout company.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smtClean="0"/>
            <a:t>Sponsored research may not be related to technology previously developed at the university.</a:t>
          </a:r>
        </a:p>
        <a:p>
          <a:r>
            <a:rPr lang="en-US" sz="1800" dirty="0" smtClean="0"/>
            <a:t>Don’t accommodate instances that are not transactional in nature.</a:t>
          </a:r>
          <a:endParaRPr lang="en-US" sz="1800" dirty="0"/>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smtClean="0"/>
            <a:t>Markman</a:t>
          </a:r>
          <a:r>
            <a:rPr lang="en-US" sz="1400" dirty="0" smtClean="0"/>
            <a:t>, </a:t>
          </a:r>
          <a:r>
            <a:rPr lang="en-US" sz="1400" dirty="0" err="1" smtClean="0"/>
            <a:t>Gioniodis</a:t>
          </a:r>
          <a:r>
            <a:rPr lang="en-US" sz="1400" dirty="0" smtClean="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smtClean="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Studies have mostly focused on factors exogenous to the research and development process.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smtClean="0"/>
            <a:t>Markman</a:t>
          </a:r>
          <a:r>
            <a:rPr lang="en-US" sz="1400" dirty="0" smtClean="0"/>
            <a:t>, </a:t>
          </a:r>
          <a:r>
            <a:rPr lang="en-US" sz="1400" dirty="0" err="1" smtClean="0"/>
            <a:t>Gioniodis</a:t>
          </a:r>
          <a:r>
            <a:rPr lang="en-US" sz="1400" dirty="0" smtClean="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smtClean="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Few studies that consider development stage as an independent variable.</a:t>
          </a:r>
        </a:p>
        <a:p>
          <a:r>
            <a:rPr lang="en-US" sz="1800" dirty="0" smtClean="0"/>
            <a:t>Studies have investigated specific geographic factors such as venture capital</a:t>
          </a:r>
        </a:p>
        <a:p>
          <a:r>
            <a:rPr lang="en-US" sz="1800" dirty="0" smtClean="0"/>
            <a:t>Studies have explored  the association between cities and innovation.</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smtClean="0"/>
            <a:t>Association between cities and innovation</a:t>
          </a:r>
          <a:endParaRPr lang="en-US" sz="1800" dirty="0"/>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smtClean="0"/>
            <a:t>Florida, Alder &amp; </a:t>
          </a:r>
          <a:r>
            <a:rPr lang="en-US" sz="1400" dirty="0" err="1" smtClean="0"/>
            <a:t>Mellander</a:t>
          </a:r>
          <a:r>
            <a:rPr lang="en-US" sz="1400" dirty="0" smtClean="0"/>
            <a:t> (2017)</a:t>
          </a:r>
          <a:endParaRPr lang="en-US" sz="1400" dirty="0"/>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smtClean="0"/>
            <a:t>Florida &amp; </a:t>
          </a:r>
          <a:r>
            <a:rPr lang="en-US" sz="1400" dirty="0" err="1" smtClean="0"/>
            <a:t>Lellander</a:t>
          </a:r>
          <a:r>
            <a:rPr lang="en-US" sz="1400" dirty="0" smtClean="0"/>
            <a:t> (2016)</a:t>
          </a:r>
          <a:endParaRPr lang="en-US" sz="1400" dirty="0"/>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smtClean="0"/>
            <a:t>Reuer</a:t>
          </a:r>
          <a:r>
            <a:rPr lang="en-US" sz="1400" dirty="0" smtClean="0"/>
            <a:t> &amp; </a:t>
          </a:r>
          <a:r>
            <a:rPr lang="en-US" sz="1400" dirty="0" err="1" smtClean="0"/>
            <a:t>Lahiri</a:t>
          </a:r>
          <a:r>
            <a:rPr lang="en-US" sz="1400" dirty="0" smtClean="0"/>
            <a:t> (2014)</a:t>
          </a:r>
          <a:endParaRPr lang="en-US" sz="1400" dirty="0"/>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smtClean="0"/>
            <a:t>Geographic considerations</a:t>
          </a:r>
          <a:endParaRPr lang="en-US" sz="1800" dirty="0"/>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smtClean="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simple1" qsCatId="simple" csTypeId="urn:microsoft.com/office/officeart/2005/8/colors/colorful5"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Regression analyses</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t>
        <a:bodyPr/>
        <a:lstStyle/>
        <a:p>
          <a:endParaRPr lang="en-US"/>
        </a:p>
      </dgm:t>
    </dgm:pt>
    <dgm:pt modelId="{943BE74F-1EDA-4FD9-9D78-4015F7B7F494}" type="pres">
      <dgm:prSet presAssocID="{000E87EB-6BC1-4467-8911-3A6D4307DC52}" presName="noGeometry" presStyleCnt="0"/>
      <dgm:spPr/>
      <dgm:t>
        <a:bodyPr/>
        <a:lstStyle/>
        <a:p>
          <a:endParaRPr lang="en-US"/>
        </a:p>
      </dgm:t>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t>
        <a:bodyPr/>
        <a:lstStyle/>
        <a:p>
          <a:endParaRPr lang="en-US"/>
        </a:p>
      </dgm:t>
    </dgm:pt>
    <dgm:pt modelId="{80B7E9A7-6843-447F-8AA5-519F4C5B44D1}" type="pres">
      <dgm:prSet presAssocID="{D299AA71-1BEF-44A0-AF96-5BEF7421E37A}" presName="compNode" presStyleCnt="0"/>
      <dgm:spPr/>
      <dgm:t>
        <a:bodyPr/>
        <a:lstStyle/>
        <a:p>
          <a:endParaRPr lang="en-US"/>
        </a:p>
      </dgm:t>
    </dgm:pt>
    <dgm:pt modelId="{1DCB60A7-274A-480C-A23B-AC5D76C24606}" type="pres">
      <dgm:prSet presAssocID="{D299AA71-1BEF-44A0-AF96-5BEF7421E37A}" presName="noGeometry" presStyleCnt="0"/>
      <dgm:spPr/>
      <dgm:t>
        <a:bodyPr/>
        <a:lstStyle/>
        <a:p>
          <a:endParaRPr lang="en-US"/>
        </a:p>
      </dgm:t>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t>
        <a:bodyPr/>
        <a:lstStyle/>
        <a:p>
          <a:endParaRPr lang="en-US"/>
        </a:p>
      </dgm:t>
    </dgm:pt>
    <dgm:pt modelId="{3CFA8F38-D795-4145-8454-76B04FF505EF}" type="pres">
      <dgm:prSet presAssocID="{DAD13305-C33C-4D5D-8E70-FA8D16F7D6E7}" presName="compNode" presStyleCnt="0"/>
      <dgm:spPr/>
      <dgm:t>
        <a:bodyPr/>
        <a:lstStyle/>
        <a:p>
          <a:endParaRPr lang="en-US"/>
        </a:p>
      </dgm:t>
    </dgm:pt>
    <dgm:pt modelId="{7ED1D09B-3D6E-429F-B238-55746FCC46D5}" type="pres">
      <dgm:prSet presAssocID="{DAD13305-C33C-4D5D-8E70-FA8D16F7D6E7}" presName="noGeometry" presStyleCnt="0"/>
      <dgm:spPr/>
      <dgm:t>
        <a:bodyPr/>
        <a:lstStyle/>
        <a:p>
          <a:endParaRPr lang="en-US"/>
        </a:p>
      </dgm:t>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732D3501-A355-4810-88FA-925004F762BE}" srcId="{1D821791-7814-455A-9399-EDDBA6237C3A}" destId="{000E87EB-6BC1-4467-8911-3A6D4307DC52}" srcOrd="0" destOrd="0" parTransId="{3D21AF0B-E8B7-4657-B29B-FBDA3FC0E89D}" sibTransId="{B2C799AB-29BE-4ECA-B81A-3E5512C86A1C}"/>
    <dgm:cxn modelId="{635620E7-9896-499B-901B-79342BB036E6}" srcId="{1D821791-7814-455A-9399-EDDBA6237C3A}" destId="{D299AA71-1BEF-44A0-AF96-5BEF7421E37A}" srcOrd="1" destOrd="0" parTransId="{7473B43F-9657-45AB-95F6-883C898FD0BD}" sibTransId="{34CE16CB-D278-4EDD-9B9E-8516387F3D42}"/>
    <dgm:cxn modelId="{8B7AF42C-D02F-468C-8259-9CAC7295960F}" type="presOf" srcId="{1D821791-7814-455A-9399-EDDBA6237C3A}" destId="{712DED06-2F47-4A50-B22C-7F91F1296605}"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ED1AFEC0-0858-44B2-91D2-88C6166BA726}" type="presOf" srcId="{52206868-3460-4CAE-B5C9-26C67358723C}" destId="{49908BEB-6F47-45A2-8B4B-490BBC29E29A}" srcOrd="1"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CA3902FC-7CC5-4AEE-B3C3-AA06AC8EBD00}" type="presOf" srcId="{5755E862-5F30-47F4-BE53-0D0D635BC754}" destId="{661E9B89-062D-4CF5-BDE6-95F3A25DA3F7}" srcOrd="1" destOrd="0"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FB2F7463-3294-4EE1-9311-73BCBB21ED0A}" type="presOf" srcId="{5755E862-5F30-47F4-BE53-0D0D635BC754}" destId="{C7B07B6A-2913-4481-A94E-4F0876271F1C}" srcOrd="0" destOrd="0" presId="urn:microsoft.com/office/officeart/2005/8/layout/hProcess6"/>
    <dgm:cxn modelId="{EB4FC363-D95D-4D05-BF9A-8EDD91F98E01}" type="presOf" srcId="{52206868-3460-4CAE-B5C9-26C67358723C}" destId="{CF065CDD-DFD7-4D33-9DBE-0AD4241E5EB9}" srcOrd="0" destOrd="0" presId="urn:microsoft.com/office/officeart/2005/8/layout/hProcess6"/>
    <dgm:cxn modelId="{6197A7CE-367B-4E60-AE38-2C1A0C287CAE}" type="presOf" srcId="{F6C3F25A-41C4-4A47-9E66-774E1516154B}" destId="{C7B07B6A-2913-4481-A94E-4F0876271F1C}" srcOrd="0" destOrd="1"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362BDEBC-B5FE-4F3A-993A-4856B29172C3}" srcId="{DAD13305-C33C-4D5D-8E70-FA8D16F7D6E7}" destId="{27E0F1EB-E191-4957-A96C-74E644B233D2}" srcOrd="0" destOrd="0" parTransId="{060AD8E2-FB38-4136-87CF-9997C41B9785}" sibTransId="{E9D2AB2E-23B4-4871-B87D-9DAF9AC1EBCD}"/>
    <dgm:cxn modelId="{FA0CA7A2-FAB4-4C7D-A76B-1C39674AAF9A}" type="presOf" srcId="{4D8913DF-90C6-421D-BEAA-AE7CC581B4C5}" destId="{49908BEB-6F47-45A2-8B4B-490BBC29E29A}" srcOrd="1" destOrd="1"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CA049A63-684E-4D92-BF5C-DFDDC4D5F6CA}" type="presOf" srcId="{4D8913DF-90C6-421D-BEAA-AE7CC581B4C5}" destId="{CF065CDD-DFD7-4D33-9DBE-0AD4241E5EB9}" srcOrd="0"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FA71FCB1-B573-4FB5-B3B6-57D3F32E4D1F}" srcId="{D299AA71-1BEF-44A0-AF96-5BEF7421E37A}" destId="{F6C3F25A-41C4-4A47-9E66-774E1516154B}" srcOrd="1" destOrd="0" parTransId="{43B2CA58-0A31-4CC4-A311-9DEE4460CA23}" sibTransId="{A1974F1B-6B2B-4DA2-A7C4-A54C625FE935}"/>
    <dgm:cxn modelId="{F620DB35-B0F2-47D2-B395-7F1AB80C23E3}" type="presOf" srcId="{EECED6DC-7595-4B84-BF9E-4F3A80443BF1}" destId="{762703CE-4815-4B8A-B298-2820EF25E80C}" srcOrd="0" destOrd="1"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incapable tasks or reduce the units of input per units of output needed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an actor that controls a technology  enables others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(MSA) with a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 of MSAs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MSA that meets the study requirements.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p>
        <a:p>
          <a:r>
            <a:rPr lang="en-US" sz="1800" dirty="0" smtClean="0"/>
            <a:t>Disallowed U.S. patent applications</a:t>
          </a:r>
        </a:p>
        <a:p>
          <a:r>
            <a:rPr lang="en-US" sz="1800" dirty="0" smtClean="0"/>
            <a:t>Published peer-reviewed journal articles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document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The effects of the Bayh-Dole Act of 1980</a:t>
          </a:r>
        </a:p>
        <a:p>
          <a:pPr marL="114300" lvl="1" indent="-114300" algn="l" defTabSz="622300">
            <a:lnSpc>
              <a:spcPct val="90000"/>
            </a:lnSpc>
            <a:spcBef>
              <a:spcPct val="0"/>
            </a:spcBef>
            <a:spcAft>
              <a:spcPct val="15000"/>
            </a:spcAft>
            <a:buChar char="••"/>
          </a:pPr>
          <a:r>
            <a:rPr lang="en-US" sz="1400" kern="1200" dirty="0" smtClean="0"/>
            <a:t>Dai, Popp &amp; </a:t>
          </a:r>
          <a:r>
            <a:rPr lang="en-US" sz="1400" kern="1200" dirty="0" err="1" smtClean="0"/>
            <a:t>Bretschneider</a:t>
          </a:r>
          <a:r>
            <a:rPr lang="en-US" sz="1400" kern="1200" dirty="0" smtClean="0"/>
            <a:t> (2005)</a:t>
          </a:r>
        </a:p>
        <a:p>
          <a:pPr lvl="0" algn="l" defTabSz="800100">
            <a:lnSpc>
              <a:spcPct val="90000"/>
            </a:lnSpc>
            <a:spcBef>
              <a:spcPct val="0"/>
            </a:spcBef>
            <a:spcAft>
              <a:spcPts val="0"/>
            </a:spcAft>
          </a:pPr>
          <a:r>
            <a:rPr lang="en-US" sz="1800" kern="1200" dirty="0" smtClean="0"/>
            <a:t>Studies of the SBIR program</a:t>
          </a:r>
        </a:p>
        <a:p>
          <a:pPr marL="114300" lvl="1" indent="-114300" algn="l" defTabSz="622300">
            <a:lnSpc>
              <a:spcPct val="90000"/>
            </a:lnSpc>
            <a:spcBef>
              <a:spcPct val="0"/>
            </a:spcBef>
            <a:spcAft>
              <a:spcPct val="15000"/>
            </a:spcAft>
            <a:buChar char="••"/>
          </a:pPr>
          <a:r>
            <a:rPr lang="en-US" sz="1400" kern="1200" dirty="0" smtClean="0"/>
            <a:t>Andersen, Bray &amp; Link (2017)</a:t>
          </a:r>
        </a:p>
        <a:p>
          <a:pPr marL="114300" lvl="1" indent="-114300" algn="l" defTabSz="622300">
            <a:lnSpc>
              <a:spcPct val="90000"/>
            </a:lnSpc>
            <a:spcBef>
              <a:spcPct val="0"/>
            </a:spcBef>
            <a:spcAft>
              <a:spcPct val="15000"/>
            </a:spcAft>
            <a:buChar char="••"/>
          </a:pPr>
          <a:r>
            <a:rPr lang="en-US" sz="1400" kern="1200" dirty="0" smtClean="0"/>
            <a:t>Joshi, Inouye &amp; Robinson (</a:t>
          </a:r>
          <a:r>
            <a:rPr lang="en-US" sz="1400" kern="1200" dirty="0" err="1" smtClean="0"/>
            <a:t>n.d.</a:t>
          </a:r>
          <a:r>
            <a:rPr lang="en-US" sz="1400" kern="1200" dirty="0" smtClean="0"/>
            <a:t>)</a:t>
          </a:r>
        </a:p>
        <a:p>
          <a:pPr marL="114300" lvl="1" indent="-114300" algn="l" defTabSz="622300">
            <a:lnSpc>
              <a:spcPct val="90000"/>
            </a:lnSpc>
            <a:spcBef>
              <a:spcPct val="0"/>
            </a:spcBef>
            <a:spcAft>
              <a:spcPct val="15000"/>
            </a:spcAft>
            <a:buChar char="••"/>
          </a:pPr>
          <a:r>
            <a:rPr lang="en-US" sz="1400" kern="1200" dirty="0" smtClean="0"/>
            <a:t>Link &amp; Scott (2010)</a:t>
          </a:r>
        </a:p>
        <a:p>
          <a:pPr lvl="0" algn="l" defTabSz="800100">
            <a:lnSpc>
              <a:spcPct val="90000"/>
            </a:lnSpc>
            <a:spcBef>
              <a:spcPct val="0"/>
            </a:spcBef>
            <a:spcAft>
              <a:spcPts val="0"/>
            </a:spcAft>
          </a:pPr>
          <a:r>
            <a:rPr lang="en-US" sz="1800" kern="1200" dirty="0" smtClean="0"/>
            <a:t>Innovation Policy</a:t>
          </a:r>
        </a:p>
        <a:p>
          <a:pPr marL="114300" lvl="1" indent="-114300" algn="l" defTabSz="622300">
            <a:lnSpc>
              <a:spcPct val="90000"/>
            </a:lnSpc>
            <a:spcBef>
              <a:spcPct val="0"/>
            </a:spcBef>
            <a:spcAft>
              <a:spcPct val="15000"/>
            </a:spcAft>
            <a:buChar char="••"/>
          </a:pPr>
          <a:r>
            <a:rPr lang="en-US" sz="1400" kern="1200" dirty="0" err="1" smtClean="0"/>
            <a:t>Hemel</a:t>
          </a:r>
          <a:r>
            <a:rPr lang="en-US" sz="1400" kern="1200" dirty="0" smtClean="0"/>
            <a:t>, </a:t>
          </a:r>
          <a:r>
            <a:rPr lang="en-US" sz="1400" kern="1200" dirty="0" err="1" smtClean="0"/>
            <a:t>Ouellett</a:t>
          </a:r>
          <a:r>
            <a:rPr lang="en-US" sz="1400" kern="1200" dirty="0" smtClean="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recent studies on policy.</a:t>
          </a:r>
          <a:endParaRPr lang="en-US" sz="1800" kern="1200" dirty="0"/>
        </a:p>
        <a:p>
          <a:pPr lvl="0" algn="l" defTabSz="800100">
            <a:lnSpc>
              <a:spcPct val="90000"/>
            </a:lnSpc>
            <a:spcBef>
              <a:spcPct val="0"/>
            </a:spcBef>
            <a:spcAft>
              <a:spcPct val="35000"/>
            </a:spcAft>
          </a:pPr>
          <a:r>
            <a:rPr lang="en-US" sz="1800" kern="1200" dirty="0" smtClean="0"/>
            <a:t>Mostly focused on the Bayh-Dole Act of 1980 and the SBIR program.</a:t>
          </a:r>
        </a:p>
        <a:p>
          <a:pPr lvl="0" algn="l" defTabSz="800100">
            <a:lnSpc>
              <a:spcPct val="90000"/>
            </a:lnSpc>
            <a:spcBef>
              <a:spcPct val="0"/>
            </a:spcBef>
            <a:spcAft>
              <a:spcPct val="35000"/>
            </a:spcAft>
          </a:pPr>
          <a:r>
            <a:rPr lang="en-US" sz="1800" kern="1200" dirty="0" smtClean="0"/>
            <a:t>Many evaluation studies of the SBIR program.</a:t>
          </a:r>
        </a:p>
        <a:p>
          <a:pPr lvl="0" algn="l" defTabSz="800100">
            <a:lnSpc>
              <a:spcPct val="90000"/>
            </a:lnSpc>
            <a:spcBef>
              <a:spcPct val="0"/>
            </a:spcBef>
            <a:spcAft>
              <a:spcPct val="35000"/>
            </a:spcAft>
          </a:pPr>
          <a:r>
            <a:rPr lang="en-US" sz="1800" kern="1200" dirty="0" smtClean="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a:t>
          </a:r>
          <a:endParaRPr lang="en-US" sz="3600" kern="1200" dirty="0"/>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Patent rights to an invention</a:t>
          </a:r>
          <a:endParaRPr lang="en-US" sz="18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(2009)</a:t>
          </a:r>
          <a:endParaRPr lang="en-US" sz="1400" kern="1200" dirty="0"/>
        </a:p>
        <a:p>
          <a:pPr lvl="0" algn="l" defTabSz="800100">
            <a:lnSpc>
              <a:spcPct val="90000"/>
            </a:lnSpc>
            <a:spcBef>
              <a:spcPct val="0"/>
            </a:spcBef>
            <a:spcAft>
              <a:spcPts val="0"/>
            </a:spcAft>
          </a:pPr>
          <a:r>
            <a:rPr lang="en-US" sz="1800" kern="1200" dirty="0" smtClean="0"/>
            <a:t>Academic knowledge</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explicitly defined.</a:t>
          </a:r>
        </a:p>
        <a:p>
          <a:pPr lvl="0" algn="l" defTabSz="800100">
            <a:lnSpc>
              <a:spcPct val="90000"/>
            </a:lnSpc>
            <a:spcBef>
              <a:spcPct val="0"/>
            </a:spcBef>
            <a:spcAft>
              <a:spcPct val="35000"/>
            </a:spcAft>
          </a:pPr>
          <a:r>
            <a:rPr lang="en-US" sz="1800" kern="1200" dirty="0" smtClean="0"/>
            <a:t>No universal definition.</a:t>
          </a:r>
        </a:p>
        <a:p>
          <a:pPr lvl="0" algn="l" defTabSz="800100">
            <a:lnSpc>
              <a:spcPct val="90000"/>
            </a:lnSpc>
            <a:spcBef>
              <a:spcPct val="0"/>
            </a:spcBef>
            <a:spcAft>
              <a:spcPct val="35000"/>
            </a:spcAft>
          </a:pPr>
          <a:r>
            <a:rPr lang="en-US" sz="1800" kern="1200" dirty="0" smtClean="0"/>
            <a:t>Not all technology is patentable.</a:t>
          </a:r>
        </a:p>
        <a:p>
          <a:pPr lvl="0" algn="l" defTabSz="800100">
            <a:lnSpc>
              <a:spcPct val="90000"/>
            </a:lnSpc>
            <a:spcBef>
              <a:spcPct val="0"/>
            </a:spcBef>
            <a:spcAft>
              <a:spcPct val="35000"/>
            </a:spcAft>
          </a:pPr>
          <a:r>
            <a:rPr lang="en-US" sz="1800" kern="1200" dirty="0" smtClean="0"/>
            <a:t>Academic knowledge and technology are not synonymous.</a:t>
          </a: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Licensing, new venture formation, research collaborations, faculty consulting</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smtClean="0"/>
            <a:t>Hallam, Wurth &amp; Mancha (2014)</a:t>
          </a:r>
          <a:endParaRPr lang="en-US" sz="14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(2009)</a:t>
          </a:r>
          <a:endParaRPr lang="en-US" sz="1400" kern="1200" dirty="0"/>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explicitly defined.</a:t>
          </a:r>
        </a:p>
        <a:p>
          <a:pPr lvl="0" algn="l" defTabSz="800100">
            <a:lnSpc>
              <a:spcPct val="90000"/>
            </a:lnSpc>
            <a:spcBef>
              <a:spcPct val="0"/>
            </a:spcBef>
            <a:spcAft>
              <a:spcPct val="35000"/>
            </a:spcAft>
          </a:pPr>
          <a:r>
            <a:rPr lang="en-US" sz="1800" kern="1200" dirty="0" smtClean="0"/>
            <a:t>No universal definition.</a:t>
          </a:r>
        </a:p>
        <a:p>
          <a:pPr lvl="0" algn="l" defTabSz="800100">
            <a:lnSpc>
              <a:spcPct val="90000"/>
            </a:lnSpc>
            <a:spcBef>
              <a:spcPct val="0"/>
            </a:spcBef>
            <a:spcAft>
              <a:spcPct val="35000"/>
            </a:spcAft>
          </a:pPr>
          <a:r>
            <a:rPr lang="en-US" sz="1800" kern="1200" dirty="0" smtClean="0"/>
            <a:t>Conflates the concept of technology transfer with the mechanisms for achieving it.</a:t>
          </a:r>
          <a:endParaRPr lang="en-US" sz="1800" kern="1200" dirty="0"/>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Executed patent license, established new business entity, executed sponsored research agreement</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a:p>
          <a:pPr marL="114300" lvl="1" indent="-114300" algn="l" defTabSz="622300">
            <a:lnSpc>
              <a:spcPct val="90000"/>
            </a:lnSpc>
            <a:spcBef>
              <a:spcPct val="0"/>
            </a:spcBef>
            <a:spcAft>
              <a:spcPct val="15000"/>
            </a:spcAft>
            <a:buChar char="••"/>
          </a:pPr>
          <a:r>
            <a:rPr lang="en-US" sz="1400" kern="1200" dirty="0" smtClean="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patent license is often a requirement for forming a university spinout company.</a:t>
          </a:r>
          <a:endParaRPr lang="en-US" sz="1800" kern="1200" dirty="0"/>
        </a:p>
        <a:p>
          <a:pPr lvl="0" algn="l" defTabSz="800100">
            <a:lnSpc>
              <a:spcPct val="90000"/>
            </a:lnSpc>
            <a:spcBef>
              <a:spcPct val="0"/>
            </a:spcBef>
            <a:spcAft>
              <a:spcPct val="35000"/>
            </a:spcAft>
          </a:pPr>
          <a:r>
            <a:rPr lang="en-US" sz="1800" kern="1200" dirty="0" smtClean="0"/>
            <a:t>Sponsored research may not be related to technology previously developed at the university.</a:t>
          </a:r>
        </a:p>
        <a:p>
          <a:pPr lvl="0" algn="l" defTabSz="800100">
            <a:lnSpc>
              <a:spcPct val="90000"/>
            </a:lnSpc>
            <a:spcBef>
              <a:spcPct val="0"/>
            </a:spcBef>
            <a:spcAft>
              <a:spcPct val="35000"/>
            </a:spcAft>
          </a:pPr>
          <a:r>
            <a:rPr lang="en-US" sz="1800" kern="1200" dirty="0" smtClean="0"/>
            <a:t>Don’t accommodate instances that are not transactional in nature.</a:t>
          </a:r>
          <a:endParaRPr lang="en-US" sz="1800" kern="1200" dirty="0"/>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Studies have mostly focused on factors exogenous to the research and development process.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Development stage</a:t>
          </a:r>
        </a:p>
        <a:p>
          <a:pPr marL="114300" lvl="1" indent="-114300" algn="l" defTabSz="622300">
            <a:lnSpc>
              <a:spcPct val="90000"/>
            </a:lnSpc>
            <a:spcBef>
              <a:spcPct val="0"/>
            </a:spcBef>
            <a:spcAft>
              <a:spcPct val="15000"/>
            </a:spcAft>
            <a:buChar char="••"/>
          </a:pPr>
          <a:r>
            <a:rPr lang="en-US" sz="1400" kern="1200" dirty="0" smtClean="0"/>
            <a:t>Wang, Mohammed, Wu &amp; Xiang (2016)</a:t>
          </a:r>
        </a:p>
        <a:p>
          <a:pPr lvl="0" algn="l" defTabSz="800100">
            <a:lnSpc>
              <a:spcPct val="90000"/>
            </a:lnSpc>
            <a:spcBef>
              <a:spcPct val="0"/>
            </a:spcBef>
            <a:spcAft>
              <a:spcPts val="0"/>
            </a:spcAft>
          </a:pPr>
          <a:r>
            <a:rPr lang="en-US" sz="1800" kern="1200" dirty="0" smtClean="0"/>
            <a:t>Geographic considerations</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err="1" smtClean="0"/>
            <a:t>Reuer</a:t>
          </a:r>
          <a:r>
            <a:rPr lang="en-US" sz="1400" kern="1200" dirty="0" smtClean="0"/>
            <a:t> &amp; </a:t>
          </a:r>
          <a:r>
            <a:rPr lang="en-US" sz="1400" kern="1200" dirty="0" err="1" smtClean="0"/>
            <a:t>Lahiri</a:t>
          </a:r>
          <a:r>
            <a:rPr lang="en-US" sz="1400" kern="1200" dirty="0" smtClean="0"/>
            <a:t> (2014)</a:t>
          </a:r>
          <a:endParaRPr lang="en-US" sz="1400" kern="1200" dirty="0"/>
        </a:p>
        <a:p>
          <a:pPr lvl="0" algn="l" defTabSz="800100">
            <a:lnSpc>
              <a:spcPct val="90000"/>
            </a:lnSpc>
            <a:spcBef>
              <a:spcPct val="0"/>
            </a:spcBef>
            <a:spcAft>
              <a:spcPts val="0"/>
            </a:spcAft>
          </a:pPr>
          <a:r>
            <a:rPr lang="en-US" sz="1800" kern="1200" dirty="0" smtClean="0"/>
            <a:t>Association between cities and innovation</a:t>
          </a:r>
          <a:endParaRPr lang="en-US" sz="1800" kern="1200" dirty="0"/>
        </a:p>
        <a:p>
          <a:pPr marL="114300" lvl="1" indent="-114300" algn="l" defTabSz="622300">
            <a:lnSpc>
              <a:spcPct val="90000"/>
            </a:lnSpc>
            <a:spcBef>
              <a:spcPct val="0"/>
            </a:spcBef>
            <a:spcAft>
              <a:spcPct val="15000"/>
            </a:spcAft>
            <a:buChar char="••"/>
          </a:pPr>
          <a:r>
            <a:rPr lang="en-US" sz="1400" kern="1200" dirty="0" smtClean="0"/>
            <a:t>Florida, Alder &amp; </a:t>
          </a:r>
          <a:r>
            <a:rPr lang="en-US" sz="1400" kern="1200" dirty="0" err="1" smtClean="0"/>
            <a:t>Mellander</a:t>
          </a:r>
          <a:r>
            <a:rPr lang="en-US" sz="1400" kern="1200" dirty="0" smtClean="0"/>
            <a:t> (2017)</a:t>
          </a:r>
          <a:endParaRPr lang="en-US" sz="1400" kern="1200" dirty="0"/>
        </a:p>
        <a:p>
          <a:pPr marL="114300" lvl="1" indent="-114300" algn="l" defTabSz="622300">
            <a:lnSpc>
              <a:spcPct val="90000"/>
            </a:lnSpc>
            <a:spcBef>
              <a:spcPct val="0"/>
            </a:spcBef>
            <a:spcAft>
              <a:spcPct val="15000"/>
            </a:spcAft>
            <a:buChar char="••"/>
          </a:pPr>
          <a:r>
            <a:rPr lang="en-US" sz="1400" kern="1200" dirty="0" smtClean="0"/>
            <a:t>Florida &amp; </a:t>
          </a:r>
          <a:r>
            <a:rPr lang="en-US" sz="1400" kern="1200" dirty="0" err="1" smtClean="0"/>
            <a:t>Lellander</a:t>
          </a:r>
          <a:r>
            <a:rPr lang="en-US" sz="1400" kern="1200" dirty="0" smtClean="0"/>
            <a:t> (2016)</a:t>
          </a:r>
          <a:endParaRPr lang="en-US" sz="1400" kern="1200" dirty="0"/>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studies that consider development stage as an independent variable.</a:t>
          </a:r>
        </a:p>
        <a:p>
          <a:pPr lvl="0" algn="l" defTabSz="800100">
            <a:lnSpc>
              <a:spcPct val="90000"/>
            </a:lnSpc>
            <a:spcBef>
              <a:spcPct val="0"/>
            </a:spcBef>
            <a:spcAft>
              <a:spcPct val="35000"/>
            </a:spcAft>
          </a:pPr>
          <a:r>
            <a:rPr lang="en-US" sz="1800" kern="1200" dirty="0" smtClean="0"/>
            <a:t>Studies have investigated specific geographic factors such as venture capital</a:t>
          </a:r>
        </a:p>
        <a:p>
          <a:pPr lvl="0" algn="l" defTabSz="800100">
            <a:lnSpc>
              <a:spcPct val="90000"/>
            </a:lnSpc>
            <a:spcBef>
              <a:spcPct val="0"/>
            </a:spcBef>
            <a:spcAft>
              <a:spcPct val="35000"/>
            </a:spcAft>
          </a:pPr>
          <a:r>
            <a:rPr lang="en-US" sz="1800" kern="1200" dirty="0" smtClean="0"/>
            <a:t>Studies have explored  the association between cities and innovation.</a:t>
          </a:r>
          <a:endParaRPr lang="en-US" sz="1800" kern="1200" dirty="0"/>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Regression analyses</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5">
            <a:tint val="40000"/>
            <a:alpha val="90000"/>
            <a:hueOff val="-5370241"/>
            <a:satOff val="24126"/>
            <a:lumOff val="1658"/>
            <a:alphaOff val="0"/>
          </a:schemeClr>
        </a:solidFill>
        <a:ln w="25400" cap="flat" cmpd="sng" algn="ctr">
          <a:solidFill>
            <a:schemeClr val="accent5">
              <a:tint val="40000"/>
              <a:alpha val="90000"/>
              <a:hueOff val="-5370241"/>
              <a:satOff val="24126"/>
              <a:lumOff val="165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5">
            <a:tint val="40000"/>
            <a:alpha val="90000"/>
            <a:hueOff val="-10740482"/>
            <a:satOff val="48253"/>
            <a:lumOff val="3317"/>
            <a:alphaOff val="0"/>
          </a:schemeClr>
        </a:solidFill>
        <a:ln w="25400" cap="flat" cmpd="sng" algn="ctr">
          <a:solidFill>
            <a:schemeClr val="accent5">
              <a:tint val="40000"/>
              <a:alpha val="90000"/>
              <a:hueOff val="-10740482"/>
              <a:satOff val="48253"/>
              <a:lumOff val="33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incapable tasks or reduce the units of input per units of output needed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an actor that controls a technology  enables others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(MSA) with a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 of MSAs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MSA that meets the study requirements.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Published peer-reviewed journal articles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document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Published peer-reviewed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8.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04/16/2019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04/16/2019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transfer public 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36</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Establish</a:t>
            </a:r>
            <a:r>
              <a:rPr lang="en-US" baseline="0" dirty="0" smtClean="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Panel of at least 30 participants.</a:t>
            </a:r>
          </a:p>
          <a:p>
            <a:r>
              <a:rPr lang="en-US" dirty="0" smtClean="0"/>
              <a:t>Panel members drawn from among university technology transfer professionals, university research administrators, university faculty, industry research and development executives, industry product managers, experienced entrepreneurs, and venture capitalists. </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39</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04/16/2019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04/16/2019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Microsoft_Excel_97-2003_Worksheet1.xls"/><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7.xml"/><Relationship Id="rId1" Type="http://schemas.openxmlformats.org/officeDocument/2006/relationships/vmlDrawing" Target="../drawings/vmlDrawing2.vml"/><Relationship Id="rId5" Type="http://schemas.openxmlformats.org/officeDocument/2006/relationships/image" Target="../media/image18.emf"/><Relationship Id="rId4" Type="http://schemas.openxmlformats.org/officeDocument/2006/relationships/package" Target="../embeddings/Microsoft_Excel_Worksheet1.xlsx"/></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42" name="Worksheet" r:id="rId5" imgW="7038854" imgH="4086180" progId="Excel.Sheet.8">
                  <p:embed followColorScheme="full"/>
                </p:oleObj>
              </mc:Choice>
              <mc:Fallback>
                <p:oleObj name="Worksheet" r:id="rId5" imgW="7038854" imgH="4086180" progId="Excel.Sheet.8">
                  <p:embed followColorScheme="full"/>
                  <p:pic>
                    <p:nvPicPr>
                      <p:cNvPr id="0" name=""/>
                      <p:cNvPicPr/>
                      <p:nvPr/>
                    </p:nvPicPr>
                    <p:blipFill>
                      <a:blip r:embed="rId6"/>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From 1909 to 1949, increased productivity driven by technological change accounted for roughly 80 percent of the increase in U.S. </a:t>
            </a:r>
            <a:r>
              <a:rPr lang="en-US" i="1" dirty="0" smtClean="0"/>
              <a:t>per capita </a:t>
            </a:r>
            <a:r>
              <a:rPr lang="en-US" dirty="0" smtClean="0"/>
              <a:t>Gross National Product.</a:t>
            </a:r>
          </a:p>
          <a:p>
            <a:endParaRPr lang="en-US" dirty="0"/>
          </a:p>
          <a:p>
            <a:pPr algn="r"/>
            <a:r>
              <a:rPr lang="en-US" sz="1600" dirty="0" smtClean="0"/>
              <a:t>Source: Solow, 1957</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343878907"/>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1023840037"/>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647947255"/>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2811013673"/>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508468723"/>
              </p:ext>
            </p:extLst>
          </p:nvPr>
        </p:nvGraphicFramePr>
        <p:xfrm>
          <a:off x="228600" y="569880"/>
          <a:ext cx="7359732" cy="46837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t>
                      </a:r>
                      <a:r>
                        <a:rPr lang="en-US" sz="1800" dirty="0" smtClean="0">
                          <a:solidFill>
                            <a:srgbClr val="000000"/>
                          </a:solidFill>
                          <a:effectLst/>
                          <a:latin typeface="+mn-lt"/>
                          <a:ea typeface="Calibri"/>
                          <a:cs typeface="Times New Roman"/>
                        </a:rPr>
                        <a:t>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a:t>
                      </a:r>
                      <a:r>
                        <a:rPr lang="en-US" sz="1800" dirty="0" smtClean="0">
                          <a:solidFill>
                            <a:srgbClr val="000000"/>
                          </a:solidFill>
                          <a:effectLst/>
                          <a:latin typeface="+mn-lt"/>
                          <a:ea typeface="Calibri"/>
                          <a:cs typeface="Times New Roman"/>
                        </a:rPr>
                        <a:t>between the successful transfer to the private sector of technology derived from a federally-funded R&amp;D projects and the development stage attained</a:t>
                      </a:r>
                      <a:r>
                        <a:rPr lang="en-US" sz="1800" baseline="0" dirty="0" smtClean="0">
                          <a:solidFill>
                            <a:srgbClr val="000000"/>
                          </a:solidFill>
                          <a:effectLst/>
                          <a:latin typeface="+mn-lt"/>
                          <a:ea typeface="Calibri"/>
                          <a:cs typeface="Times New Roman"/>
                        </a:rPr>
                        <a:t> by</a:t>
                      </a:r>
                      <a:r>
                        <a:rPr lang="en-US" sz="1800" dirty="0" smtClean="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a:t>
                      </a:r>
                      <a:r>
                        <a:rPr lang="en-US" sz="1800" dirty="0" smtClean="0">
                          <a:solidFill>
                            <a:srgbClr val="000000"/>
                          </a:solidFill>
                          <a:effectLst/>
                          <a:latin typeface="+mn-lt"/>
                          <a:ea typeface="Calibri"/>
                          <a:cs typeface="Times New Roman"/>
                        </a:rPr>
                        <a:t>the developed stage attained</a:t>
                      </a:r>
                      <a:r>
                        <a:rPr lang="en-US" sz="1800" baseline="0" dirty="0" smtClean="0">
                          <a:solidFill>
                            <a:srgbClr val="000000"/>
                          </a:solidFill>
                          <a:effectLst/>
                          <a:latin typeface="+mn-lt"/>
                          <a:ea typeface="Calibri"/>
                          <a:cs typeface="Times New Roman"/>
                        </a:rPr>
                        <a:t> by </a:t>
                      </a:r>
                      <a:r>
                        <a:rPr lang="en-US" sz="1800" dirty="0" smtClean="0">
                          <a:solidFill>
                            <a:srgbClr val="000000"/>
                          </a:solidFill>
                          <a:effectLst/>
                          <a:latin typeface="+mn-lt"/>
                          <a:ea typeface="Calibri"/>
                          <a:cs typeface="Times New Roman"/>
                        </a:rPr>
                        <a:t>federally-funded </a:t>
                      </a:r>
                      <a:r>
                        <a:rPr lang="en-US" sz="1800" dirty="0">
                          <a:solidFill>
                            <a:srgbClr val="000000"/>
                          </a:solidFill>
                          <a:effectLst/>
                          <a:latin typeface="+mn-lt"/>
                          <a:ea typeface="Calibri"/>
                          <a:cs typeface="Times New Roman"/>
                        </a:rPr>
                        <a:t>R&amp;D </a:t>
                      </a:r>
                      <a:r>
                        <a:rPr lang="en-US" sz="1800" dirty="0" smtClean="0">
                          <a:solidFill>
                            <a:srgbClr val="000000"/>
                          </a:solidFill>
                          <a:effectLst/>
                          <a:latin typeface="+mn-lt"/>
                          <a:ea typeface="Calibri"/>
                          <a:cs typeface="Times New Roman"/>
                        </a:rPr>
                        <a:t>projects and </a:t>
                      </a:r>
                      <a:r>
                        <a:rPr lang="en-US" sz="1800" dirty="0">
                          <a:solidFill>
                            <a:srgbClr val="000000"/>
                          </a:solidFill>
                          <a:effectLst/>
                          <a:latin typeface="+mn-lt"/>
                          <a:ea typeface="Calibri"/>
                          <a:cs typeface="Times New Roman"/>
                        </a:rPr>
                        <a:t>the spatial distance between where the R&amp;D </a:t>
                      </a:r>
                      <a:r>
                        <a:rPr lang="en-US" sz="1800" dirty="0" smtClean="0">
                          <a:solidFill>
                            <a:srgbClr val="000000"/>
                          </a:solidFill>
                          <a:effectLst/>
                          <a:latin typeface="+mn-lt"/>
                          <a:ea typeface="Calibri"/>
                          <a:cs typeface="Times New Roman"/>
                        </a:rPr>
                        <a:t>projects are conducted </a:t>
                      </a:r>
                      <a:r>
                        <a:rPr lang="en-US" sz="1800" dirty="0">
                          <a:solidFill>
                            <a:srgbClr val="000000"/>
                          </a:solidFill>
                          <a:effectLst/>
                          <a:latin typeface="+mn-lt"/>
                          <a:ea typeface="Calibri"/>
                          <a:cs typeface="Times New Roman"/>
                        </a:rPr>
                        <a:t>and the nearest </a:t>
                      </a:r>
                      <a:r>
                        <a:rPr lang="en-US" sz="1800" dirty="0" smtClean="0">
                          <a:solidFill>
                            <a:srgbClr val="000000"/>
                          </a:solidFill>
                          <a:effectLst/>
                          <a:latin typeface="+mn-lt"/>
                          <a:ea typeface="Calibri"/>
                          <a:cs typeface="Times New Roman"/>
                        </a:rPr>
                        <a:t>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successful </a:t>
                      </a:r>
                      <a:r>
                        <a:rPr lang="en-US" sz="1800" dirty="0">
                          <a:solidFill>
                            <a:srgbClr val="000000"/>
                          </a:solidFill>
                          <a:effectLst/>
                          <a:latin typeface="+mn-lt"/>
                          <a:ea typeface="Calibri"/>
                          <a:cs typeface="Times New Roman"/>
                        </a:rPr>
                        <a:t>transfer to the private sector of technology derived from federally-funded R&amp;D projects and the spatial distance between where the R&amp;D </a:t>
                      </a:r>
                      <a:r>
                        <a:rPr lang="en-US" sz="1800" dirty="0" smtClean="0">
                          <a:solidFill>
                            <a:srgbClr val="000000"/>
                          </a:solidFill>
                          <a:effectLst/>
                          <a:latin typeface="+mn-lt"/>
                          <a:ea typeface="Calibri"/>
                          <a:cs typeface="Times New Roman"/>
                        </a:rPr>
                        <a:t>projects are conducted </a:t>
                      </a:r>
                      <a:r>
                        <a:rPr lang="en-US" sz="1800" dirty="0">
                          <a:solidFill>
                            <a:srgbClr val="000000"/>
                          </a:solidFill>
                          <a:effectLst/>
                          <a:latin typeface="+mn-lt"/>
                          <a:ea typeface="Calibri"/>
                          <a:cs typeface="Times New Roman"/>
                        </a:rPr>
                        <a:t>and the nearest </a:t>
                      </a:r>
                      <a:r>
                        <a:rPr lang="en-US" sz="1800" dirty="0" smtClean="0">
                          <a:solidFill>
                            <a:srgbClr val="000000"/>
                          </a:solidFill>
                          <a:effectLst/>
                          <a:latin typeface="+mn-lt"/>
                          <a:ea typeface="Calibri"/>
                          <a:cs typeface="Times New Roman"/>
                        </a:rPr>
                        <a:t>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195510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032830"/>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437730"/>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2324932"/>
              </p:ext>
            </p:extLst>
          </p:nvPr>
        </p:nvGraphicFramePr>
        <p:xfrm>
          <a:off x="274320" y="691114"/>
          <a:ext cx="8595360" cy="3753962"/>
        </p:xfrm>
        <a:graphic>
          <a:graphicData uri="http://schemas.openxmlformats.org/drawingml/2006/table">
            <a:tbl>
              <a:tblPr firstRow="1" firstCol="1" bandRow="1"/>
              <a:tblGrid>
                <a:gridCol w="497576"/>
                <a:gridCol w="8097784"/>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a:t>
                      </a:r>
                      <a:r>
                        <a:rPr lang="en-US" sz="1800" baseline="0" dirty="0" smtClean="0">
                          <a:solidFill>
                            <a:srgbClr val="000000"/>
                          </a:solidFill>
                          <a:effectLst/>
                          <a:latin typeface="+mn-lt"/>
                          <a:ea typeface="Calibri"/>
                          <a:cs typeface="Times New Roman"/>
                        </a:rPr>
                        <a:t> that a technology </a:t>
                      </a:r>
                      <a:r>
                        <a:rPr lang="en-US" sz="1800" dirty="0" smtClean="0">
                          <a:solidFill>
                            <a:srgbClr val="000000"/>
                          </a:solidFill>
                          <a:effectLst/>
                          <a:latin typeface="+mn-lt"/>
                          <a:ea typeface="Calibri"/>
                          <a:cs typeface="Times New Roman"/>
                        </a:rPr>
                        <a:t>derived </a:t>
                      </a:r>
                      <a:r>
                        <a:rPr lang="en-US" sz="1800" dirty="0">
                          <a:solidFill>
                            <a:srgbClr val="000000"/>
                          </a:solidFill>
                          <a:effectLst/>
                          <a:latin typeface="+mn-lt"/>
                          <a:ea typeface="Calibri"/>
                          <a:cs typeface="Times New Roman"/>
                        </a:rPr>
                        <a:t>from </a:t>
                      </a:r>
                      <a:r>
                        <a:rPr lang="en-US" sz="1800" dirty="0" smtClean="0">
                          <a:solidFill>
                            <a:srgbClr val="000000"/>
                          </a:solidFill>
                          <a:effectLst/>
                          <a:latin typeface="+mn-lt"/>
                          <a:ea typeface="Calibri"/>
                          <a:cs typeface="Times New Roman"/>
                        </a:rPr>
                        <a:t>a federally-funded </a:t>
                      </a:r>
                      <a:r>
                        <a:rPr lang="en-US" sz="1800" dirty="0">
                          <a:solidFill>
                            <a:srgbClr val="000000"/>
                          </a:solidFill>
                          <a:effectLst/>
                          <a:latin typeface="+mn-lt"/>
                          <a:ea typeface="Calibri"/>
                          <a:cs typeface="Times New Roman"/>
                        </a:rPr>
                        <a:t>R&amp;D </a:t>
                      </a:r>
                      <a:r>
                        <a:rPr lang="en-US" sz="1800" dirty="0" smtClean="0">
                          <a:solidFill>
                            <a:srgbClr val="000000"/>
                          </a:solidFill>
                          <a:effectLst/>
                          <a:latin typeface="+mn-lt"/>
                          <a:ea typeface="Calibri"/>
                          <a:cs typeface="Times New Roman"/>
                        </a:rPr>
                        <a:t>project is transferred to the private sector is associated with the final development stage attained by the R&amp;D project</a:t>
                      </a:r>
                      <a:r>
                        <a:rPr lang="en-US" sz="1800" baseline="0" dirty="0" smtClean="0">
                          <a:solidFill>
                            <a:srgbClr val="000000"/>
                          </a:solidFill>
                          <a:effectLst/>
                          <a:latin typeface="+mn-lt"/>
                          <a:ea typeface="Calibri"/>
                          <a:cs typeface="Times New Roman"/>
                        </a:rPr>
                        <a:t>. </a:t>
                      </a:r>
                      <a:endParaRPr lang="en-US" sz="1800" dirty="0" smtClean="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 that a technology derived</a:t>
                      </a:r>
                      <a:r>
                        <a:rPr lang="en-US" sz="1800" baseline="0" dirty="0" smtClean="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60280636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486179879"/>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423375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603466307"/>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4080744306"/>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34106740"/>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38825968"/>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802689420"/>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83759542"/>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Collection</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gridCol w="1148487"/>
                <a:gridCol w="716889"/>
                <a:gridCol w="651458"/>
                <a:gridCol w="628702"/>
              </a:tblGrid>
              <a:tr h="1080660">
                <a:tc>
                  <a:txBody>
                    <a:bodyPr/>
                    <a:lstStyle/>
                    <a:p>
                      <a:r>
                        <a:rPr lang="en-US" sz="1600" dirty="0" smtClean="0"/>
                        <a:t>R&amp;D Project</a:t>
                      </a:r>
                      <a:endParaRPr lang="en-US" sz="1600" dirty="0"/>
                    </a:p>
                  </a:txBody>
                  <a:tcPr anchor="b"/>
                </a:tc>
                <a:tc>
                  <a:txBody>
                    <a:bodyPr/>
                    <a:lstStyle/>
                    <a:p>
                      <a:r>
                        <a:rPr lang="en-US" sz="1600" dirty="0" err="1" smtClean="0"/>
                        <a:t>TechTran</a:t>
                      </a:r>
                      <a:endParaRPr lang="en-US" sz="1600" dirty="0" smtClean="0"/>
                    </a:p>
                    <a:p>
                      <a:r>
                        <a:rPr lang="en-US" sz="1600" dirty="0" smtClean="0"/>
                        <a:t>ranked</a:t>
                      </a:r>
                      <a:endParaRPr lang="en-US" sz="1600" dirty="0"/>
                    </a:p>
                  </a:txBody>
                  <a:tcPr anchor="b"/>
                </a:tc>
                <a:tc>
                  <a:txBody>
                    <a:bodyPr/>
                    <a:lstStyle/>
                    <a:p>
                      <a:r>
                        <a:rPr lang="en-US" sz="1600" dirty="0" smtClean="0"/>
                        <a:t>TRL</a:t>
                      </a:r>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gridCol w="1133856"/>
                <a:gridCol w="724205"/>
                <a:gridCol w="547104"/>
                <a:gridCol w="711111"/>
              </a:tblGrid>
              <a:tr h="1080657">
                <a:tc>
                  <a:txBody>
                    <a:bodyPr/>
                    <a:lstStyle/>
                    <a:p>
                      <a:r>
                        <a:rPr lang="en-US" sz="1600" dirty="0" smtClean="0"/>
                        <a:t>R&amp;D Project</a:t>
                      </a:r>
                      <a:endParaRPr lang="en-US" sz="1600" dirty="0"/>
                    </a:p>
                  </a:txBody>
                  <a:tcPr anchor="b"/>
                </a:tc>
                <a:tc>
                  <a:txBody>
                    <a:bodyPr/>
                    <a:lstStyle/>
                    <a:p>
                      <a:r>
                        <a:rPr lang="en-US" sz="1600" dirty="0" err="1" smtClean="0"/>
                        <a:t>TechTran</a:t>
                      </a:r>
                      <a:endParaRPr lang="en-US" sz="1600" dirty="0" smtClean="0"/>
                    </a:p>
                    <a:p>
                      <a:r>
                        <a:rPr lang="en-US" sz="1600" dirty="0" smtClean="0"/>
                        <a:t>ranked</a:t>
                      </a:r>
                      <a:endParaRPr lang="en-US" sz="1600" dirty="0"/>
                    </a:p>
                  </a:txBody>
                  <a:tcPr anchor="b"/>
                </a:tc>
                <a:tc>
                  <a:txBody>
                    <a:bodyPr/>
                    <a:lstStyle/>
                    <a:p>
                      <a:pPr algn="l"/>
                      <a:r>
                        <a:rPr lang="en-US" sz="1600" dirty="0" smtClean="0"/>
                        <a:t>Distance</a:t>
                      </a:r>
                    </a:p>
                  </a:txBody>
                  <a:tcPr vert="vert270" anchor="ctr"/>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31111507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gridCol w="8097784"/>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smtClean="0">
                          <a:effectLst/>
                        </a:rPr>
                        <a:t>The probably that a technology 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smtClean="0">
                          <a:ln>
                            <a:noFill/>
                          </a:ln>
                          <a:solidFill>
                            <a:prstClr val="black"/>
                          </a:solidFill>
                          <a:effectLst/>
                          <a:uLnTx/>
                          <a:uFillTx/>
                          <a:latin typeface="+mn-lt"/>
                          <a:ea typeface="+mn-ea"/>
                          <a:cs typeface="+mn-cs"/>
                        </a:rPr>
                        <a:t>The probably that a technology derived from federally-funded R&amp;D projects will be transferred to the private sector will increase with each unit decrease in t</a:t>
                      </a:r>
                      <a:r>
                        <a:rPr lang="en-US" sz="1800" dirty="0" smtClean="0">
                          <a:effectLst/>
                        </a:rPr>
                        <a:t>he spatial distance</a:t>
                      </a:r>
                      <a:r>
                        <a:rPr lang="en-US" sz="1800" baseline="0" dirty="0" smtClean="0">
                          <a:effectLst/>
                        </a:rPr>
                        <a:t> between where R&amp;D projects are conducted and the nearest city.</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smtClean="0"/>
              <a:t>Source: </a:t>
            </a:r>
            <a:r>
              <a:rPr lang="en-US" sz="1400" dirty="0" err="1" smtClean="0"/>
              <a:t>Ainali</a:t>
            </a:r>
            <a:r>
              <a:rPr lang="en-US" sz="1400" dirty="0" smtClean="0"/>
              <a:t>, J. (2014). Wikimedia Commons</a:t>
            </a:r>
            <a:r>
              <a:rPr lang="en-US" sz="1400" dirty="0"/>
              <a:t>. </a:t>
            </a:r>
            <a:r>
              <a:rPr lang="en-US" sz="1400" dirty="0" smtClean="0"/>
              <a:t>CC-BY-SA-3.0 [http</a:t>
            </a:r>
            <a:r>
              <a:rPr lang="en-US" sz="1400" dirty="0"/>
              <a:t>://creativecommons.org/licenses/by-sa/3.0</a:t>
            </a:r>
            <a:r>
              <a:rPr lang="en-US" sz="1400" dirty="0" smtClean="0"/>
              <a:t>/]. No changes made. </a:t>
            </a:r>
            <a:r>
              <a:rPr lang="en-US" sz="1400" dirty="0"/>
              <a:t>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smtClean="0">
                <a:solidFill>
                  <a:schemeClr val="accent2">
                    <a:lumMod val="60000"/>
                    <a:lumOff val="40000"/>
                  </a:schemeClr>
                </a:solidFill>
              </a:rPr>
              <a:t>Sample Logic Model</a:t>
            </a:r>
            <a:endParaRPr lang="en-US" sz="6000" b="1" dirty="0">
              <a:solidFill>
                <a:schemeClr val="accent2">
                  <a:lumMod val="60000"/>
                  <a:lumOff val="40000"/>
                </a:schemeClr>
              </a:solidFill>
            </a:endParaRPr>
          </a:p>
        </p:txBody>
      </p:sp>
    </p:spTree>
    <p:extLst>
      <p:ext uri="{BB962C8B-B14F-4D97-AF65-F5344CB8AC3E}">
        <p14:creationId xmlns:p14="http://schemas.microsoft.com/office/powerpoint/2010/main" val="379369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smtClean="0"/>
              <a:t>Generate </a:t>
            </a:r>
            <a:r>
              <a:rPr lang="en-US" sz="2800" b="1" dirty="0"/>
              <a:t>policy </a:t>
            </a:r>
            <a:r>
              <a:rPr lang="en-US" sz="2800" b="1" dirty="0" smtClean="0"/>
              <a:t>alternatives by conducting a participatory policy analysis (PPA) using the Delphi method.</a:t>
            </a:r>
            <a:endParaRPr lang="en-US" sz="2800" b="1" dirty="0"/>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smtClean="0"/>
              <a:t>Source: User: </a:t>
            </a:r>
            <a:r>
              <a:rPr lang="en-US" sz="1400" dirty="0" err="1" smtClean="0"/>
              <a:t>Czkssa</a:t>
            </a:r>
            <a:r>
              <a:rPr lang="en-US" sz="1400" dirty="0" smtClean="0"/>
              <a:t>. (2001). Wikimedia Commons</a:t>
            </a:r>
            <a:r>
              <a:rPr lang="en-US" sz="1400" dirty="0"/>
              <a:t>. </a:t>
            </a:r>
            <a:r>
              <a:rPr lang="en-US" sz="1400" dirty="0" smtClean="0"/>
              <a:t>CC-BY-SA-3.0 [http</a:t>
            </a:r>
            <a:r>
              <a:rPr lang="en-US" sz="1400" dirty="0"/>
              <a:t>://creativecommons.org/licenses/by-sa/3.0</a:t>
            </a:r>
            <a:r>
              <a:rPr lang="en-US" sz="1400" dirty="0" smtClean="0"/>
              <a:t>/]. No changes made. Retrieved </a:t>
            </a:r>
            <a:r>
              <a:rPr lang="en-US" sz="1400" dirty="0"/>
              <a:t>from https://</a:t>
            </a:r>
            <a:r>
              <a:rPr lang="en-US" sz="1400" dirty="0" smtClean="0"/>
              <a:t>commons.wikimedia.org/wiki/File:DELPHIST.png</a:t>
            </a:r>
            <a:endParaRPr lang="en-US" sz="1400" dirty="0"/>
          </a:p>
        </p:txBody>
      </p:sp>
    </p:spTree>
    <p:extLst>
      <p:ext uri="{BB962C8B-B14F-4D97-AF65-F5344CB8AC3E}">
        <p14:creationId xmlns:p14="http://schemas.microsoft.com/office/powerpoint/2010/main" val="37278883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999702629"/>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34" name="Worksheet" r:id="rId4" imgW="8886833" imgH="4295700" progId="Excel.Sheet.12">
                  <p:embed/>
                </p:oleObj>
              </mc:Choice>
              <mc:Fallback>
                <p:oleObj name="Worksheet" r:id="rId4" imgW="8886833" imgH="4295700" progId="Excel.Sheet.12">
                  <p:embed/>
                  <p:pic>
                    <p:nvPicPr>
                      <p:cNvPr id="0" name=""/>
                      <p:cNvPicPr/>
                      <p:nvPr/>
                    </p:nvPicPr>
                    <p:blipFill>
                      <a:blip r:embed="rId5"/>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4231928"/>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smtClean="0"/>
              <a:t>Provides a more holistic understanding of federal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and covariates.</a:t>
            </a:r>
          </a:p>
          <a:p>
            <a:pPr marL="285750" indent="-285750">
              <a:spcAft>
                <a:spcPts val="600"/>
              </a:spcAft>
              <a:buFont typeface="Arial" panose="020B0604020202020204" pitchFamily="34" charset="0"/>
              <a:buChar char="•"/>
            </a:pPr>
            <a:r>
              <a:rPr lang="en-US" dirty="0" smtClean="0"/>
              <a:t>Provides 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r>
              <a:rPr lang="en-US" dirty="0" smtClean="0"/>
              <a:t>Provides data that other researchers can use for studies not yet envisioned.</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construct validity with regard to technology transfer.</a:t>
            </a:r>
          </a:p>
          <a:p>
            <a:pPr marL="285750" indent="-285750">
              <a:spcAft>
                <a:spcPts val="600"/>
              </a:spcAft>
              <a:buFont typeface="Arial" panose="020B0604020202020204" pitchFamily="34" charset="0"/>
              <a:buChar char="•"/>
            </a:pPr>
            <a:r>
              <a:rPr lang="en-US" dirty="0" smtClean="0"/>
              <a:t>Demonstrates an approach to achieve increased levels of construct validity with regard to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endParaRPr lang="en-US" dirty="0" smtClean="0"/>
          </a:p>
          <a:p>
            <a:endParaRPr lang="en-US" dirty="0"/>
          </a:p>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smtClean="0">
              <a:solidFill>
                <a:prstClr val="black"/>
              </a:solidFill>
            </a:endParaRPr>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smtClean="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smtClean="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smtClean="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endParaRPr lang="en-US" dirty="0" smtClean="0"/>
          </a:p>
          <a:p>
            <a:pPr lvl="0"/>
            <a:endParaRPr lang="en-US" dirty="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smtClean="0"/>
              <a:t>Joshi</a:t>
            </a:r>
            <a:r>
              <a:rPr lang="en-US" dirty="0"/>
              <a:t>,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smtClean="0">
              <a:solidFill>
                <a:prstClr val="black"/>
              </a:solidFill>
            </a:endParaRP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endParaRPr lang="en-US" dirty="0" smtClean="0"/>
          </a:p>
          <a:p>
            <a:pPr lvl="0"/>
            <a:endParaRPr lang="en-US" dirty="0" smtClean="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smtClean="0"/>
          </a:p>
          <a:p>
            <a:pPr lvl="0"/>
            <a:r>
              <a:rPr lang="en-US" dirty="0" smtClean="0"/>
              <a:t>Solow</a:t>
            </a:r>
            <a:r>
              <a:rPr lang="en-US" dirty="0"/>
              <a:t>, R. M. (1957). Technical change and the aggregate production function. </a:t>
            </a:r>
            <a:r>
              <a:rPr lang="en-US" i="1" dirty="0"/>
              <a:t>The review of Economics and Statistics, 39</a:t>
            </a:r>
            <a:r>
              <a:rPr lang="en-US" dirty="0"/>
              <a:t>(3), 312-320. </a:t>
            </a:r>
            <a:endParaRPr lang="en-US" dirty="0" smtClean="0">
              <a:solidFill>
                <a:prstClr val="black"/>
              </a:solidFill>
            </a:endParaRPr>
          </a:p>
        </p:txBody>
      </p:sp>
    </p:spTree>
    <p:extLst>
      <p:ext uri="{BB962C8B-B14F-4D97-AF65-F5344CB8AC3E}">
        <p14:creationId xmlns:p14="http://schemas.microsoft.com/office/powerpoint/2010/main" val="413186811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p>
          <a:p>
            <a:pPr lvl="0"/>
            <a:endParaRPr lang="en-US" dirty="0" smtClean="0">
              <a:solidFill>
                <a:prstClr val="black"/>
              </a:solidFill>
            </a:endParaRPr>
          </a:p>
          <a:p>
            <a:pPr lvl="0"/>
            <a:r>
              <a:rPr lang="en-US" dirty="0" err="1" smtClean="0"/>
              <a:t>Jianling</a:t>
            </a:r>
            <a:r>
              <a:rPr lang="en-US" dirty="0" smtClean="0"/>
              <a:t> </a:t>
            </a:r>
            <a:r>
              <a:rPr lang="en-US" dirty="0"/>
              <a:t>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a:t>
            </a:r>
            <a:r>
              <a:rPr lang="en-US" dirty="0" smtClean="0"/>
              <a:t>search.ebscohost.com/login.aspx?direct=true&amp;db=a9h&amp;AN=112989107&amp;site=eds-live</a:t>
            </a:r>
            <a:endParaRPr lang="en-US" dirty="0" smtClean="0">
              <a:solidFill>
                <a:prstClr val="black"/>
              </a:solidFill>
            </a:endParaRPr>
          </a:p>
        </p:txBody>
      </p:sp>
    </p:spTree>
    <p:extLst>
      <p:ext uri="{BB962C8B-B14F-4D97-AF65-F5344CB8AC3E}">
        <p14:creationId xmlns:p14="http://schemas.microsoft.com/office/powerpoint/2010/main" val="941616588"/>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1660</TotalTime>
  <Words>3103</Words>
  <Application>Microsoft Office PowerPoint</Application>
  <PresentationFormat>On-screen Show (16:10)</PresentationFormat>
  <Paragraphs>490</Paragraphs>
  <Slides>48</Slides>
  <Notes>17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48</vt:i4>
      </vt:variant>
    </vt:vector>
  </HeadingPairs>
  <TitlesOfParts>
    <vt:vector size="50"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311</cp:revision>
  <cp:lastPrinted>2018-11-28T15:13:03Z</cp:lastPrinted>
  <dcterms:created xsi:type="dcterms:W3CDTF">2018-11-26T20:29:52Z</dcterms:created>
  <dcterms:modified xsi:type="dcterms:W3CDTF">2019-04-16T20:12:43Z</dcterms:modified>
</cp:coreProperties>
</file>