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318" r:id="rId16"/>
    <p:sldId id="291" r:id="rId17"/>
    <p:sldId id="292" r:id="rId18"/>
    <p:sldId id="302" r:id="rId19"/>
    <p:sldId id="309" r:id="rId20"/>
    <p:sldId id="310" r:id="rId21"/>
    <p:sldId id="303" r:id="rId22"/>
    <p:sldId id="304" r:id="rId23"/>
    <p:sldId id="305" r:id="rId24"/>
    <p:sldId id="297" r:id="rId25"/>
    <p:sldId id="313" r:id="rId26"/>
    <p:sldId id="319" r:id="rId27"/>
    <p:sldId id="307" r:id="rId28"/>
    <p:sldId id="315" r:id="rId29"/>
    <p:sldId id="316" r:id="rId30"/>
    <p:sldId id="314" r:id="rId31"/>
    <p:sldId id="317" r:id="rId32"/>
    <p:sldId id="272" r:id="rId33"/>
    <p:sldId id="264" r:id="rId34"/>
    <p:sldId id="275" r:id="rId35"/>
    <p:sldId id="306" r:id="rId36"/>
    <p:sldId id="308" r:id="rId37"/>
    <p:sldId id="281" r:id="rId38"/>
    <p:sldId id="288" r:id="rId39"/>
    <p:sldId id="296" r:id="rId40"/>
    <p:sldId id="282" r:id="rId41"/>
    <p:sldId id="295" r:id="rId42"/>
    <p:sldId id="312" r:id="rId43"/>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2" autoAdjust="0"/>
    <p:restoredTop sz="93073" autoAdjust="0"/>
  </p:normalViewPr>
  <p:slideViewPr>
    <p:cSldViewPr snapToGrid="0">
      <p:cViewPr>
        <p:scale>
          <a:sx n="80" d="100"/>
          <a:sy n="80" d="100"/>
        </p:scale>
        <p:origin x="-1074" y="-132"/>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4637551F-0D3F-4D2D-9008-B218D2EB9464}" type="presOf" srcId="{275823A6-DA31-4015-971F-013EA967541C}" destId="{752682F3-57CE-4B43-B292-A62B3D508EDD}" srcOrd="1"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C5F869C1-8FEF-4035-9EC3-FDF0092FF2C9}" srcId="{56D25664-E470-4423-B8A9-9B6E4F3E9501}" destId="{F754AD28-8B54-47D9-83F1-8D45F35B4A81}" srcOrd="0" destOrd="0" parTransId="{26AD8160-5FF5-41BE-AFAF-E29D66F0469B}" sibTransId="{BE9BECBC-F94F-4E2F-BDB2-93E8BAEBEFE7}"/>
    <dgm:cxn modelId="{7D4AA11D-AECE-4F13-83A5-2F30DAC3FCE9}" type="presOf" srcId="{E12051B9-F660-41FB-9BFB-187ECABCD821}" destId="{4413368B-ACCA-469B-9D0E-1FEFC4075FB0}"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161BFFC1-AE7C-498C-83A0-CA1826D78F8F}" type="presOf" srcId="{F754AD28-8B54-47D9-83F1-8D45F35B4A81}" destId="{0F07502A-98A4-4880-9779-27EA2BEB6F02}"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FB0031A1-CB53-450E-9938-8DE34F88DDF6}" type="presOf" srcId="{D264B8C8-0C74-4047-BC3D-D328ABB04B07}" destId="{4428B23C-049C-4D7B-92D7-DD65A1003E4E}"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0BE03BD5-FE23-46AA-ADDD-3EB80CE083C8}" type="presOf" srcId="{56D25664-E470-4423-B8A9-9B6E4F3E9501}" destId="{5EE1D2E5-E13B-4FA3-A68E-FA18C8AD1A1A}" srcOrd="0" destOrd="0" presId="urn:microsoft.com/office/officeart/2005/8/layout/hProcess7"/>
    <dgm:cxn modelId="{910979F0-7634-4B80-B15B-DE718853D504}" type="presOf" srcId="{E7E09A88-A855-416A-B17D-5608BAB5F968}" destId="{7C1FE252-E5CE-40AF-AE08-799A5F741FEE}"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8711CA19-EAD8-4409-B0C5-6BE45B888BBE}" type="presOf" srcId="{56D25664-E470-4423-B8A9-9B6E4F3E9501}" destId="{1F2FC209-C6F9-4BD8-BE18-C50B50281548}" srcOrd="1"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1495D02-A03D-428D-8DF2-B60DC303D478}" type="presOf" srcId="{275823A6-DA31-4015-971F-013EA967541C}" destId="{752682F3-57CE-4B43-B292-A62B3D508EDD}" srcOrd="1" destOrd="0" presId="urn:microsoft.com/office/officeart/2005/8/layout/hProcess7"/>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732D3501-A355-4810-88FA-925004F762BE}" srcId="{1D821791-7814-455A-9399-EDDBA6237C3A}" destId="{000E87EB-6BC1-4467-8911-3A6D4307DC52}" srcOrd="0" destOrd="0" parTransId="{3D21AF0B-E8B7-4657-B29B-FBDA3FC0E89D}" sibTransId="{B2C799AB-29BE-4ECA-B81A-3E5512C86A1C}"/>
    <dgm:cxn modelId="{635620E7-9896-499B-901B-79342BB036E6}" srcId="{1D821791-7814-455A-9399-EDDBA6237C3A}" destId="{D299AA71-1BEF-44A0-AF96-5BEF7421E37A}" srcOrd="1" destOrd="0" parTransId="{7473B43F-9657-45AB-95F6-883C898FD0BD}" sibTransId="{34CE16CB-D278-4EDD-9B9E-8516387F3D42}"/>
    <dgm:cxn modelId="{8B7AF42C-D02F-468C-8259-9CAC7295960F}" type="presOf" srcId="{1D821791-7814-455A-9399-EDDBA6237C3A}" destId="{712DED06-2F47-4A50-B22C-7F91F1296605}"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ED1AFEC0-0858-44B2-91D2-88C6166BA726}" type="presOf" srcId="{52206868-3460-4CAE-B5C9-26C67358723C}" destId="{49908BEB-6F47-45A2-8B4B-490BBC29E29A}" srcOrd="1"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CA3902FC-7CC5-4AEE-B3C3-AA06AC8EBD00}" type="presOf" srcId="{5755E862-5F30-47F4-BE53-0D0D635BC754}" destId="{661E9B89-062D-4CF5-BDE6-95F3A25DA3F7}" srcOrd="1" destOrd="0"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FB2F7463-3294-4EE1-9311-73BCBB21ED0A}" type="presOf" srcId="{5755E862-5F30-47F4-BE53-0D0D635BC754}" destId="{C7B07B6A-2913-4481-A94E-4F0876271F1C}" srcOrd="0" destOrd="0" presId="urn:microsoft.com/office/officeart/2005/8/layout/hProcess6"/>
    <dgm:cxn modelId="{EB4FC363-D95D-4D05-BF9A-8EDD91F98E01}" type="presOf" srcId="{52206868-3460-4CAE-B5C9-26C67358723C}" destId="{CF065CDD-DFD7-4D33-9DBE-0AD4241E5EB9}" srcOrd="0" destOrd="0" presId="urn:microsoft.com/office/officeart/2005/8/layout/hProcess6"/>
    <dgm:cxn modelId="{6197A7CE-367B-4E60-AE38-2C1A0C287CAE}" type="presOf" srcId="{F6C3F25A-41C4-4A47-9E66-774E1516154B}" destId="{C7B07B6A-2913-4481-A94E-4F0876271F1C}" srcOrd="0" destOrd="1"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362BDEBC-B5FE-4F3A-993A-4856B29172C3}" srcId="{DAD13305-C33C-4D5D-8E70-FA8D16F7D6E7}" destId="{27E0F1EB-E191-4957-A96C-74E644B233D2}" srcOrd="0" destOrd="0" parTransId="{060AD8E2-FB38-4136-87CF-9997C41B9785}" sibTransId="{E9D2AB2E-23B4-4871-B87D-9DAF9AC1EBCD}"/>
    <dgm:cxn modelId="{FA0CA7A2-FAB4-4C7D-A76B-1C39674AAF9A}" type="presOf" srcId="{4D8913DF-90C6-421D-BEAA-AE7CC581B4C5}" destId="{49908BEB-6F47-45A2-8B4B-490BBC29E29A}" srcOrd="1" destOrd="1" presId="urn:microsoft.com/office/officeart/2005/8/layout/hProcess6"/>
    <dgm:cxn modelId="{C3D4BBCC-8D08-4B5F-84C2-4CE7664D711F}" srcId="{DAD13305-C33C-4D5D-8E70-FA8D16F7D6E7}" destId="{EECED6DC-7595-4B84-BF9E-4F3A80443BF1}" srcOrd="1" destOrd="0" parTransId="{D9A4142C-920B-4638-BD88-2B5B989E713A}" sibTransId="{B5DB54B2-2209-4C5C-8EC9-188180D016F7}"/>
    <dgm:cxn modelId="{CA049A63-684E-4D92-BF5C-DFDDC4D5F6CA}" type="presOf" srcId="{4D8913DF-90C6-421D-BEAA-AE7CC581B4C5}" destId="{CF065CDD-DFD7-4D33-9DBE-0AD4241E5EB9}" srcOrd="0"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FA71FCB1-B573-4FB5-B3B6-57D3F32E4D1F}" srcId="{D299AA71-1BEF-44A0-AF96-5BEF7421E37A}" destId="{F6C3F25A-41C4-4A47-9E66-774E1516154B}" srcOrd="1" destOrd="0" parTransId="{43B2CA58-0A31-4CC4-A311-9DEE4460CA23}" sibTransId="{A1974F1B-6B2B-4DA2-A7C4-A54C625FE935}"/>
    <dgm:cxn modelId="{F620DB35-B0F2-47D2-B395-7F1AB80C23E3}" type="presOf" srcId="{EECED6DC-7595-4B84-BF9E-4F3A80443BF1}" destId="{762703CE-4815-4B8A-B298-2820EF25E80C}" srcOrd="0" destOrd="1" presId="urn:microsoft.com/office/officeart/2005/8/layout/hProcess6"/>
    <dgm:cxn modelId="{EB0538B6-3D10-43C6-906C-83914CFD5BD0}" srcId="{D299AA71-1BEF-44A0-AF96-5BEF7421E37A}" destId="{5755E862-5F30-47F4-BE53-0D0D635BC754}" srcOrd="0" destOrd="0" parTransId="{87CB2BA6-54FD-4F34-89FD-1AD541CFAFC8}" sibTransId="{08E4A303-1A13-4BC8-9CEB-5DC28C3306FC}"/>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reduces the units of input per output need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a:t>
          </a:r>
          <a:r>
            <a:rPr lang="en-US" sz="1800" dirty="0" smtClean="0"/>
            <a:t>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33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t>
          </a:r>
          <a:r>
            <a:rPr lang="en-US" dirty="0" smtClean="0"/>
            <a:t>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t>
          </a:r>
          <a:r>
            <a:rPr lang="en-US" dirty="0" smtClean="0"/>
            <a:t>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with an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metropolitan statistical area.</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a:t>
          </a:r>
          <a:r>
            <a:rPr lang="en-US" sz="1800" dirty="0" smtClean="0"/>
            <a:t>patents</a:t>
          </a:r>
        </a:p>
        <a:p>
          <a:r>
            <a:rPr lang="en-US" sz="1800" dirty="0" smtClean="0"/>
            <a:t>Disallowed U.S. patent applications</a:t>
          </a:r>
        </a:p>
        <a:p>
          <a:r>
            <a:rPr lang="en-US" sz="1800" dirty="0" smtClean="0"/>
            <a:t>Published peer-reviewed journal articles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capture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Published peer-reviewed </a:t>
          </a:r>
          <a:r>
            <a:rPr lang="en-US" sz="1800" dirty="0" smtClean="0"/>
            <a:t>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reduces the units of input per output need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a:t>
          </a:r>
          <a:r>
            <a:rPr lang="en-US" sz="1800" kern="1200" dirty="0" smtClean="0"/>
            <a:t>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33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t>
          </a:r>
          <a:r>
            <a:rPr lang="en-US" sz="1800" kern="1200" dirty="0" smtClean="0"/>
            <a:t>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t>
          </a:r>
          <a:r>
            <a:rPr lang="en-US" sz="1800" kern="1200" dirty="0" smtClean="0"/>
            <a:t>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with an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metropolitan statistical area.</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a:t>
          </a:r>
          <a:r>
            <a:rPr lang="en-US" sz="1800" kern="1200" dirty="0" smtClean="0"/>
            <a:t>patents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Published peer-reviewed journal articles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capture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Published peer-reviewed </a:t>
          </a:r>
          <a:r>
            <a:rPr lang="en-US" sz="1800" kern="1200" dirty="0" smtClean="0"/>
            <a:t>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04/14/2019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04/14/2019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Sample</a:t>
            </a:r>
            <a:r>
              <a:rPr lang="en-US" baseline="0" dirty="0" smtClean="0"/>
              <a:t> frame is NSF research funding awards by the Civil, Mechanical and Manufacturing Innovation (CMMI) division from January 1, 2010 through December 31, 2010.  Source of </a:t>
            </a:r>
            <a:r>
              <a:rPr lang="en-US" baseline="0" smtClean="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25</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a:t>
            </a:r>
            <a:r>
              <a:rPr lang="en-US" baseline="0" dirty="0" smtClean="0"/>
              <a:t> p</a:t>
            </a:r>
            <a:r>
              <a:rPr lang="en-US" dirty="0" smtClean="0"/>
              <a:t>roject</a:t>
            </a:r>
            <a:r>
              <a:rPr lang="en-US" baseline="0" dirty="0" smtClean="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a:t>
            </a:r>
            <a:r>
              <a:rPr lang="en-US" dirty="0" smtClean="0"/>
              <a:t>nnouncements 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published peer-review</a:t>
            </a:r>
            <a:r>
              <a:rPr lang="en-US" baseline="0" dirty="0" smtClean="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a:t>
            </a:r>
            <a:r>
              <a:rPr lang="en-US" baseline="0" dirty="0" smtClean="0"/>
              <a:t>technology transfer public policy </a:t>
            </a:r>
            <a:r>
              <a:rPr lang="en-US" dirty="0" smtClean="0"/>
              <a:t>documentation</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technology transfer public</a:t>
            </a:r>
            <a:r>
              <a:rPr lang="en-US" baseline="0" dirty="0" smtClean="0"/>
              <a:t> policy </a:t>
            </a:r>
            <a:r>
              <a:rPr lang="en-US" dirty="0" smtClean="0"/>
              <a:t>documentation </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04/14/2019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04/14/2019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04/14/2019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04/14/2019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4.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66"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“Economic growth”, 2019</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940866041"/>
              </p:ext>
            </p:extLst>
          </p:nvPr>
        </p:nvGraphicFramePr>
        <p:xfrm>
          <a:off x="91440" y="3017520"/>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803700068"/>
              </p:ext>
            </p:extLst>
          </p:nvPr>
        </p:nvGraphicFramePr>
        <p:xfrm>
          <a:off x="91440" y="3017520"/>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669401540"/>
              </p:ext>
            </p:extLst>
          </p:nvPr>
        </p:nvGraphicFramePr>
        <p:xfrm>
          <a:off x="91440" y="3017520"/>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843133582"/>
              </p:ext>
            </p:extLst>
          </p:nvPr>
        </p:nvGraphicFramePr>
        <p:xfrm>
          <a:off x="274320" y="691114"/>
          <a:ext cx="8595360" cy="4165894"/>
        </p:xfrm>
        <a:graphic>
          <a:graphicData uri="http://schemas.openxmlformats.org/drawingml/2006/table">
            <a:tbl>
              <a:tblPr firstRow="1" firstCol="1" bandRow="1"/>
              <a:tblGrid>
                <a:gridCol w="497576"/>
                <a:gridCol w="8097784"/>
              </a:tblGrid>
              <a:tr h="1600824">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Technologies derived from federally-funded R&amp;D projects that progress further along the development process </a:t>
                      </a:r>
                      <a:r>
                        <a:rPr lang="en-US" sz="1800" dirty="0" smtClean="0">
                          <a:solidFill>
                            <a:srgbClr val="000000"/>
                          </a:solidFill>
                          <a:effectLst/>
                          <a:latin typeface="+mn-lt"/>
                          <a:ea typeface="Calibri"/>
                          <a:cs typeface="Times New Roman"/>
                        </a:rPr>
                        <a:t>have a higher probability of</a:t>
                      </a:r>
                      <a:r>
                        <a:rPr lang="en-US" sz="1800" baseline="0" dirty="0" smtClean="0">
                          <a:solidFill>
                            <a:srgbClr val="000000"/>
                          </a:solidFill>
                          <a:effectLst/>
                          <a:latin typeface="+mn-lt"/>
                          <a:ea typeface="Calibri"/>
                          <a:cs typeface="Times New Roman"/>
                        </a:rPr>
                        <a:t> being </a:t>
                      </a:r>
                      <a:r>
                        <a:rPr lang="en-US" sz="1800" dirty="0" smtClean="0">
                          <a:solidFill>
                            <a:srgbClr val="000000"/>
                          </a:solidFill>
                          <a:effectLst/>
                          <a:latin typeface="+mn-lt"/>
                          <a:ea typeface="Calibri"/>
                          <a:cs typeface="Times New Roman"/>
                        </a:rPr>
                        <a:t>transferred </a:t>
                      </a:r>
                      <a:r>
                        <a:rPr lang="en-US" sz="1800" dirty="0">
                          <a:solidFill>
                            <a:srgbClr val="000000"/>
                          </a:solidFill>
                          <a:effectLst/>
                          <a:latin typeface="+mn-lt"/>
                          <a:ea typeface="Calibri"/>
                          <a:cs typeface="Times New Roman"/>
                        </a:rPr>
                        <a:t>to the private sector </a:t>
                      </a:r>
                      <a:r>
                        <a:rPr lang="en-US" sz="1800" dirty="0" smtClean="0">
                          <a:solidFill>
                            <a:srgbClr val="000000"/>
                          </a:solidFill>
                          <a:effectLst/>
                          <a:latin typeface="+mn-lt"/>
                          <a:ea typeface="Calibri"/>
                          <a:cs typeface="Times New Roman"/>
                        </a:rPr>
                        <a:t>than </a:t>
                      </a:r>
                      <a:r>
                        <a:rPr lang="en-US" sz="1800" dirty="0">
                          <a:solidFill>
                            <a:srgbClr val="000000"/>
                          </a:solidFill>
                          <a:effectLst/>
                          <a:latin typeface="+mn-lt"/>
                          <a:ea typeface="Calibri"/>
                          <a:cs typeface="Times New Roman"/>
                        </a:rPr>
                        <a:t>technologies derived from federally-funded R&amp;D projects that don’t progress very far in the development process</a:t>
                      </a:r>
                      <a:r>
                        <a:rPr lang="en-US" sz="1800" dirty="0" smtClean="0">
                          <a:solidFill>
                            <a:srgbClr val="000000"/>
                          </a:solidFill>
                          <a:effectLst/>
                          <a:latin typeface="+mn-lt"/>
                          <a:ea typeface="Calibri"/>
                          <a:cs typeface="Times New Roman"/>
                        </a:rPr>
                        <a:t>.</a:t>
                      </a: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There is an association</a:t>
                      </a:r>
                      <a:r>
                        <a:rPr lang="en-US" sz="1800" baseline="0" dirty="0" smtClean="0">
                          <a:solidFill>
                            <a:srgbClr val="000000"/>
                          </a:solidFill>
                          <a:effectLst/>
                          <a:latin typeface="+mn-lt"/>
                          <a:ea typeface="Calibri"/>
                          <a:cs typeface="Times New Roman"/>
                        </a:rPr>
                        <a:t> between the</a:t>
                      </a:r>
                      <a:r>
                        <a:rPr lang="en-US" sz="1800" dirty="0" smtClean="0">
                          <a:solidFill>
                            <a:srgbClr val="000000"/>
                          </a:solidFill>
                          <a:effectLst/>
                          <a:latin typeface="+mn-lt"/>
                          <a:ea typeface="Calibri"/>
                          <a:cs typeface="Times New Roman"/>
                        </a:rPr>
                        <a:t> final development stage attained by an R&amp;D project and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the spatial distance between where the R&amp;D project is conducted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Technologies</a:t>
                      </a:r>
                      <a:r>
                        <a:rPr lang="en-US" sz="1800" baseline="0" dirty="0" smtClean="0">
                          <a:solidFill>
                            <a:srgbClr val="000000"/>
                          </a:solidFill>
                          <a:effectLst/>
                          <a:latin typeface="+mn-lt"/>
                          <a:ea typeface="Calibri"/>
                          <a:cs typeface="Times New Roman"/>
                        </a:rPr>
                        <a:t> derived from federally-funded R&amp;D projects that are conducted at locations closer to cities have a higher probability of being transferred to the private sector.</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321342022"/>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547369488"/>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523036423"/>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235342369"/>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635822489"/>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591223295"/>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632734287"/>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401557566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587956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2054110194"/>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gridCol w="8097784"/>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smtClean="0">
                          <a:effectLst/>
                        </a:rPr>
                        <a:t>The probably that a </a:t>
                      </a:r>
                      <a:r>
                        <a:rPr lang="en-US" sz="1800" b="0" baseline="0" dirty="0" smtClean="0">
                          <a:effectLst/>
                        </a:rPr>
                        <a:t>technology derived from the projects </a:t>
                      </a:r>
                      <a:r>
                        <a:rPr lang="en-US" sz="1800" b="0" baseline="0" dirty="0" smtClean="0">
                          <a:effectLst/>
                        </a:rPr>
                        <a:t>will be transferred to </a:t>
                      </a:r>
                      <a:r>
                        <a:rPr lang="en-US" sz="1800" b="0" baseline="0" dirty="0" smtClean="0">
                          <a:effectLst/>
                        </a:rPr>
                        <a:t>the private </a:t>
                      </a:r>
                      <a:r>
                        <a:rPr lang="en-US" sz="1800" b="0" baseline="0" dirty="0" smtClean="0">
                          <a:effectLst/>
                        </a:rPr>
                        <a:t>sector will increase with each unit increase in the development stage of the federally-funded R&amp;D projects.</a:t>
                      </a:r>
                      <a:endParaRPr lang="en-US" sz="1600" b="0" dirty="0">
                        <a:solidFill>
                          <a:srgbClr val="000000"/>
                        </a:solidFill>
                        <a:effectLst/>
                        <a:latin typeface="+mn-lt"/>
                        <a:ea typeface="Calibri"/>
                        <a:cs typeface="Times New Roman"/>
                      </a:endParaRPr>
                    </a:p>
                  </a:txBody>
                  <a:tcPr marL="59258" marR="59258" marT="29887" marB="29887"/>
                </a:tc>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smtClean="0">
                          <a:ln>
                            <a:noFill/>
                          </a:ln>
                          <a:solidFill>
                            <a:prstClr val="black"/>
                          </a:solidFill>
                          <a:effectLst/>
                          <a:uLnTx/>
                          <a:uFillTx/>
                          <a:latin typeface="+mn-lt"/>
                          <a:ea typeface="+mn-ea"/>
                          <a:cs typeface="+mn-cs"/>
                        </a:rPr>
                        <a:t>The probably that a technology derived from the projects will be transferred to the private sector will increase with each unit decrease in t</a:t>
                      </a:r>
                      <a:r>
                        <a:rPr lang="en-US" sz="1800" dirty="0" smtClean="0">
                          <a:effectLst/>
                        </a:rPr>
                        <a:t>he </a:t>
                      </a:r>
                      <a:r>
                        <a:rPr lang="en-US" sz="1800" dirty="0" smtClean="0">
                          <a:effectLst/>
                        </a:rPr>
                        <a:t>spatial distance</a:t>
                      </a:r>
                      <a:r>
                        <a:rPr lang="en-US" sz="1800" baseline="0" dirty="0" smtClean="0">
                          <a:effectLst/>
                        </a:rPr>
                        <a:t> between where R&amp;D projects are conducted and the nearest city </a:t>
                      </a:r>
                      <a:r>
                        <a:rPr lang="en-US" sz="1800" baseline="0" dirty="0" smtClean="0">
                          <a:effectLst/>
                        </a:rPr>
                        <a:t>decreases.</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2898612144"/>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58"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2019. Wikipedia. </a:t>
            </a:r>
            <a:r>
              <a:rPr lang="en-US" dirty="0">
                <a:solidFill>
                  <a:prstClr val="black"/>
                </a:solidFill>
              </a:rPr>
              <a:t>Retrieved April 12, 2019, from https://en.wikipedia.org/wiki/Economic_growth</a:t>
            </a: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1200329"/>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1356</TotalTime>
  <Words>2178</Words>
  <Application>Microsoft Office PowerPoint</Application>
  <PresentationFormat>On-screen Show (16:10)</PresentationFormat>
  <Paragraphs>413</Paragraphs>
  <Slides>42</Slides>
  <Notes>14</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42</vt:i4>
      </vt:variant>
    </vt:vector>
  </HeadingPairs>
  <TitlesOfParts>
    <vt:vector size="44"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246</cp:revision>
  <cp:lastPrinted>2018-11-28T15:13:03Z</cp:lastPrinted>
  <dcterms:created xsi:type="dcterms:W3CDTF">2018-11-26T20:29:52Z</dcterms:created>
  <dcterms:modified xsi:type="dcterms:W3CDTF">2019-04-15T00:33:49Z</dcterms:modified>
</cp:coreProperties>
</file>